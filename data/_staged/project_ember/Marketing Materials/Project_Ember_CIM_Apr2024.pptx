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D55"/>
          </a:solidFill>
          <a:ln w="12700">
            <a:solidFill>
              <a:srgbClr val="1B2D55"/>
            </a:solidFill>
            <a:prstDash val="solid"/>
          </a:ln>
        </p:spPr>
      </p:sp>
      <p:sp>
        <p:nvSpPr>
          <p:cNvPr id="3" name="Shape 1"/>
          <p:cNvSpPr/>
          <p:nvPr/>
        </p:nvSpPr>
        <p:spPr>
          <a:xfrm>
            <a:off x="0" y="3474720"/>
            <a:ext cx="9144000" cy="1668780"/>
          </a:xfrm>
          <a:prstGeom prst="rect">
            <a:avLst/>
          </a:prstGeom>
          <a:solidFill>
            <a:srgbClr val="2B5BAE"/>
          </a:solidFill>
          <a:ln w="12700">
            <a:solidFill>
              <a:srgbClr val="2B5BAE"/>
            </a:solidFill>
            <a:prstDash val="solid"/>
          </a:ln>
        </p:spPr>
      </p:sp>
      <p:sp>
        <p:nvSpPr>
          <p:cNvPr id="4" name="Shape 2"/>
          <p:cNvSpPr/>
          <p:nvPr/>
        </p:nvSpPr>
        <p:spPr>
          <a:xfrm>
            <a:off x="0" y="3438144"/>
            <a:ext cx="9144000" cy="64008"/>
          </a:xfrm>
          <a:prstGeom prst="rect">
            <a:avLst/>
          </a:prstGeom>
          <a:solidFill>
            <a:srgbClr val="C8A83C"/>
          </a:solidFill>
          <a:ln w="12700">
            <a:solidFill>
              <a:srgbClr val="C8A83C"/>
            </a:solidFill>
            <a:prstDash val="solid"/>
          </a:ln>
        </p:spPr>
      </p:sp>
      <p:sp>
        <p:nvSpPr>
          <p:cNvPr id="5" name="Text 3"/>
          <p:cNvSpPr/>
          <p:nvPr/>
        </p:nvSpPr>
        <p:spPr>
          <a:xfrm>
            <a:off x="548640" y="411480"/>
            <a:ext cx="8046720" cy="1005840"/>
          </a:xfrm>
          <a:prstGeom prst="rect">
            <a:avLst/>
          </a:prstGeom>
          <a:noFill/>
          <a:ln/>
        </p:spPr>
        <p:txBody>
          <a:bodyPr wrap="square" lIns="0" tIns="0" rIns="0" bIns="0" rtlCol="0" anchor="ctr"/>
          <a:lstStyle/>
          <a:p>
            <a:pPr indent="0" marL="0">
              <a:buNone/>
            </a:pPr>
            <a:r>
              <a:rPr lang="en-US" sz="5200" b="1" dirty="0">
                <a:solidFill>
                  <a:srgbClr val="FFFFFF"/>
                </a:solidFill>
              </a:rPr>
              <a:t>PROJECT EMBER</a:t>
            </a:r>
            <a:endParaRPr lang="en-US" sz="5200" dirty="0"/>
          </a:p>
        </p:txBody>
      </p:sp>
      <p:sp>
        <p:nvSpPr>
          <p:cNvPr id="6" name="Text 4"/>
          <p:cNvSpPr/>
          <p:nvPr/>
        </p:nvSpPr>
        <p:spPr>
          <a:xfrm>
            <a:off x="548640" y="1417320"/>
            <a:ext cx="8046720" cy="457200"/>
          </a:xfrm>
          <a:prstGeom prst="rect">
            <a:avLst/>
          </a:prstGeom>
          <a:noFill/>
          <a:ln/>
        </p:spPr>
        <p:txBody>
          <a:bodyPr wrap="square" lIns="0" tIns="0" rIns="0" bIns="0" rtlCol="0" anchor="ctr"/>
          <a:lstStyle/>
          <a:p>
            <a:pPr indent="0" marL="0">
              <a:buNone/>
            </a:pPr>
            <a:r>
              <a:rPr lang="en-US" sz="1500" dirty="0">
                <a:solidFill>
                  <a:srgbClr val="AABBD0"/>
                </a:solidFill>
              </a:rPr>
              <a:t>Confidential Information Memorandum</a:t>
            </a:r>
            <a:endParaRPr lang="en-US" sz="1500" dirty="0"/>
          </a:p>
        </p:txBody>
      </p:sp>
      <p:sp>
        <p:nvSpPr>
          <p:cNvPr id="7" name="Shape 5"/>
          <p:cNvSpPr/>
          <p:nvPr/>
        </p:nvSpPr>
        <p:spPr>
          <a:xfrm>
            <a:off x="548640" y="1920240"/>
            <a:ext cx="3200400" cy="0"/>
          </a:xfrm>
          <a:prstGeom prst="line">
            <a:avLst/>
          </a:prstGeom>
          <a:noFill/>
          <a:ln w="19050">
            <a:solidFill>
              <a:srgbClr val="C8A83C"/>
            </a:solidFill>
            <a:prstDash val="solid"/>
          </a:ln>
        </p:spPr>
      </p:sp>
      <p:sp>
        <p:nvSpPr>
          <p:cNvPr id="8" name="Text 6"/>
          <p:cNvSpPr/>
          <p:nvPr/>
        </p:nvSpPr>
        <p:spPr>
          <a:xfrm>
            <a:off x="548640" y="2057400"/>
            <a:ext cx="8046720" cy="365760"/>
          </a:xfrm>
          <a:prstGeom prst="rect">
            <a:avLst/>
          </a:prstGeom>
          <a:noFill/>
          <a:ln/>
        </p:spPr>
        <p:txBody>
          <a:bodyPr wrap="square" lIns="0" tIns="0" rIns="0" bIns="0" rtlCol="0" anchor="ctr"/>
          <a:lstStyle/>
          <a:p>
            <a:pPr indent="0" marL="0">
              <a:buNone/>
            </a:pPr>
            <a:r>
              <a:rPr lang="en-US" sz="1400" i="1" dirty="0">
                <a:solidFill>
                  <a:srgbClr val="FFFFFF"/>
                </a:solidFill>
              </a:rPr>
              <a:t>Cascade Outdoor Brands</a:t>
            </a:r>
            <a:endParaRPr lang="en-US" sz="1400" dirty="0"/>
          </a:p>
        </p:txBody>
      </p:sp>
      <p:sp>
        <p:nvSpPr>
          <p:cNvPr id="9" name="Text 7"/>
          <p:cNvSpPr/>
          <p:nvPr/>
        </p:nvSpPr>
        <p:spPr>
          <a:xfrm>
            <a:off x="548640" y="2423160"/>
            <a:ext cx="8046720" cy="292608"/>
          </a:xfrm>
          <a:prstGeom prst="rect">
            <a:avLst/>
          </a:prstGeom>
          <a:noFill/>
          <a:ln/>
        </p:spPr>
        <p:txBody>
          <a:bodyPr wrap="square" lIns="0" tIns="0" rIns="0" bIns="0" rtlCol="0" anchor="ctr"/>
          <a:lstStyle/>
          <a:p>
            <a:pPr indent="0" marL="0">
              <a:buNone/>
            </a:pPr>
            <a:r>
              <a:rPr lang="en-US" sz="1000" dirty="0">
                <a:solidFill>
                  <a:srgbClr val="AABBD0"/>
                </a:solidFill>
              </a:rPr>
              <a:t>Consumer Products | Outdoor &amp; Active Lifestyle Hardgoods</a:t>
            </a:r>
            <a:endParaRPr lang="en-US" sz="1000" dirty="0"/>
          </a:p>
        </p:txBody>
      </p:sp>
      <p:sp>
        <p:nvSpPr>
          <p:cNvPr id="10" name="Text 8"/>
          <p:cNvSpPr/>
          <p:nvPr/>
        </p:nvSpPr>
        <p:spPr>
          <a:xfrm>
            <a:off x="548640" y="3547872"/>
            <a:ext cx="4572000" cy="320040"/>
          </a:xfrm>
          <a:prstGeom prst="rect">
            <a:avLst/>
          </a:prstGeom>
          <a:noFill/>
          <a:ln/>
        </p:spPr>
        <p:txBody>
          <a:bodyPr wrap="square" lIns="0" tIns="0" rIns="0" bIns="0" rtlCol="0" anchor="ctr"/>
          <a:lstStyle/>
          <a:p>
            <a:pPr indent="0" marL="0">
              <a:buNone/>
            </a:pPr>
            <a:r>
              <a:rPr lang="en-US" sz="900" dirty="0">
                <a:solidFill>
                  <a:srgbClr val="AABBD0"/>
                </a:solidFill>
              </a:rPr>
              <a:t>Harris Williams | April 2024</a:t>
            </a:r>
            <a:endParaRPr lang="en-US" sz="900" dirty="0"/>
          </a:p>
        </p:txBody>
      </p:sp>
      <p:sp>
        <p:nvSpPr>
          <p:cNvPr id="11" name="Text 9"/>
          <p:cNvSpPr/>
          <p:nvPr/>
        </p:nvSpPr>
        <p:spPr>
          <a:xfrm>
            <a:off x="5029200" y="3547872"/>
            <a:ext cx="3657600" cy="320040"/>
          </a:xfrm>
          <a:prstGeom prst="rect">
            <a:avLst/>
          </a:prstGeom>
          <a:noFill/>
          <a:ln/>
        </p:spPr>
        <p:txBody>
          <a:bodyPr wrap="square" lIns="0" tIns="0" rIns="0" bIns="0" rtlCol="0" anchor="ctr"/>
          <a:lstStyle/>
          <a:p>
            <a:pPr algn="r" indent="0" marL="0">
              <a:buNone/>
            </a:pPr>
            <a:r>
              <a:rPr lang="en-US" sz="900" b="1" dirty="0">
                <a:solidFill>
                  <a:srgbClr val="C8A83C"/>
                </a:solidFill>
              </a:rPr>
              <a:t>STRICTLY CONFIDENTIAL</a:t>
            </a:r>
            <a:endParaRPr lang="en-US" sz="900" dirty="0"/>
          </a:p>
        </p:txBody>
      </p:sp>
      <p:sp>
        <p:nvSpPr>
          <p:cNvPr id="12" name="Text 10"/>
          <p:cNvSpPr/>
          <p:nvPr/>
        </p:nvSpPr>
        <p:spPr>
          <a:xfrm>
            <a:off x="548640" y="3950208"/>
            <a:ext cx="8046720" cy="822960"/>
          </a:xfrm>
          <a:prstGeom prst="rect">
            <a:avLst/>
          </a:prstGeom>
          <a:noFill/>
          <a:ln/>
        </p:spPr>
        <p:txBody>
          <a:bodyPr wrap="square" lIns="0" tIns="0" rIns="0" bIns="0" rtlCol="0" anchor="ctr"/>
          <a:lstStyle/>
          <a:p>
            <a:pPr indent="0" marL="0">
              <a:buNone/>
            </a:pPr>
            <a:r>
              <a:rPr lang="en-US" sz="700" dirty="0">
                <a:solidFill>
                  <a:srgbClr val="8899AA"/>
                </a:solidFill>
              </a:rPr>
              <a:t>This Confidential Information Memorandum has been prepared by Harris Williams solely for use by prospective purchasers in evaluating a possible transaction. The information contained herein has been obtained from sources believed to be reliable but has not been independently verified. Recipients must treat this document as strictly confidential.</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Important Disclaimer</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2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Important Disclaimer &amp; Confidentiality Notice</a:t>
            </a:r>
            <a:endParaRPr lang="en-US" sz="1600" dirty="0"/>
          </a:p>
        </p:txBody>
      </p:sp>
      <p:sp>
        <p:nvSpPr>
          <p:cNvPr id="10" name="Text 8"/>
          <p:cNvSpPr/>
          <p:nvPr/>
        </p:nvSpPr>
        <p:spPr>
          <a:xfrm>
            <a:off x="457200" y="1143000"/>
            <a:ext cx="8229600" cy="777240"/>
          </a:xfrm>
          <a:prstGeom prst="rect">
            <a:avLst/>
          </a:prstGeom>
          <a:noFill/>
          <a:ln/>
        </p:spPr>
        <p:txBody>
          <a:bodyPr wrap="square" lIns="0" tIns="0" rIns="0" bIns="0" rtlCol="0" anchor="ctr"/>
          <a:lstStyle/>
          <a:p>
            <a:pPr indent="0" marL="0">
              <a:buNone/>
            </a:pPr>
            <a:r>
              <a:rPr lang="en-US" sz="800" dirty="0">
                <a:solidFill>
                  <a:srgbClr val="4A5568"/>
                </a:solidFill>
              </a:rPr>
              <a:t>This Confidential Information Memorandum (this "CIM") has been prepared by Harris Williams ("Advisor") on behalf of Cascade Outdoor Brands (the "Company") solely to assist prospective purchasers in making their own evaluation of the Company. This CIM does not purport to contain all of the information that a prospective purchaser may require.</a:t>
            </a:r>
            <a:endParaRPr lang="en-US" sz="800" dirty="0"/>
          </a:p>
        </p:txBody>
      </p:sp>
      <p:sp>
        <p:nvSpPr>
          <p:cNvPr id="11" name="Shape 9"/>
          <p:cNvSpPr/>
          <p:nvPr/>
        </p:nvSpPr>
        <p:spPr>
          <a:xfrm>
            <a:off x="457200" y="1947672"/>
            <a:ext cx="8229600" cy="0"/>
          </a:xfrm>
          <a:prstGeom prst="line">
            <a:avLst/>
          </a:prstGeom>
          <a:noFill/>
          <a:ln w="9525">
            <a:solidFill>
              <a:srgbClr val="D0D8E4"/>
            </a:solidFill>
            <a:prstDash val="solid"/>
          </a:ln>
        </p:spPr>
      </p:sp>
      <p:sp>
        <p:nvSpPr>
          <p:cNvPr id="12" name="Text 10"/>
          <p:cNvSpPr/>
          <p:nvPr/>
        </p:nvSpPr>
        <p:spPr>
          <a:xfrm>
            <a:off x="457200" y="2039112"/>
            <a:ext cx="8229600" cy="777240"/>
          </a:xfrm>
          <a:prstGeom prst="rect">
            <a:avLst/>
          </a:prstGeom>
          <a:noFill/>
          <a:ln/>
        </p:spPr>
        <p:txBody>
          <a:bodyPr wrap="square" lIns="0" tIns="0" rIns="0" bIns="0" rtlCol="0" anchor="ctr"/>
          <a:lstStyle/>
          <a:p>
            <a:pPr indent="0" marL="0">
              <a:buNone/>
            </a:pPr>
            <a:r>
              <a:rPr lang="en-US" sz="800" dirty="0">
                <a:solidFill>
                  <a:srgbClr val="4A5568"/>
                </a:solidFill>
              </a:rPr>
              <a:t>The information contained in this CIM has been obtained from sources believed to be reliable, including from the Company and its management team. However, neither the Company nor Advisor makes any representation or warranty, express or implied, as to the accuracy or completeness of the information contained herein, and nothing contained herein shall be relied upon as a promise or representation as to the future performance of the Company.</a:t>
            </a:r>
            <a:endParaRPr lang="en-US" sz="800" dirty="0"/>
          </a:p>
        </p:txBody>
      </p:sp>
      <p:sp>
        <p:nvSpPr>
          <p:cNvPr id="13" name="Shape 11"/>
          <p:cNvSpPr/>
          <p:nvPr/>
        </p:nvSpPr>
        <p:spPr>
          <a:xfrm>
            <a:off x="457200" y="2843784"/>
            <a:ext cx="8229600" cy="0"/>
          </a:xfrm>
          <a:prstGeom prst="line">
            <a:avLst/>
          </a:prstGeom>
          <a:noFill/>
          <a:ln w="9525">
            <a:solidFill>
              <a:srgbClr val="D0D8E4"/>
            </a:solidFill>
            <a:prstDash val="solid"/>
          </a:ln>
        </p:spPr>
      </p:sp>
      <p:sp>
        <p:nvSpPr>
          <p:cNvPr id="14" name="Text 12"/>
          <p:cNvSpPr/>
          <p:nvPr/>
        </p:nvSpPr>
        <p:spPr>
          <a:xfrm>
            <a:off x="457200" y="2935224"/>
            <a:ext cx="8229600" cy="777240"/>
          </a:xfrm>
          <a:prstGeom prst="rect">
            <a:avLst/>
          </a:prstGeom>
          <a:noFill/>
          <a:ln/>
        </p:spPr>
        <p:txBody>
          <a:bodyPr wrap="square" lIns="0" tIns="0" rIns="0" bIns="0" rtlCol="0" anchor="ctr"/>
          <a:lstStyle/>
          <a:p>
            <a:pPr indent="0" marL="0">
              <a:buNone/>
            </a:pPr>
            <a:r>
              <a:rPr lang="en-US" sz="800" dirty="0">
                <a:solidFill>
                  <a:srgbClr val="4A5568"/>
                </a:solidFill>
              </a:rPr>
              <a:t>This CIM and the information contained herein are strictly confidential and are being provided solely to the recipient. By accepting this CIM, the recipient agrees not to reproduce, disclose, or distribute, in whole or in part, to any other person or entity without the prior written consent of the Advisor.</a:t>
            </a:r>
            <a:endParaRPr lang="en-US" sz="800" dirty="0"/>
          </a:p>
        </p:txBody>
      </p:sp>
      <p:sp>
        <p:nvSpPr>
          <p:cNvPr id="15" name="Shape 13"/>
          <p:cNvSpPr/>
          <p:nvPr/>
        </p:nvSpPr>
        <p:spPr>
          <a:xfrm>
            <a:off x="457200" y="3739896"/>
            <a:ext cx="8229600" cy="0"/>
          </a:xfrm>
          <a:prstGeom prst="line">
            <a:avLst/>
          </a:prstGeom>
          <a:noFill/>
          <a:ln w="9525">
            <a:solidFill>
              <a:srgbClr val="D0D8E4"/>
            </a:solidFill>
            <a:prstDash val="solid"/>
          </a:ln>
        </p:spPr>
      </p:sp>
      <p:sp>
        <p:nvSpPr>
          <p:cNvPr id="16" name="Text 14"/>
          <p:cNvSpPr/>
          <p:nvPr/>
        </p:nvSpPr>
        <p:spPr>
          <a:xfrm>
            <a:off x="457200" y="3831336"/>
            <a:ext cx="8229600" cy="777240"/>
          </a:xfrm>
          <a:prstGeom prst="rect">
            <a:avLst/>
          </a:prstGeom>
          <a:noFill/>
          <a:ln/>
        </p:spPr>
        <p:txBody>
          <a:bodyPr wrap="square" lIns="0" tIns="0" rIns="0" bIns="0" rtlCol="0" anchor="ctr"/>
          <a:lstStyle/>
          <a:p>
            <a:pPr indent="0" marL="0">
              <a:buNone/>
            </a:pPr>
            <a:r>
              <a:rPr lang="en-US" sz="800" dirty="0">
                <a:solidFill>
                  <a:srgbClr val="4A5568"/>
                </a:solidFill>
              </a:rPr>
              <a:t>This CIM is not an offer to sell or a solicitation of an offer to buy any securities. Any such offer or solicitation will be made only pursuant to definitive transaction documents. The Company and Advisor reserve the right, in their absolute discretion, to reject any or all proposals, to terminate discussions at any time, and to negotiate with any party.</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Table of Contents</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3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Table of Contents</a:t>
            </a:r>
            <a:endParaRPr lang="en-US" sz="1600" dirty="0"/>
          </a:p>
        </p:txBody>
      </p:sp>
      <p:sp>
        <p:nvSpPr>
          <p:cNvPr id="10" name="Shape 8"/>
          <p:cNvSpPr/>
          <p:nvPr/>
        </p:nvSpPr>
        <p:spPr>
          <a:xfrm>
            <a:off x="1371600" y="1097280"/>
            <a:ext cx="6400800" cy="338328"/>
          </a:xfrm>
          <a:prstGeom prst="rect">
            <a:avLst/>
          </a:prstGeom>
          <a:solidFill>
            <a:srgbClr val="FFFFFF"/>
          </a:solidFill>
          <a:ln w="12700">
            <a:solidFill>
              <a:srgbClr val="FFFFFF"/>
            </a:solidFill>
            <a:prstDash val="solid"/>
          </a:ln>
        </p:spPr>
      </p:sp>
      <p:sp>
        <p:nvSpPr>
          <p:cNvPr id="11" name="Text 9"/>
          <p:cNvSpPr/>
          <p:nvPr/>
        </p:nvSpPr>
        <p:spPr>
          <a:xfrm>
            <a:off x="1508760" y="1152144"/>
            <a:ext cx="5029200" cy="228600"/>
          </a:xfrm>
          <a:prstGeom prst="rect">
            <a:avLst/>
          </a:prstGeom>
          <a:noFill/>
          <a:ln/>
        </p:spPr>
        <p:txBody>
          <a:bodyPr wrap="square" lIns="0" tIns="0" rIns="0" bIns="0" rtlCol="0" anchor="ctr"/>
          <a:lstStyle/>
          <a:p>
            <a:pPr indent="0" marL="0">
              <a:buNone/>
            </a:pPr>
            <a:r>
              <a:rPr lang="en-US" sz="900" dirty="0">
                <a:solidFill>
                  <a:srgbClr val="1B2D55"/>
                </a:solidFill>
              </a:rPr>
              <a:t>Executive Summary</a:t>
            </a:r>
            <a:endParaRPr lang="en-US" sz="900" dirty="0"/>
          </a:p>
        </p:txBody>
      </p:sp>
      <p:sp>
        <p:nvSpPr>
          <p:cNvPr id="12" name="Text 10"/>
          <p:cNvSpPr/>
          <p:nvPr/>
        </p:nvSpPr>
        <p:spPr>
          <a:xfrm>
            <a:off x="6858000" y="1152144"/>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04</a:t>
            </a:r>
            <a:endParaRPr lang="en-US" sz="900" dirty="0"/>
          </a:p>
        </p:txBody>
      </p:sp>
      <p:sp>
        <p:nvSpPr>
          <p:cNvPr id="13" name="Shape 11"/>
          <p:cNvSpPr/>
          <p:nvPr/>
        </p:nvSpPr>
        <p:spPr>
          <a:xfrm>
            <a:off x="1371600" y="1435608"/>
            <a:ext cx="6400800" cy="338328"/>
          </a:xfrm>
          <a:prstGeom prst="rect">
            <a:avLst/>
          </a:prstGeom>
          <a:solidFill>
            <a:srgbClr val="F4F6FA"/>
          </a:solidFill>
          <a:ln w="12700">
            <a:solidFill>
              <a:srgbClr val="F4F6FA"/>
            </a:solidFill>
            <a:prstDash val="solid"/>
          </a:ln>
        </p:spPr>
      </p:sp>
      <p:sp>
        <p:nvSpPr>
          <p:cNvPr id="14" name="Text 12"/>
          <p:cNvSpPr/>
          <p:nvPr/>
        </p:nvSpPr>
        <p:spPr>
          <a:xfrm>
            <a:off x="1508760" y="1490472"/>
            <a:ext cx="5029200" cy="228600"/>
          </a:xfrm>
          <a:prstGeom prst="rect">
            <a:avLst/>
          </a:prstGeom>
          <a:noFill/>
          <a:ln/>
        </p:spPr>
        <p:txBody>
          <a:bodyPr wrap="square" lIns="0" tIns="0" rIns="0" bIns="0" rtlCol="0" anchor="ctr"/>
          <a:lstStyle/>
          <a:p>
            <a:pPr indent="0" marL="0">
              <a:buNone/>
            </a:pPr>
            <a:r>
              <a:rPr lang="en-US" sz="900" dirty="0">
                <a:solidFill>
                  <a:srgbClr val="1B2D55"/>
                </a:solidFill>
              </a:rPr>
              <a:t>Investment Highlights</a:t>
            </a:r>
            <a:endParaRPr lang="en-US" sz="900" dirty="0"/>
          </a:p>
        </p:txBody>
      </p:sp>
      <p:sp>
        <p:nvSpPr>
          <p:cNvPr id="15" name="Text 13"/>
          <p:cNvSpPr/>
          <p:nvPr/>
        </p:nvSpPr>
        <p:spPr>
          <a:xfrm>
            <a:off x="6858000" y="1490472"/>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05</a:t>
            </a:r>
            <a:endParaRPr lang="en-US" sz="900" dirty="0"/>
          </a:p>
        </p:txBody>
      </p:sp>
      <p:sp>
        <p:nvSpPr>
          <p:cNvPr id="16" name="Shape 14"/>
          <p:cNvSpPr/>
          <p:nvPr/>
        </p:nvSpPr>
        <p:spPr>
          <a:xfrm>
            <a:off x="1371600" y="1773936"/>
            <a:ext cx="6400800" cy="338328"/>
          </a:xfrm>
          <a:prstGeom prst="rect">
            <a:avLst/>
          </a:prstGeom>
          <a:solidFill>
            <a:srgbClr val="FFFFFF"/>
          </a:solidFill>
          <a:ln w="12700">
            <a:solidFill>
              <a:srgbClr val="FFFFFF"/>
            </a:solidFill>
            <a:prstDash val="solid"/>
          </a:ln>
        </p:spPr>
      </p:sp>
      <p:sp>
        <p:nvSpPr>
          <p:cNvPr id="17" name="Text 15"/>
          <p:cNvSpPr/>
          <p:nvPr/>
        </p:nvSpPr>
        <p:spPr>
          <a:xfrm>
            <a:off x="1508760" y="1828800"/>
            <a:ext cx="5029200" cy="228600"/>
          </a:xfrm>
          <a:prstGeom prst="rect">
            <a:avLst/>
          </a:prstGeom>
          <a:noFill/>
          <a:ln/>
        </p:spPr>
        <p:txBody>
          <a:bodyPr wrap="square" lIns="0" tIns="0" rIns="0" bIns="0" rtlCol="0" anchor="ctr"/>
          <a:lstStyle/>
          <a:p>
            <a:pPr indent="0" marL="0">
              <a:buNone/>
            </a:pPr>
            <a:r>
              <a:rPr lang="en-US" sz="900" dirty="0">
                <a:solidFill>
                  <a:srgbClr val="1B2D55"/>
                </a:solidFill>
              </a:rPr>
              <a:t>Company Overview</a:t>
            </a:r>
            <a:endParaRPr lang="en-US" sz="900" dirty="0"/>
          </a:p>
        </p:txBody>
      </p:sp>
      <p:sp>
        <p:nvSpPr>
          <p:cNvPr id="18" name="Text 16"/>
          <p:cNvSpPr/>
          <p:nvPr/>
        </p:nvSpPr>
        <p:spPr>
          <a:xfrm>
            <a:off x="6858000" y="1828800"/>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06</a:t>
            </a:r>
            <a:endParaRPr lang="en-US" sz="900" dirty="0"/>
          </a:p>
        </p:txBody>
      </p:sp>
      <p:sp>
        <p:nvSpPr>
          <p:cNvPr id="19" name="Shape 17"/>
          <p:cNvSpPr/>
          <p:nvPr/>
        </p:nvSpPr>
        <p:spPr>
          <a:xfrm>
            <a:off x="1371600" y="2112264"/>
            <a:ext cx="6400800" cy="338328"/>
          </a:xfrm>
          <a:prstGeom prst="rect">
            <a:avLst/>
          </a:prstGeom>
          <a:solidFill>
            <a:srgbClr val="F4F6FA"/>
          </a:solidFill>
          <a:ln w="12700">
            <a:solidFill>
              <a:srgbClr val="F4F6FA"/>
            </a:solidFill>
            <a:prstDash val="solid"/>
          </a:ln>
        </p:spPr>
      </p:sp>
      <p:sp>
        <p:nvSpPr>
          <p:cNvPr id="20" name="Text 18"/>
          <p:cNvSpPr/>
          <p:nvPr/>
        </p:nvSpPr>
        <p:spPr>
          <a:xfrm>
            <a:off x="1508760" y="2167128"/>
            <a:ext cx="5029200" cy="228600"/>
          </a:xfrm>
          <a:prstGeom prst="rect">
            <a:avLst/>
          </a:prstGeom>
          <a:noFill/>
          <a:ln/>
        </p:spPr>
        <p:txBody>
          <a:bodyPr wrap="square" lIns="0" tIns="0" rIns="0" bIns="0" rtlCol="0" anchor="ctr"/>
          <a:lstStyle/>
          <a:p>
            <a:pPr indent="0" marL="0">
              <a:buNone/>
            </a:pPr>
            <a:r>
              <a:rPr lang="en-US" sz="900" dirty="0">
                <a:solidFill>
                  <a:srgbClr val="1B2D55"/>
                </a:solidFill>
              </a:rPr>
              <a:t>Products &amp; Brands</a:t>
            </a:r>
            <a:endParaRPr lang="en-US" sz="900" dirty="0"/>
          </a:p>
        </p:txBody>
      </p:sp>
      <p:sp>
        <p:nvSpPr>
          <p:cNvPr id="21" name="Text 19"/>
          <p:cNvSpPr/>
          <p:nvPr/>
        </p:nvSpPr>
        <p:spPr>
          <a:xfrm>
            <a:off x="6858000" y="2167128"/>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07</a:t>
            </a:r>
            <a:endParaRPr lang="en-US" sz="900" dirty="0"/>
          </a:p>
        </p:txBody>
      </p:sp>
      <p:sp>
        <p:nvSpPr>
          <p:cNvPr id="22" name="Shape 20"/>
          <p:cNvSpPr/>
          <p:nvPr/>
        </p:nvSpPr>
        <p:spPr>
          <a:xfrm>
            <a:off x="1371600" y="2450592"/>
            <a:ext cx="6400800" cy="338328"/>
          </a:xfrm>
          <a:prstGeom prst="rect">
            <a:avLst/>
          </a:prstGeom>
          <a:solidFill>
            <a:srgbClr val="FFFFFF"/>
          </a:solidFill>
          <a:ln w="12700">
            <a:solidFill>
              <a:srgbClr val="FFFFFF"/>
            </a:solidFill>
            <a:prstDash val="solid"/>
          </a:ln>
        </p:spPr>
      </p:sp>
      <p:sp>
        <p:nvSpPr>
          <p:cNvPr id="23" name="Text 21"/>
          <p:cNvSpPr/>
          <p:nvPr/>
        </p:nvSpPr>
        <p:spPr>
          <a:xfrm>
            <a:off x="1508760" y="2505456"/>
            <a:ext cx="5029200" cy="228600"/>
          </a:xfrm>
          <a:prstGeom prst="rect">
            <a:avLst/>
          </a:prstGeom>
          <a:noFill/>
          <a:ln/>
        </p:spPr>
        <p:txBody>
          <a:bodyPr wrap="square" lIns="0" tIns="0" rIns="0" bIns="0" rtlCol="0" anchor="ctr"/>
          <a:lstStyle/>
          <a:p>
            <a:pPr indent="0" marL="0">
              <a:buNone/>
            </a:pPr>
            <a:r>
              <a:rPr lang="en-US" sz="900" dirty="0">
                <a:solidFill>
                  <a:srgbClr val="1B2D55"/>
                </a:solidFill>
              </a:rPr>
              <a:t>Market Opportunity</a:t>
            </a:r>
            <a:endParaRPr lang="en-US" sz="900" dirty="0"/>
          </a:p>
        </p:txBody>
      </p:sp>
      <p:sp>
        <p:nvSpPr>
          <p:cNvPr id="24" name="Text 22"/>
          <p:cNvSpPr/>
          <p:nvPr/>
        </p:nvSpPr>
        <p:spPr>
          <a:xfrm>
            <a:off x="6858000" y="2505456"/>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08</a:t>
            </a:r>
            <a:endParaRPr lang="en-US" sz="900" dirty="0"/>
          </a:p>
        </p:txBody>
      </p:sp>
      <p:sp>
        <p:nvSpPr>
          <p:cNvPr id="25" name="Shape 23"/>
          <p:cNvSpPr/>
          <p:nvPr/>
        </p:nvSpPr>
        <p:spPr>
          <a:xfrm>
            <a:off x="1371600" y="2788920"/>
            <a:ext cx="6400800" cy="338328"/>
          </a:xfrm>
          <a:prstGeom prst="rect">
            <a:avLst/>
          </a:prstGeom>
          <a:solidFill>
            <a:srgbClr val="F4F6FA"/>
          </a:solidFill>
          <a:ln w="12700">
            <a:solidFill>
              <a:srgbClr val="F4F6FA"/>
            </a:solidFill>
            <a:prstDash val="solid"/>
          </a:ln>
        </p:spPr>
      </p:sp>
      <p:sp>
        <p:nvSpPr>
          <p:cNvPr id="26" name="Text 24"/>
          <p:cNvSpPr/>
          <p:nvPr/>
        </p:nvSpPr>
        <p:spPr>
          <a:xfrm>
            <a:off x="1508760" y="2843784"/>
            <a:ext cx="5029200" cy="228600"/>
          </a:xfrm>
          <a:prstGeom prst="rect">
            <a:avLst/>
          </a:prstGeom>
          <a:noFill/>
          <a:ln/>
        </p:spPr>
        <p:txBody>
          <a:bodyPr wrap="square" lIns="0" tIns="0" rIns="0" bIns="0" rtlCol="0" anchor="ctr"/>
          <a:lstStyle/>
          <a:p>
            <a:pPr indent="0" marL="0">
              <a:buNone/>
            </a:pPr>
            <a:r>
              <a:rPr lang="en-US" sz="900" dirty="0">
                <a:solidFill>
                  <a:srgbClr val="1B2D55"/>
                </a:solidFill>
              </a:rPr>
              <a:t>Competitive Landscape</a:t>
            </a:r>
            <a:endParaRPr lang="en-US" sz="900" dirty="0"/>
          </a:p>
        </p:txBody>
      </p:sp>
      <p:sp>
        <p:nvSpPr>
          <p:cNvPr id="27" name="Text 25"/>
          <p:cNvSpPr/>
          <p:nvPr/>
        </p:nvSpPr>
        <p:spPr>
          <a:xfrm>
            <a:off x="6858000" y="2843784"/>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09</a:t>
            </a:r>
            <a:endParaRPr lang="en-US" sz="900" dirty="0"/>
          </a:p>
        </p:txBody>
      </p:sp>
      <p:sp>
        <p:nvSpPr>
          <p:cNvPr id="28" name="Shape 26"/>
          <p:cNvSpPr/>
          <p:nvPr/>
        </p:nvSpPr>
        <p:spPr>
          <a:xfrm>
            <a:off x="1371600" y="3127248"/>
            <a:ext cx="6400800" cy="338328"/>
          </a:xfrm>
          <a:prstGeom prst="rect">
            <a:avLst/>
          </a:prstGeom>
          <a:solidFill>
            <a:srgbClr val="FFFFFF"/>
          </a:solidFill>
          <a:ln w="12700">
            <a:solidFill>
              <a:srgbClr val="FFFFFF"/>
            </a:solidFill>
            <a:prstDash val="solid"/>
          </a:ln>
        </p:spPr>
      </p:sp>
      <p:sp>
        <p:nvSpPr>
          <p:cNvPr id="29" name="Text 27"/>
          <p:cNvSpPr/>
          <p:nvPr/>
        </p:nvSpPr>
        <p:spPr>
          <a:xfrm>
            <a:off x="1508760" y="3182112"/>
            <a:ext cx="5029200" cy="228600"/>
          </a:xfrm>
          <a:prstGeom prst="rect">
            <a:avLst/>
          </a:prstGeom>
          <a:noFill/>
          <a:ln/>
        </p:spPr>
        <p:txBody>
          <a:bodyPr wrap="square" lIns="0" tIns="0" rIns="0" bIns="0" rtlCol="0" anchor="ctr"/>
          <a:lstStyle/>
          <a:p>
            <a:pPr indent="0" marL="0">
              <a:buNone/>
            </a:pPr>
            <a:r>
              <a:rPr lang="en-US" sz="900" dirty="0">
                <a:solidFill>
                  <a:srgbClr val="1B2D55"/>
                </a:solidFill>
              </a:rPr>
              <a:t>Business Model &amp; Financials</a:t>
            </a:r>
            <a:endParaRPr lang="en-US" sz="900" dirty="0"/>
          </a:p>
        </p:txBody>
      </p:sp>
      <p:sp>
        <p:nvSpPr>
          <p:cNvPr id="30" name="Text 28"/>
          <p:cNvSpPr/>
          <p:nvPr/>
        </p:nvSpPr>
        <p:spPr>
          <a:xfrm>
            <a:off x="6858000" y="3182112"/>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10</a:t>
            </a:r>
            <a:endParaRPr lang="en-US" sz="900" dirty="0"/>
          </a:p>
        </p:txBody>
      </p:sp>
      <p:sp>
        <p:nvSpPr>
          <p:cNvPr id="31" name="Shape 29"/>
          <p:cNvSpPr/>
          <p:nvPr/>
        </p:nvSpPr>
        <p:spPr>
          <a:xfrm>
            <a:off x="1371600" y="3465576"/>
            <a:ext cx="6400800" cy="338328"/>
          </a:xfrm>
          <a:prstGeom prst="rect">
            <a:avLst/>
          </a:prstGeom>
          <a:solidFill>
            <a:srgbClr val="F4F6FA"/>
          </a:solidFill>
          <a:ln w="12700">
            <a:solidFill>
              <a:srgbClr val="F4F6FA"/>
            </a:solidFill>
            <a:prstDash val="solid"/>
          </a:ln>
        </p:spPr>
      </p:sp>
      <p:sp>
        <p:nvSpPr>
          <p:cNvPr id="32" name="Text 30"/>
          <p:cNvSpPr/>
          <p:nvPr/>
        </p:nvSpPr>
        <p:spPr>
          <a:xfrm>
            <a:off x="1508760" y="3520440"/>
            <a:ext cx="5029200" cy="228600"/>
          </a:xfrm>
          <a:prstGeom prst="rect">
            <a:avLst/>
          </a:prstGeom>
          <a:noFill/>
          <a:ln/>
        </p:spPr>
        <p:txBody>
          <a:bodyPr wrap="square" lIns="0" tIns="0" rIns="0" bIns="0" rtlCol="0" anchor="ctr"/>
          <a:lstStyle/>
          <a:p>
            <a:pPr indent="0" marL="0">
              <a:buNone/>
            </a:pPr>
            <a:r>
              <a:rPr lang="en-US" sz="900" dirty="0">
                <a:solidFill>
                  <a:srgbClr val="1B2D55"/>
                </a:solidFill>
              </a:rPr>
              <a:t>Historical Financials</a:t>
            </a:r>
            <a:endParaRPr lang="en-US" sz="900" dirty="0"/>
          </a:p>
        </p:txBody>
      </p:sp>
      <p:sp>
        <p:nvSpPr>
          <p:cNvPr id="33" name="Text 31"/>
          <p:cNvSpPr/>
          <p:nvPr/>
        </p:nvSpPr>
        <p:spPr>
          <a:xfrm>
            <a:off x="6858000" y="3520440"/>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11</a:t>
            </a:r>
            <a:endParaRPr lang="en-US" sz="900" dirty="0"/>
          </a:p>
        </p:txBody>
      </p:sp>
      <p:sp>
        <p:nvSpPr>
          <p:cNvPr id="34" name="Shape 32"/>
          <p:cNvSpPr/>
          <p:nvPr/>
        </p:nvSpPr>
        <p:spPr>
          <a:xfrm>
            <a:off x="1371600" y="3803904"/>
            <a:ext cx="6400800" cy="338328"/>
          </a:xfrm>
          <a:prstGeom prst="rect">
            <a:avLst/>
          </a:prstGeom>
          <a:solidFill>
            <a:srgbClr val="FFFFFF"/>
          </a:solidFill>
          <a:ln w="12700">
            <a:solidFill>
              <a:srgbClr val="FFFFFF"/>
            </a:solidFill>
            <a:prstDash val="solid"/>
          </a:ln>
        </p:spPr>
      </p:sp>
      <p:sp>
        <p:nvSpPr>
          <p:cNvPr id="35" name="Text 33"/>
          <p:cNvSpPr/>
          <p:nvPr/>
        </p:nvSpPr>
        <p:spPr>
          <a:xfrm>
            <a:off x="1508760" y="3858768"/>
            <a:ext cx="5029200" cy="228600"/>
          </a:xfrm>
          <a:prstGeom prst="rect">
            <a:avLst/>
          </a:prstGeom>
          <a:noFill/>
          <a:ln/>
        </p:spPr>
        <p:txBody>
          <a:bodyPr wrap="square" lIns="0" tIns="0" rIns="0" bIns="0" rtlCol="0" anchor="ctr"/>
          <a:lstStyle/>
          <a:p>
            <a:pPr indent="0" marL="0">
              <a:buNone/>
            </a:pPr>
            <a:r>
              <a:rPr lang="en-US" sz="900" dirty="0">
                <a:solidFill>
                  <a:srgbClr val="1B2D55"/>
                </a:solidFill>
              </a:rPr>
              <a:t>Financial Projections</a:t>
            </a:r>
            <a:endParaRPr lang="en-US" sz="900" dirty="0"/>
          </a:p>
        </p:txBody>
      </p:sp>
      <p:sp>
        <p:nvSpPr>
          <p:cNvPr id="36" name="Text 34"/>
          <p:cNvSpPr/>
          <p:nvPr/>
        </p:nvSpPr>
        <p:spPr>
          <a:xfrm>
            <a:off x="6858000" y="3858768"/>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12</a:t>
            </a:r>
            <a:endParaRPr lang="en-US" sz="900" dirty="0"/>
          </a:p>
        </p:txBody>
      </p:sp>
      <p:sp>
        <p:nvSpPr>
          <p:cNvPr id="37" name="Shape 35"/>
          <p:cNvSpPr/>
          <p:nvPr/>
        </p:nvSpPr>
        <p:spPr>
          <a:xfrm>
            <a:off x="1371600" y="4142232"/>
            <a:ext cx="6400800" cy="338328"/>
          </a:xfrm>
          <a:prstGeom prst="rect">
            <a:avLst/>
          </a:prstGeom>
          <a:solidFill>
            <a:srgbClr val="F4F6FA"/>
          </a:solidFill>
          <a:ln w="12700">
            <a:solidFill>
              <a:srgbClr val="F4F6FA"/>
            </a:solidFill>
            <a:prstDash val="solid"/>
          </a:ln>
        </p:spPr>
      </p:sp>
      <p:sp>
        <p:nvSpPr>
          <p:cNvPr id="38" name="Text 36"/>
          <p:cNvSpPr/>
          <p:nvPr/>
        </p:nvSpPr>
        <p:spPr>
          <a:xfrm>
            <a:off x="1508760" y="4197096"/>
            <a:ext cx="5029200" cy="228600"/>
          </a:xfrm>
          <a:prstGeom prst="rect">
            <a:avLst/>
          </a:prstGeom>
          <a:noFill/>
          <a:ln/>
        </p:spPr>
        <p:txBody>
          <a:bodyPr wrap="square" lIns="0" tIns="0" rIns="0" bIns="0" rtlCol="0" anchor="ctr"/>
          <a:lstStyle/>
          <a:p>
            <a:pPr indent="0" marL="0">
              <a:buNone/>
            </a:pPr>
            <a:r>
              <a:rPr lang="en-US" sz="900" dirty="0">
                <a:solidFill>
                  <a:srgbClr val="1B2D55"/>
                </a:solidFill>
              </a:rPr>
              <a:t>Capital Structure</a:t>
            </a:r>
            <a:endParaRPr lang="en-US" sz="900" dirty="0"/>
          </a:p>
        </p:txBody>
      </p:sp>
      <p:sp>
        <p:nvSpPr>
          <p:cNvPr id="39" name="Text 37"/>
          <p:cNvSpPr/>
          <p:nvPr/>
        </p:nvSpPr>
        <p:spPr>
          <a:xfrm>
            <a:off x="6858000" y="4197096"/>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13</a:t>
            </a:r>
            <a:endParaRPr lang="en-US" sz="900" dirty="0"/>
          </a:p>
        </p:txBody>
      </p:sp>
      <p:sp>
        <p:nvSpPr>
          <p:cNvPr id="40" name="Shape 38"/>
          <p:cNvSpPr/>
          <p:nvPr/>
        </p:nvSpPr>
        <p:spPr>
          <a:xfrm>
            <a:off x="1371600" y="4480560"/>
            <a:ext cx="6400800" cy="338328"/>
          </a:xfrm>
          <a:prstGeom prst="rect">
            <a:avLst/>
          </a:prstGeom>
          <a:solidFill>
            <a:srgbClr val="FFFFFF"/>
          </a:solidFill>
          <a:ln w="12700">
            <a:solidFill>
              <a:srgbClr val="FFFFFF"/>
            </a:solidFill>
            <a:prstDash val="solid"/>
          </a:ln>
        </p:spPr>
      </p:sp>
      <p:sp>
        <p:nvSpPr>
          <p:cNvPr id="41" name="Text 39"/>
          <p:cNvSpPr/>
          <p:nvPr/>
        </p:nvSpPr>
        <p:spPr>
          <a:xfrm>
            <a:off x="1508760" y="4535424"/>
            <a:ext cx="5029200" cy="228600"/>
          </a:xfrm>
          <a:prstGeom prst="rect">
            <a:avLst/>
          </a:prstGeom>
          <a:noFill/>
          <a:ln/>
        </p:spPr>
        <p:txBody>
          <a:bodyPr wrap="square" lIns="0" tIns="0" rIns="0" bIns="0" rtlCol="0" anchor="ctr"/>
          <a:lstStyle/>
          <a:p>
            <a:pPr indent="0" marL="0">
              <a:buNone/>
            </a:pPr>
            <a:r>
              <a:rPr lang="en-US" sz="900" dirty="0">
                <a:solidFill>
                  <a:srgbClr val="1B2D55"/>
                </a:solidFill>
              </a:rPr>
              <a:t>Transaction Overview</a:t>
            </a:r>
            <a:endParaRPr lang="en-US" sz="900" dirty="0"/>
          </a:p>
        </p:txBody>
      </p:sp>
      <p:sp>
        <p:nvSpPr>
          <p:cNvPr id="42" name="Text 40"/>
          <p:cNvSpPr/>
          <p:nvPr/>
        </p:nvSpPr>
        <p:spPr>
          <a:xfrm>
            <a:off x="6858000" y="4535424"/>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Executive Summary</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4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Executive Summary</a:t>
            </a:r>
            <a:endParaRPr lang="en-US" sz="1600" dirty="0"/>
          </a:p>
        </p:txBody>
      </p:sp>
      <p:sp>
        <p:nvSpPr>
          <p:cNvPr id="10" name="Text 8"/>
          <p:cNvSpPr/>
          <p:nvPr/>
        </p:nvSpPr>
        <p:spPr>
          <a:xfrm>
            <a:off x="457200" y="1005840"/>
            <a:ext cx="8229600" cy="1371600"/>
          </a:xfrm>
          <a:prstGeom prst="rect">
            <a:avLst/>
          </a:prstGeom>
          <a:noFill/>
          <a:ln/>
        </p:spPr>
        <p:txBody>
          <a:bodyPr wrap="square" lIns="0" tIns="0" rIns="0" bIns="0" rtlCol="0" anchor="ctr"/>
          <a:lstStyle/>
          <a:p>
            <a:pPr indent="0" marL="0">
              <a:buNone/>
            </a:pPr>
            <a:r>
              <a:rPr lang="en-US" sz="850" dirty="0">
                <a:solidFill>
                  <a:srgbClr val="4A5568"/>
                </a:solidFill>
              </a:rPr>
              <a:t>Cascade Outdoor Brands ("Cascade" or the "Company") is a premium designer and manufacturer of technical outdoor hardgoods — principally tents, backpacking shelters, and ultralight cookware — sold under two owned brands: Ridgeline (mid-market, $95 ASP) and Summit Series (premium, $285 ASP). Founded in 2009 by two former REI product managers, Cascade sells through a diversified omnichannel mix: DTC e-commerce (44%), specialty outdoor retail (REI, Backcountry, EVO; 38%), and international distributors across 22 countries (18%). The Company sources finished goods from 4 long-term manufacturing partners in Vietnam and Taiwan, complemented by a Colorado-based design and quality team of 28 engineers.</a:t>
            </a:r>
            <a:endParaRPr lang="en-US" sz="850" dirty="0"/>
          </a:p>
        </p:txBody>
      </p:sp>
      <p:sp>
        <p:nvSpPr>
          <p:cNvPr id="11" name="Shape 9"/>
          <p:cNvSpPr/>
          <p:nvPr/>
        </p:nvSpPr>
        <p:spPr>
          <a:xfrm>
            <a:off x="457200" y="2450592"/>
            <a:ext cx="8229600" cy="0"/>
          </a:xfrm>
          <a:prstGeom prst="line">
            <a:avLst/>
          </a:prstGeom>
          <a:noFill/>
          <a:ln w="9525">
            <a:solidFill>
              <a:srgbClr val="D0D8E4"/>
            </a:solidFill>
            <a:prstDash val="solid"/>
          </a:ln>
        </p:spPr>
      </p:sp>
      <p:sp>
        <p:nvSpPr>
          <p:cNvPr id="12" name="Shape 10"/>
          <p:cNvSpPr/>
          <p:nvPr/>
        </p:nvSpPr>
        <p:spPr>
          <a:xfrm>
            <a:off x="365760" y="2514600"/>
            <a:ext cx="1371600" cy="868680"/>
          </a:xfrm>
          <a:prstGeom prst="rect">
            <a:avLst/>
          </a:prstGeom>
          <a:solidFill>
            <a:srgbClr val="FFFFFF"/>
          </a:solidFill>
          <a:ln w="9525">
            <a:solidFill>
              <a:srgbClr val="D0D8E4"/>
            </a:solidFill>
            <a:prstDash val="solid"/>
          </a:ln>
          <a:effectLst>
            <a:outerShdw sx="100000" sy="100000" kx="0" ky="0" algn="bl" rotWithShape="0" blurRad="50800" dist="25400" dir="8100000">
              <a:srgbClr val="000000">
                <a:alpha val="7000"/>
              </a:srgbClr>
            </a:outerShdw>
          </a:effectLst>
        </p:spPr>
      </p:sp>
      <p:sp>
        <p:nvSpPr>
          <p:cNvPr id="13" name="Text 11"/>
          <p:cNvSpPr/>
          <p:nvPr/>
        </p:nvSpPr>
        <p:spPr>
          <a:xfrm>
            <a:off x="475488" y="2606040"/>
            <a:ext cx="1152144" cy="228600"/>
          </a:xfrm>
          <a:prstGeom prst="rect">
            <a:avLst/>
          </a:prstGeom>
          <a:noFill/>
          <a:ln/>
        </p:spPr>
        <p:txBody>
          <a:bodyPr wrap="square" lIns="0" tIns="0" rIns="0" bIns="0" rtlCol="0" anchor="ctr"/>
          <a:lstStyle/>
          <a:p>
            <a:pPr indent="0" marL="0">
              <a:buNone/>
            </a:pPr>
            <a:r>
              <a:rPr lang="en-US" sz="750" b="1" dirty="0">
                <a:solidFill>
                  <a:srgbClr val="8898AA"/>
                </a:solidFill>
              </a:rPr>
              <a:t>Revenue</a:t>
            </a:r>
            <a:endParaRPr lang="en-US" sz="750" dirty="0"/>
          </a:p>
        </p:txBody>
      </p:sp>
      <p:sp>
        <p:nvSpPr>
          <p:cNvPr id="14" name="Text 12"/>
          <p:cNvSpPr/>
          <p:nvPr/>
        </p:nvSpPr>
        <p:spPr>
          <a:xfrm>
            <a:off x="475488" y="2807208"/>
            <a:ext cx="1152144" cy="347472"/>
          </a:xfrm>
          <a:prstGeom prst="rect">
            <a:avLst/>
          </a:prstGeom>
          <a:noFill/>
          <a:ln/>
        </p:spPr>
        <p:txBody>
          <a:bodyPr wrap="square" lIns="0" tIns="0" rIns="0" bIns="0" rtlCol="0" anchor="ctr"/>
          <a:lstStyle/>
          <a:p>
            <a:pPr indent="0" marL="0">
              <a:buNone/>
            </a:pPr>
            <a:r>
              <a:rPr lang="en-US" sz="2000" b="1" dirty="0">
                <a:solidFill>
                  <a:srgbClr val="1B2D55"/>
                </a:solidFill>
              </a:rPr>
              <a:t>$112M</a:t>
            </a:r>
            <a:endParaRPr lang="en-US" sz="2000" dirty="0"/>
          </a:p>
        </p:txBody>
      </p:sp>
      <p:sp>
        <p:nvSpPr>
          <p:cNvPr id="15" name="Text 13"/>
          <p:cNvSpPr/>
          <p:nvPr/>
        </p:nvSpPr>
        <p:spPr>
          <a:xfrm>
            <a:off x="475488" y="3136392"/>
            <a:ext cx="1152144" cy="201168"/>
          </a:xfrm>
          <a:prstGeom prst="rect">
            <a:avLst/>
          </a:prstGeom>
          <a:noFill/>
          <a:ln/>
        </p:spPr>
        <p:txBody>
          <a:bodyPr wrap="square" lIns="0" tIns="0" rIns="0" bIns="0" rtlCol="0" anchor="ctr"/>
          <a:lstStyle/>
          <a:p>
            <a:pPr indent="0" marL="0">
              <a:buNone/>
            </a:pPr>
            <a:r>
              <a:rPr lang="en-US" sz="750" dirty="0">
                <a:solidFill>
                  <a:srgbClr val="4A5568"/>
                </a:solidFill>
              </a:rPr>
              <a:t>LTM</a:t>
            </a:r>
            <a:endParaRPr lang="en-US" sz="750" dirty="0"/>
          </a:p>
        </p:txBody>
      </p:sp>
      <p:sp>
        <p:nvSpPr>
          <p:cNvPr id="16" name="Shape 14"/>
          <p:cNvSpPr/>
          <p:nvPr/>
        </p:nvSpPr>
        <p:spPr>
          <a:xfrm>
            <a:off x="1810512" y="2514600"/>
            <a:ext cx="1371600" cy="868680"/>
          </a:xfrm>
          <a:prstGeom prst="rect">
            <a:avLst/>
          </a:prstGeom>
          <a:solidFill>
            <a:srgbClr val="FFFFFF"/>
          </a:solidFill>
          <a:ln w="9525">
            <a:solidFill>
              <a:srgbClr val="D0D8E4"/>
            </a:solidFill>
            <a:prstDash val="solid"/>
          </a:ln>
          <a:effectLst>
            <a:outerShdw sx="100000" sy="100000" kx="0" ky="0" algn="bl" rotWithShape="0" blurRad="50800" dist="25400" dir="8100000">
              <a:srgbClr val="000000">
                <a:alpha val="7000"/>
              </a:srgbClr>
            </a:outerShdw>
          </a:effectLst>
        </p:spPr>
      </p:sp>
      <p:sp>
        <p:nvSpPr>
          <p:cNvPr id="17" name="Text 15"/>
          <p:cNvSpPr/>
          <p:nvPr/>
        </p:nvSpPr>
        <p:spPr>
          <a:xfrm>
            <a:off x="1920240" y="2606040"/>
            <a:ext cx="1152144" cy="228600"/>
          </a:xfrm>
          <a:prstGeom prst="rect">
            <a:avLst/>
          </a:prstGeom>
          <a:noFill/>
          <a:ln/>
        </p:spPr>
        <p:txBody>
          <a:bodyPr wrap="square" lIns="0" tIns="0" rIns="0" bIns="0" rtlCol="0" anchor="ctr"/>
          <a:lstStyle/>
          <a:p>
            <a:pPr indent="0" marL="0">
              <a:buNone/>
            </a:pPr>
            <a:r>
              <a:rPr lang="en-US" sz="750" b="1" dirty="0">
                <a:solidFill>
                  <a:srgbClr val="8898AA"/>
                </a:solidFill>
              </a:rPr>
              <a:t>EBITDA</a:t>
            </a:r>
            <a:endParaRPr lang="en-US" sz="750" dirty="0"/>
          </a:p>
        </p:txBody>
      </p:sp>
      <p:sp>
        <p:nvSpPr>
          <p:cNvPr id="18" name="Text 16"/>
          <p:cNvSpPr/>
          <p:nvPr/>
        </p:nvSpPr>
        <p:spPr>
          <a:xfrm>
            <a:off x="1920240" y="2807208"/>
            <a:ext cx="1152144" cy="347472"/>
          </a:xfrm>
          <a:prstGeom prst="rect">
            <a:avLst/>
          </a:prstGeom>
          <a:noFill/>
          <a:ln/>
        </p:spPr>
        <p:txBody>
          <a:bodyPr wrap="square" lIns="0" tIns="0" rIns="0" bIns="0" rtlCol="0" anchor="ctr"/>
          <a:lstStyle/>
          <a:p>
            <a:pPr indent="0" marL="0">
              <a:buNone/>
            </a:pPr>
            <a:r>
              <a:rPr lang="en-US" sz="2000" b="1" dirty="0">
                <a:solidFill>
                  <a:srgbClr val="1B2D55"/>
                </a:solidFill>
              </a:rPr>
              <a:t>$14.0M</a:t>
            </a:r>
            <a:endParaRPr lang="en-US" sz="2000" dirty="0"/>
          </a:p>
        </p:txBody>
      </p:sp>
      <p:sp>
        <p:nvSpPr>
          <p:cNvPr id="19" name="Text 17"/>
          <p:cNvSpPr/>
          <p:nvPr/>
        </p:nvSpPr>
        <p:spPr>
          <a:xfrm>
            <a:off x="1920240" y="3136392"/>
            <a:ext cx="1152144" cy="201168"/>
          </a:xfrm>
          <a:prstGeom prst="rect">
            <a:avLst/>
          </a:prstGeom>
          <a:noFill/>
          <a:ln/>
        </p:spPr>
        <p:txBody>
          <a:bodyPr wrap="square" lIns="0" tIns="0" rIns="0" bIns="0" rtlCol="0" anchor="ctr"/>
          <a:lstStyle/>
          <a:p>
            <a:pPr indent="0" marL="0">
              <a:buNone/>
            </a:pPr>
            <a:r>
              <a:rPr lang="en-US" sz="750" dirty="0">
                <a:solidFill>
                  <a:srgbClr val="4A5568"/>
                </a:solidFill>
              </a:rPr>
              <a:t>LTM</a:t>
            </a:r>
            <a:endParaRPr lang="en-US" sz="750" dirty="0"/>
          </a:p>
        </p:txBody>
      </p:sp>
      <p:sp>
        <p:nvSpPr>
          <p:cNvPr id="20" name="Shape 18"/>
          <p:cNvSpPr/>
          <p:nvPr/>
        </p:nvSpPr>
        <p:spPr>
          <a:xfrm>
            <a:off x="3255264" y="2514600"/>
            <a:ext cx="1371600" cy="868680"/>
          </a:xfrm>
          <a:prstGeom prst="rect">
            <a:avLst/>
          </a:prstGeom>
          <a:solidFill>
            <a:srgbClr val="FFFFFF"/>
          </a:solidFill>
          <a:ln w="9525">
            <a:solidFill>
              <a:srgbClr val="D0D8E4"/>
            </a:solidFill>
            <a:prstDash val="solid"/>
          </a:ln>
          <a:effectLst>
            <a:outerShdw sx="100000" sy="100000" kx="0" ky="0" algn="bl" rotWithShape="0" blurRad="50800" dist="25400" dir="8100000">
              <a:srgbClr val="000000">
                <a:alpha val="7000"/>
              </a:srgbClr>
            </a:outerShdw>
          </a:effectLst>
        </p:spPr>
      </p:sp>
      <p:sp>
        <p:nvSpPr>
          <p:cNvPr id="21" name="Text 19"/>
          <p:cNvSpPr/>
          <p:nvPr/>
        </p:nvSpPr>
        <p:spPr>
          <a:xfrm>
            <a:off x="3364992" y="2606040"/>
            <a:ext cx="1152144" cy="228600"/>
          </a:xfrm>
          <a:prstGeom prst="rect">
            <a:avLst/>
          </a:prstGeom>
          <a:noFill/>
          <a:ln/>
        </p:spPr>
        <p:txBody>
          <a:bodyPr wrap="square" lIns="0" tIns="0" rIns="0" bIns="0" rtlCol="0" anchor="ctr"/>
          <a:lstStyle/>
          <a:p>
            <a:pPr indent="0" marL="0">
              <a:buNone/>
            </a:pPr>
            <a:r>
              <a:rPr lang="en-US" sz="750" b="1" dirty="0">
                <a:solidFill>
                  <a:srgbClr val="8898AA"/>
                </a:solidFill>
              </a:rPr>
              <a:t>Margin</a:t>
            </a:r>
            <a:endParaRPr lang="en-US" sz="750" dirty="0"/>
          </a:p>
        </p:txBody>
      </p:sp>
      <p:sp>
        <p:nvSpPr>
          <p:cNvPr id="22" name="Text 20"/>
          <p:cNvSpPr/>
          <p:nvPr/>
        </p:nvSpPr>
        <p:spPr>
          <a:xfrm>
            <a:off x="3364992" y="2807208"/>
            <a:ext cx="1152144" cy="347472"/>
          </a:xfrm>
          <a:prstGeom prst="rect">
            <a:avLst/>
          </a:prstGeom>
          <a:noFill/>
          <a:ln/>
        </p:spPr>
        <p:txBody>
          <a:bodyPr wrap="square" lIns="0" tIns="0" rIns="0" bIns="0" rtlCol="0" anchor="ctr"/>
          <a:lstStyle/>
          <a:p>
            <a:pPr indent="0" marL="0">
              <a:buNone/>
            </a:pPr>
            <a:r>
              <a:rPr lang="en-US" sz="2000" b="1" dirty="0">
                <a:solidFill>
                  <a:srgbClr val="1B2D55"/>
                </a:solidFill>
              </a:rPr>
              <a:t>12.5%</a:t>
            </a:r>
            <a:endParaRPr lang="en-US" sz="2000" dirty="0"/>
          </a:p>
        </p:txBody>
      </p:sp>
      <p:sp>
        <p:nvSpPr>
          <p:cNvPr id="23" name="Text 21"/>
          <p:cNvSpPr/>
          <p:nvPr/>
        </p:nvSpPr>
        <p:spPr>
          <a:xfrm>
            <a:off x="3364992" y="3136392"/>
            <a:ext cx="1152144" cy="201168"/>
          </a:xfrm>
          <a:prstGeom prst="rect">
            <a:avLst/>
          </a:prstGeom>
          <a:noFill/>
          <a:ln/>
        </p:spPr>
        <p:txBody>
          <a:bodyPr wrap="square" lIns="0" tIns="0" rIns="0" bIns="0" rtlCol="0" anchor="ctr"/>
          <a:lstStyle/>
          <a:p>
            <a:pPr indent="0" marL="0">
              <a:buNone/>
            </a:pPr>
            <a:r>
              <a:rPr lang="en-US" sz="750" dirty="0">
                <a:solidFill>
                  <a:srgbClr val="4A5568"/>
                </a:solidFill>
              </a:rPr>
              <a:t>LTM</a:t>
            </a:r>
            <a:endParaRPr lang="en-US" sz="750" dirty="0"/>
          </a:p>
        </p:txBody>
      </p:sp>
      <p:sp>
        <p:nvSpPr>
          <p:cNvPr id="24" name="Shape 22"/>
          <p:cNvSpPr/>
          <p:nvPr/>
        </p:nvSpPr>
        <p:spPr>
          <a:xfrm>
            <a:off x="4700016" y="2514600"/>
            <a:ext cx="1371600" cy="868680"/>
          </a:xfrm>
          <a:prstGeom prst="rect">
            <a:avLst/>
          </a:prstGeom>
          <a:solidFill>
            <a:srgbClr val="FFFFFF"/>
          </a:solidFill>
          <a:ln w="9525">
            <a:solidFill>
              <a:srgbClr val="D0D8E4"/>
            </a:solidFill>
            <a:prstDash val="solid"/>
          </a:ln>
          <a:effectLst>
            <a:outerShdw sx="100000" sy="100000" kx="0" ky="0" algn="bl" rotWithShape="0" blurRad="50800" dist="25400" dir="8100000">
              <a:srgbClr val="000000">
                <a:alpha val="7000"/>
              </a:srgbClr>
            </a:outerShdw>
          </a:effectLst>
        </p:spPr>
      </p:sp>
      <p:sp>
        <p:nvSpPr>
          <p:cNvPr id="25" name="Text 23"/>
          <p:cNvSpPr/>
          <p:nvPr/>
        </p:nvSpPr>
        <p:spPr>
          <a:xfrm>
            <a:off x="4809744" y="2606040"/>
            <a:ext cx="1152144" cy="228600"/>
          </a:xfrm>
          <a:prstGeom prst="rect">
            <a:avLst/>
          </a:prstGeom>
          <a:noFill/>
          <a:ln/>
        </p:spPr>
        <p:txBody>
          <a:bodyPr wrap="square" lIns="0" tIns="0" rIns="0" bIns="0" rtlCol="0" anchor="ctr"/>
          <a:lstStyle/>
          <a:p>
            <a:pPr indent="0" marL="0">
              <a:buNone/>
            </a:pPr>
            <a:r>
              <a:rPr lang="en-US" sz="750" b="1" dirty="0">
                <a:solidFill>
                  <a:srgbClr val="8898AA"/>
                </a:solidFill>
              </a:rPr>
              <a:t>DTC Mix</a:t>
            </a:r>
            <a:endParaRPr lang="en-US" sz="750" dirty="0"/>
          </a:p>
        </p:txBody>
      </p:sp>
      <p:sp>
        <p:nvSpPr>
          <p:cNvPr id="26" name="Text 24"/>
          <p:cNvSpPr/>
          <p:nvPr/>
        </p:nvSpPr>
        <p:spPr>
          <a:xfrm>
            <a:off x="4809744" y="2807208"/>
            <a:ext cx="1152144" cy="347472"/>
          </a:xfrm>
          <a:prstGeom prst="rect">
            <a:avLst/>
          </a:prstGeom>
          <a:noFill/>
          <a:ln/>
        </p:spPr>
        <p:txBody>
          <a:bodyPr wrap="square" lIns="0" tIns="0" rIns="0" bIns="0" rtlCol="0" anchor="ctr"/>
          <a:lstStyle/>
          <a:p>
            <a:pPr indent="0" marL="0">
              <a:buNone/>
            </a:pPr>
            <a:r>
              <a:rPr lang="en-US" sz="2000" b="1" dirty="0">
                <a:solidFill>
                  <a:srgbClr val="1B2D55"/>
                </a:solidFill>
              </a:rPr>
              <a:t>44%</a:t>
            </a:r>
            <a:endParaRPr lang="en-US" sz="2000" dirty="0"/>
          </a:p>
        </p:txBody>
      </p:sp>
      <p:sp>
        <p:nvSpPr>
          <p:cNvPr id="27" name="Text 25"/>
          <p:cNvSpPr/>
          <p:nvPr/>
        </p:nvSpPr>
        <p:spPr>
          <a:xfrm>
            <a:off x="4809744" y="3136392"/>
            <a:ext cx="1152144" cy="201168"/>
          </a:xfrm>
          <a:prstGeom prst="rect">
            <a:avLst/>
          </a:prstGeom>
          <a:noFill/>
          <a:ln/>
        </p:spPr>
        <p:txBody>
          <a:bodyPr wrap="square" lIns="0" tIns="0" rIns="0" bIns="0" rtlCol="0" anchor="ctr"/>
          <a:lstStyle/>
          <a:p>
            <a:pPr indent="0" marL="0">
              <a:buNone/>
            </a:pPr>
            <a:r>
              <a:rPr lang="en-US" sz="750" dirty="0">
                <a:solidFill>
                  <a:srgbClr val="4A5568"/>
                </a:solidFill>
              </a:rPr>
              <a:t>of Revenue</a:t>
            </a:r>
            <a:endParaRPr lang="en-US" sz="750" dirty="0"/>
          </a:p>
        </p:txBody>
      </p:sp>
      <p:sp>
        <p:nvSpPr>
          <p:cNvPr id="28" name="Shape 26"/>
          <p:cNvSpPr/>
          <p:nvPr/>
        </p:nvSpPr>
        <p:spPr>
          <a:xfrm>
            <a:off x="6144768" y="2514600"/>
            <a:ext cx="1371600" cy="868680"/>
          </a:xfrm>
          <a:prstGeom prst="rect">
            <a:avLst/>
          </a:prstGeom>
          <a:solidFill>
            <a:srgbClr val="FFFFFF"/>
          </a:solidFill>
          <a:ln w="9525">
            <a:solidFill>
              <a:srgbClr val="D0D8E4"/>
            </a:solidFill>
            <a:prstDash val="solid"/>
          </a:ln>
          <a:effectLst>
            <a:outerShdw sx="100000" sy="100000" kx="0" ky="0" algn="bl" rotWithShape="0" blurRad="50800" dist="25400" dir="8100000">
              <a:srgbClr val="000000">
                <a:alpha val="7000"/>
              </a:srgbClr>
            </a:outerShdw>
          </a:effectLst>
        </p:spPr>
      </p:sp>
      <p:sp>
        <p:nvSpPr>
          <p:cNvPr id="29" name="Text 27"/>
          <p:cNvSpPr/>
          <p:nvPr/>
        </p:nvSpPr>
        <p:spPr>
          <a:xfrm>
            <a:off x="6254496" y="2606040"/>
            <a:ext cx="1152144" cy="228600"/>
          </a:xfrm>
          <a:prstGeom prst="rect">
            <a:avLst/>
          </a:prstGeom>
          <a:noFill/>
          <a:ln/>
        </p:spPr>
        <p:txBody>
          <a:bodyPr wrap="square" lIns="0" tIns="0" rIns="0" bIns="0" rtlCol="0" anchor="ctr"/>
          <a:lstStyle/>
          <a:p>
            <a:pPr indent="0" marL="0">
              <a:buNone/>
            </a:pPr>
            <a:r>
              <a:rPr lang="en-US" sz="750" b="1" dirty="0">
                <a:solidFill>
                  <a:srgbClr val="8898AA"/>
                </a:solidFill>
              </a:rPr>
              <a:t>Summit Club</a:t>
            </a:r>
            <a:endParaRPr lang="en-US" sz="750" dirty="0"/>
          </a:p>
        </p:txBody>
      </p:sp>
      <p:sp>
        <p:nvSpPr>
          <p:cNvPr id="30" name="Text 28"/>
          <p:cNvSpPr/>
          <p:nvPr/>
        </p:nvSpPr>
        <p:spPr>
          <a:xfrm>
            <a:off x="6254496" y="2807208"/>
            <a:ext cx="1152144" cy="347472"/>
          </a:xfrm>
          <a:prstGeom prst="rect">
            <a:avLst/>
          </a:prstGeom>
          <a:noFill/>
          <a:ln/>
        </p:spPr>
        <p:txBody>
          <a:bodyPr wrap="square" lIns="0" tIns="0" rIns="0" bIns="0" rtlCol="0" anchor="ctr"/>
          <a:lstStyle/>
          <a:p>
            <a:pPr indent="0" marL="0">
              <a:buNone/>
            </a:pPr>
            <a:r>
              <a:rPr lang="en-US" sz="2000" b="1" dirty="0">
                <a:solidFill>
                  <a:srgbClr val="1B2D55"/>
                </a:solidFill>
              </a:rPr>
              <a:t>58K</a:t>
            </a:r>
            <a:endParaRPr lang="en-US" sz="2000" dirty="0"/>
          </a:p>
        </p:txBody>
      </p:sp>
      <p:sp>
        <p:nvSpPr>
          <p:cNvPr id="31" name="Text 29"/>
          <p:cNvSpPr/>
          <p:nvPr/>
        </p:nvSpPr>
        <p:spPr>
          <a:xfrm>
            <a:off x="6254496" y="3136392"/>
            <a:ext cx="1152144" cy="201168"/>
          </a:xfrm>
          <a:prstGeom prst="rect">
            <a:avLst/>
          </a:prstGeom>
          <a:noFill/>
          <a:ln/>
        </p:spPr>
        <p:txBody>
          <a:bodyPr wrap="square" lIns="0" tIns="0" rIns="0" bIns="0" rtlCol="0" anchor="ctr"/>
          <a:lstStyle/>
          <a:p>
            <a:pPr indent="0" marL="0">
              <a:buNone/>
            </a:pPr>
            <a:r>
              <a:rPr lang="en-US" sz="750" dirty="0">
                <a:solidFill>
                  <a:srgbClr val="4A5568"/>
                </a:solidFill>
              </a:rPr>
              <a:t>Paying Members</a:t>
            </a:r>
            <a:endParaRPr lang="en-US" sz="750" dirty="0"/>
          </a:p>
        </p:txBody>
      </p:sp>
      <p:sp>
        <p:nvSpPr>
          <p:cNvPr id="32" name="Shape 30"/>
          <p:cNvSpPr/>
          <p:nvPr/>
        </p:nvSpPr>
        <p:spPr>
          <a:xfrm>
            <a:off x="7589520" y="2514600"/>
            <a:ext cx="1371600" cy="868680"/>
          </a:xfrm>
          <a:prstGeom prst="rect">
            <a:avLst/>
          </a:prstGeom>
          <a:solidFill>
            <a:srgbClr val="FFFFFF"/>
          </a:solidFill>
          <a:ln w="9525">
            <a:solidFill>
              <a:srgbClr val="D0D8E4"/>
            </a:solidFill>
            <a:prstDash val="solid"/>
          </a:ln>
          <a:effectLst>
            <a:outerShdw sx="100000" sy="100000" kx="0" ky="0" algn="bl" rotWithShape="0" blurRad="50800" dist="25400" dir="8100000">
              <a:srgbClr val="000000">
                <a:alpha val="7000"/>
              </a:srgbClr>
            </a:outerShdw>
          </a:effectLst>
        </p:spPr>
      </p:sp>
      <p:sp>
        <p:nvSpPr>
          <p:cNvPr id="33" name="Text 31"/>
          <p:cNvSpPr/>
          <p:nvPr/>
        </p:nvSpPr>
        <p:spPr>
          <a:xfrm>
            <a:off x="7699248" y="2606040"/>
            <a:ext cx="1152144" cy="228600"/>
          </a:xfrm>
          <a:prstGeom prst="rect">
            <a:avLst/>
          </a:prstGeom>
          <a:noFill/>
          <a:ln/>
        </p:spPr>
        <p:txBody>
          <a:bodyPr wrap="square" lIns="0" tIns="0" rIns="0" bIns="0" rtlCol="0" anchor="ctr"/>
          <a:lstStyle/>
          <a:p>
            <a:pPr indent="0" marL="0">
              <a:buNone/>
            </a:pPr>
            <a:r>
              <a:rPr lang="en-US" sz="750" b="1" dirty="0">
                <a:solidFill>
                  <a:srgbClr val="8898AA"/>
                </a:solidFill>
              </a:rPr>
              <a:t>NPS</a:t>
            </a:r>
            <a:endParaRPr lang="en-US" sz="750" dirty="0"/>
          </a:p>
        </p:txBody>
      </p:sp>
      <p:sp>
        <p:nvSpPr>
          <p:cNvPr id="34" name="Text 32"/>
          <p:cNvSpPr/>
          <p:nvPr/>
        </p:nvSpPr>
        <p:spPr>
          <a:xfrm>
            <a:off x="7699248" y="2807208"/>
            <a:ext cx="1152144" cy="347472"/>
          </a:xfrm>
          <a:prstGeom prst="rect">
            <a:avLst/>
          </a:prstGeom>
          <a:noFill/>
          <a:ln/>
        </p:spPr>
        <p:txBody>
          <a:bodyPr wrap="square" lIns="0" tIns="0" rIns="0" bIns="0" rtlCol="0" anchor="ctr"/>
          <a:lstStyle/>
          <a:p>
            <a:pPr indent="0" marL="0">
              <a:buNone/>
            </a:pPr>
            <a:r>
              <a:rPr lang="en-US" sz="2000" b="1" dirty="0">
                <a:solidFill>
                  <a:srgbClr val="1B2D55"/>
                </a:solidFill>
              </a:rPr>
              <a:t>74</a:t>
            </a:r>
            <a:endParaRPr lang="en-US" sz="2000" dirty="0"/>
          </a:p>
        </p:txBody>
      </p:sp>
      <p:sp>
        <p:nvSpPr>
          <p:cNvPr id="35" name="Text 33"/>
          <p:cNvSpPr/>
          <p:nvPr/>
        </p:nvSpPr>
        <p:spPr>
          <a:xfrm>
            <a:off x="7699248" y="3136392"/>
            <a:ext cx="1152144" cy="201168"/>
          </a:xfrm>
          <a:prstGeom prst="rect">
            <a:avLst/>
          </a:prstGeom>
          <a:noFill/>
          <a:ln/>
        </p:spPr>
        <p:txBody>
          <a:bodyPr wrap="square" lIns="0" tIns="0" rIns="0" bIns="0" rtlCol="0" anchor="ctr"/>
          <a:lstStyle/>
          <a:p>
            <a:pPr indent="0" marL="0">
              <a:buNone/>
            </a:pPr>
            <a:r>
              <a:rPr lang="en-US" sz="750" dirty="0">
                <a:solidFill>
                  <a:srgbClr val="4A5568"/>
                </a:solidFill>
              </a:rPr>
              <a:t>Summit Series</a:t>
            </a:r>
            <a:endParaRPr lang="en-US" sz="750" dirty="0"/>
          </a:p>
        </p:txBody>
      </p:sp>
      <p:sp>
        <p:nvSpPr>
          <p:cNvPr id="36" name="Shape 34"/>
          <p:cNvSpPr/>
          <p:nvPr/>
        </p:nvSpPr>
        <p:spPr>
          <a:xfrm>
            <a:off x="457200" y="3520440"/>
            <a:ext cx="8229600" cy="0"/>
          </a:xfrm>
          <a:prstGeom prst="line">
            <a:avLst/>
          </a:prstGeom>
          <a:noFill/>
          <a:ln w="9525">
            <a:solidFill>
              <a:srgbClr val="D0D8E4"/>
            </a:solidFill>
            <a:prstDash val="solid"/>
          </a:ln>
        </p:spPr>
      </p:sp>
      <p:sp>
        <p:nvSpPr>
          <p:cNvPr id="37" name="Text 35"/>
          <p:cNvSpPr/>
          <p:nvPr/>
        </p:nvSpPr>
        <p:spPr>
          <a:xfrm>
            <a:off x="457200" y="3584448"/>
            <a:ext cx="8229600" cy="256032"/>
          </a:xfrm>
          <a:prstGeom prst="rect">
            <a:avLst/>
          </a:prstGeom>
          <a:noFill/>
          <a:ln/>
        </p:spPr>
        <p:txBody>
          <a:bodyPr wrap="square" lIns="0" tIns="0" rIns="0" bIns="0" rtlCol="0" anchor="ctr"/>
          <a:lstStyle/>
          <a:p>
            <a:pPr indent="0" marL="0">
              <a:buNone/>
            </a:pPr>
            <a:r>
              <a:rPr lang="en-US" sz="900" b="1" dirty="0">
                <a:solidFill>
                  <a:srgbClr val="1B2D55"/>
                </a:solidFill>
              </a:rPr>
              <a:t>Why Now?</a:t>
            </a:r>
            <a:endParaRPr lang="en-US" sz="900" dirty="0"/>
          </a:p>
        </p:txBody>
      </p:sp>
      <p:sp>
        <p:nvSpPr>
          <p:cNvPr id="38" name="Text 36"/>
          <p:cNvSpPr/>
          <p:nvPr/>
        </p:nvSpPr>
        <p:spPr>
          <a:xfrm>
            <a:off x="457200" y="3858768"/>
            <a:ext cx="8229600" cy="594360"/>
          </a:xfrm>
          <a:prstGeom prst="rect">
            <a:avLst/>
          </a:prstGeom>
          <a:noFill/>
          <a:ln/>
        </p:spPr>
        <p:txBody>
          <a:bodyPr wrap="square" lIns="0" tIns="0" rIns="0" bIns="0" rtlCol="0" anchor="ctr"/>
          <a:lstStyle/>
          <a:p>
            <a:pPr indent="0" marL="0">
              <a:buNone/>
            </a:pPr>
            <a:r>
              <a:rPr lang="en-US" sz="800" dirty="0">
                <a:solidFill>
                  <a:srgbClr val="4A5568"/>
                </a:solidFill>
              </a:rPr>
              <a:t>Ridgeline targets weekend campers and trail runners (ASP $95); Summit Series serves thru-hikers and mountaineers (ASP $285)  |  DTC e-commerce grew from 29% to 44% of revenue over 3 years; gross margin 15pp higher than wholesale channel</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Investment Highlights</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5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Key Investment Highlights</a:t>
            </a:r>
            <a:endParaRPr lang="en-US" sz="1600" dirty="0"/>
          </a:p>
        </p:txBody>
      </p:sp>
      <p:sp>
        <p:nvSpPr>
          <p:cNvPr id="10" name="Shape 8"/>
          <p:cNvSpPr/>
          <p:nvPr/>
        </p:nvSpPr>
        <p:spPr>
          <a:xfrm>
            <a:off x="457200" y="1024128"/>
            <a:ext cx="8229600" cy="868680"/>
          </a:xfrm>
          <a:prstGeom prst="rect">
            <a:avLst/>
          </a:prstGeom>
          <a:solidFill>
            <a:srgbClr val="FFFFFF"/>
          </a:solidFill>
          <a:ln w="12700">
            <a:solidFill>
              <a:srgbClr val="D0D8E4"/>
            </a:solidFill>
            <a:prstDash val="solid"/>
          </a:ln>
        </p:spPr>
      </p:sp>
      <p:sp>
        <p:nvSpPr>
          <p:cNvPr id="11" name="Shape 9"/>
          <p:cNvSpPr/>
          <p:nvPr/>
        </p:nvSpPr>
        <p:spPr>
          <a:xfrm>
            <a:off x="457200" y="1024128"/>
            <a:ext cx="54864" cy="868680"/>
          </a:xfrm>
          <a:prstGeom prst="rect">
            <a:avLst/>
          </a:prstGeom>
          <a:solidFill>
            <a:srgbClr val="C8A83C"/>
          </a:solidFill>
          <a:ln w="12700">
            <a:solidFill>
              <a:srgbClr val="C8A83C"/>
            </a:solidFill>
            <a:prstDash val="solid"/>
          </a:ln>
        </p:spPr>
      </p:sp>
      <p:sp>
        <p:nvSpPr>
          <p:cNvPr id="12" name="Text 10"/>
          <p:cNvSpPr/>
          <p:nvPr/>
        </p:nvSpPr>
        <p:spPr>
          <a:xfrm>
            <a:off x="594360" y="1097280"/>
            <a:ext cx="365760" cy="274320"/>
          </a:xfrm>
          <a:prstGeom prst="rect">
            <a:avLst/>
          </a:prstGeom>
          <a:noFill/>
          <a:ln/>
        </p:spPr>
        <p:txBody>
          <a:bodyPr wrap="square" lIns="0" tIns="0" rIns="0" bIns="0" rtlCol="0" anchor="ctr"/>
          <a:lstStyle/>
          <a:p>
            <a:pPr indent="0" marL="0">
              <a:buNone/>
            </a:pPr>
            <a:r>
              <a:rPr lang="en-US" sz="900" b="1" dirty="0">
                <a:solidFill>
                  <a:srgbClr val="C8A83C"/>
                </a:solidFill>
              </a:rPr>
              <a:t>1</a:t>
            </a:r>
            <a:endParaRPr lang="en-US" sz="900" dirty="0"/>
          </a:p>
        </p:txBody>
      </p:sp>
      <p:sp>
        <p:nvSpPr>
          <p:cNvPr id="13" name="Text 11"/>
          <p:cNvSpPr/>
          <p:nvPr/>
        </p:nvSpPr>
        <p:spPr>
          <a:xfrm>
            <a:off x="960120" y="1078992"/>
            <a:ext cx="7223760" cy="274320"/>
          </a:xfrm>
          <a:prstGeom prst="rect">
            <a:avLst/>
          </a:prstGeom>
          <a:noFill/>
          <a:ln/>
        </p:spPr>
        <p:txBody>
          <a:bodyPr wrap="square" lIns="0" tIns="0" rIns="0" bIns="0" rtlCol="0" anchor="ctr"/>
          <a:lstStyle/>
          <a:p>
            <a:pPr indent="0" marL="0">
              <a:buNone/>
            </a:pPr>
            <a:r>
              <a:rPr lang="en-US" sz="900" b="1" dirty="0">
                <a:solidFill>
                  <a:srgbClr val="1B2D55"/>
                </a:solidFill>
              </a:rPr>
              <a:t>Two distinct brands spanning mid-market and premium outdoor segments</a:t>
            </a:r>
            <a:endParaRPr lang="en-US" sz="900" dirty="0"/>
          </a:p>
        </p:txBody>
      </p:sp>
      <p:sp>
        <p:nvSpPr>
          <p:cNvPr id="14" name="Text 12"/>
          <p:cNvSpPr/>
          <p:nvPr/>
        </p:nvSpPr>
        <p:spPr>
          <a:xfrm>
            <a:off x="960120" y="1408176"/>
            <a:ext cx="7223760" cy="411480"/>
          </a:xfrm>
          <a:prstGeom prst="rect">
            <a:avLst/>
          </a:prstGeom>
          <a:noFill/>
          <a:ln/>
        </p:spPr>
        <p:txBody>
          <a:bodyPr wrap="square" lIns="0" tIns="0" rIns="0" bIns="0" rtlCol="0" anchor="ctr"/>
          <a:lstStyle/>
          <a:p>
            <a:pPr indent="0" marL="0">
              <a:buNone/>
            </a:pPr>
            <a:r>
              <a:rPr lang="en-US" sz="750" dirty="0">
                <a:solidFill>
                  <a:srgbClr val="4A5568"/>
                </a:solidFill>
              </a:rPr>
              <a:t>Ridgeline targets weekend campers and trail runners (ASP $95); Summit Series serves thru-hikers and mountaineers (ASP $285)  ·  Summit Series NPS of 74 — top-quintile for outdoor hardgoods; 38% repeat purchase rate driven by gear system cross-sell  ·  Brand separation prevents channel conflict; Ridgeline sold at REI and Target; Summit Series exclusively at specialty and DTC</a:t>
            </a:r>
            <a:endParaRPr lang="en-US" sz="750" dirty="0"/>
          </a:p>
        </p:txBody>
      </p:sp>
      <p:sp>
        <p:nvSpPr>
          <p:cNvPr id="15" name="Shape 13"/>
          <p:cNvSpPr/>
          <p:nvPr/>
        </p:nvSpPr>
        <p:spPr>
          <a:xfrm>
            <a:off x="457200" y="1956816"/>
            <a:ext cx="8229600" cy="868680"/>
          </a:xfrm>
          <a:prstGeom prst="rect">
            <a:avLst/>
          </a:prstGeom>
          <a:solidFill>
            <a:srgbClr val="F4F6FA"/>
          </a:solidFill>
          <a:ln w="12700">
            <a:solidFill>
              <a:srgbClr val="D0D8E4"/>
            </a:solidFill>
            <a:prstDash val="solid"/>
          </a:ln>
        </p:spPr>
      </p:sp>
      <p:sp>
        <p:nvSpPr>
          <p:cNvPr id="16" name="Shape 14"/>
          <p:cNvSpPr/>
          <p:nvPr/>
        </p:nvSpPr>
        <p:spPr>
          <a:xfrm>
            <a:off x="457200" y="1956816"/>
            <a:ext cx="54864" cy="868680"/>
          </a:xfrm>
          <a:prstGeom prst="rect">
            <a:avLst/>
          </a:prstGeom>
          <a:solidFill>
            <a:srgbClr val="C8A83C"/>
          </a:solidFill>
          <a:ln w="12700">
            <a:solidFill>
              <a:srgbClr val="C8A83C"/>
            </a:solidFill>
            <a:prstDash val="solid"/>
          </a:ln>
        </p:spPr>
      </p:sp>
      <p:sp>
        <p:nvSpPr>
          <p:cNvPr id="17" name="Text 15"/>
          <p:cNvSpPr/>
          <p:nvPr/>
        </p:nvSpPr>
        <p:spPr>
          <a:xfrm>
            <a:off x="594360" y="2029968"/>
            <a:ext cx="365760" cy="274320"/>
          </a:xfrm>
          <a:prstGeom prst="rect">
            <a:avLst/>
          </a:prstGeom>
          <a:noFill/>
          <a:ln/>
        </p:spPr>
        <p:txBody>
          <a:bodyPr wrap="square" lIns="0" tIns="0" rIns="0" bIns="0" rtlCol="0" anchor="ctr"/>
          <a:lstStyle/>
          <a:p>
            <a:pPr indent="0" marL="0">
              <a:buNone/>
            </a:pPr>
            <a:r>
              <a:rPr lang="en-US" sz="900" b="1" dirty="0">
                <a:solidFill>
                  <a:srgbClr val="C8A83C"/>
                </a:solidFill>
              </a:rPr>
              <a:t>2</a:t>
            </a:r>
            <a:endParaRPr lang="en-US" sz="900" dirty="0"/>
          </a:p>
        </p:txBody>
      </p:sp>
      <p:sp>
        <p:nvSpPr>
          <p:cNvPr id="18" name="Text 16"/>
          <p:cNvSpPr/>
          <p:nvPr/>
        </p:nvSpPr>
        <p:spPr>
          <a:xfrm>
            <a:off x="960120" y="2011680"/>
            <a:ext cx="7223760" cy="274320"/>
          </a:xfrm>
          <a:prstGeom prst="rect">
            <a:avLst/>
          </a:prstGeom>
          <a:noFill/>
          <a:ln/>
        </p:spPr>
        <p:txBody>
          <a:bodyPr wrap="square" lIns="0" tIns="0" rIns="0" bIns="0" rtlCol="0" anchor="ctr"/>
          <a:lstStyle/>
          <a:p>
            <a:pPr indent="0" marL="0">
              <a:buNone/>
            </a:pPr>
            <a:r>
              <a:rPr lang="en-US" sz="900" b="1" dirty="0">
                <a:solidFill>
                  <a:srgbClr val="1B2D55"/>
                </a:solidFill>
              </a:rPr>
              <a:t>DTC-led omnichannel driving margin expansion and direct customer relationships</a:t>
            </a:r>
            <a:endParaRPr lang="en-US" sz="900" dirty="0"/>
          </a:p>
        </p:txBody>
      </p:sp>
      <p:sp>
        <p:nvSpPr>
          <p:cNvPr id="19" name="Text 17"/>
          <p:cNvSpPr/>
          <p:nvPr/>
        </p:nvSpPr>
        <p:spPr>
          <a:xfrm>
            <a:off x="960120" y="2340864"/>
            <a:ext cx="7223760" cy="411480"/>
          </a:xfrm>
          <a:prstGeom prst="rect">
            <a:avLst/>
          </a:prstGeom>
          <a:noFill/>
          <a:ln/>
        </p:spPr>
        <p:txBody>
          <a:bodyPr wrap="square" lIns="0" tIns="0" rIns="0" bIns="0" rtlCol="0" anchor="ctr"/>
          <a:lstStyle/>
          <a:p>
            <a:pPr indent="0" marL="0">
              <a:buNone/>
            </a:pPr>
            <a:r>
              <a:rPr lang="en-US" sz="750" dirty="0">
                <a:solidFill>
                  <a:srgbClr val="4A5568"/>
                </a:solidFill>
              </a:rPr>
              <a:t>DTC e-commerce grew from 29% to 44% of revenue over 3 years; gross margin 15pp higher than wholesale channel  ·  Email list of 640K subscribers; LTV/CAC of 4.2x — industry-leading efficiency driven by community UGC flywheel  ·  Subscription loyalty program ("Summit Club") with 58K paying members at $49/yr; 91% year-1 retention</a:t>
            </a:r>
            <a:endParaRPr lang="en-US" sz="750" dirty="0"/>
          </a:p>
        </p:txBody>
      </p:sp>
      <p:sp>
        <p:nvSpPr>
          <p:cNvPr id="20" name="Shape 18"/>
          <p:cNvSpPr/>
          <p:nvPr/>
        </p:nvSpPr>
        <p:spPr>
          <a:xfrm>
            <a:off x="457200" y="2889504"/>
            <a:ext cx="8229600" cy="868680"/>
          </a:xfrm>
          <a:prstGeom prst="rect">
            <a:avLst/>
          </a:prstGeom>
          <a:solidFill>
            <a:srgbClr val="FFFFFF"/>
          </a:solidFill>
          <a:ln w="12700">
            <a:solidFill>
              <a:srgbClr val="D0D8E4"/>
            </a:solidFill>
            <a:prstDash val="solid"/>
          </a:ln>
        </p:spPr>
      </p:sp>
      <p:sp>
        <p:nvSpPr>
          <p:cNvPr id="21" name="Shape 19"/>
          <p:cNvSpPr/>
          <p:nvPr/>
        </p:nvSpPr>
        <p:spPr>
          <a:xfrm>
            <a:off x="457200" y="2889504"/>
            <a:ext cx="54864" cy="868680"/>
          </a:xfrm>
          <a:prstGeom prst="rect">
            <a:avLst/>
          </a:prstGeom>
          <a:solidFill>
            <a:srgbClr val="C8A83C"/>
          </a:solidFill>
          <a:ln w="12700">
            <a:solidFill>
              <a:srgbClr val="C8A83C"/>
            </a:solidFill>
            <a:prstDash val="solid"/>
          </a:ln>
        </p:spPr>
      </p:sp>
      <p:sp>
        <p:nvSpPr>
          <p:cNvPr id="22" name="Text 20"/>
          <p:cNvSpPr/>
          <p:nvPr/>
        </p:nvSpPr>
        <p:spPr>
          <a:xfrm>
            <a:off x="594360" y="2962656"/>
            <a:ext cx="365760" cy="274320"/>
          </a:xfrm>
          <a:prstGeom prst="rect">
            <a:avLst/>
          </a:prstGeom>
          <a:noFill/>
          <a:ln/>
        </p:spPr>
        <p:txBody>
          <a:bodyPr wrap="square" lIns="0" tIns="0" rIns="0" bIns="0" rtlCol="0" anchor="ctr"/>
          <a:lstStyle/>
          <a:p>
            <a:pPr indent="0" marL="0">
              <a:buNone/>
            </a:pPr>
            <a:r>
              <a:rPr lang="en-US" sz="900" b="1" dirty="0">
                <a:solidFill>
                  <a:srgbClr val="C8A83C"/>
                </a:solidFill>
              </a:rPr>
              <a:t>3</a:t>
            </a:r>
            <a:endParaRPr lang="en-US" sz="900" dirty="0"/>
          </a:p>
        </p:txBody>
      </p:sp>
      <p:sp>
        <p:nvSpPr>
          <p:cNvPr id="23" name="Text 21"/>
          <p:cNvSpPr/>
          <p:nvPr/>
        </p:nvSpPr>
        <p:spPr>
          <a:xfrm>
            <a:off x="960120" y="2944368"/>
            <a:ext cx="7223760" cy="274320"/>
          </a:xfrm>
          <a:prstGeom prst="rect">
            <a:avLst/>
          </a:prstGeom>
          <a:noFill/>
          <a:ln/>
        </p:spPr>
        <p:txBody>
          <a:bodyPr wrap="square" lIns="0" tIns="0" rIns="0" bIns="0" rtlCol="0" anchor="ctr"/>
          <a:lstStyle/>
          <a:p>
            <a:pPr indent="0" marL="0">
              <a:buNone/>
            </a:pPr>
            <a:r>
              <a:rPr lang="en-US" sz="900" b="1" dirty="0">
                <a:solidFill>
                  <a:srgbClr val="1B2D55"/>
                </a:solidFill>
              </a:rPr>
              <a:t>Proprietary material innovation with 3 patents and 2 pending</a:t>
            </a:r>
            <a:endParaRPr lang="en-US" sz="900" dirty="0"/>
          </a:p>
        </p:txBody>
      </p:sp>
      <p:sp>
        <p:nvSpPr>
          <p:cNvPr id="24" name="Text 22"/>
          <p:cNvSpPr/>
          <p:nvPr/>
        </p:nvSpPr>
        <p:spPr>
          <a:xfrm>
            <a:off x="960120" y="3273552"/>
            <a:ext cx="7223760" cy="411480"/>
          </a:xfrm>
          <a:prstGeom prst="rect">
            <a:avLst/>
          </a:prstGeom>
          <a:noFill/>
          <a:ln/>
        </p:spPr>
        <p:txBody>
          <a:bodyPr wrap="square" lIns="0" tIns="0" rIns="0" bIns="0" rtlCol="0" anchor="ctr"/>
          <a:lstStyle/>
          <a:p>
            <a:pPr indent="0" marL="0">
              <a:buNone/>
            </a:pPr>
            <a:r>
              <a:rPr lang="en-US" sz="750" dirty="0">
                <a:solidFill>
                  <a:srgbClr val="4A5568"/>
                </a:solidFill>
              </a:rPr>
              <a:t>AeroShield™ fabric technology (2 patents): 22% lighter than competitive Dyneema composites at comparable strength; used in Summit Series shelters  ·  HexLite™ cookware alloy (1 patent): 18% lighter than titanium with equivalent heat distribution; $3.2M in royalty-bearing licenses to 2 OEM brands  ·  2 pending patents in modular tent pole systems; R&amp;D spend of 4.2% of revenue — 2x category average</a:t>
            </a:r>
            <a:endParaRPr lang="en-US" sz="750" dirty="0"/>
          </a:p>
        </p:txBody>
      </p:sp>
      <p:sp>
        <p:nvSpPr>
          <p:cNvPr id="25" name="Shape 23"/>
          <p:cNvSpPr/>
          <p:nvPr/>
        </p:nvSpPr>
        <p:spPr>
          <a:xfrm>
            <a:off x="457200" y="3822192"/>
            <a:ext cx="8229600" cy="868680"/>
          </a:xfrm>
          <a:prstGeom prst="rect">
            <a:avLst/>
          </a:prstGeom>
          <a:solidFill>
            <a:srgbClr val="F4F6FA"/>
          </a:solidFill>
          <a:ln w="12700">
            <a:solidFill>
              <a:srgbClr val="D0D8E4"/>
            </a:solidFill>
            <a:prstDash val="solid"/>
          </a:ln>
        </p:spPr>
      </p:sp>
      <p:sp>
        <p:nvSpPr>
          <p:cNvPr id="26" name="Shape 24"/>
          <p:cNvSpPr/>
          <p:nvPr/>
        </p:nvSpPr>
        <p:spPr>
          <a:xfrm>
            <a:off x="457200" y="3822192"/>
            <a:ext cx="54864" cy="868680"/>
          </a:xfrm>
          <a:prstGeom prst="rect">
            <a:avLst/>
          </a:prstGeom>
          <a:solidFill>
            <a:srgbClr val="C8A83C"/>
          </a:solidFill>
          <a:ln w="12700">
            <a:solidFill>
              <a:srgbClr val="C8A83C"/>
            </a:solidFill>
            <a:prstDash val="solid"/>
          </a:ln>
        </p:spPr>
      </p:sp>
      <p:sp>
        <p:nvSpPr>
          <p:cNvPr id="27" name="Text 25"/>
          <p:cNvSpPr/>
          <p:nvPr/>
        </p:nvSpPr>
        <p:spPr>
          <a:xfrm>
            <a:off x="594360" y="3895344"/>
            <a:ext cx="365760" cy="274320"/>
          </a:xfrm>
          <a:prstGeom prst="rect">
            <a:avLst/>
          </a:prstGeom>
          <a:noFill/>
          <a:ln/>
        </p:spPr>
        <p:txBody>
          <a:bodyPr wrap="square" lIns="0" tIns="0" rIns="0" bIns="0" rtlCol="0" anchor="ctr"/>
          <a:lstStyle/>
          <a:p>
            <a:pPr indent="0" marL="0">
              <a:buNone/>
            </a:pPr>
            <a:r>
              <a:rPr lang="en-US" sz="900" b="1" dirty="0">
                <a:solidFill>
                  <a:srgbClr val="C8A83C"/>
                </a:solidFill>
              </a:rPr>
              <a:t>4</a:t>
            </a:r>
            <a:endParaRPr lang="en-US" sz="900" dirty="0"/>
          </a:p>
        </p:txBody>
      </p:sp>
      <p:sp>
        <p:nvSpPr>
          <p:cNvPr id="28" name="Text 26"/>
          <p:cNvSpPr/>
          <p:nvPr/>
        </p:nvSpPr>
        <p:spPr>
          <a:xfrm>
            <a:off x="960120" y="3877056"/>
            <a:ext cx="7223760" cy="274320"/>
          </a:xfrm>
          <a:prstGeom prst="rect">
            <a:avLst/>
          </a:prstGeom>
          <a:noFill/>
          <a:ln/>
        </p:spPr>
        <p:txBody>
          <a:bodyPr wrap="square" lIns="0" tIns="0" rIns="0" bIns="0" rtlCol="0" anchor="ctr"/>
          <a:lstStyle/>
          <a:p>
            <a:pPr indent="0" marL="0">
              <a:buNone/>
            </a:pPr>
            <a:r>
              <a:rPr lang="en-US" sz="900" b="1" dirty="0">
                <a:solidFill>
                  <a:srgbClr val="1B2D55"/>
                </a:solidFill>
              </a:rPr>
              <a:t>International momentum with underpenetrated distribution in high-growth markets</a:t>
            </a:r>
            <a:endParaRPr lang="en-US" sz="900" dirty="0"/>
          </a:p>
        </p:txBody>
      </p:sp>
      <p:sp>
        <p:nvSpPr>
          <p:cNvPr id="29" name="Text 27"/>
          <p:cNvSpPr/>
          <p:nvPr/>
        </p:nvSpPr>
        <p:spPr>
          <a:xfrm>
            <a:off x="960120" y="4206240"/>
            <a:ext cx="7223760" cy="411480"/>
          </a:xfrm>
          <a:prstGeom prst="rect">
            <a:avLst/>
          </a:prstGeom>
          <a:noFill/>
          <a:ln/>
        </p:spPr>
        <p:txBody>
          <a:bodyPr wrap="square" lIns="0" tIns="0" rIns="0" bIns="0" rtlCol="0" anchor="ctr"/>
          <a:lstStyle/>
          <a:p>
            <a:pPr indent="0" marL="0">
              <a:buNone/>
            </a:pPr>
            <a:r>
              <a:rPr lang="en-US" sz="750" dirty="0">
                <a:solidFill>
                  <a:srgbClr val="4A5568"/>
                </a:solidFill>
              </a:rPr>
              <a:t>International revenue +34% YoY, led by Germany, Japan, and Australia; 22 distributor relationships in place  ·  Japan distributor (Ishimoto Trading) pursuing DTC subsidiary joint venture — projected $4M incremental revenue in Year 1  ·  EU market regulatory hurdles cleared in 2023; full Ridgeline range now CE-certified and available in 14 EU markets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Company Overview</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6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Company Overview</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History &amp; Key Milestones</a:t>
            </a:r>
            <a:endParaRPr lang="en-US" sz="950" dirty="0"/>
          </a:p>
        </p:txBody>
      </p:sp>
      <p:sp>
        <p:nvSpPr>
          <p:cNvPr id="11" name="Shape 9"/>
          <p:cNvSpPr/>
          <p:nvPr/>
        </p:nvSpPr>
        <p:spPr>
          <a:xfrm>
            <a:off x="365760" y="1051560"/>
            <a:ext cx="2697480" cy="502920"/>
          </a:xfrm>
          <a:prstGeom prst="rect">
            <a:avLst/>
          </a:prstGeom>
          <a:solidFill>
            <a:srgbClr val="F4F6FA"/>
          </a:solidFill>
          <a:ln w="12700">
            <a:solidFill>
              <a:srgbClr val="D0D8E4"/>
            </a:solidFill>
            <a:prstDash val="solid"/>
          </a:ln>
        </p:spPr>
      </p:sp>
      <p:sp>
        <p:nvSpPr>
          <p:cNvPr id="12" name="Text 10"/>
          <p:cNvSpPr/>
          <p:nvPr/>
        </p:nvSpPr>
        <p:spPr>
          <a:xfrm>
            <a:off x="475488" y="1106424"/>
            <a:ext cx="1188720" cy="201168"/>
          </a:xfrm>
          <a:prstGeom prst="rect">
            <a:avLst/>
          </a:prstGeom>
          <a:noFill/>
          <a:ln/>
        </p:spPr>
        <p:txBody>
          <a:bodyPr wrap="square" lIns="0" tIns="0" rIns="0" bIns="0" rtlCol="0" anchor="ctr"/>
          <a:lstStyle/>
          <a:p>
            <a:pPr indent="0" marL="0">
              <a:buNone/>
            </a:pPr>
            <a:r>
              <a:rPr lang="en-US" sz="750" dirty="0">
                <a:solidFill>
                  <a:srgbClr val="8898AA"/>
                </a:solidFill>
              </a:rPr>
              <a:t>Founded</a:t>
            </a:r>
            <a:endParaRPr lang="en-US" sz="750" dirty="0"/>
          </a:p>
        </p:txBody>
      </p:sp>
      <p:sp>
        <p:nvSpPr>
          <p:cNvPr id="13" name="Text 11"/>
          <p:cNvSpPr/>
          <p:nvPr/>
        </p:nvSpPr>
        <p:spPr>
          <a:xfrm>
            <a:off x="475488" y="1307592"/>
            <a:ext cx="2468880" cy="201168"/>
          </a:xfrm>
          <a:prstGeom prst="rect">
            <a:avLst/>
          </a:prstGeom>
          <a:noFill/>
          <a:ln/>
        </p:spPr>
        <p:txBody>
          <a:bodyPr wrap="square" lIns="0" tIns="0" rIns="0" bIns="0" rtlCol="0" anchor="ctr"/>
          <a:lstStyle/>
          <a:p>
            <a:pPr indent="0" marL="0">
              <a:buNone/>
            </a:pPr>
            <a:r>
              <a:rPr lang="en-US" sz="900" b="1" dirty="0">
                <a:solidFill>
                  <a:srgbClr val="1B2D55"/>
                </a:solidFill>
              </a:rPr>
              <a:t>2009</a:t>
            </a:r>
            <a:endParaRPr lang="en-US" sz="900" dirty="0"/>
          </a:p>
        </p:txBody>
      </p:sp>
      <p:sp>
        <p:nvSpPr>
          <p:cNvPr id="14" name="Shape 12"/>
          <p:cNvSpPr/>
          <p:nvPr/>
        </p:nvSpPr>
        <p:spPr>
          <a:xfrm>
            <a:off x="3200400" y="1051560"/>
            <a:ext cx="2697480" cy="502920"/>
          </a:xfrm>
          <a:prstGeom prst="rect">
            <a:avLst/>
          </a:prstGeom>
          <a:solidFill>
            <a:srgbClr val="F4F6FA"/>
          </a:solidFill>
          <a:ln w="12700">
            <a:solidFill>
              <a:srgbClr val="D0D8E4"/>
            </a:solidFill>
            <a:prstDash val="solid"/>
          </a:ln>
        </p:spPr>
      </p:sp>
      <p:sp>
        <p:nvSpPr>
          <p:cNvPr id="15" name="Text 13"/>
          <p:cNvSpPr/>
          <p:nvPr/>
        </p:nvSpPr>
        <p:spPr>
          <a:xfrm>
            <a:off x="3310128" y="1106424"/>
            <a:ext cx="1188720" cy="201168"/>
          </a:xfrm>
          <a:prstGeom prst="rect">
            <a:avLst/>
          </a:prstGeom>
          <a:noFill/>
          <a:ln/>
        </p:spPr>
        <p:txBody>
          <a:bodyPr wrap="square" lIns="0" tIns="0" rIns="0" bIns="0" rtlCol="0" anchor="ctr"/>
          <a:lstStyle/>
          <a:p>
            <a:pPr indent="0" marL="0">
              <a:buNone/>
            </a:pPr>
            <a:r>
              <a:rPr lang="en-US" sz="750" dirty="0">
                <a:solidFill>
                  <a:srgbClr val="8898AA"/>
                </a:solidFill>
              </a:rPr>
              <a:t>HQ</a:t>
            </a:r>
            <a:endParaRPr lang="en-US" sz="750" dirty="0"/>
          </a:p>
        </p:txBody>
      </p:sp>
      <p:sp>
        <p:nvSpPr>
          <p:cNvPr id="16" name="Text 14"/>
          <p:cNvSpPr/>
          <p:nvPr/>
        </p:nvSpPr>
        <p:spPr>
          <a:xfrm>
            <a:off x="3310128" y="1307592"/>
            <a:ext cx="2468880" cy="201168"/>
          </a:xfrm>
          <a:prstGeom prst="rect">
            <a:avLst/>
          </a:prstGeom>
          <a:noFill/>
          <a:ln/>
        </p:spPr>
        <p:txBody>
          <a:bodyPr wrap="square" lIns="0" tIns="0" rIns="0" bIns="0" rtlCol="0" anchor="ctr"/>
          <a:lstStyle/>
          <a:p>
            <a:pPr indent="0" marL="0">
              <a:buNone/>
            </a:pPr>
            <a:r>
              <a:rPr lang="en-US" sz="900" b="1" dirty="0">
                <a:solidFill>
                  <a:srgbClr val="1B2D55"/>
                </a:solidFill>
              </a:rPr>
              <a:t>Denver, CO</a:t>
            </a:r>
            <a:endParaRPr lang="en-US" sz="900" dirty="0"/>
          </a:p>
        </p:txBody>
      </p:sp>
      <p:sp>
        <p:nvSpPr>
          <p:cNvPr id="17" name="Shape 15"/>
          <p:cNvSpPr/>
          <p:nvPr/>
        </p:nvSpPr>
        <p:spPr>
          <a:xfrm>
            <a:off x="6035040" y="1051560"/>
            <a:ext cx="2697480" cy="502920"/>
          </a:xfrm>
          <a:prstGeom prst="rect">
            <a:avLst/>
          </a:prstGeom>
          <a:solidFill>
            <a:srgbClr val="F4F6FA"/>
          </a:solidFill>
          <a:ln w="12700">
            <a:solidFill>
              <a:srgbClr val="D0D8E4"/>
            </a:solidFill>
            <a:prstDash val="solid"/>
          </a:ln>
        </p:spPr>
      </p:sp>
      <p:sp>
        <p:nvSpPr>
          <p:cNvPr id="18" name="Text 16"/>
          <p:cNvSpPr/>
          <p:nvPr/>
        </p:nvSpPr>
        <p:spPr>
          <a:xfrm>
            <a:off x="6144768" y="1106424"/>
            <a:ext cx="1188720" cy="201168"/>
          </a:xfrm>
          <a:prstGeom prst="rect">
            <a:avLst/>
          </a:prstGeom>
          <a:noFill/>
          <a:ln/>
        </p:spPr>
        <p:txBody>
          <a:bodyPr wrap="square" lIns="0" tIns="0" rIns="0" bIns="0" rtlCol="0" anchor="ctr"/>
          <a:lstStyle/>
          <a:p>
            <a:pPr indent="0" marL="0">
              <a:buNone/>
            </a:pPr>
            <a:r>
              <a:rPr lang="en-US" sz="750" dirty="0">
                <a:solidFill>
                  <a:srgbClr val="8898AA"/>
                </a:solidFill>
              </a:rPr>
              <a:t>Employees</a:t>
            </a:r>
            <a:endParaRPr lang="en-US" sz="750" dirty="0"/>
          </a:p>
        </p:txBody>
      </p:sp>
      <p:sp>
        <p:nvSpPr>
          <p:cNvPr id="19" name="Text 17"/>
          <p:cNvSpPr/>
          <p:nvPr/>
        </p:nvSpPr>
        <p:spPr>
          <a:xfrm>
            <a:off x="6144768" y="1307592"/>
            <a:ext cx="2468880" cy="201168"/>
          </a:xfrm>
          <a:prstGeom prst="rect">
            <a:avLst/>
          </a:prstGeom>
          <a:noFill/>
          <a:ln/>
        </p:spPr>
        <p:txBody>
          <a:bodyPr wrap="square" lIns="0" tIns="0" rIns="0" bIns="0" rtlCol="0" anchor="ctr"/>
          <a:lstStyle/>
          <a:p>
            <a:pPr indent="0" marL="0">
              <a:buNone/>
            </a:pPr>
            <a:r>
              <a:rPr lang="en-US" sz="900" b="1" dirty="0">
                <a:solidFill>
                  <a:srgbClr val="1B2D55"/>
                </a:solidFill>
              </a:rPr>
              <a:t>~390</a:t>
            </a:r>
            <a:endParaRPr lang="en-US" sz="900" dirty="0"/>
          </a:p>
        </p:txBody>
      </p:sp>
      <p:sp>
        <p:nvSpPr>
          <p:cNvPr id="20" name="Shape 18"/>
          <p:cNvSpPr/>
          <p:nvPr/>
        </p:nvSpPr>
        <p:spPr>
          <a:xfrm>
            <a:off x="365760" y="1600200"/>
            <a:ext cx="2697480" cy="502920"/>
          </a:xfrm>
          <a:prstGeom prst="rect">
            <a:avLst/>
          </a:prstGeom>
          <a:solidFill>
            <a:srgbClr val="F4F6FA"/>
          </a:solidFill>
          <a:ln w="12700">
            <a:solidFill>
              <a:srgbClr val="D0D8E4"/>
            </a:solidFill>
            <a:prstDash val="solid"/>
          </a:ln>
        </p:spPr>
      </p:sp>
      <p:sp>
        <p:nvSpPr>
          <p:cNvPr id="21" name="Text 19"/>
          <p:cNvSpPr/>
          <p:nvPr/>
        </p:nvSpPr>
        <p:spPr>
          <a:xfrm>
            <a:off x="475488" y="1655064"/>
            <a:ext cx="1188720" cy="201168"/>
          </a:xfrm>
          <a:prstGeom prst="rect">
            <a:avLst/>
          </a:prstGeom>
          <a:noFill/>
          <a:ln/>
        </p:spPr>
        <p:txBody>
          <a:bodyPr wrap="square" lIns="0" tIns="0" rIns="0" bIns="0" rtlCol="0" anchor="ctr"/>
          <a:lstStyle/>
          <a:p>
            <a:pPr indent="0" marL="0">
              <a:buNone/>
            </a:pPr>
            <a:r>
              <a:rPr lang="en-US" sz="750" dirty="0">
                <a:solidFill>
                  <a:srgbClr val="8898AA"/>
                </a:solidFill>
              </a:rPr>
              <a:t>SKUs</a:t>
            </a:r>
            <a:endParaRPr lang="en-US" sz="750" dirty="0"/>
          </a:p>
        </p:txBody>
      </p:sp>
      <p:sp>
        <p:nvSpPr>
          <p:cNvPr id="22" name="Text 20"/>
          <p:cNvSpPr/>
          <p:nvPr/>
        </p:nvSpPr>
        <p:spPr>
          <a:xfrm>
            <a:off x="475488" y="1856232"/>
            <a:ext cx="2468880" cy="201168"/>
          </a:xfrm>
          <a:prstGeom prst="rect">
            <a:avLst/>
          </a:prstGeom>
          <a:noFill/>
          <a:ln/>
        </p:spPr>
        <p:txBody>
          <a:bodyPr wrap="square" lIns="0" tIns="0" rIns="0" bIns="0" rtlCol="0" anchor="ctr"/>
          <a:lstStyle/>
          <a:p>
            <a:pPr indent="0" marL="0">
              <a:buNone/>
            </a:pPr>
            <a:r>
              <a:rPr lang="en-US" sz="900" b="1" dirty="0">
                <a:solidFill>
                  <a:srgbClr val="1B2D55"/>
                </a:solidFill>
              </a:rPr>
              <a:t>~340 active</a:t>
            </a:r>
            <a:endParaRPr lang="en-US" sz="900" dirty="0"/>
          </a:p>
        </p:txBody>
      </p:sp>
      <p:sp>
        <p:nvSpPr>
          <p:cNvPr id="23" name="Shape 21"/>
          <p:cNvSpPr/>
          <p:nvPr/>
        </p:nvSpPr>
        <p:spPr>
          <a:xfrm>
            <a:off x="3200400" y="1600200"/>
            <a:ext cx="2697480" cy="502920"/>
          </a:xfrm>
          <a:prstGeom prst="rect">
            <a:avLst/>
          </a:prstGeom>
          <a:solidFill>
            <a:srgbClr val="F4F6FA"/>
          </a:solidFill>
          <a:ln w="12700">
            <a:solidFill>
              <a:srgbClr val="D0D8E4"/>
            </a:solidFill>
            <a:prstDash val="solid"/>
          </a:ln>
        </p:spPr>
      </p:sp>
      <p:sp>
        <p:nvSpPr>
          <p:cNvPr id="24" name="Text 22"/>
          <p:cNvSpPr/>
          <p:nvPr/>
        </p:nvSpPr>
        <p:spPr>
          <a:xfrm>
            <a:off x="3310128" y="1655064"/>
            <a:ext cx="1188720" cy="201168"/>
          </a:xfrm>
          <a:prstGeom prst="rect">
            <a:avLst/>
          </a:prstGeom>
          <a:noFill/>
          <a:ln/>
        </p:spPr>
        <p:txBody>
          <a:bodyPr wrap="square" lIns="0" tIns="0" rIns="0" bIns="0" rtlCol="0" anchor="ctr"/>
          <a:lstStyle/>
          <a:p>
            <a:pPr indent="0" marL="0">
              <a:buNone/>
            </a:pPr>
            <a:r>
              <a:rPr lang="en-US" sz="750" dirty="0">
                <a:solidFill>
                  <a:srgbClr val="8898AA"/>
                </a:solidFill>
              </a:rPr>
              <a:t>Avg. DTC Order</a:t>
            </a:r>
            <a:endParaRPr lang="en-US" sz="750" dirty="0"/>
          </a:p>
        </p:txBody>
      </p:sp>
      <p:sp>
        <p:nvSpPr>
          <p:cNvPr id="25" name="Text 23"/>
          <p:cNvSpPr/>
          <p:nvPr/>
        </p:nvSpPr>
        <p:spPr>
          <a:xfrm>
            <a:off x="3310128" y="1856232"/>
            <a:ext cx="2468880" cy="201168"/>
          </a:xfrm>
          <a:prstGeom prst="rect">
            <a:avLst/>
          </a:prstGeom>
          <a:noFill/>
          <a:ln/>
        </p:spPr>
        <p:txBody>
          <a:bodyPr wrap="square" lIns="0" tIns="0" rIns="0" bIns="0" rtlCol="0" anchor="ctr"/>
          <a:lstStyle/>
          <a:p>
            <a:pPr indent="0" marL="0">
              <a:buNone/>
            </a:pPr>
            <a:r>
              <a:rPr lang="en-US" sz="900" b="1" dirty="0">
                <a:solidFill>
                  <a:srgbClr val="1B2D55"/>
                </a:solidFill>
              </a:rPr>
              <a:t>$187</a:t>
            </a:r>
            <a:endParaRPr lang="en-US" sz="900" dirty="0"/>
          </a:p>
        </p:txBody>
      </p:sp>
      <p:sp>
        <p:nvSpPr>
          <p:cNvPr id="26" name="Shape 24"/>
          <p:cNvSpPr/>
          <p:nvPr/>
        </p:nvSpPr>
        <p:spPr>
          <a:xfrm>
            <a:off x="6035040" y="1600200"/>
            <a:ext cx="2697480" cy="502920"/>
          </a:xfrm>
          <a:prstGeom prst="rect">
            <a:avLst/>
          </a:prstGeom>
          <a:solidFill>
            <a:srgbClr val="F4F6FA"/>
          </a:solidFill>
          <a:ln w="12700">
            <a:solidFill>
              <a:srgbClr val="D0D8E4"/>
            </a:solidFill>
            <a:prstDash val="solid"/>
          </a:ln>
        </p:spPr>
      </p:sp>
      <p:sp>
        <p:nvSpPr>
          <p:cNvPr id="27" name="Text 25"/>
          <p:cNvSpPr/>
          <p:nvPr/>
        </p:nvSpPr>
        <p:spPr>
          <a:xfrm>
            <a:off x="6144768" y="1655064"/>
            <a:ext cx="1188720" cy="201168"/>
          </a:xfrm>
          <a:prstGeom prst="rect">
            <a:avLst/>
          </a:prstGeom>
          <a:noFill/>
          <a:ln/>
        </p:spPr>
        <p:txBody>
          <a:bodyPr wrap="square" lIns="0" tIns="0" rIns="0" bIns="0" rtlCol="0" anchor="ctr"/>
          <a:lstStyle/>
          <a:p>
            <a:pPr indent="0" marL="0">
              <a:buNone/>
            </a:pPr>
            <a:r>
              <a:rPr lang="en-US" sz="750" dirty="0">
                <a:solidFill>
                  <a:srgbClr val="8898AA"/>
                </a:solidFill>
              </a:rPr>
              <a:t>NPS</a:t>
            </a:r>
            <a:endParaRPr lang="en-US" sz="750" dirty="0"/>
          </a:p>
        </p:txBody>
      </p:sp>
      <p:sp>
        <p:nvSpPr>
          <p:cNvPr id="28" name="Text 26"/>
          <p:cNvSpPr/>
          <p:nvPr/>
        </p:nvSpPr>
        <p:spPr>
          <a:xfrm>
            <a:off x="6144768" y="1856232"/>
            <a:ext cx="2468880" cy="201168"/>
          </a:xfrm>
          <a:prstGeom prst="rect">
            <a:avLst/>
          </a:prstGeom>
          <a:noFill/>
          <a:ln/>
        </p:spPr>
        <p:txBody>
          <a:bodyPr wrap="square" lIns="0" tIns="0" rIns="0" bIns="0" rtlCol="0" anchor="ctr"/>
          <a:lstStyle/>
          <a:p>
            <a:pPr indent="0" marL="0">
              <a:buNone/>
            </a:pPr>
            <a:r>
              <a:rPr lang="en-US" sz="900" b="1" dirty="0">
                <a:solidFill>
                  <a:srgbClr val="1B2D55"/>
                </a:solidFill>
              </a:rPr>
              <a:t>74 (Summit Series)</a:t>
            </a:r>
            <a:endParaRPr lang="en-US" sz="900" dirty="0"/>
          </a:p>
        </p:txBody>
      </p:sp>
      <p:sp>
        <p:nvSpPr>
          <p:cNvPr id="29" name="Shape 27"/>
          <p:cNvSpPr/>
          <p:nvPr/>
        </p:nvSpPr>
        <p:spPr>
          <a:xfrm>
            <a:off x="457200" y="2221992"/>
            <a:ext cx="8229600" cy="0"/>
          </a:xfrm>
          <a:prstGeom prst="line">
            <a:avLst/>
          </a:prstGeom>
          <a:noFill/>
          <a:ln w="9525">
            <a:solidFill>
              <a:srgbClr val="D0D8E4"/>
            </a:solidFill>
            <a:prstDash val="solid"/>
          </a:ln>
        </p:spPr>
      </p:sp>
      <p:sp>
        <p:nvSpPr>
          <p:cNvPr id="30" name="Text 28"/>
          <p:cNvSpPr/>
          <p:nvPr/>
        </p:nvSpPr>
        <p:spPr>
          <a:xfrm>
            <a:off x="457200" y="2286000"/>
            <a:ext cx="8229600" cy="256032"/>
          </a:xfrm>
          <a:prstGeom prst="rect">
            <a:avLst/>
          </a:prstGeom>
          <a:noFill/>
          <a:ln/>
        </p:spPr>
        <p:txBody>
          <a:bodyPr wrap="square" lIns="0" tIns="0" rIns="0" bIns="0" rtlCol="0" anchor="ctr"/>
          <a:lstStyle/>
          <a:p>
            <a:pPr indent="0" marL="0">
              <a:buNone/>
            </a:pPr>
            <a:r>
              <a:rPr lang="en-US" sz="900" b="1" dirty="0">
                <a:solidFill>
                  <a:srgbClr val="1B2D55"/>
                </a:solidFill>
              </a:rPr>
              <a:t>Company Timeline</a:t>
            </a:r>
            <a:endParaRPr lang="en-US" sz="900" dirty="0"/>
          </a:p>
        </p:txBody>
      </p:sp>
      <p:sp>
        <p:nvSpPr>
          <p:cNvPr id="31" name="Shape 29"/>
          <p:cNvSpPr/>
          <p:nvPr/>
        </p:nvSpPr>
        <p:spPr>
          <a:xfrm>
            <a:off x="457200" y="3017520"/>
            <a:ext cx="8229600" cy="0"/>
          </a:xfrm>
          <a:prstGeom prst="line">
            <a:avLst/>
          </a:prstGeom>
          <a:noFill/>
          <a:ln w="19050">
            <a:solidFill>
              <a:srgbClr val="D0D8E4"/>
            </a:solidFill>
            <a:prstDash val="solid"/>
          </a:ln>
        </p:spPr>
      </p:sp>
      <p:sp>
        <p:nvSpPr>
          <p:cNvPr id="32" name="Shape 30"/>
          <p:cNvSpPr/>
          <p:nvPr/>
        </p:nvSpPr>
        <p:spPr>
          <a:xfrm>
            <a:off x="1051560" y="2944368"/>
            <a:ext cx="182880" cy="182880"/>
          </a:xfrm>
          <a:prstGeom prst="oval">
            <a:avLst/>
          </a:prstGeom>
          <a:solidFill>
            <a:srgbClr val="C8A83C"/>
          </a:solidFill>
          <a:ln w="12700">
            <a:solidFill>
              <a:srgbClr val="C8A83C"/>
            </a:solidFill>
            <a:prstDash val="solid"/>
          </a:ln>
        </p:spPr>
      </p:sp>
      <p:sp>
        <p:nvSpPr>
          <p:cNvPr id="33" name="Text 31"/>
          <p:cNvSpPr/>
          <p:nvPr/>
        </p:nvSpPr>
        <p:spPr>
          <a:xfrm>
            <a:off x="685800" y="2596896"/>
            <a:ext cx="914400" cy="256032"/>
          </a:xfrm>
          <a:prstGeom prst="rect">
            <a:avLst/>
          </a:prstGeom>
          <a:noFill/>
          <a:ln/>
        </p:spPr>
        <p:txBody>
          <a:bodyPr wrap="square" lIns="0" tIns="0" rIns="0" bIns="0" rtlCol="0" anchor="ctr"/>
          <a:lstStyle/>
          <a:p>
            <a:pPr algn="ctr" indent="0" marL="0">
              <a:buNone/>
            </a:pPr>
            <a:r>
              <a:rPr lang="en-US" sz="800" b="1" dirty="0">
                <a:solidFill>
                  <a:srgbClr val="1B2D55"/>
                </a:solidFill>
              </a:rPr>
              <a:t>2009</a:t>
            </a:r>
            <a:endParaRPr lang="en-US" sz="800" dirty="0"/>
          </a:p>
        </p:txBody>
      </p:sp>
      <p:sp>
        <p:nvSpPr>
          <p:cNvPr id="34" name="Text 32"/>
          <p:cNvSpPr/>
          <p:nvPr/>
        </p:nvSpPr>
        <p:spPr>
          <a:xfrm>
            <a:off x="502920" y="3218688"/>
            <a:ext cx="1280160" cy="594360"/>
          </a:xfrm>
          <a:prstGeom prst="rect">
            <a:avLst/>
          </a:prstGeom>
          <a:noFill/>
          <a:ln/>
        </p:spPr>
        <p:txBody>
          <a:bodyPr wrap="square" lIns="0" tIns="0" rIns="0" bIns="0" rtlCol="0" anchor="ctr"/>
          <a:lstStyle/>
          <a:p>
            <a:pPr algn="ctr" indent="0" marL="0">
              <a:buNone/>
            </a:pPr>
            <a:r>
              <a:rPr lang="en-US" sz="650" dirty="0">
                <a:solidFill>
                  <a:srgbClr val="4A5568"/>
                </a:solidFill>
              </a:rPr>
              <a:t>Founded in Denver, CO by REI product managers; launched Ridgeline brand</a:t>
            </a:r>
            <a:endParaRPr lang="en-US" sz="650" dirty="0"/>
          </a:p>
        </p:txBody>
      </p:sp>
      <p:sp>
        <p:nvSpPr>
          <p:cNvPr id="35" name="Shape 33"/>
          <p:cNvSpPr/>
          <p:nvPr/>
        </p:nvSpPr>
        <p:spPr>
          <a:xfrm>
            <a:off x="2423160" y="2944368"/>
            <a:ext cx="182880" cy="182880"/>
          </a:xfrm>
          <a:prstGeom prst="oval">
            <a:avLst/>
          </a:prstGeom>
          <a:solidFill>
            <a:srgbClr val="C8A83C"/>
          </a:solidFill>
          <a:ln w="12700">
            <a:solidFill>
              <a:srgbClr val="C8A83C"/>
            </a:solidFill>
            <a:prstDash val="solid"/>
          </a:ln>
        </p:spPr>
      </p:sp>
      <p:sp>
        <p:nvSpPr>
          <p:cNvPr id="36" name="Text 34"/>
          <p:cNvSpPr/>
          <p:nvPr/>
        </p:nvSpPr>
        <p:spPr>
          <a:xfrm>
            <a:off x="2057400" y="2596896"/>
            <a:ext cx="914400" cy="256032"/>
          </a:xfrm>
          <a:prstGeom prst="rect">
            <a:avLst/>
          </a:prstGeom>
          <a:noFill/>
          <a:ln/>
        </p:spPr>
        <p:txBody>
          <a:bodyPr wrap="square" lIns="0" tIns="0" rIns="0" bIns="0" rtlCol="0" anchor="ctr"/>
          <a:lstStyle/>
          <a:p>
            <a:pPr algn="ctr" indent="0" marL="0">
              <a:buNone/>
            </a:pPr>
            <a:r>
              <a:rPr lang="en-US" sz="800" b="1" dirty="0">
                <a:solidFill>
                  <a:srgbClr val="1B2D55"/>
                </a:solidFill>
              </a:rPr>
              <a:t>2013</a:t>
            </a:r>
            <a:endParaRPr lang="en-US" sz="800" dirty="0"/>
          </a:p>
        </p:txBody>
      </p:sp>
      <p:sp>
        <p:nvSpPr>
          <p:cNvPr id="37" name="Text 35"/>
          <p:cNvSpPr/>
          <p:nvPr/>
        </p:nvSpPr>
        <p:spPr>
          <a:xfrm>
            <a:off x="1874520" y="3218688"/>
            <a:ext cx="1280160" cy="594360"/>
          </a:xfrm>
          <a:prstGeom prst="rect">
            <a:avLst/>
          </a:prstGeom>
          <a:noFill/>
          <a:ln/>
        </p:spPr>
        <p:txBody>
          <a:bodyPr wrap="square" lIns="0" tIns="0" rIns="0" bIns="0" rtlCol="0" anchor="ctr"/>
          <a:lstStyle/>
          <a:p>
            <a:pPr algn="ctr" indent="0" marL="0">
              <a:buNone/>
            </a:pPr>
            <a:r>
              <a:rPr lang="en-US" sz="650" dirty="0">
                <a:solidFill>
                  <a:srgbClr val="4A5568"/>
                </a:solidFill>
              </a:rPr>
              <a:t>Launched Summit Series; received first REI co-op purchase order</a:t>
            </a:r>
            <a:endParaRPr lang="en-US" sz="650" dirty="0"/>
          </a:p>
        </p:txBody>
      </p:sp>
      <p:sp>
        <p:nvSpPr>
          <p:cNvPr id="38" name="Shape 36"/>
          <p:cNvSpPr/>
          <p:nvPr/>
        </p:nvSpPr>
        <p:spPr>
          <a:xfrm>
            <a:off x="3794760" y="2944368"/>
            <a:ext cx="182880" cy="182880"/>
          </a:xfrm>
          <a:prstGeom prst="oval">
            <a:avLst/>
          </a:prstGeom>
          <a:solidFill>
            <a:srgbClr val="C8A83C"/>
          </a:solidFill>
          <a:ln w="12700">
            <a:solidFill>
              <a:srgbClr val="C8A83C"/>
            </a:solidFill>
            <a:prstDash val="solid"/>
          </a:ln>
        </p:spPr>
      </p:sp>
      <p:sp>
        <p:nvSpPr>
          <p:cNvPr id="39" name="Text 37"/>
          <p:cNvSpPr/>
          <p:nvPr/>
        </p:nvSpPr>
        <p:spPr>
          <a:xfrm>
            <a:off x="3429000" y="2596896"/>
            <a:ext cx="914400" cy="256032"/>
          </a:xfrm>
          <a:prstGeom prst="rect">
            <a:avLst/>
          </a:prstGeom>
          <a:noFill/>
          <a:ln/>
        </p:spPr>
        <p:txBody>
          <a:bodyPr wrap="square" lIns="0" tIns="0" rIns="0" bIns="0" rtlCol="0" anchor="ctr"/>
          <a:lstStyle/>
          <a:p>
            <a:pPr algn="ctr" indent="0" marL="0">
              <a:buNone/>
            </a:pPr>
            <a:r>
              <a:rPr lang="en-US" sz="800" b="1" dirty="0">
                <a:solidFill>
                  <a:srgbClr val="1B2D55"/>
                </a:solidFill>
              </a:rPr>
              <a:t>2016</a:t>
            </a:r>
            <a:endParaRPr lang="en-US" sz="800" dirty="0"/>
          </a:p>
        </p:txBody>
      </p:sp>
      <p:sp>
        <p:nvSpPr>
          <p:cNvPr id="40" name="Text 38"/>
          <p:cNvSpPr/>
          <p:nvPr/>
        </p:nvSpPr>
        <p:spPr>
          <a:xfrm>
            <a:off x="3246120" y="3218688"/>
            <a:ext cx="1280160" cy="594360"/>
          </a:xfrm>
          <a:prstGeom prst="rect">
            <a:avLst/>
          </a:prstGeom>
          <a:noFill/>
          <a:ln/>
        </p:spPr>
        <p:txBody>
          <a:bodyPr wrap="square" lIns="0" tIns="0" rIns="0" bIns="0" rtlCol="0" anchor="ctr"/>
          <a:lstStyle/>
          <a:p>
            <a:pPr algn="ctr" indent="0" marL="0">
              <a:buNone/>
            </a:pPr>
            <a:r>
              <a:rPr lang="en-US" sz="650" dirty="0">
                <a:solidFill>
                  <a:srgbClr val="4A5568"/>
                </a:solidFill>
              </a:rPr>
              <a:t>Crossed $40M revenue; launched DTC e-commerce; expanded to 8 countries</a:t>
            </a:r>
            <a:endParaRPr lang="en-US" sz="650" dirty="0"/>
          </a:p>
        </p:txBody>
      </p:sp>
      <p:sp>
        <p:nvSpPr>
          <p:cNvPr id="41" name="Shape 39"/>
          <p:cNvSpPr/>
          <p:nvPr/>
        </p:nvSpPr>
        <p:spPr>
          <a:xfrm>
            <a:off x="5166360" y="2944368"/>
            <a:ext cx="182880" cy="182880"/>
          </a:xfrm>
          <a:prstGeom prst="oval">
            <a:avLst/>
          </a:prstGeom>
          <a:solidFill>
            <a:srgbClr val="C8A83C"/>
          </a:solidFill>
          <a:ln w="12700">
            <a:solidFill>
              <a:srgbClr val="C8A83C"/>
            </a:solidFill>
            <a:prstDash val="solid"/>
          </a:ln>
        </p:spPr>
      </p:sp>
      <p:sp>
        <p:nvSpPr>
          <p:cNvPr id="42" name="Text 40"/>
          <p:cNvSpPr/>
          <p:nvPr/>
        </p:nvSpPr>
        <p:spPr>
          <a:xfrm>
            <a:off x="4800600" y="2596896"/>
            <a:ext cx="914400" cy="256032"/>
          </a:xfrm>
          <a:prstGeom prst="rect">
            <a:avLst/>
          </a:prstGeom>
          <a:noFill/>
          <a:ln/>
        </p:spPr>
        <p:txBody>
          <a:bodyPr wrap="square" lIns="0" tIns="0" rIns="0" bIns="0" rtlCol="0" anchor="ctr"/>
          <a:lstStyle/>
          <a:p>
            <a:pPr algn="ctr" indent="0" marL="0">
              <a:buNone/>
            </a:pPr>
            <a:r>
              <a:rPr lang="en-US" sz="800" b="1" dirty="0">
                <a:solidFill>
                  <a:srgbClr val="1B2D55"/>
                </a:solidFill>
              </a:rPr>
              <a:t>2019</a:t>
            </a:r>
            <a:endParaRPr lang="en-US" sz="800" dirty="0"/>
          </a:p>
        </p:txBody>
      </p:sp>
      <p:sp>
        <p:nvSpPr>
          <p:cNvPr id="43" name="Text 41"/>
          <p:cNvSpPr/>
          <p:nvPr/>
        </p:nvSpPr>
        <p:spPr>
          <a:xfrm>
            <a:off x="4617720" y="3218688"/>
            <a:ext cx="1280160" cy="594360"/>
          </a:xfrm>
          <a:prstGeom prst="rect">
            <a:avLst/>
          </a:prstGeom>
          <a:noFill/>
          <a:ln/>
        </p:spPr>
        <p:txBody>
          <a:bodyPr wrap="square" lIns="0" tIns="0" rIns="0" bIns="0" rtlCol="0" anchor="ctr"/>
          <a:lstStyle/>
          <a:p>
            <a:pPr algn="ctr" indent="0" marL="0">
              <a:buNone/>
            </a:pPr>
            <a:r>
              <a:rPr lang="en-US" sz="650" dirty="0">
                <a:solidFill>
                  <a:srgbClr val="4A5568"/>
                </a:solidFill>
              </a:rPr>
              <a:t>Filed AeroShield™ patent; launched Summit Club subscription loyalty program</a:t>
            </a:r>
            <a:endParaRPr lang="en-US" sz="650" dirty="0"/>
          </a:p>
        </p:txBody>
      </p:sp>
      <p:sp>
        <p:nvSpPr>
          <p:cNvPr id="44" name="Shape 42"/>
          <p:cNvSpPr/>
          <p:nvPr/>
        </p:nvSpPr>
        <p:spPr>
          <a:xfrm>
            <a:off x="6537960" y="2944368"/>
            <a:ext cx="182880" cy="182880"/>
          </a:xfrm>
          <a:prstGeom prst="oval">
            <a:avLst/>
          </a:prstGeom>
          <a:solidFill>
            <a:srgbClr val="C8A83C"/>
          </a:solidFill>
          <a:ln w="12700">
            <a:solidFill>
              <a:srgbClr val="C8A83C"/>
            </a:solidFill>
            <a:prstDash val="solid"/>
          </a:ln>
        </p:spPr>
      </p:sp>
      <p:sp>
        <p:nvSpPr>
          <p:cNvPr id="45" name="Text 43"/>
          <p:cNvSpPr/>
          <p:nvPr/>
        </p:nvSpPr>
        <p:spPr>
          <a:xfrm>
            <a:off x="6172200" y="2596896"/>
            <a:ext cx="914400" cy="256032"/>
          </a:xfrm>
          <a:prstGeom prst="rect">
            <a:avLst/>
          </a:prstGeom>
          <a:noFill/>
          <a:ln/>
        </p:spPr>
        <p:txBody>
          <a:bodyPr wrap="square" lIns="0" tIns="0" rIns="0" bIns="0" rtlCol="0" anchor="ctr"/>
          <a:lstStyle/>
          <a:p>
            <a:pPr algn="ctr" indent="0" marL="0">
              <a:buNone/>
            </a:pPr>
            <a:r>
              <a:rPr lang="en-US" sz="800" b="1" dirty="0">
                <a:solidFill>
                  <a:srgbClr val="1B2D55"/>
                </a:solidFill>
              </a:rPr>
              <a:t>2022</a:t>
            </a:r>
            <a:endParaRPr lang="en-US" sz="800" dirty="0"/>
          </a:p>
        </p:txBody>
      </p:sp>
      <p:sp>
        <p:nvSpPr>
          <p:cNvPr id="46" name="Text 44"/>
          <p:cNvSpPr/>
          <p:nvPr/>
        </p:nvSpPr>
        <p:spPr>
          <a:xfrm>
            <a:off x="5989320" y="3218688"/>
            <a:ext cx="1280160" cy="594360"/>
          </a:xfrm>
          <a:prstGeom prst="rect">
            <a:avLst/>
          </a:prstGeom>
          <a:noFill/>
          <a:ln/>
        </p:spPr>
        <p:txBody>
          <a:bodyPr wrap="square" lIns="0" tIns="0" rIns="0" bIns="0" rtlCol="0" anchor="ctr"/>
          <a:lstStyle/>
          <a:p>
            <a:pPr algn="ctr" indent="0" marL="0">
              <a:buNone/>
            </a:pPr>
            <a:r>
              <a:rPr lang="en-US" sz="650" dirty="0">
                <a:solidFill>
                  <a:srgbClr val="4A5568"/>
                </a:solidFill>
              </a:rPr>
              <a:t>Crossed $100M revenue; DTC surpassed wholesale for first time; expanded to 22 countries</a:t>
            </a:r>
            <a:endParaRPr lang="en-US" sz="650" dirty="0"/>
          </a:p>
        </p:txBody>
      </p:sp>
      <p:sp>
        <p:nvSpPr>
          <p:cNvPr id="47" name="Shape 45"/>
          <p:cNvSpPr/>
          <p:nvPr/>
        </p:nvSpPr>
        <p:spPr>
          <a:xfrm>
            <a:off x="7909560" y="2944368"/>
            <a:ext cx="182880" cy="182880"/>
          </a:xfrm>
          <a:prstGeom prst="oval">
            <a:avLst/>
          </a:prstGeom>
          <a:solidFill>
            <a:srgbClr val="C8A83C"/>
          </a:solidFill>
          <a:ln w="12700">
            <a:solidFill>
              <a:srgbClr val="C8A83C"/>
            </a:solidFill>
            <a:prstDash val="solid"/>
          </a:ln>
        </p:spPr>
      </p:sp>
      <p:sp>
        <p:nvSpPr>
          <p:cNvPr id="48" name="Text 46"/>
          <p:cNvSpPr/>
          <p:nvPr/>
        </p:nvSpPr>
        <p:spPr>
          <a:xfrm>
            <a:off x="7543800" y="2596896"/>
            <a:ext cx="914400" cy="256032"/>
          </a:xfrm>
          <a:prstGeom prst="rect">
            <a:avLst/>
          </a:prstGeom>
          <a:noFill/>
          <a:ln/>
        </p:spPr>
        <p:txBody>
          <a:bodyPr wrap="square" lIns="0" tIns="0" rIns="0" bIns="0" rtlCol="0" anchor="ctr"/>
          <a:lstStyle/>
          <a:p>
            <a:pPr algn="ctr" indent="0" marL="0">
              <a:buNone/>
            </a:pPr>
            <a:r>
              <a:rPr lang="en-US" sz="800" b="1" dirty="0">
                <a:solidFill>
                  <a:srgbClr val="1B2D55"/>
                </a:solidFill>
              </a:rPr>
              <a:t>2024</a:t>
            </a:r>
            <a:endParaRPr lang="en-US" sz="800" dirty="0"/>
          </a:p>
        </p:txBody>
      </p:sp>
      <p:sp>
        <p:nvSpPr>
          <p:cNvPr id="49" name="Text 47"/>
          <p:cNvSpPr/>
          <p:nvPr/>
        </p:nvSpPr>
        <p:spPr>
          <a:xfrm>
            <a:off x="7360920" y="3218688"/>
            <a:ext cx="1280160" cy="594360"/>
          </a:xfrm>
          <a:prstGeom prst="rect">
            <a:avLst/>
          </a:prstGeom>
          <a:noFill/>
          <a:ln/>
        </p:spPr>
        <p:txBody>
          <a:bodyPr wrap="square" lIns="0" tIns="0" rIns="0" bIns="0" rtlCol="0" anchor="ctr"/>
          <a:lstStyle/>
          <a:p>
            <a:pPr algn="ctr" indent="0" marL="0">
              <a:buNone/>
            </a:pPr>
            <a:r>
              <a:rPr lang="en-US" sz="650" dirty="0">
                <a:solidFill>
                  <a:srgbClr val="4A5568"/>
                </a:solidFill>
              </a:rPr>
              <a:t>Initiated sale process with Harris Williams; Summit Series brand awareness at 31% among core outdoor enthusiasts</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Products &amp; Brands</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7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Products &amp; Brands</a:t>
            </a:r>
            <a:endParaRPr lang="en-US" sz="1600" dirty="0"/>
          </a:p>
        </p:txBody>
      </p:sp>
      <p:sp>
        <p:nvSpPr>
          <p:cNvPr id="10" name="Shape 8"/>
          <p:cNvSpPr/>
          <p:nvPr/>
        </p:nvSpPr>
        <p:spPr>
          <a:xfrm>
            <a:off x="365760" y="1024128"/>
            <a:ext cx="8412480" cy="859536"/>
          </a:xfrm>
          <a:prstGeom prst="rect">
            <a:avLst/>
          </a:prstGeom>
          <a:solidFill>
            <a:srgbClr val="FFFFFF"/>
          </a:solidFill>
          <a:ln w="12700">
            <a:solidFill>
              <a:srgbClr val="D0D8E4"/>
            </a:solidFill>
            <a:prstDash val="solid"/>
          </a:ln>
        </p:spPr>
      </p:sp>
      <p:sp>
        <p:nvSpPr>
          <p:cNvPr id="11" name="Shape 9"/>
          <p:cNvSpPr/>
          <p:nvPr/>
        </p:nvSpPr>
        <p:spPr>
          <a:xfrm>
            <a:off x="365760" y="1024128"/>
            <a:ext cx="54864" cy="859536"/>
          </a:xfrm>
          <a:prstGeom prst="rect">
            <a:avLst/>
          </a:prstGeom>
          <a:solidFill>
            <a:srgbClr val="2B5BAE"/>
          </a:solidFill>
          <a:ln w="12700">
            <a:solidFill>
              <a:srgbClr val="2B5BAE"/>
            </a:solidFill>
            <a:prstDash val="solid"/>
          </a:ln>
        </p:spPr>
      </p:sp>
      <p:sp>
        <p:nvSpPr>
          <p:cNvPr id="12" name="Text 10"/>
          <p:cNvSpPr/>
          <p:nvPr/>
        </p:nvSpPr>
        <p:spPr>
          <a:xfrm>
            <a:off x="530352" y="1097280"/>
            <a:ext cx="2560320" cy="274320"/>
          </a:xfrm>
          <a:prstGeom prst="rect">
            <a:avLst/>
          </a:prstGeom>
          <a:noFill/>
          <a:ln/>
        </p:spPr>
        <p:txBody>
          <a:bodyPr wrap="square" lIns="0" tIns="0" rIns="0" bIns="0" rtlCol="0" anchor="ctr"/>
          <a:lstStyle/>
          <a:p>
            <a:pPr indent="0" marL="0">
              <a:buNone/>
            </a:pPr>
            <a:r>
              <a:rPr lang="en-US" sz="950" b="1" dirty="0">
                <a:solidFill>
                  <a:srgbClr val="1B2D55"/>
                </a:solidFill>
              </a:rPr>
              <a:t>Summit Series Tents</a:t>
            </a:r>
            <a:endParaRPr lang="en-US" sz="950" dirty="0"/>
          </a:p>
        </p:txBody>
      </p:sp>
      <p:sp>
        <p:nvSpPr>
          <p:cNvPr id="13" name="Text 11"/>
          <p:cNvSpPr/>
          <p:nvPr/>
        </p:nvSpPr>
        <p:spPr>
          <a:xfrm>
            <a:off x="530352" y="1426464"/>
            <a:ext cx="8138160" cy="384048"/>
          </a:xfrm>
          <a:prstGeom prst="rect">
            <a:avLst/>
          </a:prstGeom>
          <a:noFill/>
          <a:ln/>
        </p:spPr>
        <p:txBody>
          <a:bodyPr wrap="square" lIns="0" tIns="0" rIns="0" bIns="0" rtlCol="0" anchor="ctr"/>
          <a:lstStyle/>
          <a:p>
            <a:pPr indent="0" marL="0">
              <a:buNone/>
            </a:pPr>
            <a:r>
              <a:rPr lang="en-US" sz="800" dirty="0">
                <a:solidFill>
                  <a:srgbClr val="4A5568"/>
                </a:solidFill>
              </a:rPr>
              <a:t>Ultralight backpacking and mountaineering shelters using AeroShield™; ASP $285; 100% DTC and specialty retail</a:t>
            </a:r>
            <a:endParaRPr lang="en-US" sz="800" dirty="0"/>
          </a:p>
        </p:txBody>
      </p:sp>
      <p:sp>
        <p:nvSpPr>
          <p:cNvPr id="14" name="Shape 12"/>
          <p:cNvSpPr/>
          <p:nvPr/>
        </p:nvSpPr>
        <p:spPr>
          <a:xfrm>
            <a:off x="365760" y="1956816"/>
            <a:ext cx="8412480" cy="859536"/>
          </a:xfrm>
          <a:prstGeom prst="rect">
            <a:avLst/>
          </a:prstGeom>
          <a:solidFill>
            <a:srgbClr val="F4F6FA"/>
          </a:solidFill>
          <a:ln w="12700">
            <a:solidFill>
              <a:srgbClr val="D0D8E4"/>
            </a:solidFill>
            <a:prstDash val="solid"/>
          </a:ln>
        </p:spPr>
      </p:sp>
      <p:sp>
        <p:nvSpPr>
          <p:cNvPr id="15" name="Shape 13"/>
          <p:cNvSpPr/>
          <p:nvPr/>
        </p:nvSpPr>
        <p:spPr>
          <a:xfrm>
            <a:off x="365760" y="1956816"/>
            <a:ext cx="54864" cy="859536"/>
          </a:xfrm>
          <a:prstGeom prst="rect">
            <a:avLst/>
          </a:prstGeom>
          <a:solidFill>
            <a:srgbClr val="2B5BAE"/>
          </a:solidFill>
          <a:ln w="12700">
            <a:solidFill>
              <a:srgbClr val="2B5BAE"/>
            </a:solidFill>
            <a:prstDash val="solid"/>
          </a:ln>
        </p:spPr>
      </p:sp>
      <p:sp>
        <p:nvSpPr>
          <p:cNvPr id="16" name="Text 14"/>
          <p:cNvSpPr/>
          <p:nvPr/>
        </p:nvSpPr>
        <p:spPr>
          <a:xfrm>
            <a:off x="530352" y="2029968"/>
            <a:ext cx="2560320" cy="274320"/>
          </a:xfrm>
          <a:prstGeom prst="rect">
            <a:avLst/>
          </a:prstGeom>
          <a:noFill/>
          <a:ln/>
        </p:spPr>
        <p:txBody>
          <a:bodyPr wrap="square" lIns="0" tIns="0" rIns="0" bIns="0" rtlCol="0" anchor="ctr"/>
          <a:lstStyle/>
          <a:p>
            <a:pPr indent="0" marL="0">
              <a:buNone/>
            </a:pPr>
            <a:r>
              <a:rPr lang="en-US" sz="950" b="1" dirty="0">
                <a:solidFill>
                  <a:srgbClr val="1B2D55"/>
                </a:solidFill>
              </a:rPr>
              <a:t>Ridgeline Tents</a:t>
            </a:r>
            <a:endParaRPr lang="en-US" sz="950" dirty="0"/>
          </a:p>
        </p:txBody>
      </p:sp>
      <p:sp>
        <p:nvSpPr>
          <p:cNvPr id="17" name="Text 15"/>
          <p:cNvSpPr/>
          <p:nvPr/>
        </p:nvSpPr>
        <p:spPr>
          <a:xfrm>
            <a:off x="530352" y="2359152"/>
            <a:ext cx="8138160" cy="384048"/>
          </a:xfrm>
          <a:prstGeom prst="rect">
            <a:avLst/>
          </a:prstGeom>
          <a:noFill/>
          <a:ln/>
        </p:spPr>
        <p:txBody>
          <a:bodyPr wrap="square" lIns="0" tIns="0" rIns="0" bIns="0" rtlCol="0" anchor="ctr"/>
          <a:lstStyle/>
          <a:p>
            <a:pPr indent="0" marL="0">
              <a:buNone/>
            </a:pPr>
            <a:r>
              <a:rPr lang="en-US" sz="800" dirty="0">
                <a:solidFill>
                  <a:srgbClr val="4A5568"/>
                </a:solidFill>
              </a:rPr>
              <a:t>Mid-market 3-season and 4-season shelters; ASP $95; REI, Target, and regional outdoor chains</a:t>
            </a:r>
            <a:endParaRPr lang="en-US" sz="800" dirty="0"/>
          </a:p>
        </p:txBody>
      </p:sp>
      <p:sp>
        <p:nvSpPr>
          <p:cNvPr id="18" name="Shape 16"/>
          <p:cNvSpPr/>
          <p:nvPr/>
        </p:nvSpPr>
        <p:spPr>
          <a:xfrm>
            <a:off x="365760" y="2889504"/>
            <a:ext cx="8412480" cy="859536"/>
          </a:xfrm>
          <a:prstGeom prst="rect">
            <a:avLst/>
          </a:prstGeom>
          <a:solidFill>
            <a:srgbClr val="FFFFFF"/>
          </a:solidFill>
          <a:ln w="12700">
            <a:solidFill>
              <a:srgbClr val="D0D8E4"/>
            </a:solidFill>
            <a:prstDash val="solid"/>
          </a:ln>
        </p:spPr>
      </p:sp>
      <p:sp>
        <p:nvSpPr>
          <p:cNvPr id="19" name="Shape 17"/>
          <p:cNvSpPr/>
          <p:nvPr/>
        </p:nvSpPr>
        <p:spPr>
          <a:xfrm>
            <a:off x="365760" y="2889504"/>
            <a:ext cx="54864" cy="859536"/>
          </a:xfrm>
          <a:prstGeom prst="rect">
            <a:avLst/>
          </a:prstGeom>
          <a:solidFill>
            <a:srgbClr val="2B5BAE"/>
          </a:solidFill>
          <a:ln w="12700">
            <a:solidFill>
              <a:srgbClr val="2B5BAE"/>
            </a:solidFill>
            <a:prstDash val="solid"/>
          </a:ln>
        </p:spPr>
      </p:sp>
      <p:sp>
        <p:nvSpPr>
          <p:cNvPr id="20" name="Text 18"/>
          <p:cNvSpPr/>
          <p:nvPr/>
        </p:nvSpPr>
        <p:spPr>
          <a:xfrm>
            <a:off x="530352" y="2962656"/>
            <a:ext cx="2560320" cy="274320"/>
          </a:xfrm>
          <a:prstGeom prst="rect">
            <a:avLst/>
          </a:prstGeom>
          <a:noFill/>
          <a:ln/>
        </p:spPr>
        <p:txBody>
          <a:bodyPr wrap="square" lIns="0" tIns="0" rIns="0" bIns="0" rtlCol="0" anchor="ctr"/>
          <a:lstStyle/>
          <a:p>
            <a:pPr indent="0" marL="0">
              <a:buNone/>
            </a:pPr>
            <a:r>
              <a:rPr lang="en-US" sz="950" b="1" dirty="0">
                <a:solidFill>
                  <a:srgbClr val="1B2D55"/>
                </a:solidFill>
              </a:rPr>
              <a:t>HexLite™ Cookware</a:t>
            </a:r>
            <a:endParaRPr lang="en-US" sz="950" dirty="0"/>
          </a:p>
        </p:txBody>
      </p:sp>
      <p:sp>
        <p:nvSpPr>
          <p:cNvPr id="21" name="Text 19"/>
          <p:cNvSpPr/>
          <p:nvPr/>
        </p:nvSpPr>
        <p:spPr>
          <a:xfrm>
            <a:off x="530352" y="3291840"/>
            <a:ext cx="8138160" cy="384048"/>
          </a:xfrm>
          <a:prstGeom prst="rect">
            <a:avLst/>
          </a:prstGeom>
          <a:noFill/>
          <a:ln/>
        </p:spPr>
        <p:txBody>
          <a:bodyPr wrap="square" lIns="0" tIns="0" rIns="0" bIns="0" rtlCol="0" anchor="ctr"/>
          <a:lstStyle/>
          <a:p>
            <a:pPr indent="0" marL="0">
              <a:buNone/>
            </a:pPr>
            <a:r>
              <a:rPr lang="en-US" sz="800" dirty="0">
                <a:solidFill>
                  <a:srgbClr val="4A5568"/>
                </a:solidFill>
              </a:rPr>
              <a:t>Ultralight cookware system; ASP $120; sold under Summit Series brand; 2 OEM licensing agreements</a:t>
            </a:r>
            <a:endParaRPr lang="en-US" sz="800" dirty="0"/>
          </a:p>
        </p:txBody>
      </p:sp>
      <p:sp>
        <p:nvSpPr>
          <p:cNvPr id="22" name="Shape 20"/>
          <p:cNvSpPr/>
          <p:nvPr/>
        </p:nvSpPr>
        <p:spPr>
          <a:xfrm>
            <a:off x="365760" y="3822192"/>
            <a:ext cx="8412480" cy="859536"/>
          </a:xfrm>
          <a:prstGeom prst="rect">
            <a:avLst/>
          </a:prstGeom>
          <a:solidFill>
            <a:srgbClr val="F4F6FA"/>
          </a:solidFill>
          <a:ln w="12700">
            <a:solidFill>
              <a:srgbClr val="D0D8E4"/>
            </a:solidFill>
            <a:prstDash val="solid"/>
          </a:ln>
        </p:spPr>
      </p:sp>
      <p:sp>
        <p:nvSpPr>
          <p:cNvPr id="23" name="Shape 21"/>
          <p:cNvSpPr/>
          <p:nvPr/>
        </p:nvSpPr>
        <p:spPr>
          <a:xfrm>
            <a:off x="365760" y="3822192"/>
            <a:ext cx="54864" cy="859536"/>
          </a:xfrm>
          <a:prstGeom prst="rect">
            <a:avLst/>
          </a:prstGeom>
          <a:solidFill>
            <a:srgbClr val="2B5BAE"/>
          </a:solidFill>
          <a:ln w="12700">
            <a:solidFill>
              <a:srgbClr val="2B5BAE"/>
            </a:solidFill>
            <a:prstDash val="solid"/>
          </a:ln>
        </p:spPr>
      </p:sp>
      <p:sp>
        <p:nvSpPr>
          <p:cNvPr id="24" name="Text 22"/>
          <p:cNvSpPr/>
          <p:nvPr/>
        </p:nvSpPr>
        <p:spPr>
          <a:xfrm>
            <a:off x="530352" y="3895344"/>
            <a:ext cx="2560320" cy="274320"/>
          </a:xfrm>
          <a:prstGeom prst="rect">
            <a:avLst/>
          </a:prstGeom>
          <a:noFill/>
          <a:ln/>
        </p:spPr>
        <p:txBody>
          <a:bodyPr wrap="square" lIns="0" tIns="0" rIns="0" bIns="0" rtlCol="0" anchor="ctr"/>
          <a:lstStyle/>
          <a:p>
            <a:pPr indent="0" marL="0">
              <a:buNone/>
            </a:pPr>
            <a:r>
              <a:rPr lang="en-US" sz="950" b="1" dirty="0">
                <a:solidFill>
                  <a:srgbClr val="1B2D55"/>
                </a:solidFill>
              </a:rPr>
              <a:t>Accessories &amp; Apparel</a:t>
            </a:r>
            <a:endParaRPr lang="en-US" sz="950" dirty="0"/>
          </a:p>
        </p:txBody>
      </p:sp>
      <p:sp>
        <p:nvSpPr>
          <p:cNvPr id="25" name="Text 23"/>
          <p:cNvSpPr/>
          <p:nvPr/>
        </p:nvSpPr>
        <p:spPr>
          <a:xfrm>
            <a:off x="530352" y="4224528"/>
            <a:ext cx="8138160" cy="384048"/>
          </a:xfrm>
          <a:prstGeom prst="rect">
            <a:avLst/>
          </a:prstGeom>
          <a:noFill/>
          <a:ln/>
        </p:spPr>
        <p:txBody>
          <a:bodyPr wrap="square" lIns="0" tIns="0" rIns="0" bIns="0" rtlCol="0" anchor="ctr"/>
          <a:lstStyle/>
          <a:p>
            <a:pPr indent="0" marL="0">
              <a:buNone/>
            </a:pPr>
            <a:r>
              <a:rPr lang="en-US" sz="800" dirty="0">
                <a:solidFill>
                  <a:srgbClr val="4A5568"/>
                </a:solidFill>
              </a:rPr>
              <a:t>Packs, gaiters, base layers (sourced); ASP $65; primarily DTC cross-sell to existing customers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Market Opportunity</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8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Market Opportunity</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Addressable Market &amp; Revenue Mix</a:t>
            </a:r>
            <a:endParaRPr lang="en-US" sz="950" dirty="0"/>
          </a:p>
        </p:txBody>
      </p:sp>
      <p:sp>
        <p:nvSpPr>
          <p:cNvPr id="11" name="Shape 9"/>
          <p:cNvSpPr/>
          <p:nvPr/>
        </p:nvSpPr>
        <p:spPr>
          <a:xfrm>
            <a:off x="365760" y="1024128"/>
            <a:ext cx="2286000" cy="502920"/>
          </a:xfrm>
          <a:prstGeom prst="rect">
            <a:avLst/>
          </a:prstGeom>
          <a:solidFill>
            <a:srgbClr val="1B2D55"/>
          </a:solidFill>
          <a:ln w="12700">
            <a:solidFill>
              <a:srgbClr val="1B2D55"/>
            </a:solidFill>
            <a:prstDash val="solid"/>
          </a:ln>
        </p:spPr>
      </p:sp>
      <p:sp>
        <p:nvSpPr>
          <p:cNvPr id="12" name="Text 10"/>
          <p:cNvSpPr/>
          <p:nvPr/>
        </p:nvSpPr>
        <p:spPr>
          <a:xfrm>
            <a:off x="457200" y="1097280"/>
            <a:ext cx="2103120" cy="347472"/>
          </a:xfrm>
          <a:prstGeom prst="rect">
            <a:avLst/>
          </a:prstGeom>
          <a:noFill/>
          <a:ln/>
        </p:spPr>
        <p:txBody>
          <a:bodyPr wrap="square" lIns="0" tIns="0" rIns="0" bIns="0" rtlCol="0" anchor="ctr"/>
          <a:lstStyle/>
          <a:p>
            <a:pPr indent="0" marL="0">
              <a:buNone/>
            </a:pPr>
            <a:r>
              <a:rPr lang="en-US" sz="800" b="1" dirty="0">
                <a:solidFill>
                  <a:srgbClr val="FFFFFF"/>
                </a:solidFill>
              </a:rPr>
              <a:t>Market Segment</a:t>
            </a:r>
            <a:endParaRPr lang="en-US" sz="800" dirty="0"/>
          </a:p>
        </p:txBody>
      </p:sp>
      <p:sp>
        <p:nvSpPr>
          <p:cNvPr id="13" name="Shape 11"/>
          <p:cNvSpPr/>
          <p:nvPr/>
        </p:nvSpPr>
        <p:spPr>
          <a:xfrm>
            <a:off x="2697480" y="1024128"/>
            <a:ext cx="1097280" cy="502920"/>
          </a:xfrm>
          <a:prstGeom prst="rect">
            <a:avLst/>
          </a:prstGeom>
          <a:solidFill>
            <a:srgbClr val="1B2D55"/>
          </a:solidFill>
          <a:ln w="12700">
            <a:solidFill>
              <a:srgbClr val="1B2D55"/>
            </a:solidFill>
            <a:prstDash val="solid"/>
          </a:ln>
        </p:spPr>
      </p:sp>
      <p:sp>
        <p:nvSpPr>
          <p:cNvPr id="14" name="Text 12"/>
          <p:cNvSpPr/>
          <p:nvPr/>
        </p:nvSpPr>
        <p:spPr>
          <a:xfrm>
            <a:off x="2788920" y="1097280"/>
            <a:ext cx="914400" cy="347472"/>
          </a:xfrm>
          <a:prstGeom prst="rect">
            <a:avLst/>
          </a:prstGeom>
          <a:noFill/>
          <a:ln/>
        </p:spPr>
        <p:txBody>
          <a:bodyPr wrap="square" lIns="0" tIns="0" rIns="0" bIns="0" rtlCol="0" anchor="ctr"/>
          <a:lstStyle/>
          <a:p>
            <a:pPr indent="0" marL="0">
              <a:buNone/>
            </a:pPr>
            <a:r>
              <a:rPr lang="en-US" sz="800" b="1" dirty="0">
                <a:solidFill>
                  <a:srgbClr val="FFFFFF"/>
                </a:solidFill>
              </a:rPr>
              <a:t>Total Size</a:t>
            </a:r>
            <a:endParaRPr lang="en-US" sz="800" dirty="0"/>
          </a:p>
        </p:txBody>
      </p:sp>
      <p:sp>
        <p:nvSpPr>
          <p:cNvPr id="15" name="Shape 13"/>
          <p:cNvSpPr/>
          <p:nvPr/>
        </p:nvSpPr>
        <p:spPr>
          <a:xfrm>
            <a:off x="3840480" y="1024128"/>
            <a:ext cx="3657600" cy="502920"/>
          </a:xfrm>
          <a:prstGeom prst="rect">
            <a:avLst/>
          </a:prstGeom>
          <a:solidFill>
            <a:srgbClr val="1B2D55"/>
          </a:solidFill>
          <a:ln w="12700">
            <a:solidFill>
              <a:srgbClr val="1B2D55"/>
            </a:solidFill>
            <a:prstDash val="solid"/>
          </a:ln>
        </p:spPr>
      </p:sp>
      <p:sp>
        <p:nvSpPr>
          <p:cNvPr id="16" name="Text 14"/>
          <p:cNvSpPr/>
          <p:nvPr/>
        </p:nvSpPr>
        <p:spPr>
          <a:xfrm>
            <a:off x="3931920" y="1097280"/>
            <a:ext cx="3474720" cy="347472"/>
          </a:xfrm>
          <a:prstGeom prst="rect">
            <a:avLst/>
          </a:prstGeom>
          <a:noFill/>
          <a:ln/>
        </p:spPr>
        <p:txBody>
          <a:bodyPr wrap="square" lIns="0" tIns="0" rIns="0" bIns="0" rtlCol="0" anchor="ctr"/>
          <a:lstStyle/>
          <a:p>
            <a:pPr indent="0" marL="0">
              <a:buNone/>
            </a:pPr>
            <a:r>
              <a:rPr lang="en-US" sz="800" b="1" dirty="0">
                <a:solidFill>
                  <a:srgbClr val="FFFFFF"/>
                </a:solidFill>
              </a:rPr>
              <a:t>Competitive Context</a:t>
            </a:r>
            <a:endParaRPr lang="en-US" sz="800" dirty="0"/>
          </a:p>
        </p:txBody>
      </p:sp>
      <p:sp>
        <p:nvSpPr>
          <p:cNvPr id="17" name="Shape 15"/>
          <p:cNvSpPr/>
          <p:nvPr/>
        </p:nvSpPr>
        <p:spPr>
          <a:xfrm>
            <a:off x="7543800" y="1024128"/>
            <a:ext cx="1097280" cy="502920"/>
          </a:xfrm>
          <a:prstGeom prst="rect">
            <a:avLst/>
          </a:prstGeom>
          <a:solidFill>
            <a:srgbClr val="1B2D55"/>
          </a:solidFill>
          <a:ln w="12700">
            <a:solidFill>
              <a:srgbClr val="1B2D55"/>
            </a:solidFill>
            <a:prstDash val="solid"/>
          </a:ln>
        </p:spPr>
      </p:sp>
      <p:sp>
        <p:nvSpPr>
          <p:cNvPr id="18" name="Text 16"/>
          <p:cNvSpPr/>
          <p:nvPr/>
        </p:nvSpPr>
        <p:spPr>
          <a:xfrm>
            <a:off x="7635240" y="1097280"/>
            <a:ext cx="914400" cy="347472"/>
          </a:xfrm>
          <a:prstGeom prst="rect">
            <a:avLst/>
          </a:prstGeom>
          <a:noFill/>
          <a:ln/>
        </p:spPr>
        <p:txBody>
          <a:bodyPr wrap="square" lIns="0" tIns="0" rIns="0" bIns="0" rtlCol="0" anchor="ctr"/>
          <a:lstStyle/>
          <a:p>
            <a:pPr indent="0" marL="0">
              <a:buNone/>
            </a:pPr>
            <a:r>
              <a:rPr lang="en-US" sz="800" b="1" dirty="0">
                <a:solidFill>
                  <a:srgbClr val="FFFFFF"/>
                </a:solidFill>
              </a:rPr>
              <a:t>Revenue Mix</a:t>
            </a:r>
            <a:endParaRPr lang="en-US" sz="800" dirty="0"/>
          </a:p>
        </p:txBody>
      </p:sp>
      <p:sp>
        <p:nvSpPr>
          <p:cNvPr id="19" name="Shape 17"/>
          <p:cNvSpPr/>
          <p:nvPr/>
        </p:nvSpPr>
        <p:spPr>
          <a:xfrm>
            <a:off x="365760" y="1527048"/>
            <a:ext cx="2286000" cy="502920"/>
          </a:xfrm>
          <a:prstGeom prst="rect">
            <a:avLst/>
          </a:prstGeom>
          <a:solidFill>
            <a:srgbClr val="F4F6FA"/>
          </a:solidFill>
          <a:ln w="12700">
            <a:solidFill>
              <a:srgbClr val="D0D8E4"/>
            </a:solidFill>
            <a:prstDash val="solid"/>
          </a:ln>
        </p:spPr>
      </p:sp>
      <p:sp>
        <p:nvSpPr>
          <p:cNvPr id="20" name="Text 18"/>
          <p:cNvSpPr/>
          <p:nvPr/>
        </p:nvSpPr>
        <p:spPr>
          <a:xfrm>
            <a:off x="457200" y="1600200"/>
            <a:ext cx="2103120" cy="347472"/>
          </a:xfrm>
          <a:prstGeom prst="rect">
            <a:avLst/>
          </a:prstGeom>
          <a:noFill/>
          <a:ln/>
        </p:spPr>
        <p:txBody>
          <a:bodyPr wrap="square" lIns="0" tIns="0" rIns="0" bIns="0" rtlCol="0" anchor="ctr"/>
          <a:lstStyle/>
          <a:p>
            <a:pPr indent="0" marL="0">
              <a:buNone/>
            </a:pPr>
            <a:r>
              <a:rPr lang="en-US" sz="800" dirty="0">
                <a:solidFill>
                  <a:srgbClr val="1B2D55"/>
                </a:solidFill>
              </a:rPr>
              <a:t>US Specialty Outdoor</a:t>
            </a:r>
            <a:endParaRPr lang="en-US" sz="800" dirty="0"/>
          </a:p>
        </p:txBody>
      </p:sp>
      <p:sp>
        <p:nvSpPr>
          <p:cNvPr id="21" name="Shape 19"/>
          <p:cNvSpPr/>
          <p:nvPr/>
        </p:nvSpPr>
        <p:spPr>
          <a:xfrm>
            <a:off x="2697480" y="1527048"/>
            <a:ext cx="1097280" cy="502920"/>
          </a:xfrm>
          <a:prstGeom prst="rect">
            <a:avLst/>
          </a:prstGeom>
          <a:solidFill>
            <a:srgbClr val="F4F6FA"/>
          </a:solidFill>
          <a:ln w="12700">
            <a:solidFill>
              <a:srgbClr val="D0D8E4"/>
            </a:solidFill>
            <a:prstDash val="solid"/>
          </a:ln>
        </p:spPr>
      </p:sp>
      <p:sp>
        <p:nvSpPr>
          <p:cNvPr id="22" name="Text 20"/>
          <p:cNvSpPr/>
          <p:nvPr/>
        </p:nvSpPr>
        <p:spPr>
          <a:xfrm>
            <a:off x="2788920" y="1600200"/>
            <a:ext cx="914400" cy="347472"/>
          </a:xfrm>
          <a:prstGeom prst="rect">
            <a:avLst/>
          </a:prstGeom>
          <a:noFill/>
          <a:ln/>
        </p:spPr>
        <p:txBody>
          <a:bodyPr wrap="square" lIns="0" tIns="0" rIns="0" bIns="0" rtlCol="0" anchor="ctr"/>
          <a:lstStyle/>
          <a:p>
            <a:pPr indent="0" marL="0">
              <a:buNone/>
            </a:pPr>
            <a:r>
              <a:rPr lang="en-US" sz="800" dirty="0">
                <a:solidFill>
                  <a:srgbClr val="1B2D55"/>
                </a:solidFill>
              </a:rPr>
              <a:t>$4.2B</a:t>
            </a:r>
            <a:endParaRPr lang="en-US" sz="800" dirty="0"/>
          </a:p>
        </p:txBody>
      </p:sp>
      <p:sp>
        <p:nvSpPr>
          <p:cNvPr id="23" name="Shape 21"/>
          <p:cNvSpPr/>
          <p:nvPr/>
        </p:nvSpPr>
        <p:spPr>
          <a:xfrm>
            <a:off x="3840480" y="1527048"/>
            <a:ext cx="3657600" cy="502920"/>
          </a:xfrm>
          <a:prstGeom prst="rect">
            <a:avLst/>
          </a:prstGeom>
          <a:solidFill>
            <a:srgbClr val="F4F6FA"/>
          </a:solidFill>
          <a:ln w="12700">
            <a:solidFill>
              <a:srgbClr val="D0D8E4"/>
            </a:solidFill>
            <a:prstDash val="solid"/>
          </a:ln>
        </p:spPr>
      </p:sp>
      <p:sp>
        <p:nvSpPr>
          <p:cNvPr id="24" name="Text 22"/>
          <p:cNvSpPr/>
          <p:nvPr/>
        </p:nvSpPr>
        <p:spPr>
          <a:xfrm>
            <a:off x="3931920" y="1600200"/>
            <a:ext cx="3474720" cy="347472"/>
          </a:xfrm>
          <a:prstGeom prst="rect">
            <a:avLst/>
          </a:prstGeom>
          <a:noFill/>
          <a:ln/>
        </p:spPr>
        <p:txBody>
          <a:bodyPr wrap="square" lIns="0" tIns="0" rIns="0" bIns="0" rtlCol="0" anchor="ctr"/>
          <a:lstStyle/>
          <a:p>
            <a:pPr indent="0" marL="0">
              <a:buNone/>
            </a:pPr>
            <a:r>
              <a:rPr lang="en-US" sz="800" dirty="0">
                <a:solidFill>
                  <a:srgbClr val="1B2D55"/>
                </a:solidFill>
              </a:rPr>
              <a:t>REI + specialty; Cascade est. 2.7% share</a:t>
            </a:r>
            <a:endParaRPr lang="en-US" sz="800" dirty="0"/>
          </a:p>
        </p:txBody>
      </p:sp>
      <p:sp>
        <p:nvSpPr>
          <p:cNvPr id="25" name="Shape 23"/>
          <p:cNvSpPr/>
          <p:nvPr/>
        </p:nvSpPr>
        <p:spPr>
          <a:xfrm>
            <a:off x="7543800" y="1527048"/>
            <a:ext cx="1097280" cy="502920"/>
          </a:xfrm>
          <a:prstGeom prst="rect">
            <a:avLst/>
          </a:prstGeom>
          <a:solidFill>
            <a:srgbClr val="F4F6FA"/>
          </a:solidFill>
          <a:ln w="12700">
            <a:solidFill>
              <a:srgbClr val="D0D8E4"/>
            </a:solidFill>
            <a:prstDash val="solid"/>
          </a:ln>
        </p:spPr>
      </p:sp>
      <p:sp>
        <p:nvSpPr>
          <p:cNvPr id="26" name="Text 24"/>
          <p:cNvSpPr/>
          <p:nvPr/>
        </p:nvSpPr>
        <p:spPr>
          <a:xfrm>
            <a:off x="7635240" y="1600200"/>
            <a:ext cx="914400" cy="347472"/>
          </a:xfrm>
          <a:prstGeom prst="rect">
            <a:avLst/>
          </a:prstGeom>
          <a:noFill/>
          <a:ln/>
        </p:spPr>
        <p:txBody>
          <a:bodyPr wrap="square" lIns="0" tIns="0" rIns="0" bIns="0" rtlCol="0" anchor="ctr"/>
          <a:lstStyle/>
          <a:p>
            <a:pPr indent="0" marL="0">
              <a:buNone/>
            </a:pPr>
            <a:r>
              <a:rPr lang="en-US" sz="800" dirty="0">
                <a:solidFill>
                  <a:srgbClr val="1B2D55"/>
                </a:solidFill>
              </a:rPr>
              <a:t>38%</a:t>
            </a:r>
            <a:endParaRPr lang="en-US" sz="800" dirty="0"/>
          </a:p>
        </p:txBody>
      </p:sp>
      <p:sp>
        <p:nvSpPr>
          <p:cNvPr id="27" name="Shape 25"/>
          <p:cNvSpPr/>
          <p:nvPr/>
        </p:nvSpPr>
        <p:spPr>
          <a:xfrm>
            <a:off x="365760" y="2029968"/>
            <a:ext cx="2286000" cy="502920"/>
          </a:xfrm>
          <a:prstGeom prst="rect">
            <a:avLst/>
          </a:prstGeom>
          <a:solidFill>
            <a:srgbClr val="FFFFFF"/>
          </a:solidFill>
          <a:ln w="12700">
            <a:solidFill>
              <a:srgbClr val="D0D8E4"/>
            </a:solidFill>
            <a:prstDash val="solid"/>
          </a:ln>
        </p:spPr>
      </p:sp>
      <p:sp>
        <p:nvSpPr>
          <p:cNvPr id="28" name="Text 26"/>
          <p:cNvSpPr/>
          <p:nvPr/>
        </p:nvSpPr>
        <p:spPr>
          <a:xfrm>
            <a:off x="457200" y="2103120"/>
            <a:ext cx="2103120" cy="347472"/>
          </a:xfrm>
          <a:prstGeom prst="rect">
            <a:avLst/>
          </a:prstGeom>
          <a:noFill/>
          <a:ln/>
        </p:spPr>
        <p:txBody>
          <a:bodyPr wrap="square" lIns="0" tIns="0" rIns="0" bIns="0" rtlCol="0" anchor="ctr"/>
          <a:lstStyle/>
          <a:p>
            <a:pPr indent="0" marL="0">
              <a:buNone/>
            </a:pPr>
            <a:r>
              <a:rPr lang="en-US" sz="800" dirty="0">
                <a:solidFill>
                  <a:srgbClr val="1B2D55"/>
                </a:solidFill>
              </a:rPr>
              <a:t>US DTC / E-commerce</a:t>
            </a:r>
            <a:endParaRPr lang="en-US" sz="800" dirty="0"/>
          </a:p>
        </p:txBody>
      </p:sp>
      <p:sp>
        <p:nvSpPr>
          <p:cNvPr id="29" name="Shape 27"/>
          <p:cNvSpPr/>
          <p:nvPr/>
        </p:nvSpPr>
        <p:spPr>
          <a:xfrm>
            <a:off x="2697480" y="2029968"/>
            <a:ext cx="1097280" cy="502920"/>
          </a:xfrm>
          <a:prstGeom prst="rect">
            <a:avLst/>
          </a:prstGeom>
          <a:solidFill>
            <a:srgbClr val="FFFFFF"/>
          </a:solidFill>
          <a:ln w="12700">
            <a:solidFill>
              <a:srgbClr val="D0D8E4"/>
            </a:solidFill>
            <a:prstDash val="solid"/>
          </a:ln>
        </p:spPr>
      </p:sp>
      <p:sp>
        <p:nvSpPr>
          <p:cNvPr id="30" name="Text 28"/>
          <p:cNvSpPr/>
          <p:nvPr/>
        </p:nvSpPr>
        <p:spPr>
          <a:xfrm>
            <a:off x="2788920" y="2103120"/>
            <a:ext cx="914400" cy="347472"/>
          </a:xfrm>
          <a:prstGeom prst="rect">
            <a:avLst/>
          </a:prstGeom>
          <a:noFill/>
          <a:ln/>
        </p:spPr>
        <p:txBody>
          <a:bodyPr wrap="square" lIns="0" tIns="0" rIns="0" bIns="0" rtlCol="0" anchor="ctr"/>
          <a:lstStyle/>
          <a:p>
            <a:pPr indent="0" marL="0">
              <a:buNone/>
            </a:pPr>
            <a:r>
              <a:rPr lang="en-US" sz="800" dirty="0">
                <a:solidFill>
                  <a:srgbClr val="1B2D55"/>
                </a:solidFill>
              </a:rPr>
              <a:t>$2.1B</a:t>
            </a:r>
            <a:endParaRPr lang="en-US" sz="800" dirty="0"/>
          </a:p>
        </p:txBody>
      </p:sp>
      <p:sp>
        <p:nvSpPr>
          <p:cNvPr id="31" name="Shape 29"/>
          <p:cNvSpPr/>
          <p:nvPr/>
        </p:nvSpPr>
        <p:spPr>
          <a:xfrm>
            <a:off x="3840480" y="2029968"/>
            <a:ext cx="3657600" cy="502920"/>
          </a:xfrm>
          <a:prstGeom prst="rect">
            <a:avLst/>
          </a:prstGeom>
          <a:solidFill>
            <a:srgbClr val="FFFFFF"/>
          </a:solidFill>
          <a:ln w="12700">
            <a:solidFill>
              <a:srgbClr val="D0D8E4"/>
            </a:solidFill>
            <a:prstDash val="solid"/>
          </a:ln>
        </p:spPr>
      </p:sp>
      <p:sp>
        <p:nvSpPr>
          <p:cNvPr id="32" name="Text 30"/>
          <p:cNvSpPr/>
          <p:nvPr/>
        </p:nvSpPr>
        <p:spPr>
          <a:xfrm>
            <a:off x="3931920" y="2103120"/>
            <a:ext cx="3474720" cy="347472"/>
          </a:xfrm>
          <a:prstGeom prst="rect">
            <a:avLst/>
          </a:prstGeom>
          <a:noFill/>
          <a:ln/>
        </p:spPr>
        <p:txBody>
          <a:bodyPr wrap="square" lIns="0" tIns="0" rIns="0" bIns="0" rtlCol="0" anchor="ctr"/>
          <a:lstStyle/>
          <a:p>
            <a:pPr indent="0" marL="0">
              <a:buNone/>
            </a:pPr>
            <a:r>
              <a:rPr lang="en-US" sz="800" dirty="0">
                <a:solidFill>
                  <a:srgbClr val="1B2D55"/>
                </a:solidFill>
              </a:rPr>
              <a:t>Growing; Cascade DTC fastest-growing channel</a:t>
            </a:r>
            <a:endParaRPr lang="en-US" sz="800" dirty="0"/>
          </a:p>
        </p:txBody>
      </p:sp>
      <p:sp>
        <p:nvSpPr>
          <p:cNvPr id="33" name="Shape 31"/>
          <p:cNvSpPr/>
          <p:nvPr/>
        </p:nvSpPr>
        <p:spPr>
          <a:xfrm>
            <a:off x="7543800" y="2029968"/>
            <a:ext cx="1097280" cy="502920"/>
          </a:xfrm>
          <a:prstGeom prst="rect">
            <a:avLst/>
          </a:prstGeom>
          <a:solidFill>
            <a:srgbClr val="FFFFFF"/>
          </a:solidFill>
          <a:ln w="12700">
            <a:solidFill>
              <a:srgbClr val="D0D8E4"/>
            </a:solidFill>
            <a:prstDash val="solid"/>
          </a:ln>
        </p:spPr>
      </p:sp>
      <p:sp>
        <p:nvSpPr>
          <p:cNvPr id="34" name="Text 32"/>
          <p:cNvSpPr/>
          <p:nvPr/>
        </p:nvSpPr>
        <p:spPr>
          <a:xfrm>
            <a:off x="7635240" y="2103120"/>
            <a:ext cx="914400" cy="347472"/>
          </a:xfrm>
          <a:prstGeom prst="rect">
            <a:avLst/>
          </a:prstGeom>
          <a:noFill/>
          <a:ln/>
        </p:spPr>
        <p:txBody>
          <a:bodyPr wrap="square" lIns="0" tIns="0" rIns="0" bIns="0" rtlCol="0" anchor="ctr"/>
          <a:lstStyle/>
          <a:p>
            <a:pPr indent="0" marL="0">
              <a:buNone/>
            </a:pPr>
            <a:r>
              <a:rPr lang="en-US" sz="800" dirty="0">
                <a:solidFill>
                  <a:srgbClr val="1B2D55"/>
                </a:solidFill>
              </a:rPr>
              <a:t>44%</a:t>
            </a:r>
            <a:endParaRPr lang="en-US" sz="800" dirty="0"/>
          </a:p>
        </p:txBody>
      </p:sp>
      <p:sp>
        <p:nvSpPr>
          <p:cNvPr id="35" name="Shape 33"/>
          <p:cNvSpPr/>
          <p:nvPr/>
        </p:nvSpPr>
        <p:spPr>
          <a:xfrm>
            <a:off x="365760" y="2532888"/>
            <a:ext cx="2286000" cy="502920"/>
          </a:xfrm>
          <a:prstGeom prst="rect">
            <a:avLst/>
          </a:prstGeom>
          <a:solidFill>
            <a:srgbClr val="F4F6FA"/>
          </a:solidFill>
          <a:ln w="12700">
            <a:solidFill>
              <a:srgbClr val="D0D8E4"/>
            </a:solidFill>
            <a:prstDash val="solid"/>
          </a:ln>
        </p:spPr>
      </p:sp>
      <p:sp>
        <p:nvSpPr>
          <p:cNvPr id="36" name="Text 34"/>
          <p:cNvSpPr/>
          <p:nvPr/>
        </p:nvSpPr>
        <p:spPr>
          <a:xfrm>
            <a:off x="457200" y="2606040"/>
            <a:ext cx="2103120" cy="347472"/>
          </a:xfrm>
          <a:prstGeom prst="rect">
            <a:avLst/>
          </a:prstGeom>
          <a:noFill/>
          <a:ln/>
        </p:spPr>
        <p:txBody>
          <a:bodyPr wrap="square" lIns="0" tIns="0" rIns="0" bIns="0" rtlCol="0" anchor="ctr"/>
          <a:lstStyle/>
          <a:p>
            <a:pPr indent="0" marL="0">
              <a:buNone/>
            </a:pPr>
            <a:r>
              <a:rPr lang="en-US" sz="800" dirty="0">
                <a:solidFill>
                  <a:srgbClr val="1B2D55"/>
                </a:solidFill>
              </a:rPr>
              <a:t>EU Outdoor Retail</a:t>
            </a:r>
            <a:endParaRPr lang="en-US" sz="800" dirty="0"/>
          </a:p>
        </p:txBody>
      </p:sp>
      <p:sp>
        <p:nvSpPr>
          <p:cNvPr id="37" name="Shape 35"/>
          <p:cNvSpPr/>
          <p:nvPr/>
        </p:nvSpPr>
        <p:spPr>
          <a:xfrm>
            <a:off x="2697480" y="2532888"/>
            <a:ext cx="1097280" cy="502920"/>
          </a:xfrm>
          <a:prstGeom prst="rect">
            <a:avLst/>
          </a:prstGeom>
          <a:solidFill>
            <a:srgbClr val="F4F6FA"/>
          </a:solidFill>
          <a:ln w="12700">
            <a:solidFill>
              <a:srgbClr val="D0D8E4"/>
            </a:solidFill>
            <a:prstDash val="solid"/>
          </a:ln>
        </p:spPr>
      </p:sp>
      <p:sp>
        <p:nvSpPr>
          <p:cNvPr id="38" name="Text 36"/>
          <p:cNvSpPr/>
          <p:nvPr/>
        </p:nvSpPr>
        <p:spPr>
          <a:xfrm>
            <a:off x="2788920" y="2606040"/>
            <a:ext cx="914400" cy="347472"/>
          </a:xfrm>
          <a:prstGeom prst="rect">
            <a:avLst/>
          </a:prstGeom>
          <a:noFill/>
          <a:ln/>
        </p:spPr>
        <p:txBody>
          <a:bodyPr wrap="square" lIns="0" tIns="0" rIns="0" bIns="0" rtlCol="0" anchor="ctr"/>
          <a:lstStyle/>
          <a:p>
            <a:pPr indent="0" marL="0">
              <a:buNone/>
            </a:pPr>
            <a:r>
              <a:rPr lang="en-US" sz="800" dirty="0">
                <a:solidFill>
                  <a:srgbClr val="1B2D55"/>
                </a:solidFill>
              </a:rPr>
              <a:t>$6.8B</a:t>
            </a:r>
            <a:endParaRPr lang="en-US" sz="800" dirty="0"/>
          </a:p>
        </p:txBody>
      </p:sp>
      <p:sp>
        <p:nvSpPr>
          <p:cNvPr id="39" name="Shape 37"/>
          <p:cNvSpPr/>
          <p:nvPr/>
        </p:nvSpPr>
        <p:spPr>
          <a:xfrm>
            <a:off x="3840480" y="2532888"/>
            <a:ext cx="3657600" cy="502920"/>
          </a:xfrm>
          <a:prstGeom prst="rect">
            <a:avLst/>
          </a:prstGeom>
          <a:solidFill>
            <a:srgbClr val="F4F6FA"/>
          </a:solidFill>
          <a:ln w="12700">
            <a:solidFill>
              <a:srgbClr val="D0D8E4"/>
            </a:solidFill>
            <a:prstDash val="solid"/>
          </a:ln>
        </p:spPr>
      </p:sp>
      <p:sp>
        <p:nvSpPr>
          <p:cNvPr id="40" name="Text 38"/>
          <p:cNvSpPr/>
          <p:nvPr/>
        </p:nvSpPr>
        <p:spPr>
          <a:xfrm>
            <a:off x="3931920" y="2606040"/>
            <a:ext cx="3474720" cy="347472"/>
          </a:xfrm>
          <a:prstGeom prst="rect">
            <a:avLst/>
          </a:prstGeom>
          <a:noFill/>
          <a:ln/>
        </p:spPr>
        <p:txBody>
          <a:bodyPr wrap="square" lIns="0" tIns="0" rIns="0" bIns="0" rtlCol="0" anchor="ctr"/>
          <a:lstStyle/>
          <a:p>
            <a:pPr indent="0" marL="0">
              <a:buNone/>
            </a:pPr>
            <a:r>
              <a:rPr lang="en-US" sz="800" dirty="0">
                <a:solidFill>
                  <a:srgbClr val="1B2D55"/>
                </a:solidFill>
              </a:rPr>
              <a:t>CE-certified 2023; underpenetrated</a:t>
            </a:r>
            <a:endParaRPr lang="en-US" sz="800" dirty="0"/>
          </a:p>
        </p:txBody>
      </p:sp>
      <p:sp>
        <p:nvSpPr>
          <p:cNvPr id="41" name="Shape 39"/>
          <p:cNvSpPr/>
          <p:nvPr/>
        </p:nvSpPr>
        <p:spPr>
          <a:xfrm>
            <a:off x="7543800" y="2532888"/>
            <a:ext cx="1097280" cy="502920"/>
          </a:xfrm>
          <a:prstGeom prst="rect">
            <a:avLst/>
          </a:prstGeom>
          <a:solidFill>
            <a:srgbClr val="F4F6FA"/>
          </a:solidFill>
          <a:ln w="12700">
            <a:solidFill>
              <a:srgbClr val="D0D8E4"/>
            </a:solidFill>
            <a:prstDash val="solid"/>
          </a:ln>
        </p:spPr>
      </p:sp>
      <p:sp>
        <p:nvSpPr>
          <p:cNvPr id="42" name="Text 40"/>
          <p:cNvSpPr/>
          <p:nvPr/>
        </p:nvSpPr>
        <p:spPr>
          <a:xfrm>
            <a:off x="7635240" y="2606040"/>
            <a:ext cx="914400" cy="347472"/>
          </a:xfrm>
          <a:prstGeom prst="rect">
            <a:avLst/>
          </a:prstGeom>
          <a:noFill/>
          <a:ln/>
        </p:spPr>
        <p:txBody>
          <a:bodyPr wrap="square" lIns="0" tIns="0" rIns="0" bIns="0" rtlCol="0" anchor="ctr"/>
          <a:lstStyle/>
          <a:p>
            <a:pPr indent="0" marL="0">
              <a:buNone/>
            </a:pPr>
            <a:r>
              <a:rPr lang="en-US" sz="800" dirty="0">
                <a:solidFill>
                  <a:srgbClr val="1B2D55"/>
                </a:solidFill>
              </a:rPr>
              <a:t>11%</a:t>
            </a:r>
            <a:endParaRPr lang="en-US" sz="800" dirty="0"/>
          </a:p>
        </p:txBody>
      </p:sp>
      <p:sp>
        <p:nvSpPr>
          <p:cNvPr id="43" name="Shape 41"/>
          <p:cNvSpPr/>
          <p:nvPr/>
        </p:nvSpPr>
        <p:spPr>
          <a:xfrm>
            <a:off x="365760" y="3035808"/>
            <a:ext cx="2286000" cy="502920"/>
          </a:xfrm>
          <a:prstGeom prst="rect">
            <a:avLst/>
          </a:prstGeom>
          <a:solidFill>
            <a:srgbClr val="FFFFFF"/>
          </a:solidFill>
          <a:ln w="12700">
            <a:solidFill>
              <a:srgbClr val="D0D8E4"/>
            </a:solidFill>
            <a:prstDash val="solid"/>
          </a:ln>
        </p:spPr>
      </p:sp>
      <p:sp>
        <p:nvSpPr>
          <p:cNvPr id="44" name="Text 42"/>
          <p:cNvSpPr/>
          <p:nvPr/>
        </p:nvSpPr>
        <p:spPr>
          <a:xfrm>
            <a:off x="457200" y="3108960"/>
            <a:ext cx="2103120" cy="347472"/>
          </a:xfrm>
          <a:prstGeom prst="rect">
            <a:avLst/>
          </a:prstGeom>
          <a:noFill/>
          <a:ln/>
        </p:spPr>
        <p:txBody>
          <a:bodyPr wrap="square" lIns="0" tIns="0" rIns="0" bIns="0" rtlCol="0" anchor="ctr"/>
          <a:lstStyle/>
          <a:p>
            <a:pPr indent="0" marL="0">
              <a:buNone/>
            </a:pPr>
            <a:r>
              <a:rPr lang="en-US" sz="800" dirty="0">
                <a:solidFill>
                  <a:srgbClr val="1B2D55"/>
                </a:solidFill>
              </a:rPr>
              <a:t>Asia-Pacific</a:t>
            </a:r>
            <a:endParaRPr lang="en-US" sz="800" dirty="0"/>
          </a:p>
        </p:txBody>
      </p:sp>
      <p:sp>
        <p:nvSpPr>
          <p:cNvPr id="45" name="Shape 43"/>
          <p:cNvSpPr/>
          <p:nvPr/>
        </p:nvSpPr>
        <p:spPr>
          <a:xfrm>
            <a:off x="2697480" y="3035808"/>
            <a:ext cx="1097280" cy="502920"/>
          </a:xfrm>
          <a:prstGeom prst="rect">
            <a:avLst/>
          </a:prstGeom>
          <a:solidFill>
            <a:srgbClr val="FFFFFF"/>
          </a:solidFill>
          <a:ln w="12700">
            <a:solidFill>
              <a:srgbClr val="D0D8E4"/>
            </a:solidFill>
            <a:prstDash val="solid"/>
          </a:ln>
        </p:spPr>
      </p:sp>
      <p:sp>
        <p:nvSpPr>
          <p:cNvPr id="46" name="Text 44"/>
          <p:cNvSpPr/>
          <p:nvPr/>
        </p:nvSpPr>
        <p:spPr>
          <a:xfrm>
            <a:off x="2788920" y="3108960"/>
            <a:ext cx="914400" cy="347472"/>
          </a:xfrm>
          <a:prstGeom prst="rect">
            <a:avLst/>
          </a:prstGeom>
          <a:noFill/>
          <a:ln/>
        </p:spPr>
        <p:txBody>
          <a:bodyPr wrap="square" lIns="0" tIns="0" rIns="0" bIns="0" rtlCol="0" anchor="ctr"/>
          <a:lstStyle/>
          <a:p>
            <a:pPr indent="0" marL="0">
              <a:buNone/>
            </a:pPr>
            <a:r>
              <a:rPr lang="en-US" sz="800" dirty="0">
                <a:solidFill>
                  <a:srgbClr val="1B2D55"/>
                </a:solidFill>
              </a:rPr>
              <a:t>$3.5B</a:t>
            </a:r>
            <a:endParaRPr lang="en-US" sz="800" dirty="0"/>
          </a:p>
        </p:txBody>
      </p:sp>
      <p:sp>
        <p:nvSpPr>
          <p:cNvPr id="47" name="Shape 45"/>
          <p:cNvSpPr/>
          <p:nvPr/>
        </p:nvSpPr>
        <p:spPr>
          <a:xfrm>
            <a:off x="3840480" y="3035808"/>
            <a:ext cx="3657600" cy="502920"/>
          </a:xfrm>
          <a:prstGeom prst="rect">
            <a:avLst/>
          </a:prstGeom>
          <a:solidFill>
            <a:srgbClr val="FFFFFF"/>
          </a:solidFill>
          <a:ln w="12700">
            <a:solidFill>
              <a:srgbClr val="D0D8E4"/>
            </a:solidFill>
            <a:prstDash val="solid"/>
          </a:ln>
        </p:spPr>
      </p:sp>
      <p:sp>
        <p:nvSpPr>
          <p:cNvPr id="48" name="Text 46"/>
          <p:cNvSpPr/>
          <p:nvPr/>
        </p:nvSpPr>
        <p:spPr>
          <a:xfrm>
            <a:off x="3931920" y="3108960"/>
            <a:ext cx="3474720" cy="347472"/>
          </a:xfrm>
          <a:prstGeom prst="rect">
            <a:avLst/>
          </a:prstGeom>
          <a:noFill/>
          <a:ln/>
        </p:spPr>
        <p:txBody>
          <a:bodyPr wrap="square" lIns="0" tIns="0" rIns="0" bIns="0" rtlCol="0" anchor="ctr"/>
          <a:lstStyle/>
          <a:p>
            <a:pPr indent="0" marL="0">
              <a:buNone/>
            </a:pPr>
            <a:r>
              <a:rPr lang="en-US" sz="800" dirty="0">
                <a:solidFill>
                  <a:srgbClr val="1B2D55"/>
                </a:solidFill>
              </a:rPr>
              <a:t>Japan JV in diligence; high ASP appetite</a:t>
            </a:r>
            <a:endParaRPr lang="en-US" sz="800" dirty="0"/>
          </a:p>
        </p:txBody>
      </p:sp>
      <p:sp>
        <p:nvSpPr>
          <p:cNvPr id="49" name="Shape 47"/>
          <p:cNvSpPr/>
          <p:nvPr/>
        </p:nvSpPr>
        <p:spPr>
          <a:xfrm>
            <a:off x="7543800" y="3035808"/>
            <a:ext cx="1097280" cy="502920"/>
          </a:xfrm>
          <a:prstGeom prst="rect">
            <a:avLst/>
          </a:prstGeom>
          <a:solidFill>
            <a:srgbClr val="FFFFFF"/>
          </a:solidFill>
          <a:ln w="12700">
            <a:solidFill>
              <a:srgbClr val="D0D8E4"/>
            </a:solidFill>
            <a:prstDash val="solid"/>
          </a:ln>
        </p:spPr>
      </p:sp>
      <p:sp>
        <p:nvSpPr>
          <p:cNvPr id="50" name="Text 48"/>
          <p:cNvSpPr/>
          <p:nvPr/>
        </p:nvSpPr>
        <p:spPr>
          <a:xfrm>
            <a:off x="7635240" y="3108960"/>
            <a:ext cx="914400" cy="347472"/>
          </a:xfrm>
          <a:prstGeom prst="rect">
            <a:avLst/>
          </a:prstGeom>
          <a:noFill/>
          <a:ln/>
        </p:spPr>
        <p:txBody>
          <a:bodyPr wrap="square" lIns="0" tIns="0" rIns="0" bIns="0" rtlCol="0" anchor="ctr"/>
          <a:lstStyle/>
          <a:p>
            <a:pPr indent="0" marL="0">
              <a:buNone/>
            </a:pPr>
            <a:r>
              <a:rPr lang="en-US" sz="800" dirty="0">
                <a:solidFill>
                  <a:srgbClr val="1B2D55"/>
                </a:solidFill>
              </a:rPr>
              <a:t>7%</a:t>
            </a:r>
            <a:endParaRPr lang="en-US" sz="800" dirty="0"/>
          </a:p>
        </p:txBody>
      </p:sp>
      <p:sp>
        <p:nvSpPr>
          <p:cNvPr id="51" name="Shape 49"/>
          <p:cNvSpPr/>
          <p:nvPr/>
        </p:nvSpPr>
        <p:spPr>
          <a:xfrm>
            <a:off x="457200" y="4206240"/>
            <a:ext cx="8229600" cy="0"/>
          </a:xfrm>
          <a:prstGeom prst="line">
            <a:avLst/>
          </a:prstGeom>
          <a:noFill/>
          <a:ln w="9525">
            <a:solidFill>
              <a:srgbClr val="D0D8E4"/>
            </a:solidFill>
            <a:prstDash val="solid"/>
          </a:ln>
        </p:spPr>
      </p:sp>
      <p:sp>
        <p:nvSpPr>
          <p:cNvPr id="52" name="Text 50"/>
          <p:cNvSpPr/>
          <p:nvPr/>
        </p:nvSpPr>
        <p:spPr>
          <a:xfrm>
            <a:off x="457200" y="4270248"/>
            <a:ext cx="8229600" cy="365760"/>
          </a:xfrm>
          <a:prstGeom prst="rect">
            <a:avLst/>
          </a:prstGeom>
          <a:noFill/>
          <a:ln/>
        </p:spPr>
        <p:txBody>
          <a:bodyPr wrap="square" lIns="0" tIns="0" rIns="0" bIns="0" rtlCol="0" anchor="ctr"/>
          <a:lstStyle/>
          <a:p>
            <a:pPr indent="0" marL="0">
              <a:buNone/>
            </a:pPr>
            <a:r>
              <a:rPr lang="en-US" sz="750" i="1" dirty="0">
                <a:solidFill>
                  <a:srgbClr val="4A5568"/>
                </a:solidFill>
              </a:rPr>
              <a:t>Combined addressable market: $4.2B (primary segment) — see detail above</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Competitive Landscape</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9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Competitive Landscape</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Key Differentiators vs. Peers</a:t>
            </a:r>
            <a:endParaRPr lang="en-US" sz="950" dirty="0"/>
          </a:p>
        </p:txBody>
      </p:sp>
      <p:sp>
        <p:nvSpPr>
          <p:cNvPr id="11" name="Shape 9"/>
          <p:cNvSpPr/>
          <p:nvPr/>
        </p:nvSpPr>
        <p:spPr>
          <a:xfrm>
            <a:off x="1828800" y="1024128"/>
            <a:ext cx="1737360" cy="411480"/>
          </a:xfrm>
          <a:prstGeom prst="rect">
            <a:avLst/>
          </a:prstGeom>
          <a:solidFill>
            <a:srgbClr val="1B2D55"/>
          </a:solidFill>
          <a:ln w="12700">
            <a:solidFill>
              <a:srgbClr val="1B2D55"/>
            </a:solidFill>
            <a:prstDash val="solid"/>
          </a:ln>
        </p:spPr>
      </p:sp>
      <p:sp>
        <p:nvSpPr>
          <p:cNvPr id="12" name="Text 10"/>
          <p:cNvSpPr/>
          <p:nvPr/>
        </p:nvSpPr>
        <p:spPr>
          <a:xfrm>
            <a:off x="1874520" y="1024128"/>
            <a:ext cx="1645920" cy="411480"/>
          </a:xfrm>
          <a:prstGeom prst="rect">
            <a:avLst/>
          </a:prstGeom>
          <a:noFill/>
          <a:ln/>
        </p:spPr>
        <p:txBody>
          <a:bodyPr wrap="square" lIns="0" tIns="0" rIns="0" bIns="0" rtlCol="0" anchor="ctr"/>
          <a:lstStyle/>
          <a:p>
            <a:pPr algn="ctr" indent="0" marL="0">
              <a:buNone/>
            </a:pPr>
            <a:r>
              <a:rPr lang="en-US" sz="800" b="1" dirty="0">
                <a:solidFill>
                  <a:srgbClr val="FFFFFF"/>
                </a:solidFill>
              </a:rPr>
              <a:t>Cascade Outdoor Brands</a:t>
            </a:r>
            <a:endParaRPr lang="en-US" sz="800" dirty="0"/>
          </a:p>
        </p:txBody>
      </p:sp>
      <p:sp>
        <p:nvSpPr>
          <p:cNvPr id="13" name="Shape 11"/>
          <p:cNvSpPr/>
          <p:nvPr/>
        </p:nvSpPr>
        <p:spPr>
          <a:xfrm>
            <a:off x="3611880" y="1024128"/>
            <a:ext cx="1737360" cy="411480"/>
          </a:xfrm>
          <a:prstGeom prst="rect">
            <a:avLst/>
          </a:prstGeom>
          <a:solidFill>
            <a:srgbClr val="F4F6FA"/>
          </a:solidFill>
          <a:ln w="12700">
            <a:solidFill>
              <a:srgbClr val="D0D8E4"/>
            </a:solidFill>
            <a:prstDash val="solid"/>
          </a:ln>
        </p:spPr>
      </p:sp>
      <p:sp>
        <p:nvSpPr>
          <p:cNvPr id="14" name="Text 12"/>
          <p:cNvSpPr/>
          <p:nvPr/>
        </p:nvSpPr>
        <p:spPr>
          <a:xfrm>
            <a:off x="3657600" y="1024128"/>
            <a:ext cx="1645920" cy="411480"/>
          </a:xfrm>
          <a:prstGeom prst="rect">
            <a:avLst/>
          </a:prstGeom>
          <a:noFill/>
          <a:ln/>
        </p:spPr>
        <p:txBody>
          <a:bodyPr wrap="square" lIns="0" tIns="0" rIns="0" bIns="0" rtlCol="0" anchor="ctr"/>
          <a:lstStyle/>
          <a:p>
            <a:pPr algn="ctr" indent="0" marL="0">
              <a:buNone/>
            </a:pPr>
            <a:r>
              <a:rPr lang="en-US" sz="750" dirty="0">
                <a:solidFill>
                  <a:srgbClr val="1B2D55"/>
                </a:solidFill>
              </a:rPr>
              <a:t>Competitor A</a:t>
            </a:r>
            <a:endParaRPr lang="en-US" sz="750" dirty="0"/>
          </a:p>
        </p:txBody>
      </p:sp>
      <p:sp>
        <p:nvSpPr>
          <p:cNvPr id="15" name="Shape 13"/>
          <p:cNvSpPr/>
          <p:nvPr/>
        </p:nvSpPr>
        <p:spPr>
          <a:xfrm>
            <a:off x="5394960" y="1024128"/>
            <a:ext cx="1737360" cy="411480"/>
          </a:xfrm>
          <a:prstGeom prst="rect">
            <a:avLst/>
          </a:prstGeom>
          <a:solidFill>
            <a:srgbClr val="F4F6FA"/>
          </a:solidFill>
          <a:ln w="12700">
            <a:solidFill>
              <a:srgbClr val="D0D8E4"/>
            </a:solidFill>
            <a:prstDash val="solid"/>
          </a:ln>
        </p:spPr>
      </p:sp>
      <p:sp>
        <p:nvSpPr>
          <p:cNvPr id="16" name="Text 14"/>
          <p:cNvSpPr/>
          <p:nvPr/>
        </p:nvSpPr>
        <p:spPr>
          <a:xfrm>
            <a:off x="5440680" y="1024128"/>
            <a:ext cx="1645920" cy="411480"/>
          </a:xfrm>
          <a:prstGeom prst="rect">
            <a:avLst/>
          </a:prstGeom>
          <a:noFill/>
          <a:ln/>
        </p:spPr>
        <p:txBody>
          <a:bodyPr wrap="square" lIns="0" tIns="0" rIns="0" bIns="0" rtlCol="0" anchor="ctr"/>
          <a:lstStyle/>
          <a:p>
            <a:pPr algn="ctr" indent="0" marL="0">
              <a:buNone/>
            </a:pPr>
            <a:r>
              <a:rPr lang="en-US" sz="750" dirty="0">
                <a:solidFill>
                  <a:srgbClr val="1B2D55"/>
                </a:solidFill>
              </a:rPr>
              <a:t>Competitor B</a:t>
            </a:r>
            <a:endParaRPr lang="en-US" sz="750" dirty="0"/>
          </a:p>
        </p:txBody>
      </p:sp>
      <p:sp>
        <p:nvSpPr>
          <p:cNvPr id="17" name="Shape 15"/>
          <p:cNvSpPr/>
          <p:nvPr/>
        </p:nvSpPr>
        <p:spPr>
          <a:xfrm>
            <a:off x="7178040" y="1024128"/>
            <a:ext cx="1737360" cy="411480"/>
          </a:xfrm>
          <a:prstGeom prst="rect">
            <a:avLst/>
          </a:prstGeom>
          <a:solidFill>
            <a:srgbClr val="F4F6FA"/>
          </a:solidFill>
          <a:ln w="12700">
            <a:solidFill>
              <a:srgbClr val="D0D8E4"/>
            </a:solidFill>
            <a:prstDash val="solid"/>
          </a:ln>
        </p:spPr>
      </p:sp>
      <p:sp>
        <p:nvSpPr>
          <p:cNvPr id="18" name="Text 16"/>
          <p:cNvSpPr/>
          <p:nvPr/>
        </p:nvSpPr>
        <p:spPr>
          <a:xfrm>
            <a:off x="7223760" y="1024128"/>
            <a:ext cx="1645920" cy="411480"/>
          </a:xfrm>
          <a:prstGeom prst="rect">
            <a:avLst/>
          </a:prstGeom>
          <a:noFill/>
          <a:ln/>
        </p:spPr>
        <p:txBody>
          <a:bodyPr wrap="square" lIns="0" tIns="0" rIns="0" bIns="0" rtlCol="0" anchor="ctr"/>
          <a:lstStyle/>
          <a:p>
            <a:pPr algn="ctr" indent="0" marL="0">
              <a:buNone/>
            </a:pPr>
            <a:r>
              <a:rPr lang="en-US" sz="750" dirty="0">
                <a:solidFill>
                  <a:srgbClr val="1B2D55"/>
                </a:solidFill>
              </a:rPr>
              <a:t>Competitor C</a:t>
            </a:r>
            <a:endParaRPr lang="en-US" sz="750" dirty="0"/>
          </a:p>
        </p:txBody>
      </p:sp>
      <p:sp>
        <p:nvSpPr>
          <p:cNvPr id="19" name="Shape 17"/>
          <p:cNvSpPr/>
          <p:nvPr/>
        </p:nvSpPr>
        <p:spPr>
          <a:xfrm>
            <a:off x="365760" y="1481328"/>
            <a:ext cx="1417320" cy="475488"/>
          </a:xfrm>
          <a:prstGeom prst="rect">
            <a:avLst/>
          </a:prstGeom>
          <a:solidFill>
            <a:srgbClr val="FFFFFF"/>
          </a:solidFill>
          <a:ln w="12700">
            <a:solidFill>
              <a:srgbClr val="FFFFFF"/>
            </a:solidFill>
            <a:prstDash val="solid"/>
          </a:ln>
        </p:spPr>
      </p:sp>
      <p:sp>
        <p:nvSpPr>
          <p:cNvPr id="20" name="Text 18"/>
          <p:cNvSpPr/>
          <p:nvPr/>
        </p:nvSpPr>
        <p:spPr>
          <a:xfrm>
            <a:off x="411480" y="1572768"/>
            <a:ext cx="1325880" cy="292608"/>
          </a:xfrm>
          <a:prstGeom prst="rect">
            <a:avLst/>
          </a:prstGeom>
          <a:noFill/>
          <a:ln/>
        </p:spPr>
        <p:txBody>
          <a:bodyPr wrap="square" lIns="0" tIns="0" rIns="0" bIns="0" rtlCol="0" anchor="ctr"/>
          <a:lstStyle/>
          <a:p>
            <a:pPr indent="0" marL="0">
              <a:buNone/>
            </a:pPr>
            <a:r>
              <a:rPr lang="en-US" sz="800" dirty="0">
                <a:solidFill>
                  <a:srgbClr val="1B2D55"/>
                </a:solidFill>
              </a:rPr>
              <a:t>Revenue Scale</a:t>
            </a:r>
            <a:endParaRPr lang="en-US" sz="800" dirty="0"/>
          </a:p>
        </p:txBody>
      </p:sp>
      <p:sp>
        <p:nvSpPr>
          <p:cNvPr id="21" name="Shape 19"/>
          <p:cNvSpPr/>
          <p:nvPr/>
        </p:nvSpPr>
        <p:spPr>
          <a:xfrm>
            <a:off x="1828800" y="1481328"/>
            <a:ext cx="1737360" cy="475488"/>
          </a:xfrm>
          <a:prstGeom prst="rect">
            <a:avLst/>
          </a:prstGeom>
          <a:solidFill>
            <a:srgbClr val="FFFFFF"/>
          </a:solidFill>
          <a:ln w="12700">
            <a:solidFill>
              <a:srgbClr val="D0D8E4"/>
            </a:solidFill>
            <a:prstDash val="solid"/>
          </a:ln>
        </p:spPr>
      </p:sp>
      <p:sp>
        <p:nvSpPr>
          <p:cNvPr id="22" name="Shape 20"/>
          <p:cNvSpPr/>
          <p:nvPr/>
        </p:nvSpPr>
        <p:spPr>
          <a:xfrm>
            <a:off x="1965960" y="1618488"/>
            <a:ext cx="1463040" cy="201168"/>
          </a:xfrm>
          <a:prstGeom prst="rect">
            <a:avLst/>
          </a:prstGeom>
          <a:solidFill>
            <a:srgbClr val="C8A83C"/>
          </a:solidFill>
          <a:ln w="12700">
            <a:solidFill>
              <a:srgbClr val="C8A83C"/>
            </a:solidFill>
            <a:prstDash val="solid"/>
          </a:ln>
        </p:spPr>
      </p:sp>
      <p:sp>
        <p:nvSpPr>
          <p:cNvPr id="23" name="Text 21"/>
          <p:cNvSpPr/>
          <p:nvPr/>
        </p:nvSpPr>
        <p:spPr>
          <a:xfrm>
            <a:off x="1828800" y="1773936"/>
            <a:ext cx="1737360" cy="164592"/>
          </a:xfrm>
          <a:prstGeom prst="rect">
            <a:avLst/>
          </a:prstGeom>
          <a:noFill/>
          <a:ln/>
        </p:spPr>
        <p:txBody>
          <a:bodyPr wrap="square" lIns="0" tIns="0" rIns="0" bIns="0" rtlCol="0" anchor="ctr"/>
          <a:lstStyle/>
          <a:p>
            <a:pPr algn="ctr" indent="0" marL="0">
              <a:buNone/>
            </a:pPr>
            <a:r>
              <a:rPr lang="en-US" sz="700" dirty="0">
                <a:solidFill>
                  <a:srgbClr val="C8A83C"/>
                </a:solidFill>
              </a:rPr>
              <a:t>★★★★★</a:t>
            </a:r>
            <a:endParaRPr lang="en-US" sz="700" dirty="0"/>
          </a:p>
        </p:txBody>
      </p:sp>
      <p:sp>
        <p:nvSpPr>
          <p:cNvPr id="24" name="Shape 22"/>
          <p:cNvSpPr/>
          <p:nvPr/>
        </p:nvSpPr>
        <p:spPr>
          <a:xfrm>
            <a:off x="3611880" y="1481328"/>
            <a:ext cx="1737360" cy="475488"/>
          </a:xfrm>
          <a:prstGeom prst="rect">
            <a:avLst/>
          </a:prstGeom>
          <a:solidFill>
            <a:srgbClr val="FFFFFF"/>
          </a:solidFill>
          <a:ln w="12700">
            <a:solidFill>
              <a:srgbClr val="D0D8E4"/>
            </a:solidFill>
            <a:prstDash val="solid"/>
          </a:ln>
        </p:spPr>
      </p:sp>
      <p:sp>
        <p:nvSpPr>
          <p:cNvPr id="25" name="Shape 23"/>
          <p:cNvSpPr/>
          <p:nvPr/>
        </p:nvSpPr>
        <p:spPr>
          <a:xfrm>
            <a:off x="3749040" y="1618488"/>
            <a:ext cx="877824" cy="201168"/>
          </a:xfrm>
          <a:prstGeom prst="rect">
            <a:avLst/>
          </a:prstGeom>
          <a:solidFill>
            <a:srgbClr val="D0D8E4"/>
          </a:solidFill>
          <a:ln w="12700">
            <a:solidFill>
              <a:srgbClr val="D0D8E4"/>
            </a:solidFill>
            <a:prstDash val="solid"/>
          </a:ln>
        </p:spPr>
      </p:sp>
      <p:sp>
        <p:nvSpPr>
          <p:cNvPr id="26" name="Text 24"/>
          <p:cNvSpPr/>
          <p:nvPr/>
        </p:nvSpPr>
        <p:spPr>
          <a:xfrm>
            <a:off x="3611880" y="1773936"/>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27" name="Shape 25"/>
          <p:cNvSpPr/>
          <p:nvPr/>
        </p:nvSpPr>
        <p:spPr>
          <a:xfrm>
            <a:off x="5394960" y="1481328"/>
            <a:ext cx="1737360" cy="475488"/>
          </a:xfrm>
          <a:prstGeom prst="rect">
            <a:avLst/>
          </a:prstGeom>
          <a:solidFill>
            <a:srgbClr val="FFFFFF"/>
          </a:solidFill>
          <a:ln w="12700">
            <a:solidFill>
              <a:srgbClr val="D0D8E4"/>
            </a:solidFill>
            <a:prstDash val="solid"/>
          </a:ln>
        </p:spPr>
      </p:sp>
      <p:sp>
        <p:nvSpPr>
          <p:cNvPr id="28" name="Shape 26"/>
          <p:cNvSpPr/>
          <p:nvPr/>
        </p:nvSpPr>
        <p:spPr>
          <a:xfrm>
            <a:off x="5532120" y="1618488"/>
            <a:ext cx="1170432" cy="201168"/>
          </a:xfrm>
          <a:prstGeom prst="rect">
            <a:avLst/>
          </a:prstGeom>
          <a:solidFill>
            <a:srgbClr val="D0D8E4"/>
          </a:solidFill>
          <a:ln w="12700">
            <a:solidFill>
              <a:srgbClr val="D0D8E4"/>
            </a:solidFill>
            <a:prstDash val="solid"/>
          </a:ln>
        </p:spPr>
      </p:sp>
      <p:sp>
        <p:nvSpPr>
          <p:cNvPr id="29" name="Text 27"/>
          <p:cNvSpPr/>
          <p:nvPr/>
        </p:nvSpPr>
        <p:spPr>
          <a:xfrm>
            <a:off x="5394960" y="1773936"/>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30" name="Shape 28"/>
          <p:cNvSpPr/>
          <p:nvPr/>
        </p:nvSpPr>
        <p:spPr>
          <a:xfrm>
            <a:off x="7178040" y="1481328"/>
            <a:ext cx="1737360" cy="475488"/>
          </a:xfrm>
          <a:prstGeom prst="rect">
            <a:avLst/>
          </a:prstGeom>
          <a:solidFill>
            <a:srgbClr val="FFFFFF"/>
          </a:solidFill>
          <a:ln w="12700">
            <a:solidFill>
              <a:srgbClr val="D0D8E4"/>
            </a:solidFill>
            <a:prstDash val="solid"/>
          </a:ln>
        </p:spPr>
      </p:sp>
      <p:sp>
        <p:nvSpPr>
          <p:cNvPr id="31" name="Shape 29"/>
          <p:cNvSpPr/>
          <p:nvPr/>
        </p:nvSpPr>
        <p:spPr>
          <a:xfrm>
            <a:off x="7315200" y="1618488"/>
            <a:ext cx="877824" cy="201168"/>
          </a:xfrm>
          <a:prstGeom prst="rect">
            <a:avLst/>
          </a:prstGeom>
          <a:solidFill>
            <a:srgbClr val="D0D8E4"/>
          </a:solidFill>
          <a:ln w="12700">
            <a:solidFill>
              <a:srgbClr val="D0D8E4"/>
            </a:solidFill>
            <a:prstDash val="solid"/>
          </a:ln>
        </p:spPr>
      </p:sp>
      <p:sp>
        <p:nvSpPr>
          <p:cNvPr id="32" name="Text 30"/>
          <p:cNvSpPr/>
          <p:nvPr/>
        </p:nvSpPr>
        <p:spPr>
          <a:xfrm>
            <a:off x="7178040" y="1773936"/>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33" name="Shape 31"/>
          <p:cNvSpPr/>
          <p:nvPr/>
        </p:nvSpPr>
        <p:spPr>
          <a:xfrm>
            <a:off x="365760" y="1956816"/>
            <a:ext cx="1417320" cy="475488"/>
          </a:xfrm>
          <a:prstGeom prst="rect">
            <a:avLst/>
          </a:prstGeom>
          <a:solidFill>
            <a:srgbClr val="F4F6FA"/>
          </a:solidFill>
          <a:ln w="12700">
            <a:solidFill>
              <a:srgbClr val="F4F6FA"/>
            </a:solidFill>
            <a:prstDash val="solid"/>
          </a:ln>
        </p:spPr>
      </p:sp>
      <p:sp>
        <p:nvSpPr>
          <p:cNvPr id="34" name="Text 32"/>
          <p:cNvSpPr/>
          <p:nvPr/>
        </p:nvSpPr>
        <p:spPr>
          <a:xfrm>
            <a:off x="411480" y="2048256"/>
            <a:ext cx="1325880" cy="292608"/>
          </a:xfrm>
          <a:prstGeom prst="rect">
            <a:avLst/>
          </a:prstGeom>
          <a:noFill/>
          <a:ln/>
        </p:spPr>
        <p:txBody>
          <a:bodyPr wrap="square" lIns="0" tIns="0" rIns="0" bIns="0" rtlCol="0" anchor="ctr"/>
          <a:lstStyle/>
          <a:p>
            <a:pPr indent="0" marL="0">
              <a:buNone/>
            </a:pPr>
            <a:r>
              <a:rPr lang="en-US" sz="800" dirty="0">
                <a:solidFill>
                  <a:srgbClr val="1B2D55"/>
                </a:solidFill>
              </a:rPr>
              <a:t>EBITDA Margin</a:t>
            </a:r>
            <a:endParaRPr lang="en-US" sz="800" dirty="0"/>
          </a:p>
        </p:txBody>
      </p:sp>
      <p:sp>
        <p:nvSpPr>
          <p:cNvPr id="35" name="Shape 33"/>
          <p:cNvSpPr/>
          <p:nvPr/>
        </p:nvSpPr>
        <p:spPr>
          <a:xfrm>
            <a:off x="1828800" y="1956816"/>
            <a:ext cx="1737360" cy="475488"/>
          </a:xfrm>
          <a:prstGeom prst="rect">
            <a:avLst/>
          </a:prstGeom>
          <a:solidFill>
            <a:srgbClr val="F4F6FA"/>
          </a:solidFill>
          <a:ln w="12700">
            <a:solidFill>
              <a:srgbClr val="D0D8E4"/>
            </a:solidFill>
            <a:prstDash val="solid"/>
          </a:ln>
        </p:spPr>
      </p:sp>
      <p:sp>
        <p:nvSpPr>
          <p:cNvPr id="36" name="Shape 34"/>
          <p:cNvSpPr/>
          <p:nvPr/>
        </p:nvSpPr>
        <p:spPr>
          <a:xfrm>
            <a:off x="1965960" y="2093976"/>
            <a:ext cx="1170432" cy="201168"/>
          </a:xfrm>
          <a:prstGeom prst="rect">
            <a:avLst/>
          </a:prstGeom>
          <a:solidFill>
            <a:srgbClr val="C8A83C"/>
          </a:solidFill>
          <a:ln w="12700">
            <a:solidFill>
              <a:srgbClr val="C8A83C"/>
            </a:solidFill>
            <a:prstDash val="solid"/>
          </a:ln>
        </p:spPr>
      </p:sp>
      <p:sp>
        <p:nvSpPr>
          <p:cNvPr id="37" name="Text 35"/>
          <p:cNvSpPr/>
          <p:nvPr/>
        </p:nvSpPr>
        <p:spPr>
          <a:xfrm>
            <a:off x="1828800" y="2249424"/>
            <a:ext cx="1737360" cy="164592"/>
          </a:xfrm>
          <a:prstGeom prst="rect">
            <a:avLst/>
          </a:prstGeom>
          <a:noFill/>
          <a:ln/>
        </p:spPr>
        <p:txBody>
          <a:bodyPr wrap="square" lIns="0" tIns="0" rIns="0" bIns="0" rtlCol="0" anchor="ctr"/>
          <a:lstStyle/>
          <a:p>
            <a:pPr algn="ctr" indent="0" marL="0">
              <a:buNone/>
            </a:pPr>
            <a:r>
              <a:rPr lang="en-US" sz="700" dirty="0">
                <a:solidFill>
                  <a:srgbClr val="C8A83C"/>
                </a:solidFill>
              </a:rPr>
              <a:t>★★★★☆</a:t>
            </a:r>
            <a:endParaRPr lang="en-US" sz="700" dirty="0"/>
          </a:p>
        </p:txBody>
      </p:sp>
      <p:sp>
        <p:nvSpPr>
          <p:cNvPr id="38" name="Shape 36"/>
          <p:cNvSpPr/>
          <p:nvPr/>
        </p:nvSpPr>
        <p:spPr>
          <a:xfrm>
            <a:off x="3611880" y="1956816"/>
            <a:ext cx="1737360" cy="475488"/>
          </a:xfrm>
          <a:prstGeom prst="rect">
            <a:avLst/>
          </a:prstGeom>
          <a:solidFill>
            <a:srgbClr val="F4F6FA"/>
          </a:solidFill>
          <a:ln w="12700">
            <a:solidFill>
              <a:srgbClr val="D0D8E4"/>
            </a:solidFill>
            <a:prstDash val="solid"/>
          </a:ln>
        </p:spPr>
      </p:sp>
      <p:sp>
        <p:nvSpPr>
          <p:cNvPr id="39" name="Shape 37"/>
          <p:cNvSpPr/>
          <p:nvPr/>
        </p:nvSpPr>
        <p:spPr>
          <a:xfrm>
            <a:off x="3749040" y="2093976"/>
            <a:ext cx="585216" cy="201168"/>
          </a:xfrm>
          <a:prstGeom prst="rect">
            <a:avLst/>
          </a:prstGeom>
          <a:solidFill>
            <a:srgbClr val="D0D8E4"/>
          </a:solidFill>
          <a:ln w="12700">
            <a:solidFill>
              <a:srgbClr val="D0D8E4"/>
            </a:solidFill>
            <a:prstDash val="solid"/>
          </a:ln>
        </p:spPr>
      </p:sp>
      <p:sp>
        <p:nvSpPr>
          <p:cNvPr id="40" name="Text 38"/>
          <p:cNvSpPr/>
          <p:nvPr/>
        </p:nvSpPr>
        <p:spPr>
          <a:xfrm>
            <a:off x="3611880" y="2249424"/>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41" name="Shape 39"/>
          <p:cNvSpPr/>
          <p:nvPr/>
        </p:nvSpPr>
        <p:spPr>
          <a:xfrm>
            <a:off x="5394960" y="1956816"/>
            <a:ext cx="1737360" cy="475488"/>
          </a:xfrm>
          <a:prstGeom prst="rect">
            <a:avLst/>
          </a:prstGeom>
          <a:solidFill>
            <a:srgbClr val="F4F6FA"/>
          </a:solidFill>
          <a:ln w="12700">
            <a:solidFill>
              <a:srgbClr val="D0D8E4"/>
            </a:solidFill>
            <a:prstDash val="solid"/>
          </a:ln>
        </p:spPr>
      </p:sp>
      <p:sp>
        <p:nvSpPr>
          <p:cNvPr id="42" name="Shape 40"/>
          <p:cNvSpPr/>
          <p:nvPr/>
        </p:nvSpPr>
        <p:spPr>
          <a:xfrm>
            <a:off x="5532120" y="2093976"/>
            <a:ext cx="877824" cy="201168"/>
          </a:xfrm>
          <a:prstGeom prst="rect">
            <a:avLst/>
          </a:prstGeom>
          <a:solidFill>
            <a:srgbClr val="D0D8E4"/>
          </a:solidFill>
          <a:ln w="12700">
            <a:solidFill>
              <a:srgbClr val="D0D8E4"/>
            </a:solidFill>
            <a:prstDash val="solid"/>
          </a:ln>
        </p:spPr>
      </p:sp>
      <p:sp>
        <p:nvSpPr>
          <p:cNvPr id="43" name="Text 41"/>
          <p:cNvSpPr/>
          <p:nvPr/>
        </p:nvSpPr>
        <p:spPr>
          <a:xfrm>
            <a:off x="5394960" y="2249424"/>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44" name="Shape 42"/>
          <p:cNvSpPr/>
          <p:nvPr/>
        </p:nvSpPr>
        <p:spPr>
          <a:xfrm>
            <a:off x="7178040" y="1956816"/>
            <a:ext cx="1737360" cy="475488"/>
          </a:xfrm>
          <a:prstGeom prst="rect">
            <a:avLst/>
          </a:prstGeom>
          <a:solidFill>
            <a:srgbClr val="F4F6FA"/>
          </a:solidFill>
          <a:ln w="12700">
            <a:solidFill>
              <a:srgbClr val="D0D8E4"/>
            </a:solidFill>
            <a:prstDash val="solid"/>
          </a:ln>
        </p:spPr>
      </p:sp>
      <p:sp>
        <p:nvSpPr>
          <p:cNvPr id="45" name="Shape 43"/>
          <p:cNvSpPr/>
          <p:nvPr/>
        </p:nvSpPr>
        <p:spPr>
          <a:xfrm>
            <a:off x="7315200" y="2093976"/>
            <a:ext cx="585216" cy="201168"/>
          </a:xfrm>
          <a:prstGeom prst="rect">
            <a:avLst/>
          </a:prstGeom>
          <a:solidFill>
            <a:srgbClr val="D0D8E4"/>
          </a:solidFill>
          <a:ln w="12700">
            <a:solidFill>
              <a:srgbClr val="D0D8E4"/>
            </a:solidFill>
            <a:prstDash val="solid"/>
          </a:ln>
        </p:spPr>
      </p:sp>
      <p:sp>
        <p:nvSpPr>
          <p:cNvPr id="46" name="Text 44"/>
          <p:cNvSpPr/>
          <p:nvPr/>
        </p:nvSpPr>
        <p:spPr>
          <a:xfrm>
            <a:off x="7178040" y="2249424"/>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47" name="Shape 45"/>
          <p:cNvSpPr/>
          <p:nvPr/>
        </p:nvSpPr>
        <p:spPr>
          <a:xfrm>
            <a:off x="365760" y="2432304"/>
            <a:ext cx="1417320" cy="475488"/>
          </a:xfrm>
          <a:prstGeom prst="rect">
            <a:avLst/>
          </a:prstGeom>
          <a:solidFill>
            <a:srgbClr val="FFFFFF"/>
          </a:solidFill>
          <a:ln w="12700">
            <a:solidFill>
              <a:srgbClr val="FFFFFF"/>
            </a:solidFill>
            <a:prstDash val="solid"/>
          </a:ln>
        </p:spPr>
      </p:sp>
      <p:sp>
        <p:nvSpPr>
          <p:cNvPr id="48" name="Text 46"/>
          <p:cNvSpPr/>
          <p:nvPr/>
        </p:nvSpPr>
        <p:spPr>
          <a:xfrm>
            <a:off x="411480" y="2523744"/>
            <a:ext cx="1325880" cy="292608"/>
          </a:xfrm>
          <a:prstGeom prst="rect">
            <a:avLst/>
          </a:prstGeom>
          <a:noFill/>
          <a:ln/>
        </p:spPr>
        <p:txBody>
          <a:bodyPr wrap="square" lIns="0" tIns="0" rIns="0" bIns="0" rtlCol="0" anchor="ctr"/>
          <a:lstStyle/>
          <a:p>
            <a:pPr indent="0" marL="0">
              <a:buNone/>
            </a:pPr>
            <a:r>
              <a:rPr lang="en-US" sz="800" dirty="0">
                <a:solidFill>
                  <a:srgbClr val="1B2D55"/>
                </a:solidFill>
              </a:rPr>
              <a:t>Geographic Reach</a:t>
            </a:r>
            <a:endParaRPr lang="en-US" sz="800" dirty="0"/>
          </a:p>
        </p:txBody>
      </p:sp>
      <p:sp>
        <p:nvSpPr>
          <p:cNvPr id="49" name="Shape 47"/>
          <p:cNvSpPr/>
          <p:nvPr/>
        </p:nvSpPr>
        <p:spPr>
          <a:xfrm>
            <a:off x="1828800" y="2432304"/>
            <a:ext cx="1737360" cy="475488"/>
          </a:xfrm>
          <a:prstGeom prst="rect">
            <a:avLst/>
          </a:prstGeom>
          <a:solidFill>
            <a:srgbClr val="FFFFFF"/>
          </a:solidFill>
          <a:ln w="12700">
            <a:solidFill>
              <a:srgbClr val="D0D8E4"/>
            </a:solidFill>
            <a:prstDash val="solid"/>
          </a:ln>
        </p:spPr>
      </p:sp>
      <p:sp>
        <p:nvSpPr>
          <p:cNvPr id="50" name="Shape 48"/>
          <p:cNvSpPr/>
          <p:nvPr/>
        </p:nvSpPr>
        <p:spPr>
          <a:xfrm>
            <a:off x="1965960" y="2569464"/>
            <a:ext cx="1463040" cy="201168"/>
          </a:xfrm>
          <a:prstGeom prst="rect">
            <a:avLst/>
          </a:prstGeom>
          <a:solidFill>
            <a:srgbClr val="C8A83C"/>
          </a:solidFill>
          <a:ln w="12700">
            <a:solidFill>
              <a:srgbClr val="C8A83C"/>
            </a:solidFill>
            <a:prstDash val="solid"/>
          </a:ln>
        </p:spPr>
      </p:sp>
      <p:sp>
        <p:nvSpPr>
          <p:cNvPr id="51" name="Text 49"/>
          <p:cNvSpPr/>
          <p:nvPr/>
        </p:nvSpPr>
        <p:spPr>
          <a:xfrm>
            <a:off x="1828800" y="2724912"/>
            <a:ext cx="1737360" cy="164592"/>
          </a:xfrm>
          <a:prstGeom prst="rect">
            <a:avLst/>
          </a:prstGeom>
          <a:noFill/>
          <a:ln/>
        </p:spPr>
        <p:txBody>
          <a:bodyPr wrap="square" lIns="0" tIns="0" rIns="0" bIns="0" rtlCol="0" anchor="ctr"/>
          <a:lstStyle/>
          <a:p>
            <a:pPr algn="ctr" indent="0" marL="0">
              <a:buNone/>
            </a:pPr>
            <a:r>
              <a:rPr lang="en-US" sz="700" dirty="0">
                <a:solidFill>
                  <a:srgbClr val="C8A83C"/>
                </a:solidFill>
              </a:rPr>
              <a:t>★★★★★</a:t>
            </a:r>
            <a:endParaRPr lang="en-US" sz="700" dirty="0"/>
          </a:p>
        </p:txBody>
      </p:sp>
      <p:sp>
        <p:nvSpPr>
          <p:cNvPr id="52" name="Shape 50"/>
          <p:cNvSpPr/>
          <p:nvPr/>
        </p:nvSpPr>
        <p:spPr>
          <a:xfrm>
            <a:off x="3611880" y="2432304"/>
            <a:ext cx="1737360" cy="475488"/>
          </a:xfrm>
          <a:prstGeom prst="rect">
            <a:avLst/>
          </a:prstGeom>
          <a:solidFill>
            <a:srgbClr val="FFFFFF"/>
          </a:solidFill>
          <a:ln w="12700">
            <a:solidFill>
              <a:srgbClr val="D0D8E4"/>
            </a:solidFill>
            <a:prstDash val="solid"/>
          </a:ln>
        </p:spPr>
      </p:sp>
      <p:sp>
        <p:nvSpPr>
          <p:cNvPr id="53" name="Shape 51"/>
          <p:cNvSpPr/>
          <p:nvPr/>
        </p:nvSpPr>
        <p:spPr>
          <a:xfrm>
            <a:off x="3749040" y="2569464"/>
            <a:ext cx="877824" cy="201168"/>
          </a:xfrm>
          <a:prstGeom prst="rect">
            <a:avLst/>
          </a:prstGeom>
          <a:solidFill>
            <a:srgbClr val="D0D8E4"/>
          </a:solidFill>
          <a:ln w="12700">
            <a:solidFill>
              <a:srgbClr val="D0D8E4"/>
            </a:solidFill>
            <a:prstDash val="solid"/>
          </a:ln>
        </p:spPr>
      </p:sp>
      <p:sp>
        <p:nvSpPr>
          <p:cNvPr id="54" name="Text 52"/>
          <p:cNvSpPr/>
          <p:nvPr/>
        </p:nvSpPr>
        <p:spPr>
          <a:xfrm>
            <a:off x="3611880" y="2724912"/>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55" name="Shape 53"/>
          <p:cNvSpPr/>
          <p:nvPr/>
        </p:nvSpPr>
        <p:spPr>
          <a:xfrm>
            <a:off x="5394960" y="2432304"/>
            <a:ext cx="1737360" cy="475488"/>
          </a:xfrm>
          <a:prstGeom prst="rect">
            <a:avLst/>
          </a:prstGeom>
          <a:solidFill>
            <a:srgbClr val="FFFFFF"/>
          </a:solidFill>
          <a:ln w="12700">
            <a:solidFill>
              <a:srgbClr val="D0D8E4"/>
            </a:solidFill>
            <a:prstDash val="solid"/>
          </a:ln>
        </p:spPr>
      </p:sp>
      <p:sp>
        <p:nvSpPr>
          <p:cNvPr id="56" name="Shape 54"/>
          <p:cNvSpPr/>
          <p:nvPr/>
        </p:nvSpPr>
        <p:spPr>
          <a:xfrm>
            <a:off x="5532120" y="2569464"/>
            <a:ext cx="1463040" cy="201168"/>
          </a:xfrm>
          <a:prstGeom prst="rect">
            <a:avLst/>
          </a:prstGeom>
          <a:solidFill>
            <a:srgbClr val="D0D8E4"/>
          </a:solidFill>
          <a:ln w="12700">
            <a:solidFill>
              <a:srgbClr val="D0D8E4"/>
            </a:solidFill>
            <a:prstDash val="solid"/>
          </a:ln>
        </p:spPr>
      </p:sp>
      <p:sp>
        <p:nvSpPr>
          <p:cNvPr id="57" name="Text 55"/>
          <p:cNvSpPr/>
          <p:nvPr/>
        </p:nvSpPr>
        <p:spPr>
          <a:xfrm>
            <a:off x="5394960" y="2724912"/>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58" name="Shape 56"/>
          <p:cNvSpPr/>
          <p:nvPr/>
        </p:nvSpPr>
        <p:spPr>
          <a:xfrm>
            <a:off x="7178040" y="2432304"/>
            <a:ext cx="1737360" cy="475488"/>
          </a:xfrm>
          <a:prstGeom prst="rect">
            <a:avLst/>
          </a:prstGeom>
          <a:solidFill>
            <a:srgbClr val="FFFFFF"/>
          </a:solidFill>
          <a:ln w="12700">
            <a:solidFill>
              <a:srgbClr val="D0D8E4"/>
            </a:solidFill>
            <a:prstDash val="solid"/>
          </a:ln>
        </p:spPr>
      </p:sp>
      <p:sp>
        <p:nvSpPr>
          <p:cNvPr id="59" name="Shape 57"/>
          <p:cNvSpPr/>
          <p:nvPr/>
        </p:nvSpPr>
        <p:spPr>
          <a:xfrm>
            <a:off x="7315200" y="2569464"/>
            <a:ext cx="1170432" cy="201168"/>
          </a:xfrm>
          <a:prstGeom prst="rect">
            <a:avLst/>
          </a:prstGeom>
          <a:solidFill>
            <a:srgbClr val="D0D8E4"/>
          </a:solidFill>
          <a:ln w="12700">
            <a:solidFill>
              <a:srgbClr val="D0D8E4"/>
            </a:solidFill>
            <a:prstDash val="solid"/>
          </a:ln>
        </p:spPr>
      </p:sp>
      <p:sp>
        <p:nvSpPr>
          <p:cNvPr id="60" name="Text 58"/>
          <p:cNvSpPr/>
          <p:nvPr/>
        </p:nvSpPr>
        <p:spPr>
          <a:xfrm>
            <a:off x="7178040" y="2724912"/>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61" name="Shape 59"/>
          <p:cNvSpPr/>
          <p:nvPr/>
        </p:nvSpPr>
        <p:spPr>
          <a:xfrm>
            <a:off x="365760" y="2907792"/>
            <a:ext cx="1417320" cy="475488"/>
          </a:xfrm>
          <a:prstGeom prst="rect">
            <a:avLst/>
          </a:prstGeom>
          <a:solidFill>
            <a:srgbClr val="F4F6FA"/>
          </a:solidFill>
          <a:ln w="12700">
            <a:solidFill>
              <a:srgbClr val="F4F6FA"/>
            </a:solidFill>
            <a:prstDash val="solid"/>
          </a:ln>
        </p:spPr>
      </p:sp>
      <p:sp>
        <p:nvSpPr>
          <p:cNvPr id="62" name="Text 60"/>
          <p:cNvSpPr/>
          <p:nvPr/>
        </p:nvSpPr>
        <p:spPr>
          <a:xfrm>
            <a:off x="411480" y="2999232"/>
            <a:ext cx="1325880" cy="292608"/>
          </a:xfrm>
          <a:prstGeom prst="rect">
            <a:avLst/>
          </a:prstGeom>
          <a:noFill/>
          <a:ln/>
        </p:spPr>
        <p:txBody>
          <a:bodyPr wrap="square" lIns="0" tIns="0" rIns="0" bIns="0" rtlCol="0" anchor="ctr"/>
          <a:lstStyle/>
          <a:p>
            <a:pPr indent="0" marL="0">
              <a:buNone/>
            </a:pPr>
            <a:r>
              <a:rPr lang="en-US" sz="800" dirty="0">
                <a:solidFill>
                  <a:srgbClr val="1B2D55"/>
                </a:solidFill>
              </a:rPr>
              <a:t>Technology / IP</a:t>
            </a:r>
            <a:endParaRPr lang="en-US" sz="800" dirty="0"/>
          </a:p>
        </p:txBody>
      </p:sp>
      <p:sp>
        <p:nvSpPr>
          <p:cNvPr id="63" name="Shape 61"/>
          <p:cNvSpPr/>
          <p:nvPr/>
        </p:nvSpPr>
        <p:spPr>
          <a:xfrm>
            <a:off x="1828800" y="2907792"/>
            <a:ext cx="1737360" cy="475488"/>
          </a:xfrm>
          <a:prstGeom prst="rect">
            <a:avLst/>
          </a:prstGeom>
          <a:solidFill>
            <a:srgbClr val="F4F6FA"/>
          </a:solidFill>
          <a:ln w="12700">
            <a:solidFill>
              <a:srgbClr val="D0D8E4"/>
            </a:solidFill>
            <a:prstDash val="solid"/>
          </a:ln>
        </p:spPr>
      </p:sp>
      <p:sp>
        <p:nvSpPr>
          <p:cNvPr id="64" name="Shape 62"/>
          <p:cNvSpPr/>
          <p:nvPr/>
        </p:nvSpPr>
        <p:spPr>
          <a:xfrm>
            <a:off x="1965960" y="3044952"/>
            <a:ext cx="1463040" cy="201168"/>
          </a:xfrm>
          <a:prstGeom prst="rect">
            <a:avLst/>
          </a:prstGeom>
          <a:solidFill>
            <a:srgbClr val="C8A83C"/>
          </a:solidFill>
          <a:ln w="12700">
            <a:solidFill>
              <a:srgbClr val="C8A83C"/>
            </a:solidFill>
            <a:prstDash val="solid"/>
          </a:ln>
        </p:spPr>
      </p:sp>
      <p:sp>
        <p:nvSpPr>
          <p:cNvPr id="65" name="Text 63"/>
          <p:cNvSpPr/>
          <p:nvPr/>
        </p:nvSpPr>
        <p:spPr>
          <a:xfrm>
            <a:off x="1828800" y="3200400"/>
            <a:ext cx="1737360" cy="164592"/>
          </a:xfrm>
          <a:prstGeom prst="rect">
            <a:avLst/>
          </a:prstGeom>
          <a:noFill/>
          <a:ln/>
        </p:spPr>
        <p:txBody>
          <a:bodyPr wrap="square" lIns="0" tIns="0" rIns="0" bIns="0" rtlCol="0" anchor="ctr"/>
          <a:lstStyle/>
          <a:p>
            <a:pPr algn="ctr" indent="0" marL="0">
              <a:buNone/>
            </a:pPr>
            <a:r>
              <a:rPr lang="en-US" sz="700" dirty="0">
                <a:solidFill>
                  <a:srgbClr val="C8A83C"/>
                </a:solidFill>
              </a:rPr>
              <a:t>★★★★★</a:t>
            </a:r>
            <a:endParaRPr lang="en-US" sz="700" dirty="0"/>
          </a:p>
        </p:txBody>
      </p:sp>
      <p:sp>
        <p:nvSpPr>
          <p:cNvPr id="66" name="Shape 64"/>
          <p:cNvSpPr/>
          <p:nvPr/>
        </p:nvSpPr>
        <p:spPr>
          <a:xfrm>
            <a:off x="3611880" y="2907792"/>
            <a:ext cx="1737360" cy="475488"/>
          </a:xfrm>
          <a:prstGeom prst="rect">
            <a:avLst/>
          </a:prstGeom>
          <a:solidFill>
            <a:srgbClr val="F4F6FA"/>
          </a:solidFill>
          <a:ln w="12700">
            <a:solidFill>
              <a:srgbClr val="D0D8E4"/>
            </a:solidFill>
            <a:prstDash val="solid"/>
          </a:ln>
        </p:spPr>
      </p:sp>
      <p:sp>
        <p:nvSpPr>
          <p:cNvPr id="67" name="Shape 65"/>
          <p:cNvSpPr/>
          <p:nvPr/>
        </p:nvSpPr>
        <p:spPr>
          <a:xfrm>
            <a:off x="3749040" y="3044952"/>
            <a:ext cx="585216" cy="201168"/>
          </a:xfrm>
          <a:prstGeom prst="rect">
            <a:avLst/>
          </a:prstGeom>
          <a:solidFill>
            <a:srgbClr val="D0D8E4"/>
          </a:solidFill>
          <a:ln w="12700">
            <a:solidFill>
              <a:srgbClr val="D0D8E4"/>
            </a:solidFill>
            <a:prstDash val="solid"/>
          </a:ln>
        </p:spPr>
      </p:sp>
      <p:sp>
        <p:nvSpPr>
          <p:cNvPr id="68" name="Text 66"/>
          <p:cNvSpPr/>
          <p:nvPr/>
        </p:nvSpPr>
        <p:spPr>
          <a:xfrm>
            <a:off x="3611880" y="3200400"/>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69" name="Shape 67"/>
          <p:cNvSpPr/>
          <p:nvPr/>
        </p:nvSpPr>
        <p:spPr>
          <a:xfrm>
            <a:off x="5394960" y="2907792"/>
            <a:ext cx="1737360" cy="475488"/>
          </a:xfrm>
          <a:prstGeom prst="rect">
            <a:avLst/>
          </a:prstGeom>
          <a:solidFill>
            <a:srgbClr val="F4F6FA"/>
          </a:solidFill>
          <a:ln w="12700">
            <a:solidFill>
              <a:srgbClr val="D0D8E4"/>
            </a:solidFill>
            <a:prstDash val="solid"/>
          </a:ln>
        </p:spPr>
      </p:sp>
      <p:sp>
        <p:nvSpPr>
          <p:cNvPr id="70" name="Shape 68"/>
          <p:cNvSpPr/>
          <p:nvPr/>
        </p:nvSpPr>
        <p:spPr>
          <a:xfrm>
            <a:off x="5532120" y="3044952"/>
            <a:ext cx="877824" cy="201168"/>
          </a:xfrm>
          <a:prstGeom prst="rect">
            <a:avLst/>
          </a:prstGeom>
          <a:solidFill>
            <a:srgbClr val="D0D8E4"/>
          </a:solidFill>
          <a:ln w="12700">
            <a:solidFill>
              <a:srgbClr val="D0D8E4"/>
            </a:solidFill>
            <a:prstDash val="solid"/>
          </a:ln>
        </p:spPr>
      </p:sp>
      <p:sp>
        <p:nvSpPr>
          <p:cNvPr id="71" name="Text 69"/>
          <p:cNvSpPr/>
          <p:nvPr/>
        </p:nvSpPr>
        <p:spPr>
          <a:xfrm>
            <a:off x="5394960" y="3200400"/>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72" name="Shape 70"/>
          <p:cNvSpPr/>
          <p:nvPr/>
        </p:nvSpPr>
        <p:spPr>
          <a:xfrm>
            <a:off x="7178040" y="2907792"/>
            <a:ext cx="1737360" cy="475488"/>
          </a:xfrm>
          <a:prstGeom prst="rect">
            <a:avLst/>
          </a:prstGeom>
          <a:solidFill>
            <a:srgbClr val="F4F6FA"/>
          </a:solidFill>
          <a:ln w="12700">
            <a:solidFill>
              <a:srgbClr val="D0D8E4"/>
            </a:solidFill>
            <a:prstDash val="solid"/>
          </a:ln>
        </p:spPr>
      </p:sp>
      <p:sp>
        <p:nvSpPr>
          <p:cNvPr id="73" name="Shape 71"/>
          <p:cNvSpPr/>
          <p:nvPr/>
        </p:nvSpPr>
        <p:spPr>
          <a:xfrm>
            <a:off x="7315200" y="3044952"/>
            <a:ext cx="585216" cy="201168"/>
          </a:xfrm>
          <a:prstGeom prst="rect">
            <a:avLst/>
          </a:prstGeom>
          <a:solidFill>
            <a:srgbClr val="D0D8E4"/>
          </a:solidFill>
          <a:ln w="12700">
            <a:solidFill>
              <a:srgbClr val="D0D8E4"/>
            </a:solidFill>
            <a:prstDash val="solid"/>
          </a:ln>
        </p:spPr>
      </p:sp>
      <p:sp>
        <p:nvSpPr>
          <p:cNvPr id="74" name="Text 72"/>
          <p:cNvSpPr/>
          <p:nvPr/>
        </p:nvSpPr>
        <p:spPr>
          <a:xfrm>
            <a:off x="7178040" y="3200400"/>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75" name="Shape 73"/>
          <p:cNvSpPr/>
          <p:nvPr/>
        </p:nvSpPr>
        <p:spPr>
          <a:xfrm>
            <a:off x="365760" y="3383280"/>
            <a:ext cx="1417320" cy="475488"/>
          </a:xfrm>
          <a:prstGeom prst="rect">
            <a:avLst/>
          </a:prstGeom>
          <a:solidFill>
            <a:srgbClr val="FFFFFF"/>
          </a:solidFill>
          <a:ln w="12700">
            <a:solidFill>
              <a:srgbClr val="FFFFFF"/>
            </a:solidFill>
            <a:prstDash val="solid"/>
          </a:ln>
        </p:spPr>
      </p:sp>
      <p:sp>
        <p:nvSpPr>
          <p:cNvPr id="76" name="Text 74"/>
          <p:cNvSpPr/>
          <p:nvPr/>
        </p:nvSpPr>
        <p:spPr>
          <a:xfrm>
            <a:off x="411480" y="3474720"/>
            <a:ext cx="1325880" cy="292608"/>
          </a:xfrm>
          <a:prstGeom prst="rect">
            <a:avLst/>
          </a:prstGeom>
          <a:noFill/>
          <a:ln/>
        </p:spPr>
        <p:txBody>
          <a:bodyPr wrap="square" lIns="0" tIns="0" rIns="0" bIns="0" rtlCol="0" anchor="ctr"/>
          <a:lstStyle/>
          <a:p>
            <a:pPr indent="0" marL="0">
              <a:buNone/>
            </a:pPr>
            <a:r>
              <a:rPr lang="en-US" sz="800" dirty="0">
                <a:solidFill>
                  <a:srgbClr val="1B2D55"/>
                </a:solidFill>
              </a:rPr>
              <a:t>Customer Retention</a:t>
            </a:r>
            <a:endParaRPr lang="en-US" sz="800" dirty="0"/>
          </a:p>
        </p:txBody>
      </p:sp>
      <p:sp>
        <p:nvSpPr>
          <p:cNvPr id="77" name="Shape 75"/>
          <p:cNvSpPr/>
          <p:nvPr/>
        </p:nvSpPr>
        <p:spPr>
          <a:xfrm>
            <a:off x="1828800" y="3383280"/>
            <a:ext cx="1737360" cy="475488"/>
          </a:xfrm>
          <a:prstGeom prst="rect">
            <a:avLst/>
          </a:prstGeom>
          <a:solidFill>
            <a:srgbClr val="FFFFFF"/>
          </a:solidFill>
          <a:ln w="12700">
            <a:solidFill>
              <a:srgbClr val="D0D8E4"/>
            </a:solidFill>
            <a:prstDash val="solid"/>
          </a:ln>
        </p:spPr>
      </p:sp>
      <p:sp>
        <p:nvSpPr>
          <p:cNvPr id="78" name="Shape 76"/>
          <p:cNvSpPr/>
          <p:nvPr/>
        </p:nvSpPr>
        <p:spPr>
          <a:xfrm>
            <a:off x="1965960" y="3520440"/>
            <a:ext cx="1463040" cy="201168"/>
          </a:xfrm>
          <a:prstGeom prst="rect">
            <a:avLst/>
          </a:prstGeom>
          <a:solidFill>
            <a:srgbClr val="C8A83C"/>
          </a:solidFill>
          <a:ln w="12700">
            <a:solidFill>
              <a:srgbClr val="C8A83C"/>
            </a:solidFill>
            <a:prstDash val="solid"/>
          </a:ln>
        </p:spPr>
      </p:sp>
      <p:sp>
        <p:nvSpPr>
          <p:cNvPr id="79" name="Text 77"/>
          <p:cNvSpPr/>
          <p:nvPr/>
        </p:nvSpPr>
        <p:spPr>
          <a:xfrm>
            <a:off x="1828800" y="3675888"/>
            <a:ext cx="1737360" cy="164592"/>
          </a:xfrm>
          <a:prstGeom prst="rect">
            <a:avLst/>
          </a:prstGeom>
          <a:noFill/>
          <a:ln/>
        </p:spPr>
        <p:txBody>
          <a:bodyPr wrap="square" lIns="0" tIns="0" rIns="0" bIns="0" rtlCol="0" anchor="ctr"/>
          <a:lstStyle/>
          <a:p>
            <a:pPr algn="ctr" indent="0" marL="0">
              <a:buNone/>
            </a:pPr>
            <a:r>
              <a:rPr lang="en-US" sz="700" dirty="0">
                <a:solidFill>
                  <a:srgbClr val="C8A83C"/>
                </a:solidFill>
              </a:rPr>
              <a:t>★★★★★</a:t>
            </a:r>
            <a:endParaRPr lang="en-US" sz="700" dirty="0"/>
          </a:p>
        </p:txBody>
      </p:sp>
      <p:sp>
        <p:nvSpPr>
          <p:cNvPr id="80" name="Shape 78"/>
          <p:cNvSpPr/>
          <p:nvPr/>
        </p:nvSpPr>
        <p:spPr>
          <a:xfrm>
            <a:off x="3611880" y="3383280"/>
            <a:ext cx="1737360" cy="475488"/>
          </a:xfrm>
          <a:prstGeom prst="rect">
            <a:avLst/>
          </a:prstGeom>
          <a:solidFill>
            <a:srgbClr val="FFFFFF"/>
          </a:solidFill>
          <a:ln w="12700">
            <a:solidFill>
              <a:srgbClr val="D0D8E4"/>
            </a:solidFill>
            <a:prstDash val="solid"/>
          </a:ln>
        </p:spPr>
      </p:sp>
      <p:sp>
        <p:nvSpPr>
          <p:cNvPr id="81" name="Shape 79"/>
          <p:cNvSpPr/>
          <p:nvPr/>
        </p:nvSpPr>
        <p:spPr>
          <a:xfrm>
            <a:off x="3749040" y="3520440"/>
            <a:ext cx="877824" cy="201168"/>
          </a:xfrm>
          <a:prstGeom prst="rect">
            <a:avLst/>
          </a:prstGeom>
          <a:solidFill>
            <a:srgbClr val="D0D8E4"/>
          </a:solidFill>
          <a:ln w="12700">
            <a:solidFill>
              <a:srgbClr val="D0D8E4"/>
            </a:solidFill>
            <a:prstDash val="solid"/>
          </a:ln>
        </p:spPr>
      </p:sp>
      <p:sp>
        <p:nvSpPr>
          <p:cNvPr id="82" name="Text 80"/>
          <p:cNvSpPr/>
          <p:nvPr/>
        </p:nvSpPr>
        <p:spPr>
          <a:xfrm>
            <a:off x="3611880" y="3675888"/>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83" name="Shape 81"/>
          <p:cNvSpPr/>
          <p:nvPr/>
        </p:nvSpPr>
        <p:spPr>
          <a:xfrm>
            <a:off x="5394960" y="3383280"/>
            <a:ext cx="1737360" cy="475488"/>
          </a:xfrm>
          <a:prstGeom prst="rect">
            <a:avLst/>
          </a:prstGeom>
          <a:solidFill>
            <a:srgbClr val="FFFFFF"/>
          </a:solidFill>
          <a:ln w="12700">
            <a:solidFill>
              <a:srgbClr val="D0D8E4"/>
            </a:solidFill>
            <a:prstDash val="solid"/>
          </a:ln>
        </p:spPr>
      </p:sp>
      <p:sp>
        <p:nvSpPr>
          <p:cNvPr id="84" name="Shape 82"/>
          <p:cNvSpPr/>
          <p:nvPr/>
        </p:nvSpPr>
        <p:spPr>
          <a:xfrm>
            <a:off x="5532120" y="3520440"/>
            <a:ext cx="1170432" cy="201168"/>
          </a:xfrm>
          <a:prstGeom prst="rect">
            <a:avLst/>
          </a:prstGeom>
          <a:solidFill>
            <a:srgbClr val="D0D8E4"/>
          </a:solidFill>
          <a:ln w="12700">
            <a:solidFill>
              <a:srgbClr val="D0D8E4"/>
            </a:solidFill>
            <a:prstDash val="solid"/>
          </a:ln>
        </p:spPr>
      </p:sp>
      <p:sp>
        <p:nvSpPr>
          <p:cNvPr id="85" name="Text 83"/>
          <p:cNvSpPr/>
          <p:nvPr/>
        </p:nvSpPr>
        <p:spPr>
          <a:xfrm>
            <a:off x="5394960" y="3675888"/>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86" name="Shape 84"/>
          <p:cNvSpPr/>
          <p:nvPr/>
        </p:nvSpPr>
        <p:spPr>
          <a:xfrm>
            <a:off x="7178040" y="3383280"/>
            <a:ext cx="1737360" cy="475488"/>
          </a:xfrm>
          <a:prstGeom prst="rect">
            <a:avLst/>
          </a:prstGeom>
          <a:solidFill>
            <a:srgbClr val="FFFFFF"/>
          </a:solidFill>
          <a:ln w="12700">
            <a:solidFill>
              <a:srgbClr val="D0D8E4"/>
            </a:solidFill>
            <a:prstDash val="solid"/>
          </a:ln>
        </p:spPr>
      </p:sp>
      <p:sp>
        <p:nvSpPr>
          <p:cNvPr id="87" name="Shape 85"/>
          <p:cNvSpPr/>
          <p:nvPr/>
        </p:nvSpPr>
        <p:spPr>
          <a:xfrm>
            <a:off x="7315200" y="3520440"/>
            <a:ext cx="877824" cy="201168"/>
          </a:xfrm>
          <a:prstGeom prst="rect">
            <a:avLst/>
          </a:prstGeom>
          <a:solidFill>
            <a:srgbClr val="D0D8E4"/>
          </a:solidFill>
          <a:ln w="12700">
            <a:solidFill>
              <a:srgbClr val="D0D8E4"/>
            </a:solidFill>
            <a:prstDash val="solid"/>
          </a:ln>
        </p:spPr>
      </p:sp>
      <p:sp>
        <p:nvSpPr>
          <p:cNvPr id="88" name="Text 86"/>
          <p:cNvSpPr/>
          <p:nvPr/>
        </p:nvSpPr>
        <p:spPr>
          <a:xfrm>
            <a:off x="7178040" y="3675888"/>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89" name="Shape 87"/>
          <p:cNvSpPr/>
          <p:nvPr/>
        </p:nvSpPr>
        <p:spPr>
          <a:xfrm>
            <a:off x="365760" y="3858768"/>
            <a:ext cx="1417320" cy="475488"/>
          </a:xfrm>
          <a:prstGeom prst="rect">
            <a:avLst/>
          </a:prstGeom>
          <a:solidFill>
            <a:srgbClr val="F4F6FA"/>
          </a:solidFill>
          <a:ln w="12700">
            <a:solidFill>
              <a:srgbClr val="F4F6FA"/>
            </a:solidFill>
            <a:prstDash val="solid"/>
          </a:ln>
        </p:spPr>
      </p:sp>
      <p:sp>
        <p:nvSpPr>
          <p:cNvPr id="90" name="Text 88"/>
          <p:cNvSpPr/>
          <p:nvPr/>
        </p:nvSpPr>
        <p:spPr>
          <a:xfrm>
            <a:off x="411480" y="3950208"/>
            <a:ext cx="1325880" cy="292608"/>
          </a:xfrm>
          <a:prstGeom prst="rect">
            <a:avLst/>
          </a:prstGeom>
          <a:noFill/>
          <a:ln/>
        </p:spPr>
        <p:txBody>
          <a:bodyPr wrap="square" lIns="0" tIns="0" rIns="0" bIns="0" rtlCol="0" anchor="ctr"/>
          <a:lstStyle/>
          <a:p>
            <a:pPr indent="0" marL="0">
              <a:buNone/>
            </a:pPr>
            <a:r>
              <a:rPr lang="en-US" sz="800" dirty="0">
                <a:solidFill>
                  <a:srgbClr val="1B2D55"/>
                </a:solidFill>
              </a:rPr>
              <a:t>Growth Rate</a:t>
            </a:r>
            <a:endParaRPr lang="en-US" sz="800" dirty="0"/>
          </a:p>
        </p:txBody>
      </p:sp>
      <p:sp>
        <p:nvSpPr>
          <p:cNvPr id="91" name="Shape 89"/>
          <p:cNvSpPr/>
          <p:nvPr/>
        </p:nvSpPr>
        <p:spPr>
          <a:xfrm>
            <a:off x="1828800" y="3858768"/>
            <a:ext cx="1737360" cy="475488"/>
          </a:xfrm>
          <a:prstGeom prst="rect">
            <a:avLst/>
          </a:prstGeom>
          <a:solidFill>
            <a:srgbClr val="F4F6FA"/>
          </a:solidFill>
          <a:ln w="12700">
            <a:solidFill>
              <a:srgbClr val="D0D8E4"/>
            </a:solidFill>
            <a:prstDash val="solid"/>
          </a:ln>
        </p:spPr>
      </p:sp>
      <p:sp>
        <p:nvSpPr>
          <p:cNvPr id="92" name="Shape 90"/>
          <p:cNvSpPr/>
          <p:nvPr/>
        </p:nvSpPr>
        <p:spPr>
          <a:xfrm>
            <a:off x="1965960" y="3995928"/>
            <a:ext cx="1463040" cy="201168"/>
          </a:xfrm>
          <a:prstGeom prst="rect">
            <a:avLst/>
          </a:prstGeom>
          <a:solidFill>
            <a:srgbClr val="C8A83C"/>
          </a:solidFill>
          <a:ln w="12700">
            <a:solidFill>
              <a:srgbClr val="C8A83C"/>
            </a:solidFill>
            <a:prstDash val="solid"/>
          </a:ln>
        </p:spPr>
      </p:sp>
      <p:sp>
        <p:nvSpPr>
          <p:cNvPr id="93" name="Text 91"/>
          <p:cNvSpPr/>
          <p:nvPr/>
        </p:nvSpPr>
        <p:spPr>
          <a:xfrm>
            <a:off x="1828800" y="4151376"/>
            <a:ext cx="1737360" cy="164592"/>
          </a:xfrm>
          <a:prstGeom prst="rect">
            <a:avLst/>
          </a:prstGeom>
          <a:noFill/>
          <a:ln/>
        </p:spPr>
        <p:txBody>
          <a:bodyPr wrap="square" lIns="0" tIns="0" rIns="0" bIns="0" rtlCol="0" anchor="ctr"/>
          <a:lstStyle/>
          <a:p>
            <a:pPr algn="ctr" indent="0" marL="0">
              <a:buNone/>
            </a:pPr>
            <a:r>
              <a:rPr lang="en-US" sz="700" dirty="0">
                <a:solidFill>
                  <a:srgbClr val="C8A83C"/>
                </a:solidFill>
              </a:rPr>
              <a:t>★★★★★</a:t>
            </a:r>
            <a:endParaRPr lang="en-US" sz="700" dirty="0"/>
          </a:p>
        </p:txBody>
      </p:sp>
      <p:sp>
        <p:nvSpPr>
          <p:cNvPr id="94" name="Shape 92"/>
          <p:cNvSpPr/>
          <p:nvPr/>
        </p:nvSpPr>
        <p:spPr>
          <a:xfrm>
            <a:off x="3611880" y="3858768"/>
            <a:ext cx="1737360" cy="475488"/>
          </a:xfrm>
          <a:prstGeom prst="rect">
            <a:avLst/>
          </a:prstGeom>
          <a:solidFill>
            <a:srgbClr val="F4F6FA"/>
          </a:solidFill>
          <a:ln w="12700">
            <a:solidFill>
              <a:srgbClr val="D0D8E4"/>
            </a:solidFill>
            <a:prstDash val="solid"/>
          </a:ln>
        </p:spPr>
      </p:sp>
      <p:sp>
        <p:nvSpPr>
          <p:cNvPr id="95" name="Shape 93"/>
          <p:cNvSpPr/>
          <p:nvPr/>
        </p:nvSpPr>
        <p:spPr>
          <a:xfrm>
            <a:off x="3749040" y="3995928"/>
            <a:ext cx="877824" cy="201168"/>
          </a:xfrm>
          <a:prstGeom prst="rect">
            <a:avLst/>
          </a:prstGeom>
          <a:solidFill>
            <a:srgbClr val="D0D8E4"/>
          </a:solidFill>
          <a:ln w="12700">
            <a:solidFill>
              <a:srgbClr val="D0D8E4"/>
            </a:solidFill>
            <a:prstDash val="solid"/>
          </a:ln>
        </p:spPr>
      </p:sp>
      <p:sp>
        <p:nvSpPr>
          <p:cNvPr id="96" name="Text 94"/>
          <p:cNvSpPr/>
          <p:nvPr/>
        </p:nvSpPr>
        <p:spPr>
          <a:xfrm>
            <a:off x="3611880" y="4151376"/>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97" name="Shape 95"/>
          <p:cNvSpPr/>
          <p:nvPr/>
        </p:nvSpPr>
        <p:spPr>
          <a:xfrm>
            <a:off x="5394960" y="3858768"/>
            <a:ext cx="1737360" cy="475488"/>
          </a:xfrm>
          <a:prstGeom prst="rect">
            <a:avLst/>
          </a:prstGeom>
          <a:solidFill>
            <a:srgbClr val="F4F6FA"/>
          </a:solidFill>
          <a:ln w="12700">
            <a:solidFill>
              <a:srgbClr val="D0D8E4"/>
            </a:solidFill>
            <a:prstDash val="solid"/>
          </a:ln>
        </p:spPr>
      </p:sp>
      <p:sp>
        <p:nvSpPr>
          <p:cNvPr id="98" name="Shape 96"/>
          <p:cNvSpPr/>
          <p:nvPr/>
        </p:nvSpPr>
        <p:spPr>
          <a:xfrm>
            <a:off x="5532120" y="3995928"/>
            <a:ext cx="1170432" cy="201168"/>
          </a:xfrm>
          <a:prstGeom prst="rect">
            <a:avLst/>
          </a:prstGeom>
          <a:solidFill>
            <a:srgbClr val="D0D8E4"/>
          </a:solidFill>
          <a:ln w="12700">
            <a:solidFill>
              <a:srgbClr val="D0D8E4"/>
            </a:solidFill>
            <a:prstDash val="solid"/>
          </a:ln>
        </p:spPr>
      </p:sp>
      <p:sp>
        <p:nvSpPr>
          <p:cNvPr id="99" name="Text 97"/>
          <p:cNvSpPr/>
          <p:nvPr/>
        </p:nvSpPr>
        <p:spPr>
          <a:xfrm>
            <a:off x="5394960" y="4151376"/>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100" name="Shape 98"/>
          <p:cNvSpPr/>
          <p:nvPr/>
        </p:nvSpPr>
        <p:spPr>
          <a:xfrm>
            <a:off x="7178040" y="3858768"/>
            <a:ext cx="1737360" cy="475488"/>
          </a:xfrm>
          <a:prstGeom prst="rect">
            <a:avLst/>
          </a:prstGeom>
          <a:solidFill>
            <a:srgbClr val="F4F6FA"/>
          </a:solidFill>
          <a:ln w="12700">
            <a:solidFill>
              <a:srgbClr val="D0D8E4"/>
            </a:solidFill>
            <a:prstDash val="solid"/>
          </a:ln>
        </p:spPr>
      </p:sp>
      <p:sp>
        <p:nvSpPr>
          <p:cNvPr id="101" name="Shape 99"/>
          <p:cNvSpPr/>
          <p:nvPr/>
        </p:nvSpPr>
        <p:spPr>
          <a:xfrm>
            <a:off x="7315200" y="3995928"/>
            <a:ext cx="877824" cy="201168"/>
          </a:xfrm>
          <a:prstGeom prst="rect">
            <a:avLst/>
          </a:prstGeom>
          <a:solidFill>
            <a:srgbClr val="D0D8E4"/>
          </a:solidFill>
          <a:ln w="12700">
            <a:solidFill>
              <a:srgbClr val="D0D8E4"/>
            </a:solidFill>
            <a:prstDash val="solid"/>
          </a:ln>
        </p:spPr>
      </p:sp>
      <p:sp>
        <p:nvSpPr>
          <p:cNvPr id="102" name="Text 100"/>
          <p:cNvSpPr/>
          <p:nvPr/>
        </p:nvSpPr>
        <p:spPr>
          <a:xfrm>
            <a:off x="7178040" y="4151376"/>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Business Model</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10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Business Model &amp; Channel Strategy</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Revenue Streams &amp; Go-to-Market</a:t>
            </a:r>
            <a:endParaRPr lang="en-US" sz="950" dirty="0"/>
          </a:p>
        </p:txBody>
      </p:sp>
      <p:sp>
        <p:nvSpPr>
          <p:cNvPr id="11" name="Shape 9"/>
          <p:cNvSpPr/>
          <p:nvPr/>
        </p:nvSpPr>
        <p:spPr>
          <a:xfrm>
            <a:off x="365760" y="1024128"/>
            <a:ext cx="8412480" cy="859536"/>
          </a:xfrm>
          <a:prstGeom prst="rect">
            <a:avLst/>
          </a:prstGeom>
          <a:solidFill>
            <a:srgbClr val="FFFFFF"/>
          </a:solidFill>
          <a:ln w="12700">
            <a:solidFill>
              <a:srgbClr val="D0D8E4"/>
            </a:solidFill>
            <a:prstDash val="solid"/>
          </a:ln>
        </p:spPr>
      </p:sp>
      <p:sp>
        <p:nvSpPr>
          <p:cNvPr id="12" name="Shape 10"/>
          <p:cNvSpPr/>
          <p:nvPr/>
        </p:nvSpPr>
        <p:spPr>
          <a:xfrm>
            <a:off x="365760" y="1024128"/>
            <a:ext cx="54864" cy="859536"/>
          </a:xfrm>
          <a:prstGeom prst="rect">
            <a:avLst/>
          </a:prstGeom>
          <a:solidFill>
            <a:srgbClr val="C8A83C"/>
          </a:solidFill>
          <a:ln w="12700">
            <a:solidFill>
              <a:srgbClr val="C8A83C"/>
            </a:solidFill>
            <a:prstDash val="solid"/>
          </a:ln>
        </p:spPr>
      </p:sp>
      <p:sp>
        <p:nvSpPr>
          <p:cNvPr id="13" name="Text 11"/>
          <p:cNvSpPr/>
          <p:nvPr/>
        </p:nvSpPr>
        <p:spPr>
          <a:xfrm>
            <a:off x="530352" y="1097280"/>
            <a:ext cx="2286000" cy="274320"/>
          </a:xfrm>
          <a:prstGeom prst="rect">
            <a:avLst/>
          </a:prstGeom>
          <a:noFill/>
          <a:ln/>
        </p:spPr>
        <p:txBody>
          <a:bodyPr wrap="square" lIns="0" tIns="0" rIns="0" bIns="0" rtlCol="0" anchor="ctr"/>
          <a:lstStyle/>
          <a:p>
            <a:pPr indent="0" marL="0">
              <a:buNone/>
            </a:pPr>
            <a:r>
              <a:rPr lang="en-US" sz="950" b="1" dirty="0">
                <a:solidFill>
                  <a:srgbClr val="1B2D55"/>
                </a:solidFill>
              </a:rPr>
              <a:t>DTC E-Commerce</a:t>
            </a:r>
            <a:endParaRPr lang="en-US" sz="950" dirty="0"/>
          </a:p>
        </p:txBody>
      </p:sp>
      <p:sp>
        <p:nvSpPr>
          <p:cNvPr id="14" name="Text 12"/>
          <p:cNvSpPr/>
          <p:nvPr/>
        </p:nvSpPr>
        <p:spPr>
          <a:xfrm>
            <a:off x="530352" y="1426464"/>
            <a:ext cx="8138160" cy="384048"/>
          </a:xfrm>
          <a:prstGeom prst="rect">
            <a:avLst/>
          </a:prstGeom>
          <a:noFill/>
          <a:ln/>
        </p:spPr>
        <p:txBody>
          <a:bodyPr wrap="square" lIns="0" tIns="0" rIns="0" bIns="0" rtlCol="0" anchor="ctr"/>
          <a:lstStyle/>
          <a:p>
            <a:pPr indent="0" marL="0">
              <a:buNone/>
            </a:pPr>
            <a:r>
              <a:rPr lang="en-US" sz="800" dirty="0">
                <a:solidFill>
                  <a:srgbClr val="4A5568"/>
                </a:solidFill>
              </a:rPr>
              <a:t>Direct Ridgeline + Summit Series; $187 avg. order; 38% repeat rate; 640K email list</a:t>
            </a:r>
            <a:endParaRPr lang="en-US" sz="800" dirty="0"/>
          </a:p>
        </p:txBody>
      </p:sp>
      <p:sp>
        <p:nvSpPr>
          <p:cNvPr id="15" name="Shape 13"/>
          <p:cNvSpPr/>
          <p:nvPr/>
        </p:nvSpPr>
        <p:spPr>
          <a:xfrm>
            <a:off x="365760" y="1956816"/>
            <a:ext cx="8412480" cy="859536"/>
          </a:xfrm>
          <a:prstGeom prst="rect">
            <a:avLst/>
          </a:prstGeom>
          <a:solidFill>
            <a:srgbClr val="F4F6FA"/>
          </a:solidFill>
          <a:ln w="12700">
            <a:solidFill>
              <a:srgbClr val="D0D8E4"/>
            </a:solidFill>
            <a:prstDash val="solid"/>
          </a:ln>
        </p:spPr>
      </p:sp>
      <p:sp>
        <p:nvSpPr>
          <p:cNvPr id="16" name="Shape 14"/>
          <p:cNvSpPr/>
          <p:nvPr/>
        </p:nvSpPr>
        <p:spPr>
          <a:xfrm>
            <a:off x="365760" y="1956816"/>
            <a:ext cx="54864" cy="859536"/>
          </a:xfrm>
          <a:prstGeom prst="rect">
            <a:avLst/>
          </a:prstGeom>
          <a:solidFill>
            <a:srgbClr val="C8A83C"/>
          </a:solidFill>
          <a:ln w="12700">
            <a:solidFill>
              <a:srgbClr val="C8A83C"/>
            </a:solidFill>
            <a:prstDash val="solid"/>
          </a:ln>
        </p:spPr>
      </p:sp>
      <p:sp>
        <p:nvSpPr>
          <p:cNvPr id="17" name="Text 15"/>
          <p:cNvSpPr/>
          <p:nvPr/>
        </p:nvSpPr>
        <p:spPr>
          <a:xfrm>
            <a:off x="530352" y="2029968"/>
            <a:ext cx="2286000" cy="274320"/>
          </a:xfrm>
          <a:prstGeom prst="rect">
            <a:avLst/>
          </a:prstGeom>
          <a:noFill/>
          <a:ln/>
        </p:spPr>
        <p:txBody>
          <a:bodyPr wrap="square" lIns="0" tIns="0" rIns="0" bIns="0" rtlCol="0" anchor="ctr"/>
          <a:lstStyle/>
          <a:p>
            <a:pPr indent="0" marL="0">
              <a:buNone/>
            </a:pPr>
            <a:r>
              <a:rPr lang="en-US" sz="950" b="1" dirty="0">
                <a:solidFill>
                  <a:srgbClr val="1B2D55"/>
                </a:solidFill>
              </a:rPr>
              <a:t>Specialty Retail</a:t>
            </a:r>
            <a:endParaRPr lang="en-US" sz="950" dirty="0"/>
          </a:p>
        </p:txBody>
      </p:sp>
      <p:sp>
        <p:nvSpPr>
          <p:cNvPr id="18" name="Text 16"/>
          <p:cNvSpPr/>
          <p:nvPr/>
        </p:nvSpPr>
        <p:spPr>
          <a:xfrm>
            <a:off x="530352" y="2359152"/>
            <a:ext cx="8138160" cy="384048"/>
          </a:xfrm>
          <a:prstGeom prst="rect">
            <a:avLst/>
          </a:prstGeom>
          <a:noFill/>
          <a:ln/>
        </p:spPr>
        <p:txBody>
          <a:bodyPr wrap="square" lIns="0" tIns="0" rIns="0" bIns="0" rtlCol="0" anchor="ctr"/>
          <a:lstStyle/>
          <a:p>
            <a:pPr indent="0" marL="0">
              <a:buNone/>
            </a:pPr>
            <a:r>
              <a:rPr lang="en-US" sz="800" dirty="0">
                <a:solidFill>
                  <a:srgbClr val="4A5568"/>
                </a:solidFill>
              </a:rPr>
              <a:t>REI, Backcountry, EVO, MEC; consignment at REI; sell-through model at others</a:t>
            </a:r>
            <a:endParaRPr lang="en-US" sz="800" dirty="0"/>
          </a:p>
        </p:txBody>
      </p:sp>
      <p:sp>
        <p:nvSpPr>
          <p:cNvPr id="19" name="Shape 17"/>
          <p:cNvSpPr/>
          <p:nvPr/>
        </p:nvSpPr>
        <p:spPr>
          <a:xfrm>
            <a:off x="365760" y="2889504"/>
            <a:ext cx="8412480" cy="859536"/>
          </a:xfrm>
          <a:prstGeom prst="rect">
            <a:avLst/>
          </a:prstGeom>
          <a:solidFill>
            <a:srgbClr val="FFFFFF"/>
          </a:solidFill>
          <a:ln w="12700">
            <a:solidFill>
              <a:srgbClr val="D0D8E4"/>
            </a:solidFill>
            <a:prstDash val="solid"/>
          </a:ln>
        </p:spPr>
      </p:sp>
      <p:sp>
        <p:nvSpPr>
          <p:cNvPr id="20" name="Shape 18"/>
          <p:cNvSpPr/>
          <p:nvPr/>
        </p:nvSpPr>
        <p:spPr>
          <a:xfrm>
            <a:off x="365760" y="2889504"/>
            <a:ext cx="54864" cy="859536"/>
          </a:xfrm>
          <a:prstGeom prst="rect">
            <a:avLst/>
          </a:prstGeom>
          <a:solidFill>
            <a:srgbClr val="C8A83C"/>
          </a:solidFill>
          <a:ln w="12700">
            <a:solidFill>
              <a:srgbClr val="C8A83C"/>
            </a:solidFill>
            <a:prstDash val="solid"/>
          </a:ln>
        </p:spPr>
      </p:sp>
      <p:sp>
        <p:nvSpPr>
          <p:cNvPr id="21" name="Text 19"/>
          <p:cNvSpPr/>
          <p:nvPr/>
        </p:nvSpPr>
        <p:spPr>
          <a:xfrm>
            <a:off x="530352" y="2962656"/>
            <a:ext cx="2286000" cy="274320"/>
          </a:xfrm>
          <a:prstGeom prst="rect">
            <a:avLst/>
          </a:prstGeom>
          <a:noFill/>
          <a:ln/>
        </p:spPr>
        <p:txBody>
          <a:bodyPr wrap="square" lIns="0" tIns="0" rIns="0" bIns="0" rtlCol="0" anchor="ctr"/>
          <a:lstStyle/>
          <a:p>
            <a:pPr indent="0" marL="0">
              <a:buNone/>
            </a:pPr>
            <a:r>
              <a:rPr lang="en-US" sz="950" b="1" dirty="0">
                <a:solidFill>
                  <a:srgbClr val="1B2D55"/>
                </a:solidFill>
              </a:rPr>
              <a:t>International Distributors</a:t>
            </a:r>
            <a:endParaRPr lang="en-US" sz="950" dirty="0"/>
          </a:p>
        </p:txBody>
      </p:sp>
      <p:sp>
        <p:nvSpPr>
          <p:cNvPr id="22" name="Text 20"/>
          <p:cNvSpPr/>
          <p:nvPr/>
        </p:nvSpPr>
        <p:spPr>
          <a:xfrm>
            <a:off x="530352" y="3291840"/>
            <a:ext cx="8138160" cy="384048"/>
          </a:xfrm>
          <a:prstGeom prst="rect">
            <a:avLst/>
          </a:prstGeom>
          <a:noFill/>
          <a:ln/>
        </p:spPr>
        <p:txBody>
          <a:bodyPr wrap="square" lIns="0" tIns="0" rIns="0" bIns="0" rtlCol="0" anchor="ctr"/>
          <a:lstStyle/>
          <a:p>
            <a:pPr indent="0" marL="0">
              <a:buNone/>
            </a:pPr>
            <a:r>
              <a:rPr lang="en-US" sz="800" dirty="0">
                <a:solidFill>
                  <a:srgbClr val="4A5568"/>
                </a:solidFill>
              </a:rPr>
              <a:t>22 countries; 4 regional master distributors; Japan pursuing JV for DTC</a:t>
            </a:r>
            <a:endParaRPr lang="en-US" sz="800" dirty="0"/>
          </a:p>
        </p:txBody>
      </p:sp>
      <p:sp>
        <p:nvSpPr>
          <p:cNvPr id="23" name="Shape 21"/>
          <p:cNvSpPr/>
          <p:nvPr/>
        </p:nvSpPr>
        <p:spPr>
          <a:xfrm>
            <a:off x="365760" y="3822192"/>
            <a:ext cx="8412480" cy="859536"/>
          </a:xfrm>
          <a:prstGeom prst="rect">
            <a:avLst/>
          </a:prstGeom>
          <a:solidFill>
            <a:srgbClr val="F4F6FA"/>
          </a:solidFill>
          <a:ln w="12700">
            <a:solidFill>
              <a:srgbClr val="D0D8E4"/>
            </a:solidFill>
            <a:prstDash val="solid"/>
          </a:ln>
        </p:spPr>
      </p:sp>
      <p:sp>
        <p:nvSpPr>
          <p:cNvPr id="24" name="Shape 22"/>
          <p:cNvSpPr/>
          <p:nvPr/>
        </p:nvSpPr>
        <p:spPr>
          <a:xfrm>
            <a:off x="365760" y="3822192"/>
            <a:ext cx="54864" cy="859536"/>
          </a:xfrm>
          <a:prstGeom prst="rect">
            <a:avLst/>
          </a:prstGeom>
          <a:solidFill>
            <a:srgbClr val="C8A83C"/>
          </a:solidFill>
          <a:ln w="12700">
            <a:solidFill>
              <a:srgbClr val="C8A83C"/>
            </a:solidFill>
            <a:prstDash val="solid"/>
          </a:ln>
        </p:spPr>
      </p:sp>
      <p:sp>
        <p:nvSpPr>
          <p:cNvPr id="25" name="Text 23"/>
          <p:cNvSpPr/>
          <p:nvPr/>
        </p:nvSpPr>
        <p:spPr>
          <a:xfrm>
            <a:off x="530352" y="3895344"/>
            <a:ext cx="2286000" cy="274320"/>
          </a:xfrm>
          <a:prstGeom prst="rect">
            <a:avLst/>
          </a:prstGeom>
          <a:noFill/>
          <a:ln/>
        </p:spPr>
        <p:txBody>
          <a:bodyPr wrap="square" lIns="0" tIns="0" rIns="0" bIns="0" rtlCol="0" anchor="ctr"/>
          <a:lstStyle/>
          <a:p>
            <a:pPr indent="0" marL="0">
              <a:buNone/>
            </a:pPr>
            <a:r>
              <a:rPr lang="en-US" sz="950" b="1" dirty="0">
                <a:solidFill>
                  <a:srgbClr val="1B2D55"/>
                </a:solidFill>
              </a:rPr>
              <a:t>OEM / Licensing</a:t>
            </a:r>
            <a:endParaRPr lang="en-US" sz="950" dirty="0"/>
          </a:p>
        </p:txBody>
      </p:sp>
      <p:sp>
        <p:nvSpPr>
          <p:cNvPr id="26" name="Text 24"/>
          <p:cNvSpPr/>
          <p:nvPr/>
        </p:nvSpPr>
        <p:spPr>
          <a:xfrm>
            <a:off x="530352" y="4224528"/>
            <a:ext cx="8138160" cy="384048"/>
          </a:xfrm>
          <a:prstGeom prst="rect">
            <a:avLst/>
          </a:prstGeom>
          <a:noFill/>
          <a:ln/>
        </p:spPr>
        <p:txBody>
          <a:bodyPr wrap="square" lIns="0" tIns="0" rIns="0" bIns="0" rtlCol="0" anchor="ctr"/>
          <a:lstStyle/>
          <a:p>
            <a:pPr indent="0" marL="0">
              <a:buNone/>
            </a:pPr>
            <a:r>
              <a:rPr lang="en-US" sz="800" dirty="0">
                <a:solidFill>
                  <a:srgbClr val="4A5568"/>
                </a:solidFill>
              </a:rPr>
              <a:t>HexLite™ royalties from 2 OEM brands; $3.2M ARR at 90%+ margin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Historical Financials</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11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Historical Financial Performance</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($M unless otherwise noted)</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8412480" cy="1645920"/>
        </p:xfrm>
        <a:graphic>
          <a:graphicData uri="http://schemas.openxmlformats.org/drawingml/2006/table">
            <a:tbl>
              <a:tblPr/>
              <a:tblGrid>
                <a:gridCol w="2560320"/>
                <a:gridCol w="1640434"/>
                <a:gridCol w="1640434"/>
                <a:gridCol w="1640434"/>
                <a:gridCol w="1640434"/>
              </a:tblGrid>
              <a:tr h="329184">
                <a:tc>
                  <a:txBody>
                    <a:bodyPr/>
                    <a:lstStyle/>
                    <a:p>
                      <a:pPr indent="0" marL="0">
                        <a:buNone/>
                      </a:pPr>
                      <a:r>
                        <a:rPr lang="en-US" sz="900" b="1" dirty="0">
                          <a:solidFill>
                            <a:srgbClr val="FFFFFF"/>
                          </a:solidFill>
                        </a:rPr>
                        <a:t>($M)</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2021</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2022</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2023</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LTM Apr'24</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329184">
                <a:tc>
                  <a:txBody>
                    <a:bodyPr/>
                    <a:lstStyle/>
                    <a:p>
                      <a:pPr indent="0" marL="0">
                        <a:buNone/>
                      </a:pPr>
                      <a:r>
                        <a:rPr lang="en-US" sz="900" b="1" dirty="0">
                          <a:solidFill>
                            <a:srgbClr val="1B2D55"/>
                          </a:solidFill>
                        </a:rPr>
                        <a:t>Revenue</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82.5</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98.1</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106.4</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112.0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indent="0" marL="0">
                        <a:buNone/>
                      </a:pPr>
                      <a:r>
                        <a:rPr lang="en-US" sz="900" b="1" dirty="0">
                          <a:solidFill>
                            <a:srgbClr val="1B2D55"/>
                          </a:solidFill>
                        </a:rPr>
                        <a:t>Adj. EBITDA</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9.1</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11.4</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12.8</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14.0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indent="0" marL="0">
                        <a:buNone/>
                      </a:pPr>
                      <a:r>
                        <a:rPr lang="en-US" sz="900" b="1" dirty="0">
                          <a:solidFill>
                            <a:srgbClr val="1B2D55"/>
                          </a:solidFill>
                        </a:rPr>
                        <a:t>EBITDA Margin (%)</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11.0%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11.6%</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12.0%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12.5%</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indent="0" marL="0">
                        <a:buNone/>
                      </a:pPr>
                      <a:r>
                        <a:rPr lang="en-US" sz="900" b="1" dirty="0">
                          <a:solidFill>
                            <a:srgbClr val="1B2D55"/>
                          </a:solidFill>
                        </a:rPr>
                        <a:t>Net Income</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4.2</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5.8</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7.1</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8.9</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bl>
          </a:graphicData>
        </a:graphic>
      </p:graphicFrame>
      <p:sp>
        <p:nvSpPr>
          <p:cNvPr id="12" name="Shape 9"/>
          <p:cNvSpPr/>
          <p:nvPr/>
        </p:nvSpPr>
        <p:spPr>
          <a:xfrm>
            <a:off x="457200" y="2834640"/>
            <a:ext cx="8229600" cy="0"/>
          </a:xfrm>
          <a:prstGeom prst="line">
            <a:avLst/>
          </a:prstGeom>
          <a:noFill/>
          <a:ln w="9525">
            <a:solidFill>
              <a:srgbClr val="D0D8E4"/>
            </a:solidFill>
            <a:prstDash val="solid"/>
          </a:ln>
        </p:spPr>
      </p:sp>
      <p:sp>
        <p:nvSpPr>
          <p:cNvPr id="13" name="Text 10"/>
          <p:cNvSpPr/>
          <p:nvPr/>
        </p:nvSpPr>
        <p:spPr>
          <a:xfrm>
            <a:off x="457200" y="2898648"/>
            <a:ext cx="4572000" cy="256032"/>
          </a:xfrm>
          <a:prstGeom prst="rect">
            <a:avLst/>
          </a:prstGeom>
          <a:noFill/>
          <a:ln/>
        </p:spPr>
        <p:txBody>
          <a:bodyPr wrap="square" lIns="0" tIns="0" rIns="0" bIns="0" rtlCol="0" anchor="ctr"/>
          <a:lstStyle/>
          <a:p>
            <a:pPr indent="0" marL="0">
              <a:buNone/>
            </a:pPr>
            <a:r>
              <a:rPr lang="en-US" sz="900" b="1" dirty="0">
                <a:solidFill>
                  <a:srgbClr val="1B2D55"/>
                </a:solidFill>
              </a:rPr>
              <a:t>Revenue &amp; EBITDA Trend</a:t>
            </a:r>
            <a:endParaRPr lang="en-US" sz="900" dirty="0"/>
          </a:p>
        </p:txBody>
      </p:sp>
      <p:sp>
        <p:nvSpPr>
          <p:cNvPr id="14" name="Shape 11"/>
          <p:cNvSpPr/>
          <p:nvPr/>
        </p:nvSpPr>
        <p:spPr>
          <a:xfrm>
            <a:off x="594360" y="3525543"/>
            <a:ext cx="1068705" cy="909297"/>
          </a:xfrm>
          <a:prstGeom prst="rect">
            <a:avLst/>
          </a:prstGeom>
          <a:solidFill>
            <a:srgbClr val="2B5BAE"/>
          </a:solidFill>
          <a:ln w="12700">
            <a:solidFill>
              <a:srgbClr val="2B5BAE"/>
            </a:solidFill>
            <a:prstDash val="solid"/>
          </a:ln>
        </p:spPr>
      </p:sp>
      <p:sp>
        <p:nvSpPr>
          <p:cNvPr id="15" name="Shape 12"/>
          <p:cNvSpPr/>
          <p:nvPr/>
        </p:nvSpPr>
        <p:spPr>
          <a:xfrm>
            <a:off x="1690497" y="4334542"/>
            <a:ext cx="641223" cy="100298"/>
          </a:xfrm>
          <a:prstGeom prst="rect">
            <a:avLst/>
          </a:prstGeom>
          <a:solidFill>
            <a:srgbClr val="C8A83C"/>
          </a:solidFill>
          <a:ln w="12700">
            <a:solidFill>
              <a:srgbClr val="C8A83C"/>
            </a:solidFill>
            <a:prstDash val="solid"/>
          </a:ln>
        </p:spPr>
      </p:sp>
      <p:sp>
        <p:nvSpPr>
          <p:cNvPr id="16" name="Text 13"/>
          <p:cNvSpPr/>
          <p:nvPr/>
        </p:nvSpPr>
        <p:spPr>
          <a:xfrm>
            <a:off x="548640" y="4498848"/>
            <a:ext cx="1343025" cy="201168"/>
          </a:xfrm>
          <a:prstGeom prst="rect">
            <a:avLst/>
          </a:prstGeom>
          <a:noFill/>
          <a:ln/>
        </p:spPr>
        <p:txBody>
          <a:bodyPr wrap="square" lIns="0" tIns="0" rIns="0" bIns="0" rtlCol="0" anchor="ctr"/>
          <a:lstStyle/>
          <a:p>
            <a:pPr algn="ctr" indent="0" marL="0">
              <a:buNone/>
            </a:pPr>
            <a:r>
              <a:rPr lang="en-US" sz="700" dirty="0">
                <a:solidFill>
                  <a:srgbClr val="8898AA"/>
                </a:solidFill>
              </a:rPr>
              <a:t>2021</a:t>
            </a:r>
            <a:endParaRPr lang="en-US" sz="700" dirty="0"/>
          </a:p>
        </p:txBody>
      </p:sp>
      <p:sp>
        <p:nvSpPr>
          <p:cNvPr id="17" name="Shape 14"/>
          <p:cNvSpPr/>
          <p:nvPr/>
        </p:nvSpPr>
        <p:spPr>
          <a:xfrm>
            <a:off x="2537460" y="3353603"/>
            <a:ext cx="1068705" cy="1081237"/>
          </a:xfrm>
          <a:prstGeom prst="rect">
            <a:avLst/>
          </a:prstGeom>
          <a:solidFill>
            <a:srgbClr val="2B5BAE"/>
          </a:solidFill>
          <a:ln w="12700">
            <a:solidFill>
              <a:srgbClr val="2B5BAE"/>
            </a:solidFill>
            <a:prstDash val="solid"/>
          </a:ln>
        </p:spPr>
      </p:sp>
      <p:sp>
        <p:nvSpPr>
          <p:cNvPr id="18" name="Shape 15"/>
          <p:cNvSpPr/>
          <p:nvPr/>
        </p:nvSpPr>
        <p:spPr>
          <a:xfrm>
            <a:off x="3633597" y="4309192"/>
            <a:ext cx="641223" cy="125648"/>
          </a:xfrm>
          <a:prstGeom prst="rect">
            <a:avLst/>
          </a:prstGeom>
          <a:solidFill>
            <a:srgbClr val="C8A83C"/>
          </a:solidFill>
          <a:ln w="12700">
            <a:solidFill>
              <a:srgbClr val="C8A83C"/>
            </a:solidFill>
            <a:prstDash val="solid"/>
          </a:ln>
        </p:spPr>
      </p:sp>
      <p:sp>
        <p:nvSpPr>
          <p:cNvPr id="19" name="Text 16"/>
          <p:cNvSpPr/>
          <p:nvPr/>
        </p:nvSpPr>
        <p:spPr>
          <a:xfrm>
            <a:off x="2491740" y="4498848"/>
            <a:ext cx="1343025" cy="201168"/>
          </a:xfrm>
          <a:prstGeom prst="rect">
            <a:avLst/>
          </a:prstGeom>
          <a:noFill/>
          <a:ln/>
        </p:spPr>
        <p:txBody>
          <a:bodyPr wrap="square" lIns="0" tIns="0" rIns="0" bIns="0" rtlCol="0" anchor="ctr"/>
          <a:lstStyle/>
          <a:p>
            <a:pPr algn="ctr" indent="0" marL="0">
              <a:buNone/>
            </a:pPr>
            <a:r>
              <a:rPr lang="en-US" sz="700" dirty="0">
                <a:solidFill>
                  <a:srgbClr val="8898AA"/>
                </a:solidFill>
              </a:rPr>
              <a:t>2022</a:t>
            </a:r>
            <a:endParaRPr lang="en-US" sz="700" dirty="0"/>
          </a:p>
        </p:txBody>
      </p:sp>
      <p:sp>
        <p:nvSpPr>
          <p:cNvPr id="20" name="Shape 17"/>
          <p:cNvSpPr/>
          <p:nvPr/>
        </p:nvSpPr>
        <p:spPr>
          <a:xfrm>
            <a:off x="4480560" y="3262122"/>
            <a:ext cx="1068705" cy="1172718"/>
          </a:xfrm>
          <a:prstGeom prst="rect">
            <a:avLst/>
          </a:prstGeom>
          <a:solidFill>
            <a:srgbClr val="2B5BAE"/>
          </a:solidFill>
          <a:ln w="12700">
            <a:solidFill>
              <a:srgbClr val="2B5BAE"/>
            </a:solidFill>
            <a:prstDash val="solid"/>
          </a:ln>
        </p:spPr>
      </p:sp>
      <p:sp>
        <p:nvSpPr>
          <p:cNvPr id="21" name="Shape 18"/>
          <p:cNvSpPr/>
          <p:nvPr/>
        </p:nvSpPr>
        <p:spPr>
          <a:xfrm>
            <a:off x="5576697" y="4293761"/>
            <a:ext cx="641223" cy="141079"/>
          </a:xfrm>
          <a:prstGeom prst="rect">
            <a:avLst/>
          </a:prstGeom>
          <a:solidFill>
            <a:srgbClr val="C8A83C"/>
          </a:solidFill>
          <a:ln w="12700">
            <a:solidFill>
              <a:srgbClr val="C8A83C"/>
            </a:solidFill>
            <a:prstDash val="solid"/>
          </a:ln>
        </p:spPr>
      </p:sp>
      <p:sp>
        <p:nvSpPr>
          <p:cNvPr id="22" name="Text 19"/>
          <p:cNvSpPr/>
          <p:nvPr/>
        </p:nvSpPr>
        <p:spPr>
          <a:xfrm>
            <a:off x="4434840" y="4498848"/>
            <a:ext cx="1343025" cy="201168"/>
          </a:xfrm>
          <a:prstGeom prst="rect">
            <a:avLst/>
          </a:prstGeom>
          <a:noFill/>
          <a:ln/>
        </p:spPr>
        <p:txBody>
          <a:bodyPr wrap="square" lIns="0" tIns="0" rIns="0" bIns="0" rtlCol="0" anchor="ctr"/>
          <a:lstStyle/>
          <a:p>
            <a:pPr algn="ctr" indent="0" marL="0">
              <a:buNone/>
            </a:pPr>
            <a:r>
              <a:rPr lang="en-US" sz="700" dirty="0">
                <a:solidFill>
                  <a:srgbClr val="8898AA"/>
                </a:solidFill>
              </a:rPr>
              <a:t>2023</a:t>
            </a:r>
            <a:endParaRPr lang="en-US" sz="700" dirty="0"/>
          </a:p>
        </p:txBody>
      </p:sp>
      <p:sp>
        <p:nvSpPr>
          <p:cNvPr id="23" name="Shape 20"/>
          <p:cNvSpPr/>
          <p:nvPr/>
        </p:nvSpPr>
        <p:spPr>
          <a:xfrm>
            <a:off x="6423660" y="3200400"/>
            <a:ext cx="1068705" cy="1234440"/>
          </a:xfrm>
          <a:prstGeom prst="rect">
            <a:avLst/>
          </a:prstGeom>
          <a:solidFill>
            <a:srgbClr val="2B5BAE"/>
          </a:solidFill>
          <a:ln w="12700">
            <a:solidFill>
              <a:srgbClr val="2B5BAE"/>
            </a:solidFill>
            <a:prstDash val="solid"/>
          </a:ln>
        </p:spPr>
      </p:sp>
      <p:sp>
        <p:nvSpPr>
          <p:cNvPr id="24" name="Shape 21"/>
          <p:cNvSpPr/>
          <p:nvPr/>
        </p:nvSpPr>
        <p:spPr>
          <a:xfrm>
            <a:off x="7519797" y="4280535"/>
            <a:ext cx="641223" cy="154305"/>
          </a:xfrm>
          <a:prstGeom prst="rect">
            <a:avLst/>
          </a:prstGeom>
          <a:solidFill>
            <a:srgbClr val="C8A83C"/>
          </a:solidFill>
          <a:ln w="12700">
            <a:solidFill>
              <a:srgbClr val="C8A83C"/>
            </a:solidFill>
            <a:prstDash val="solid"/>
          </a:ln>
        </p:spPr>
      </p:sp>
      <p:sp>
        <p:nvSpPr>
          <p:cNvPr id="25" name="Text 22"/>
          <p:cNvSpPr/>
          <p:nvPr/>
        </p:nvSpPr>
        <p:spPr>
          <a:xfrm>
            <a:off x="6377940" y="4498848"/>
            <a:ext cx="1343025" cy="201168"/>
          </a:xfrm>
          <a:prstGeom prst="rect">
            <a:avLst/>
          </a:prstGeom>
          <a:noFill/>
          <a:ln/>
        </p:spPr>
        <p:txBody>
          <a:bodyPr wrap="square" lIns="0" tIns="0" rIns="0" bIns="0" rtlCol="0" anchor="ctr"/>
          <a:lstStyle/>
          <a:p>
            <a:pPr algn="ctr" indent="0" marL="0">
              <a:buNone/>
            </a:pPr>
            <a:r>
              <a:rPr lang="en-US" sz="700" dirty="0">
                <a:solidFill>
                  <a:srgbClr val="8898AA"/>
                </a:solidFill>
              </a:rPr>
              <a:t>LTM Apr'24</a:t>
            </a:r>
            <a:endParaRPr lang="en-US" sz="700" dirty="0"/>
          </a:p>
        </p:txBody>
      </p:sp>
      <p:sp>
        <p:nvSpPr>
          <p:cNvPr id="26" name="Text 23"/>
          <p:cNvSpPr/>
          <p:nvPr/>
        </p:nvSpPr>
        <p:spPr>
          <a:xfrm>
            <a:off x="6583680" y="4526280"/>
            <a:ext cx="1188720" cy="201168"/>
          </a:xfrm>
          <a:prstGeom prst="rect">
            <a:avLst/>
          </a:prstGeom>
          <a:noFill/>
          <a:ln/>
        </p:spPr>
        <p:txBody>
          <a:bodyPr wrap="square" lIns="0" tIns="0" rIns="0" bIns="0" rtlCol="0" anchor="ctr"/>
          <a:lstStyle/>
          <a:p>
            <a:pPr indent="0" marL="0">
              <a:buNone/>
            </a:pPr>
            <a:r>
              <a:rPr lang="en-US" sz="700" dirty="0">
                <a:solidFill>
                  <a:srgbClr val="2B5BAE"/>
                </a:solidFill>
              </a:rPr>
              <a:t>■ Revenue</a:t>
            </a:r>
            <a:endParaRPr lang="en-US" sz="700" dirty="0"/>
          </a:p>
        </p:txBody>
      </p:sp>
      <p:sp>
        <p:nvSpPr>
          <p:cNvPr id="27" name="Text 24"/>
          <p:cNvSpPr/>
          <p:nvPr/>
        </p:nvSpPr>
        <p:spPr>
          <a:xfrm>
            <a:off x="7680960" y="4526280"/>
            <a:ext cx="1097280" cy="201168"/>
          </a:xfrm>
          <a:prstGeom prst="rect">
            <a:avLst/>
          </a:prstGeom>
          <a:noFill/>
          <a:ln/>
        </p:spPr>
        <p:txBody>
          <a:bodyPr wrap="square" lIns="0" tIns="0" rIns="0" bIns="0" rtlCol="0" anchor="ctr"/>
          <a:lstStyle/>
          <a:p>
            <a:pPr indent="0" marL="0">
              <a:buNone/>
            </a:pPr>
            <a:r>
              <a:rPr lang="en-US" sz="700" dirty="0">
                <a:solidFill>
                  <a:srgbClr val="C8A83C"/>
                </a:solidFill>
              </a:rPr>
              <a:t>■ EBITDA</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Financial Projections</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12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Financial Projections</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Management Base Case ($M unless noted)</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8412480" cy="1280160"/>
        </p:xfrm>
        <a:graphic>
          <a:graphicData uri="http://schemas.openxmlformats.org/drawingml/2006/table">
            <a:tbl>
              <a:tblPr/>
              <a:tblGrid>
                <a:gridCol w="2103120"/>
                <a:gridCol w="2103120"/>
                <a:gridCol w="2103120"/>
                <a:gridCol w="2103120"/>
              </a:tblGrid>
              <a:tr h="320040">
                <a:tc>
                  <a:txBody>
                    <a:bodyPr/>
                    <a:lstStyle/>
                    <a:p>
                      <a:pPr indent="0" marL="0">
                        <a:buNone/>
                      </a:pPr>
                      <a:r>
                        <a:rPr lang="en-US" sz="900" b="1" dirty="0">
                          <a:solidFill>
                            <a:srgbClr val="FFFFFF"/>
                          </a:solidFill>
                        </a:rPr>
                        <a:t>($M)</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2025E</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2026E</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2027E</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320040">
                <a:tc>
                  <a:txBody>
                    <a:bodyPr/>
                    <a:lstStyle/>
                    <a:p>
                      <a:pPr indent="0" marL="0">
                        <a:buNone/>
                      </a:pPr>
                      <a:r>
                        <a:rPr lang="en-US" sz="900" b="1" dirty="0">
                          <a:solidFill>
                            <a:srgbClr val="1B2D55"/>
                          </a:solidFill>
                        </a:rPr>
                        <a:t>Revenue</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126.0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143.5</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164.0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20040">
                <a:tc>
                  <a:txBody>
                    <a:bodyPr/>
                    <a:lstStyle/>
                    <a:p>
                      <a:pPr indent="0" marL="0">
                        <a:buNone/>
                      </a:pPr>
                      <a:r>
                        <a:rPr lang="en-US" sz="900" b="1" dirty="0">
                          <a:solidFill>
                            <a:srgbClr val="1B2D55"/>
                          </a:solidFill>
                        </a:rPr>
                        <a:t>Adj. EBITDA</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16.8</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20.4</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24.6</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20040">
                <a:tc>
                  <a:txBody>
                    <a:bodyPr/>
                    <a:lstStyle/>
                    <a:p>
                      <a:pPr indent="0" marL="0">
                        <a:buNone/>
                      </a:pPr>
                      <a:r>
                        <a:rPr lang="en-US" sz="900" b="1" dirty="0">
                          <a:solidFill>
                            <a:srgbClr val="1B2D55"/>
                          </a:solidFill>
                        </a:rPr>
                        <a:t>EBITDA Margin (%)</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13.3%</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14.2%</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15.0%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bl>
          </a:graphicData>
        </a:graphic>
      </p:graphicFrame>
      <p:sp>
        <p:nvSpPr>
          <p:cNvPr id="12" name="Shape 9"/>
          <p:cNvSpPr/>
          <p:nvPr/>
        </p:nvSpPr>
        <p:spPr>
          <a:xfrm>
            <a:off x="457200" y="2423160"/>
            <a:ext cx="8229600" cy="0"/>
          </a:xfrm>
          <a:prstGeom prst="line">
            <a:avLst/>
          </a:prstGeom>
          <a:noFill/>
          <a:ln w="9525">
            <a:solidFill>
              <a:srgbClr val="D0D8E4"/>
            </a:solidFill>
            <a:prstDash val="solid"/>
          </a:ln>
        </p:spPr>
      </p:sp>
      <p:sp>
        <p:nvSpPr>
          <p:cNvPr id="13" name="Text 10"/>
          <p:cNvSpPr/>
          <p:nvPr/>
        </p:nvSpPr>
        <p:spPr>
          <a:xfrm>
            <a:off x="457200" y="2487168"/>
            <a:ext cx="8229600" cy="256032"/>
          </a:xfrm>
          <a:prstGeom prst="rect">
            <a:avLst/>
          </a:prstGeom>
          <a:noFill/>
          <a:ln/>
        </p:spPr>
        <p:txBody>
          <a:bodyPr wrap="square" lIns="0" tIns="0" rIns="0" bIns="0" rtlCol="0" anchor="ctr"/>
          <a:lstStyle/>
          <a:p>
            <a:pPr indent="0" marL="0">
              <a:buNone/>
            </a:pPr>
            <a:r>
              <a:rPr lang="en-US" sz="900" b="1" dirty="0">
                <a:solidFill>
                  <a:srgbClr val="1B2D55"/>
                </a:solidFill>
              </a:rPr>
              <a:t>Key Projection Assumptions</a:t>
            </a:r>
            <a:endParaRPr lang="en-US" sz="900" dirty="0"/>
          </a:p>
        </p:txBody>
      </p:sp>
      <p:sp>
        <p:nvSpPr>
          <p:cNvPr id="14" name="Shape 11"/>
          <p:cNvSpPr/>
          <p:nvPr/>
        </p:nvSpPr>
        <p:spPr>
          <a:xfrm>
            <a:off x="457200" y="2788920"/>
            <a:ext cx="54864" cy="411480"/>
          </a:xfrm>
          <a:prstGeom prst="rect">
            <a:avLst/>
          </a:prstGeom>
          <a:solidFill>
            <a:srgbClr val="C8A83C"/>
          </a:solidFill>
          <a:ln w="12700">
            <a:solidFill>
              <a:srgbClr val="C8A83C"/>
            </a:solidFill>
            <a:prstDash val="solid"/>
          </a:ln>
        </p:spPr>
      </p:sp>
      <p:sp>
        <p:nvSpPr>
          <p:cNvPr id="15" name="Text 12"/>
          <p:cNvSpPr/>
          <p:nvPr/>
        </p:nvSpPr>
        <p:spPr>
          <a:xfrm>
            <a:off x="621792" y="2816352"/>
            <a:ext cx="8092440" cy="411480"/>
          </a:xfrm>
          <a:prstGeom prst="rect">
            <a:avLst/>
          </a:prstGeom>
          <a:noFill/>
          <a:ln/>
        </p:spPr>
        <p:txBody>
          <a:bodyPr wrap="square" lIns="0" tIns="0" rIns="0" bIns="0" rtlCol="0" anchor="ctr"/>
          <a:lstStyle/>
          <a:p>
            <a:pPr indent="0" marL="0">
              <a:buNone/>
            </a:pPr>
            <a:r>
              <a:rPr lang="en-US" sz="800" dirty="0">
                <a:solidFill>
                  <a:srgbClr val="4A5568"/>
                </a:solidFill>
              </a:rPr>
              <a:t>Ridgeline targets weekend campers and trail runners (ASP $95); Summit Series serves thru-hikers and mountaineers (ASP $285)</a:t>
            </a:r>
            <a:endParaRPr lang="en-US" sz="800" dirty="0"/>
          </a:p>
        </p:txBody>
      </p:sp>
      <p:sp>
        <p:nvSpPr>
          <p:cNvPr id="16" name="Shape 13"/>
          <p:cNvSpPr/>
          <p:nvPr/>
        </p:nvSpPr>
        <p:spPr>
          <a:xfrm>
            <a:off x="457200" y="3319272"/>
            <a:ext cx="54864" cy="411480"/>
          </a:xfrm>
          <a:prstGeom prst="rect">
            <a:avLst/>
          </a:prstGeom>
          <a:solidFill>
            <a:srgbClr val="C8A83C"/>
          </a:solidFill>
          <a:ln w="12700">
            <a:solidFill>
              <a:srgbClr val="C8A83C"/>
            </a:solidFill>
            <a:prstDash val="solid"/>
          </a:ln>
        </p:spPr>
      </p:sp>
      <p:sp>
        <p:nvSpPr>
          <p:cNvPr id="17" name="Text 14"/>
          <p:cNvSpPr/>
          <p:nvPr/>
        </p:nvSpPr>
        <p:spPr>
          <a:xfrm>
            <a:off x="621792" y="3346704"/>
            <a:ext cx="8092440" cy="411480"/>
          </a:xfrm>
          <a:prstGeom prst="rect">
            <a:avLst/>
          </a:prstGeom>
          <a:noFill/>
          <a:ln/>
        </p:spPr>
        <p:txBody>
          <a:bodyPr wrap="square" lIns="0" tIns="0" rIns="0" bIns="0" rtlCol="0" anchor="ctr"/>
          <a:lstStyle/>
          <a:p>
            <a:pPr indent="0" marL="0">
              <a:buNone/>
            </a:pPr>
            <a:r>
              <a:rPr lang="en-US" sz="800" dirty="0">
                <a:solidFill>
                  <a:srgbClr val="4A5568"/>
                </a:solidFill>
              </a:rPr>
              <a:t>DTC e-commerce grew from 29% to 44% of revenue over 3 years; gross margin 15pp higher than wholesale channel</a:t>
            </a:r>
            <a:endParaRPr lang="en-US" sz="800" dirty="0"/>
          </a:p>
        </p:txBody>
      </p:sp>
      <p:sp>
        <p:nvSpPr>
          <p:cNvPr id="18" name="Shape 15"/>
          <p:cNvSpPr/>
          <p:nvPr/>
        </p:nvSpPr>
        <p:spPr>
          <a:xfrm>
            <a:off x="457200" y="3849624"/>
            <a:ext cx="54864" cy="411480"/>
          </a:xfrm>
          <a:prstGeom prst="rect">
            <a:avLst/>
          </a:prstGeom>
          <a:solidFill>
            <a:srgbClr val="C8A83C"/>
          </a:solidFill>
          <a:ln w="12700">
            <a:solidFill>
              <a:srgbClr val="C8A83C"/>
            </a:solidFill>
            <a:prstDash val="solid"/>
          </a:ln>
        </p:spPr>
      </p:sp>
      <p:sp>
        <p:nvSpPr>
          <p:cNvPr id="19" name="Text 16"/>
          <p:cNvSpPr/>
          <p:nvPr/>
        </p:nvSpPr>
        <p:spPr>
          <a:xfrm>
            <a:off x="621792" y="3877056"/>
            <a:ext cx="8092440" cy="411480"/>
          </a:xfrm>
          <a:prstGeom prst="rect">
            <a:avLst/>
          </a:prstGeom>
          <a:noFill/>
          <a:ln/>
        </p:spPr>
        <p:txBody>
          <a:bodyPr wrap="square" lIns="0" tIns="0" rIns="0" bIns="0" rtlCol="0" anchor="ctr"/>
          <a:lstStyle/>
          <a:p>
            <a:pPr indent="0" marL="0">
              <a:buNone/>
            </a:pPr>
            <a:r>
              <a:rPr lang="en-US" sz="800" dirty="0">
                <a:solidFill>
                  <a:srgbClr val="4A5568"/>
                </a:solidFill>
              </a:rPr>
              <a:t>AeroShield™ fabric technology (2 patents): 22% lighter than competitive Dyneema composites at comparable strength; used in Summit Series shelters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Capital Structure</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13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Indicative Capital Structure &amp; Valuation</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($M unless otherwise noted)</a:t>
            </a:r>
            <a:endParaRPr lang="en-US" sz="950" dirty="0"/>
          </a:p>
        </p:txBody>
      </p:sp>
      <p:sp>
        <p:nvSpPr>
          <p:cNvPr id="11" name="Text 9"/>
          <p:cNvSpPr/>
          <p:nvPr/>
        </p:nvSpPr>
        <p:spPr>
          <a:xfrm>
            <a:off x="365760" y="1024128"/>
            <a:ext cx="4114800" cy="274320"/>
          </a:xfrm>
          <a:prstGeom prst="rect">
            <a:avLst/>
          </a:prstGeom>
          <a:noFill/>
          <a:ln/>
        </p:spPr>
        <p:txBody>
          <a:bodyPr wrap="square" lIns="0" tIns="0" rIns="0" bIns="0" rtlCol="0" anchor="ctr"/>
          <a:lstStyle/>
          <a:p>
            <a:pPr indent="0" marL="0">
              <a:buNone/>
            </a:pPr>
            <a:r>
              <a:rPr lang="en-US" sz="900" b="1" dirty="0">
                <a:solidFill>
                  <a:srgbClr val="1B2D55"/>
                </a:solidFill>
              </a:rPr>
              <a:t>Indicative Sources &amp; Uses</a:t>
            </a:r>
            <a:endParaRPr lang="en-US" sz="900" dirty="0"/>
          </a:p>
        </p:txBody>
      </p:sp>
      <p:sp>
        <p:nvSpPr>
          <p:cNvPr id="12" name="Shape 10"/>
          <p:cNvSpPr/>
          <p:nvPr/>
        </p:nvSpPr>
        <p:spPr>
          <a:xfrm>
            <a:off x="365760" y="1353312"/>
            <a:ext cx="4114800" cy="411480"/>
          </a:xfrm>
          <a:prstGeom prst="rect">
            <a:avLst/>
          </a:prstGeom>
          <a:solidFill>
            <a:srgbClr val="1B2D55"/>
          </a:solidFill>
          <a:ln w="12700">
            <a:solidFill>
              <a:srgbClr val="1B2D55"/>
            </a:solidFill>
            <a:prstDash val="solid"/>
          </a:ln>
        </p:spPr>
      </p:sp>
      <p:sp>
        <p:nvSpPr>
          <p:cNvPr id="13" name="Text 11"/>
          <p:cNvSpPr/>
          <p:nvPr/>
        </p:nvSpPr>
        <p:spPr>
          <a:xfrm>
            <a:off x="457200" y="1426464"/>
            <a:ext cx="2194560" cy="265176"/>
          </a:xfrm>
          <a:prstGeom prst="rect">
            <a:avLst/>
          </a:prstGeom>
          <a:noFill/>
          <a:ln/>
        </p:spPr>
        <p:txBody>
          <a:bodyPr wrap="square" lIns="0" tIns="0" rIns="0" bIns="0" rtlCol="0" anchor="ctr"/>
          <a:lstStyle/>
          <a:p>
            <a:pPr indent="0" marL="0">
              <a:buNone/>
            </a:pPr>
            <a:r>
              <a:rPr lang="en-US" sz="800" b="1" dirty="0">
                <a:solidFill>
                  <a:srgbClr val="FFFFFF"/>
                </a:solidFill>
              </a:rPr>
              <a:t>Sources</a:t>
            </a:r>
            <a:endParaRPr lang="en-US" sz="800" dirty="0"/>
          </a:p>
        </p:txBody>
      </p:sp>
      <p:sp>
        <p:nvSpPr>
          <p:cNvPr id="14" name="Text 12"/>
          <p:cNvSpPr/>
          <p:nvPr/>
        </p:nvSpPr>
        <p:spPr>
          <a:xfrm>
            <a:off x="2651760" y="1426464"/>
            <a:ext cx="914400" cy="265176"/>
          </a:xfrm>
          <a:prstGeom prst="rect">
            <a:avLst/>
          </a:prstGeom>
          <a:noFill/>
          <a:ln/>
        </p:spPr>
        <p:txBody>
          <a:bodyPr wrap="square" lIns="0" tIns="0" rIns="0" bIns="0" rtlCol="0" anchor="ctr"/>
          <a:lstStyle/>
          <a:p>
            <a:pPr algn="r" indent="0" marL="0">
              <a:buNone/>
            </a:pPr>
            <a:r>
              <a:rPr lang="en-US" sz="800" b="1" dirty="0">
                <a:solidFill>
                  <a:srgbClr val="FFFFFF"/>
                </a:solidFill>
              </a:rPr>
              <a:t>$M</a:t>
            </a:r>
            <a:endParaRPr lang="en-US" sz="800" dirty="0"/>
          </a:p>
        </p:txBody>
      </p:sp>
      <p:sp>
        <p:nvSpPr>
          <p:cNvPr id="15" name="Text 13"/>
          <p:cNvSpPr/>
          <p:nvPr/>
        </p:nvSpPr>
        <p:spPr>
          <a:xfrm>
            <a:off x="3566160" y="1426464"/>
            <a:ext cx="9144" cy="265176"/>
          </a:xfrm>
          <a:prstGeom prst="rect">
            <a:avLst/>
          </a:prstGeom>
          <a:noFill/>
          <a:ln/>
        </p:spPr>
        <p:txBody>
          <a:bodyPr wrap="square" lIns="0" tIns="0" rIns="0" bIns="0" rtlCol="0" anchor="ctr"/>
          <a:lstStyle/>
          <a:p>
            <a:pPr indent="0" marL="0">
              <a:buNone/>
            </a:pPr>
            <a:r>
              <a:rPr lang="en-US" sz="800" dirty="0">
                <a:solidFill>
                  <a:srgbClr val="FFFFFF"/>
                </a:solidFill>
              </a:rPr>
              <a:t>Uses</a:t>
            </a:r>
            <a:endParaRPr lang="en-US" sz="800" dirty="0"/>
          </a:p>
        </p:txBody>
      </p:sp>
      <p:sp>
        <p:nvSpPr>
          <p:cNvPr id="16" name="Shape 14"/>
          <p:cNvSpPr/>
          <p:nvPr/>
        </p:nvSpPr>
        <p:spPr>
          <a:xfrm>
            <a:off x="365760" y="1764792"/>
            <a:ext cx="4114800" cy="411480"/>
          </a:xfrm>
          <a:prstGeom prst="rect">
            <a:avLst/>
          </a:prstGeom>
          <a:solidFill>
            <a:srgbClr val="F4F6FA"/>
          </a:solidFill>
          <a:ln w="12700">
            <a:solidFill>
              <a:srgbClr val="D0D8E4"/>
            </a:solidFill>
            <a:prstDash val="solid"/>
          </a:ln>
        </p:spPr>
      </p:sp>
      <p:sp>
        <p:nvSpPr>
          <p:cNvPr id="17" name="Text 15"/>
          <p:cNvSpPr/>
          <p:nvPr/>
        </p:nvSpPr>
        <p:spPr>
          <a:xfrm>
            <a:off x="457200" y="1837944"/>
            <a:ext cx="2194560" cy="265176"/>
          </a:xfrm>
          <a:prstGeom prst="rect">
            <a:avLst/>
          </a:prstGeom>
          <a:noFill/>
          <a:ln/>
        </p:spPr>
        <p:txBody>
          <a:bodyPr wrap="square" lIns="0" tIns="0" rIns="0" bIns="0" rtlCol="0" anchor="ctr"/>
          <a:lstStyle/>
          <a:p>
            <a:pPr indent="0" marL="0">
              <a:buNone/>
            </a:pPr>
            <a:r>
              <a:rPr lang="en-US" sz="800" dirty="0">
                <a:solidFill>
                  <a:srgbClr val="1B2D55"/>
                </a:solidFill>
              </a:rPr>
              <a:t>New First Lien Term Loan</a:t>
            </a:r>
            <a:endParaRPr lang="en-US" sz="800" dirty="0"/>
          </a:p>
        </p:txBody>
      </p:sp>
      <p:sp>
        <p:nvSpPr>
          <p:cNvPr id="18" name="Text 16"/>
          <p:cNvSpPr/>
          <p:nvPr/>
        </p:nvSpPr>
        <p:spPr>
          <a:xfrm>
            <a:off x="2651760" y="1837944"/>
            <a:ext cx="914400" cy="265176"/>
          </a:xfrm>
          <a:prstGeom prst="rect">
            <a:avLst/>
          </a:prstGeom>
          <a:noFill/>
          <a:ln/>
        </p:spPr>
        <p:txBody>
          <a:bodyPr wrap="square" lIns="0" tIns="0" rIns="0" bIns="0" rtlCol="0" anchor="ctr"/>
          <a:lstStyle/>
          <a:p>
            <a:pPr algn="r" indent="0" marL="0">
              <a:buNone/>
            </a:pPr>
            <a:r>
              <a:rPr lang="en-US" sz="800" dirty="0">
                <a:solidFill>
                  <a:srgbClr val="1B2D55"/>
                </a:solidFill>
              </a:rPr>
              <a:t>85.0</a:t>
            </a:r>
            <a:endParaRPr lang="en-US" sz="800" dirty="0"/>
          </a:p>
        </p:txBody>
      </p:sp>
      <p:sp>
        <p:nvSpPr>
          <p:cNvPr id="19" name="Text 17"/>
          <p:cNvSpPr/>
          <p:nvPr/>
        </p:nvSpPr>
        <p:spPr>
          <a:xfrm>
            <a:off x="3566160" y="1837944"/>
            <a:ext cx="9144" cy="265176"/>
          </a:xfrm>
          <a:prstGeom prst="rect">
            <a:avLst/>
          </a:prstGeom>
          <a:noFill/>
          <a:ln/>
        </p:spPr>
        <p:txBody>
          <a:bodyPr wrap="square" lIns="0" tIns="0" rIns="0" bIns="0" rtlCol="0" anchor="ctr"/>
          <a:lstStyle/>
          <a:p>
            <a:pPr indent="0" marL="0">
              <a:buNone/>
            </a:pPr>
            <a:r>
              <a:rPr lang="en-US" sz="800" dirty="0">
                <a:solidFill>
                  <a:srgbClr val="1B2D55"/>
                </a:solidFill>
              </a:rPr>
              <a:t>Purchase Price (Equity)</a:t>
            </a:r>
            <a:endParaRPr lang="en-US" sz="800" dirty="0"/>
          </a:p>
        </p:txBody>
      </p:sp>
      <p:sp>
        <p:nvSpPr>
          <p:cNvPr id="20" name="Shape 18"/>
          <p:cNvSpPr/>
          <p:nvPr/>
        </p:nvSpPr>
        <p:spPr>
          <a:xfrm>
            <a:off x="365760" y="2176272"/>
            <a:ext cx="4114800" cy="411480"/>
          </a:xfrm>
          <a:prstGeom prst="rect">
            <a:avLst/>
          </a:prstGeom>
          <a:solidFill>
            <a:srgbClr val="FFFFFF"/>
          </a:solidFill>
          <a:ln w="12700">
            <a:solidFill>
              <a:srgbClr val="D0D8E4"/>
            </a:solidFill>
            <a:prstDash val="solid"/>
          </a:ln>
        </p:spPr>
      </p:sp>
      <p:sp>
        <p:nvSpPr>
          <p:cNvPr id="21" name="Text 19"/>
          <p:cNvSpPr/>
          <p:nvPr/>
        </p:nvSpPr>
        <p:spPr>
          <a:xfrm>
            <a:off x="457200" y="2249424"/>
            <a:ext cx="2194560" cy="265176"/>
          </a:xfrm>
          <a:prstGeom prst="rect">
            <a:avLst/>
          </a:prstGeom>
          <a:noFill/>
          <a:ln/>
        </p:spPr>
        <p:txBody>
          <a:bodyPr wrap="square" lIns="0" tIns="0" rIns="0" bIns="0" rtlCol="0" anchor="ctr"/>
          <a:lstStyle/>
          <a:p>
            <a:pPr indent="0" marL="0">
              <a:buNone/>
            </a:pPr>
            <a:r>
              <a:rPr lang="en-US" sz="800" dirty="0">
                <a:solidFill>
                  <a:srgbClr val="1B2D55"/>
                </a:solidFill>
              </a:rPr>
              <a:t>Sponsor Equity</a:t>
            </a:r>
            <a:endParaRPr lang="en-US" sz="800" dirty="0"/>
          </a:p>
        </p:txBody>
      </p:sp>
      <p:sp>
        <p:nvSpPr>
          <p:cNvPr id="22" name="Text 20"/>
          <p:cNvSpPr/>
          <p:nvPr/>
        </p:nvSpPr>
        <p:spPr>
          <a:xfrm>
            <a:off x="2651760" y="2249424"/>
            <a:ext cx="914400" cy="265176"/>
          </a:xfrm>
          <a:prstGeom prst="rect">
            <a:avLst/>
          </a:prstGeom>
          <a:noFill/>
          <a:ln/>
        </p:spPr>
        <p:txBody>
          <a:bodyPr wrap="square" lIns="0" tIns="0" rIns="0" bIns="0" rtlCol="0" anchor="ctr"/>
          <a:lstStyle/>
          <a:p>
            <a:pPr algn="r" indent="0" marL="0">
              <a:buNone/>
            </a:pPr>
            <a:r>
              <a:rPr lang="en-US" sz="800" dirty="0">
                <a:solidFill>
                  <a:srgbClr val="1B2D55"/>
                </a:solidFill>
              </a:rPr>
              <a:t>72.0</a:t>
            </a:r>
            <a:endParaRPr lang="en-US" sz="800" dirty="0"/>
          </a:p>
        </p:txBody>
      </p:sp>
      <p:sp>
        <p:nvSpPr>
          <p:cNvPr id="23" name="Text 21"/>
          <p:cNvSpPr/>
          <p:nvPr/>
        </p:nvSpPr>
        <p:spPr>
          <a:xfrm>
            <a:off x="3566160" y="2249424"/>
            <a:ext cx="9144" cy="265176"/>
          </a:xfrm>
          <a:prstGeom prst="rect">
            <a:avLst/>
          </a:prstGeom>
          <a:noFill/>
          <a:ln/>
        </p:spPr>
        <p:txBody>
          <a:bodyPr wrap="square" lIns="0" tIns="0" rIns="0" bIns="0" rtlCol="0" anchor="ctr"/>
          <a:lstStyle/>
          <a:p>
            <a:pPr indent="0" marL="0">
              <a:buNone/>
            </a:pPr>
            <a:r>
              <a:rPr lang="en-US" sz="800" dirty="0">
                <a:solidFill>
                  <a:srgbClr val="1B2D55"/>
                </a:solidFill>
              </a:rPr>
              <a:t>Refinance Existing Debt</a:t>
            </a:r>
            <a:endParaRPr lang="en-US" sz="800" dirty="0"/>
          </a:p>
        </p:txBody>
      </p:sp>
      <p:sp>
        <p:nvSpPr>
          <p:cNvPr id="24" name="Shape 22"/>
          <p:cNvSpPr/>
          <p:nvPr/>
        </p:nvSpPr>
        <p:spPr>
          <a:xfrm>
            <a:off x="365760" y="2587752"/>
            <a:ext cx="4114800" cy="411480"/>
          </a:xfrm>
          <a:prstGeom prst="rect">
            <a:avLst/>
          </a:prstGeom>
          <a:solidFill>
            <a:srgbClr val="F4F6FA"/>
          </a:solidFill>
          <a:ln w="12700">
            <a:solidFill>
              <a:srgbClr val="D0D8E4"/>
            </a:solidFill>
            <a:prstDash val="solid"/>
          </a:ln>
        </p:spPr>
      </p:sp>
      <p:sp>
        <p:nvSpPr>
          <p:cNvPr id="25" name="Text 23"/>
          <p:cNvSpPr/>
          <p:nvPr/>
        </p:nvSpPr>
        <p:spPr>
          <a:xfrm>
            <a:off x="457200" y="2660904"/>
            <a:ext cx="2194560" cy="265176"/>
          </a:xfrm>
          <a:prstGeom prst="rect">
            <a:avLst/>
          </a:prstGeom>
          <a:noFill/>
          <a:ln/>
        </p:spPr>
        <p:txBody>
          <a:bodyPr wrap="square" lIns="0" tIns="0" rIns="0" bIns="0" rtlCol="0" anchor="ctr"/>
          <a:lstStyle/>
          <a:p>
            <a:pPr indent="0" marL="0">
              <a:buNone/>
            </a:pPr>
            <a:r>
              <a:rPr lang="en-US" sz="800" dirty="0">
                <a:solidFill>
                  <a:srgbClr val="1B2D55"/>
                </a:solidFill>
              </a:rPr>
              <a:t>Mgmt Rollover</a:t>
            </a:r>
            <a:endParaRPr lang="en-US" sz="800" dirty="0"/>
          </a:p>
        </p:txBody>
      </p:sp>
      <p:sp>
        <p:nvSpPr>
          <p:cNvPr id="26" name="Text 24"/>
          <p:cNvSpPr/>
          <p:nvPr/>
        </p:nvSpPr>
        <p:spPr>
          <a:xfrm>
            <a:off x="2651760" y="2660904"/>
            <a:ext cx="914400" cy="265176"/>
          </a:xfrm>
          <a:prstGeom prst="rect">
            <a:avLst/>
          </a:prstGeom>
          <a:noFill/>
          <a:ln/>
        </p:spPr>
        <p:txBody>
          <a:bodyPr wrap="square" lIns="0" tIns="0" rIns="0" bIns="0" rtlCol="0" anchor="ctr"/>
          <a:lstStyle/>
          <a:p>
            <a:pPr algn="r" indent="0" marL="0">
              <a:buNone/>
            </a:pPr>
            <a:r>
              <a:rPr lang="en-US" sz="800" dirty="0">
                <a:solidFill>
                  <a:srgbClr val="1B2D55"/>
                </a:solidFill>
              </a:rPr>
              <a:t>8.5</a:t>
            </a:r>
            <a:endParaRPr lang="en-US" sz="800" dirty="0"/>
          </a:p>
        </p:txBody>
      </p:sp>
      <p:sp>
        <p:nvSpPr>
          <p:cNvPr id="27" name="Text 25"/>
          <p:cNvSpPr/>
          <p:nvPr/>
        </p:nvSpPr>
        <p:spPr>
          <a:xfrm>
            <a:off x="3566160" y="2660904"/>
            <a:ext cx="9144" cy="265176"/>
          </a:xfrm>
          <a:prstGeom prst="rect">
            <a:avLst/>
          </a:prstGeom>
          <a:noFill/>
          <a:ln/>
        </p:spPr>
        <p:txBody>
          <a:bodyPr wrap="square" lIns="0" tIns="0" rIns="0" bIns="0" rtlCol="0" anchor="ctr"/>
          <a:lstStyle/>
          <a:p>
            <a:pPr indent="0" marL="0">
              <a:buNone/>
            </a:pPr>
            <a:r>
              <a:rPr lang="en-US" sz="800" dirty="0">
                <a:solidFill>
                  <a:srgbClr val="1B2D55"/>
                </a:solidFill>
              </a:rPr>
              <a:t>Transaction Fees &amp; Expenses</a:t>
            </a:r>
            <a:endParaRPr lang="en-US" sz="800" dirty="0"/>
          </a:p>
        </p:txBody>
      </p:sp>
      <p:sp>
        <p:nvSpPr>
          <p:cNvPr id="28" name="Shape 26"/>
          <p:cNvSpPr/>
          <p:nvPr/>
        </p:nvSpPr>
        <p:spPr>
          <a:xfrm>
            <a:off x="365760" y="2999232"/>
            <a:ext cx="4114800" cy="411480"/>
          </a:xfrm>
          <a:prstGeom prst="rect">
            <a:avLst/>
          </a:prstGeom>
          <a:solidFill>
            <a:srgbClr val="E8EEF6"/>
          </a:solidFill>
          <a:ln w="12700">
            <a:solidFill>
              <a:srgbClr val="D0D8E4"/>
            </a:solidFill>
            <a:prstDash val="solid"/>
          </a:ln>
        </p:spPr>
      </p:sp>
      <p:sp>
        <p:nvSpPr>
          <p:cNvPr id="29" name="Text 27"/>
          <p:cNvSpPr/>
          <p:nvPr/>
        </p:nvSpPr>
        <p:spPr>
          <a:xfrm>
            <a:off x="457200" y="3072384"/>
            <a:ext cx="2194560" cy="265176"/>
          </a:xfrm>
          <a:prstGeom prst="rect">
            <a:avLst/>
          </a:prstGeom>
          <a:noFill/>
          <a:ln/>
        </p:spPr>
        <p:txBody>
          <a:bodyPr wrap="square" lIns="0" tIns="0" rIns="0" bIns="0" rtlCol="0" anchor="ctr"/>
          <a:lstStyle/>
          <a:p>
            <a:pPr indent="0" marL="0">
              <a:buNone/>
            </a:pPr>
            <a:r>
              <a:rPr lang="en-US" sz="800" b="1" dirty="0">
                <a:solidFill>
                  <a:srgbClr val="FFFFFF"/>
                </a:solidFill>
              </a:rPr>
              <a:t>Total Sources</a:t>
            </a:r>
            <a:endParaRPr lang="en-US" sz="800" dirty="0"/>
          </a:p>
        </p:txBody>
      </p:sp>
      <p:sp>
        <p:nvSpPr>
          <p:cNvPr id="30" name="Text 28"/>
          <p:cNvSpPr/>
          <p:nvPr/>
        </p:nvSpPr>
        <p:spPr>
          <a:xfrm>
            <a:off x="2651760" y="3072384"/>
            <a:ext cx="914400" cy="265176"/>
          </a:xfrm>
          <a:prstGeom prst="rect">
            <a:avLst/>
          </a:prstGeom>
          <a:noFill/>
          <a:ln/>
        </p:spPr>
        <p:txBody>
          <a:bodyPr wrap="square" lIns="0" tIns="0" rIns="0" bIns="0" rtlCol="0" anchor="ctr"/>
          <a:lstStyle/>
          <a:p>
            <a:pPr algn="r" indent="0" marL="0">
              <a:buNone/>
            </a:pPr>
            <a:r>
              <a:rPr lang="en-US" sz="800" b="1" dirty="0">
                <a:solidFill>
                  <a:srgbClr val="FFFFFF"/>
                </a:solidFill>
              </a:rPr>
              <a:t>165.5</a:t>
            </a:r>
            <a:endParaRPr lang="en-US" sz="800" dirty="0"/>
          </a:p>
        </p:txBody>
      </p:sp>
      <p:sp>
        <p:nvSpPr>
          <p:cNvPr id="31" name="Text 29"/>
          <p:cNvSpPr/>
          <p:nvPr/>
        </p:nvSpPr>
        <p:spPr>
          <a:xfrm>
            <a:off x="3566160" y="3072384"/>
            <a:ext cx="9144" cy="265176"/>
          </a:xfrm>
          <a:prstGeom prst="rect">
            <a:avLst/>
          </a:prstGeom>
          <a:noFill/>
          <a:ln/>
        </p:spPr>
        <p:txBody>
          <a:bodyPr wrap="square" lIns="0" tIns="0" rIns="0" bIns="0" rtlCol="0" anchor="ctr"/>
          <a:lstStyle/>
          <a:p>
            <a:pPr indent="0" marL="0">
              <a:buNone/>
            </a:pPr>
            <a:r>
              <a:rPr lang="en-US" sz="800" dirty="0">
                <a:solidFill>
                  <a:srgbClr val="FFFFFF"/>
                </a:solidFill>
              </a:rPr>
              <a:t>Total Uses</a:t>
            </a:r>
            <a:endParaRPr lang="en-US" sz="800" dirty="0"/>
          </a:p>
        </p:txBody>
      </p:sp>
      <p:sp>
        <p:nvSpPr>
          <p:cNvPr id="32" name="Text 30"/>
          <p:cNvSpPr/>
          <p:nvPr/>
        </p:nvSpPr>
        <p:spPr>
          <a:xfrm>
            <a:off x="4754880" y="1024128"/>
            <a:ext cx="4023360" cy="274320"/>
          </a:xfrm>
          <a:prstGeom prst="rect">
            <a:avLst/>
          </a:prstGeom>
          <a:noFill/>
          <a:ln/>
        </p:spPr>
        <p:txBody>
          <a:bodyPr wrap="square" lIns="0" tIns="0" rIns="0" bIns="0" rtlCol="0" anchor="ctr"/>
          <a:lstStyle/>
          <a:p>
            <a:pPr indent="0" marL="0">
              <a:buNone/>
            </a:pPr>
            <a:r>
              <a:rPr lang="en-US" sz="900" b="1" dirty="0">
                <a:solidFill>
                  <a:srgbClr val="1B2D55"/>
                </a:solidFill>
              </a:rPr>
              <a:t>Valuation Reference</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754880" y="1353312"/>
          <a:ext cx="4023360" cy="1920240"/>
        </p:xfrm>
        <a:graphic>
          <a:graphicData uri="http://schemas.openxmlformats.org/drawingml/2006/table">
            <a:tbl>
              <a:tblPr/>
              <a:tblGrid>
                <a:gridCol w="1341120"/>
                <a:gridCol w="1341120"/>
                <a:gridCol w="1341120"/>
              </a:tblGrid>
              <a:tr h="384048">
                <a:tc>
                  <a:txBody>
                    <a:bodyPr/>
                    <a:lstStyle/>
                    <a:p>
                      <a:pPr indent="0" marL="0">
                        <a:buNone/>
                      </a:pPr>
                      <a:r>
                        <a:rPr lang="en-US" sz="850" b="1" dirty="0">
                          <a:solidFill>
                            <a:srgbClr val="FFFFFF"/>
                          </a:solidFill>
                        </a:rPr>
                        <a:t>Metric</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850" b="1" dirty="0">
                          <a:solidFill>
                            <a:srgbClr val="FFFFFF"/>
                          </a:solidFill>
                        </a:rPr>
                        <a:t>Implied Multiple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850" b="1" dirty="0">
                          <a:solidFill>
                            <a:srgbClr val="FFFFFF"/>
                          </a:solidFill>
                        </a:rPr>
                        <a:t>Peer Range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384048">
                <a:tc>
                  <a:txBody>
                    <a:bodyPr/>
                    <a:lstStyle/>
                    <a:p>
                      <a:pPr indent="0" marL="0">
                        <a:buNone/>
                      </a:pPr>
                      <a:r>
                        <a:rPr lang="en-US" sz="850" dirty="0">
                          <a:solidFill>
                            <a:srgbClr val="1B2D55"/>
                          </a:solidFill>
                        </a:rPr>
                        <a:t>EV / LTM Revenue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850" b="1" dirty="0">
                          <a:solidFill>
                            <a:srgbClr val="1B2D55"/>
                          </a:solidFill>
                        </a:rPr>
                        <a:t>1.6x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850" dirty="0">
                          <a:solidFill>
                            <a:srgbClr val="4A5568"/>
                          </a:solidFill>
                        </a:rPr>
                        <a:t>1.3x – 2.2x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84048">
                <a:tc>
                  <a:txBody>
                    <a:bodyPr/>
                    <a:lstStyle/>
                    <a:p>
                      <a:pPr indent="0" marL="0">
                        <a:buNone/>
                      </a:pPr>
                      <a:r>
                        <a:rPr lang="en-US" sz="850" dirty="0">
                          <a:solidFill>
                            <a:srgbClr val="1B2D55"/>
                          </a:solidFill>
                        </a:rPr>
                        <a:t>EV / LTM EBITDA</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850" b="1" dirty="0">
                          <a:solidFill>
                            <a:srgbClr val="1B2D55"/>
                          </a:solidFill>
                        </a:rPr>
                        <a:t>12.5x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850" dirty="0">
                          <a:solidFill>
                            <a:srgbClr val="4A5568"/>
                          </a:solidFill>
                        </a:rPr>
                        <a:t>10.0x – 15.0x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84048">
                <a:tc>
                  <a:txBody>
                    <a:bodyPr/>
                    <a:lstStyle/>
                    <a:p>
                      <a:pPr indent="0" marL="0">
                        <a:buNone/>
                      </a:pPr>
                      <a:r>
                        <a:rPr lang="en-US" sz="850" dirty="0">
                          <a:solidFill>
                            <a:srgbClr val="1B2D55"/>
                          </a:solidFill>
                        </a:rPr>
                        <a:t>EV / 2025E EBITDA</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850" b="1" dirty="0">
                          <a:solidFill>
                            <a:srgbClr val="1B2D55"/>
                          </a:solidFill>
                        </a:rPr>
                        <a:t>10.4x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850" dirty="0">
                          <a:solidFill>
                            <a:srgbClr val="4A5568"/>
                          </a:solidFill>
                        </a:rPr>
                        <a:t>9.0x – 13.0x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84048">
                <a:tc>
                  <a:txBody>
                    <a:bodyPr/>
                    <a:lstStyle/>
                    <a:p>
                      <a:pPr indent="0" marL="0">
                        <a:buNone/>
                      </a:pPr>
                      <a:r>
                        <a:rPr lang="en-US" sz="850" dirty="0">
                          <a:solidFill>
                            <a:srgbClr val="1B2D55"/>
                          </a:solidFill>
                        </a:rPr>
                        <a:t>EV / 2025E Revenue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850" b="1" dirty="0">
                          <a:solidFill>
                            <a:srgbClr val="1B2D55"/>
                          </a:solidFill>
                        </a:rPr>
                        <a:t>1.4x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850" dirty="0">
                          <a:solidFill>
                            <a:srgbClr val="4A5568"/>
                          </a:solidFill>
                        </a:rPr>
                        <a:t>1.1x – 1.9x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Harris Williams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Transaction Overview</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14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Transaction Process &amp; Advisor Contacts</a:t>
            </a:r>
            <a:endParaRPr lang="en-US" sz="1600" dirty="0"/>
          </a:p>
        </p:txBody>
      </p:sp>
      <p:sp>
        <p:nvSpPr>
          <p:cNvPr id="10" name="Text 8"/>
          <p:cNvSpPr/>
          <p:nvPr/>
        </p:nvSpPr>
        <p:spPr>
          <a:xfrm>
            <a:off x="457200" y="1005840"/>
            <a:ext cx="8229600" cy="256032"/>
          </a:xfrm>
          <a:prstGeom prst="rect">
            <a:avLst/>
          </a:prstGeom>
          <a:noFill/>
          <a:ln/>
        </p:spPr>
        <p:txBody>
          <a:bodyPr wrap="square" lIns="0" tIns="0" rIns="0" bIns="0" rtlCol="0" anchor="ctr"/>
          <a:lstStyle/>
          <a:p>
            <a:pPr indent="0" marL="0">
              <a:buNone/>
            </a:pPr>
            <a:r>
              <a:rPr lang="en-US" sz="900" b="1" dirty="0">
                <a:solidFill>
                  <a:srgbClr val="1B2D55"/>
                </a:solidFill>
              </a:rPr>
              <a:t>Process Timeline</a:t>
            </a:r>
            <a:endParaRPr lang="en-US" sz="900" dirty="0"/>
          </a:p>
        </p:txBody>
      </p:sp>
      <p:sp>
        <p:nvSpPr>
          <p:cNvPr id="11" name="Shape 9"/>
          <p:cNvSpPr/>
          <p:nvPr/>
        </p:nvSpPr>
        <p:spPr>
          <a:xfrm>
            <a:off x="457200" y="1316736"/>
            <a:ext cx="8229600" cy="530352"/>
          </a:xfrm>
          <a:prstGeom prst="rect">
            <a:avLst/>
          </a:prstGeom>
          <a:solidFill>
            <a:srgbClr val="FFFFFF"/>
          </a:solidFill>
          <a:ln w="12700">
            <a:solidFill>
              <a:srgbClr val="D0D8E4"/>
            </a:solidFill>
            <a:prstDash val="solid"/>
          </a:ln>
        </p:spPr>
      </p:sp>
      <p:sp>
        <p:nvSpPr>
          <p:cNvPr id="12" name="Shape 10"/>
          <p:cNvSpPr/>
          <p:nvPr/>
        </p:nvSpPr>
        <p:spPr>
          <a:xfrm>
            <a:off x="457200" y="1316736"/>
            <a:ext cx="54864" cy="530352"/>
          </a:xfrm>
          <a:prstGeom prst="rect">
            <a:avLst/>
          </a:prstGeom>
          <a:solidFill>
            <a:srgbClr val="C8A83C"/>
          </a:solidFill>
          <a:ln w="12700">
            <a:solidFill>
              <a:srgbClr val="C8A83C"/>
            </a:solidFill>
            <a:prstDash val="solid"/>
          </a:ln>
        </p:spPr>
      </p:sp>
      <p:sp>
        <p:nvSpPr>
          <p:cNvPr id="13" name="Text 11"/>
          <p:cNvSpPr/>
          <p:nvPr/>
        </p:nvSpPr>
        <p:spPr>
          <a:xfrm>
            <a:off x="621792" y="1389888"/>
            <a:ext cx="2926080" cy="201168"/>
          </a:xfrm>
          <a:prstGeom prst="rect">
            <a:avLst/>
          </a:prstGeom>
          <a:noFill/>
          <a:ln/>
        </p:spPr>
        <p:txBody>
          <a:bodyPr wrap="square" lIns="0" tIns="0" rIns="0" bIns="0" rtlCol="0" anchor="ctr"/>
          <a:lstStyle/>
          <a:p>
            <a:pPr indent="0" marL="0">
              <a:buNone/>
            </a:pPr>
            <a:r>
              <a:rPr lang="en-US" sz="850" b="1" dirty="0">
                <a:solidFill>
                  <a:srgbClr val="1B2D55"/>
                </a:solidFill>
              </a:rPr>
              <a:t>Phase I – Teaser / NDA</a:t>
            </a:r>
            <a:endParaRPr lang="en-US" sz="850" dirty="0"/>
          </a:p>
        </p:txBody>
      </p:sp>
      <p:sp>
        <p:nvSpPr>
          <p:cNvPr id="14" name="Text 12"/>
          <p:cNvSpPr/>
          <p:nvPr/>
        </p:nvSpPr>
        <p:spPr>
          <a:xfrm>
            <a:off x="3566160" y="1389888"/>
            <a:ext cx="1828800" cy="201168"/>
          </a:xfrm>
          <a:prstGeom prst="rect">
            <a:avLst/>
          </a:prstGeom>
          <a:noFill/>
          <a:ln/>
        </p:spPr>
        <p:txBody>
          <a:bodyPr wrap="square" lIns="0" tIns="0" rIns="0" bIns="0" rtlCol="0" anchor="ctr"/>
          <a:lstStyle/>
          <a:p>
            <a:pPr indent="0" marL="0">
              <a:buNone/>
            </a:pPr>
            <a:r>
              <a:rPr lang="en-US" sz="850" dirty="0">
                <a:solidFill>
                  <a:srgbClr val="2B5BAE"/>
                </a:solidFill>
              </a:rPr>
              <a:t>Mar – Apr 2024</a:t>
            </a:r>
            <a:endParaRPr lang="en-US" sz="850" dirty="0"/>
          </a:p>
        </p:txBody>
      </p:sp>
      <p:sp>
        <p:nvSpPr>
          <p:cNvPr id="15" name="Text 13"/>
          <p:cNvSpPr/>
          <p:nvPr/>
        </p:nvSpPr>
        <p:spPr>
          <a:xfrm>
            <a:off x="621792" y="1609344"/>
            <a:ext cx="7955280" cy="182880"/>
          </a:xfrm>
          <a:prstGeom prst="rect">
            <a:avLst/>
          </a:prstGeom>
          <a:noFill/>
          <a:ln/>
        </p:spPr>
        <p:txBody>
          <a:bodyPr wrap="square" lIns="0" tIns="0" rIns="0" bIns="0" rtlCol="0" anchor="ctr"/>
          <a:lstStyle/>
          <a:p>
            <a:pPr indent="0" marL="0">
              <a:buNone/>
            </a:pPr>
            <a:r>
              <a:rPr lang="en-US" sz="750" dirty="0">
                <a:solidFill>
                  <a:srgbClr val="4A5568"/>
                </a:solidFill>
              </a:rPr>
              <a:t>~32 parties contacted; 18 NDAs signed</a:t>
            </a:r>
            <a:endParaRPr lang="en-US" sz="750" dirty="0"/>
          </a:p>
        </p:txBody>
      </p:sp>
      <p:sp>
        <p:nvSpPr>
          <p:cNvPr id="16" name="Shape 14"/>
          <p:cNvSpPr/>
          <p:nvPr/>
        </p:nvSpPr>
        <p:spPr>
          <a:xfrm>
            <a:off x="457200" y="1883664"/>
            <a:ext cx="8229600" cy="530352"/>
          </a:xfrm>
          <a:prstGeom prst="rect">
            <a:avLst/>
          </a:prstGeom>
          <a:solidFill>
            <a:srgbClr val="F4F6FA"/>
          </a:solidFill>
          <a:ln w="12700">
            <a:solidFill>
              <a:srgbClr val="D0D8E4"/>
            </a:solidFill>
            <a:prstDash val="solid"/>
          </a:ln>
        </p:spPr>
      </p:sp>
      <p:sp>
        <p:nvSpPr>
          <p:cNvPr id="17" name="Shape 15"/>
          <p:cNvSpPr/>
          <p:nvPr/>
        </p:nvSpPr>
        <p:spPr>
          <a:xfrm>
            <a:off x="457200" y="1883664"/>
            <a:ext cx="54864" cy="530352"/>
          </a:xfrm>
          <a:prstGeom prst="rect">
            <a:avLst/>
          </a:prstGeom>
          <a:solidFill>
            <a:srgbClr val="C8A83C"/>
          </a:solidFill>
          <a:ln w="12700">
            <a:solidFill>
              <a:srgbClr val="C8A83C"/>
            </a:solidFill>
            <a:prstDash val="solid"/>
          </a:ln>
        </p:spPr>
      </p:sp>
      <p:sp>
        <p:nvSpPr>
          <p:cNvPr id="18" name="Text 16"/>
          <p:cNvSpPr/>
          <p:nvPr/>
        </p:nvSpPr>
        <p:spPr>
          <a:xfrm>
            <a:off x="621792" y="1956816"/>
            <a:ext cx="2926080" cy="201168"/>
          </a:xfrm>
          <a:prstGeom prst="rect">
            <a:avLst/>
          </a:prstGeom>
          <a:noFill/>
          <a:ln/>
        </p:spPr>
        <p:txBody>
          <a:bodyPr wrap="square" lIns="0" tIns="0" rIns="0" bIns="0" rtlCol="0" anchor="ctr"/>
          <a:lstStyle/>
          <a:p>
            <a:pPr indent="0" marL="0">
              <a:buNone/>
            </a:pPr>
            <a:r>
              <a:rPr lang="en-US" sz="850" b="1" dirty="0">
                <a:solidFill>
                  <a:srgbClr val="1B2D55"/>
                </a:solidFill>
              </a:rPr>
              <a:t>Phase II – Management Presentations</a:t>
            </a:r>
            <a:endParaRPr lang="en-US" sz="850" dirty="0"/>
          </a:p>
        </p:txBody>
      </p:sp>
      <p:sp>
        <p:nvSpPr>
          <p:cNvPr id="19" name="Text 17"/>
          <p:cNvSpPr/>
          <p:nvPr/>
        </p:nvSpPr>
        <p:spPr>
          <a:xfrm>
            <a:off x="3566160" y="1956816"/>
            <a:ext cx="1828800" cy="201168"/>
          </a:xfrm>
          <a:prstGeom prst="rect">
            <a:avLst/>
          </a:prstGeom>
          <a:noFill/>
          <a:ln/>
        </p:spPr>
        <p:txBody>
          <a:bodyPr wrap="square" lIns="0" tIns="0" rIns="0" bIns="0" rtlCol="0" anchor="ctr"/>
          <a:lstStyle/>
          <a:p>
            <a:pPr indent="0" marL="0">
              <a:buNone/>
            </a:pPr>
            <a:r>
              <a:rPr lang="en-US" sz="850" dirty="0">
                <a:solidFill>
                  <a:srgbClr val="2B5BAE"/>
                </a:solidFill>
              </a:rPr>
              <a:t>May – Jun 2024</a:t>
            </a:r>
            <a:endParaRPr lang="en-US" sz="850" dirty="0"/>
          </a:p>
        </p:txBody>
      </p:sp>
      <p:sp>
        <p:nvSpPr>
          <p:cNvPr id="20" name="Text 18"/>
          <p:cNvSpPr/>
          <p:nvPr/>
        </p:nvSpPr>
        <p:spPr>
          <a:xfrm>
            <a:off x="621792" y="2176272"/>
            <a:ext cx="7955280" cy="182880"/>
          </a:xfrm>
          <a:prstGeom prst="rect">
            <a:avLst/>
          </a:prstGeom>
          <a:noFill/>
          <a:ln/>
        </p:spPr>
        <p:txBody>
          <a:bodyPr wrap="square" lIns="0" tIns="0" rIns="0" bIns="0" rtlCol="0" anchor="ctr"/>
          <a:lstStyle/>
          <a:p>
            <a:pPr indent="0" marL="0">
              <a:buNone/>
            </a:pPr>
            <a:r>
              <a:rPr lang="en-US" sz="750" dirty="0">
                <a:solidFill>
                  <a:srgbClr val="4A5568"/>
                </a:solidFill>
              </a:rPr>
              <a:t>14 management presentations; 9 first-round bids</a:t>
            </a:r>
            <a:endParaRPr lang="en-US" sz="750" dirty="0"/>
          </a:p>
        </p:txBody>
      </p:sp>
      <p:sp>
        <p:nvSpPr>
          <p:cNvPr id="21" name="Shape 19"/>
          <p:cNvSpPr/>
          <p:nvPr/>
        </p:nvSpPr>
        <p:spPr>
          <a:xfrm>
            <a:off x="457200" y="2450592"/>
            <a:ext cx="8229600" cy="530352"/>
          </a:xfrm>
          <a:prstGeom prst="rect">
            <a:avLst/>
          </a:prstGeom>
          <a:solidFill>
            <a:srgbClr val="FFFFFF"/>
          </a:solidFill>
          <a:ln w="12700">
            <a:solidFill>
              <a:srgbClr val="D0D8E4"/>
            </a:solidFill>
            <a:prstDash val="solid"/>
          </a:ln>
        </p:spPr>
      </p:sp>
      <p:sp>
        <p:nvSpPr>
          <p:cNvPr id="22" name="Shape 20"/>
          <p:cNvSpPr/>
          <p:nvPr/>
        </p:nvSpPr>
        <p:spPr>
          <a:xfrm>
            <a:off x="457200" y="2450592"/>
            <a:ext cx="54864" cy="530352"/>
          </a:xfrm>
          <a:prstGeom prst="rect">
            <a:avLst/>
          </a:prstGeom>
          <a:solidFill>
            <a:srgbClr val="2B5BAE"/>
          </a:solidFill>
          <a:ln w="12700">
            <a:solidFill>
              <a:srgbClr val="2B5BAE"/>
            </a:solidFill>
            <a:prstDash val="solid"/>
          </a:ln>
        </p:spPr>
      </p:sp>
      <p:sp>
        <p:nvSpPr>
          <p:cNvPr id="23" name="Text 21"/>
          <p:cNvSpPr/>
          <p:nvPr/>
        </p:nvSpPr>
        <p:spPr>
          <a:xfrm>
            <a:off x="621792" y="2523744"/>
            <a:ext cx="2926080" cy="201168"/>
          </a:xfrm>
          <a:prstGeom prst="rect">
            <a:avLst/>
          </a:prstGeom>
          <a:noFill/>
          <a:ln/>
        </p:spPr>
        <p:txBody>
          <a:bodyPr wrap="square" lIns="0" tIns="0" rIns="0" bIns="0" rtlCol="0" anchor="ctr"/>
          <a:lstStyle/>
          <a:p>
            <a:pPr indent="0" marL="0">
              <a:buNone/>
            </a:pPr>
            <a:r>
              <a:rPr lang="en-US" sz="850" b="1" dirty="0">
                <a:solidFill>
                  <a:srgbClr val="1B2D55"/>
                </a:solidFill>
              </a:rPr>
              <a:t>Phase III – Final Bids / Diligence</a:t>
            </a:r>
            <a:endParaRPr lang="en-US" sz="850" dirty="0"/>
          </a:p>
        </p:txBody>
      </p:sp>
      <p:sp>
        <p:nvSpPr>
          <p:cNvPr id="24" name="Text 22"/>
          <p:cNvSpPr/>
          <p:nvPr/>
        </p:nvSpPr>
        <p:spPr>
          <a:xfrm>
            <a:off x="3566160" y="2523744"/>
            <a:ext cx="1828800" cy="201168"/>
          </a:xfrm>
          <a:prstGeom prst="rect">
            <a:avLst/>
          </a:prstGeom>
          <a:noFill/>
          <a:ln/>
        </p:spPr>
        <p:txBody>
          <a:bodyPr wrap="square" lIns="0" tIns="0" rIns="0" bIns="0" rtlCol="0" anchor="ctr"/>
          <a:lstStyle/>
          <a:p>
            <a:pPr indent="0" marL="0">
              <a:buNone/>
            </a:pPr>
            <a:r>
              <a:rPr lang="en-US" sz="850" dirty="0">
                <a:solidFill>
                  <a:srgbClr val="2B5BAE"/>
                </a:solidFill>
              </a:rPr>
              <a:t>Jun – Jul 2024</a:t>
            </a:r>
            <a:endParaRPr lang="en-US" sz="850" dirty="0"/>
          </a:p>
        </p:txBody>
      </p:sp>
      <p:sp>
        <p:nvSpPr>
          <p:cNvPr id="25" name="Text 23"/>
          <p:cNvSpPr/>
          <p:nvPr/>
        </p:nvSpPr>
        <p:spPr>
          <a:xfrm>
            <a:off x="621792" y="2743200"/>
            <a:ext cx="7955280" cy="182880"/>
          </a:xfrm>
          <a:prstGeom prst="rect">
            <a:avLst/>
          </a:prstGeom>
          <a:noFill/>
          <a:ln/>
        </p:spPr>
        <p:txBody>
          <a:bodyPr wrap="square" lIns="0" tIns="0" rIns="0" bIns="0" rtlCol="0" anchor="ctr"/>
          <a:lstStyle/>
          <a:p>
            <a:pPr indent="0" marL="0">
              <a:buNone/>
            </a:pPr>
            <a:r>
              <a:rPr lang="en-US" sz="750" dirty="0">
                <a:solidFill>
                  <a:srgbClr val="4A5568"/>
                </a:solidFill>
              </a:rPr>
              <a:t>5 final bids received; exclusivity to be granted</a:t>
            </a:r>
            <a:endParaRPr lang="en-US" sz="750" dirty="0"/>
          </a:p>
        </p:txBody>
      </p:sp>
      <p:sp>
        <p:nvSpPr>
          <p:cNvPr id="26" name="Shape 24"/>
          <p:cNvSpPr/>
          <p:nvPr/>
        </p:nvSpPr>
        <p:spPr>
          <a:xfrm>
            <a:off x="457200" y="3017520"/>
            <a:ext cx="8229600" cy="530352"/>
          </a:xfrm>
          <a:prstGeom prst="rect">
            <a:avLst/>
          </a:prstGeom>
          <a:solidFill>
            <a:srgbClr val="F4F6FA"/>
          </a:solidFill>
          <a:ln w="12700">
            <a:solidFill>
              <a:srgbClr val="D0D8E4"/>
            </a:solidFill>
            <a:prstDash val="solid"/>
          </a:ln>
        </p:spPr>
      </p:sp>
      <p:sp>
        <p:nvSpPr>
          <p:cNvPr id="27" name="Shape 25"/>
          <p:cNvSpPr/>
          <p:nvPr/>
        </p:nvSpPr>
        <p:spPr>
          <a:xfrm>
            <a:off x="457200" y="3017520"/>
            <a:ext cx="54864" cy="530352"/>
          </a:xfrm>
          <a:prstGeom prst="rect">
            <a:avLst/>
          </a:prstGeom>
          <a:solidFill>
            <a:srgbClr val="2B5BAE"/>
          </a:solidFill>
          <a:ln w="12700">
            <a:solidFill>
              <a:srgbClr val="2B5BAE"/>
            </a:solidFill>
            <a:prstDash val="solid"/>
          </a:ln>
        </p:spPr>
      </p:sp>
      <p:sp>
        <p:nvSpPr>
          <p:cNvPr id="28" name="Text 26"/>
          <p:cNvSpPr/>
          <p:nvPr/>
        </p:nvSpPr>
        <p:spPr>
          <a:xfrm>
            <a:off x="621792" y="3090672"/>
            <a:ext cx="2926080" cy="201168"/>
          </a:xfrm>
          <a:prstGeom prst="rect">
            <a:avLst/>
          </a:prstGeom>
          <a:noFill/>
          <a:ln/>
        </p:spPr>
        <p:txBody>
          <a:bodyPr wrap="square" lIns="0" tIns="0" rIns="0" bIns="0" rtlCol="0" anchor="ctr"/>
          <a:lstStyle/>
          <a:p>
            <a:pPr indent="0" marL="0">
              <a:buNone/>
            </a:pPr>
            <a:r>
              <a:rPr lang="en-US" sz="850" b="1" dirty="0">
                <a:solidFill>
                  <a:srgbClr val="1B2D55"/>
                </a:solidFill>
              </a:rPr>
              <a:t>Signing &amp; Closing</a:t>
            </a:r>
            <a:endParaRPr lang="en-US" sz="850" dirty="0"/>
          </a:p>
        </p:txBody>
      </p:sp>
      <p:sp>
        <p:nvSpPr>
          <p:cNvPr id="29" name="Text 27"/>
          <p:cNvSpPr/>
          <p:nvPr/>
        </p:nvSpPr>
        <p:spPr>
          <a:xfrm>
            <a:off x="3566160" y="3090672"/>
            <a:ext cx="1828800" cy="201168"/>
          </a:xfrm>
          <a:prstGeom prst="rect">
            <a:avLst/>
          </a:prstGeom>
          <a:noFill/>
          <a:ln/>
        </p:spPr>
        <p:txBody>
          <a:bodyPr wrap="square" lIns="0" tIns="0" rIns="0" bIns="0" rtlCol="0" anchor="ctr"/>
          <a:lstStyle/>
          <a:p>
            <a:pPr indent="0" marL="0">
              <a:buNone/>
            </a:pPr>
            <a:r>
              <a:rPr lang="en-US" sz="850" dirty="0">
                <a:solidFill>
                  <a:srgbClr val="2B5BAE"/>
                </a:solidFill>
              </a:rPr>
              <a:t>Q3 2024 (est.)</a:t>
            </a:r>
            <a:endParaRPr lang="en-US" sz="850" dirty="0"/>
          </a:p>
        </p:txBody>
      </p:sp>
      <p:sp>
        <p:nvSpPr>
          <p:cNvPr id="30" name="Text 28"/>
          <p:cNvSpPr/>
          <p:nvPr/>
        </p:nvSpPr>
        <p:spPr>
          <a:xfrm>
            <a:off x="621792" y="3310128"/>
            <a:ext cx="7955280" cy="182880"/>
          </a:xfrm>
          <a:prstGeom prst="rect">
            <a:avLst/>
          </a:prstGeom>
          <a:noFill/>
          <a:ln/>
        </p:spPr>
        <p:txBody>
          <a:bodyPr wrap="square" lIns="0" tIns="0" rIns="0" bIns="0" rtlCol="0" anchor="ctr"/>
          <a:lstStyle/>
          <a:p>
            <a:pPr indent="0" marL="0">
              <a:buNone/>
            </a:pPr>
            <a:r>
              <a:rPr lang="en-US" sz="750" dirty="0">
                <a:solidFill>
                  <a:srgbClr val="4A5568"/>
                </a:solidFill>
              </a:rPr>
              <a:t>HSR clearance expected; standard regulatory filings</a:t>
            </a:r>
            <a:endParaRPr lang="en-US" sz="750" dirty="0"/>
          </a:p>
        </p:txBody>
      </p:sp>
      <p:sp>
        <p:nvSpPr>
          <p:cNvPr id="31" name="Shape 29"/>
          <p:cNvSpPr/>
          <p:nvPr/>
        </p:nvSpPr>
        <p:spPr>
          <a:xfrm>
            <a:off x="457200" y="3675888"/>
            <a:ext cx="8229600" cy="0"/>
          </a:xfrm>
          <a:prstGeom prst="line">
            <a:avLst/>
          </a:prstGeom>
          <a:noFill/>
          <a:ln w="9525">
            <a:solidFill>
              <a:srgbClr val="D0D8E4"/>
            </a:solidFill>
            <a:prstDash val="solid"/>
          </a:ln>
        </p:spPr>
      </p:sp>
      <p:sp>
        <p:nvSpPr>
          <p:cNvPr id="32" name="Text 30"/>
          <p:cNvSpPr/>
          <p:nvPr/>
        </p:nvSpPr>
        <p:spPr>
          <a:xfrm>
            <a:off x="457200" y="3730752"/>
            <a:ext cx="8229600" cy="256032"/>
          </a:xfrm>
          <a:prstGeom prst="rect">
            <a:avLst/>
          </a:prstGeom>
          <a:noFill/>
          <a:ln/>
        </p:spPr>
        <p:txBody>
          <a:bodyPr wrap="square" lIns="0" tIns="0" rIns="0" bIns="0" rtlCol="0" anchor="ctr"/>
          <a:lstStyle/>
          <a:p>
            <a:pPr indent="0" marL="0">
              <a:buNone/>
            </a:pPr>
            <a:r>
              <a:rPr lang="en-US" sz="900" b="1" dirty="0">
                <a:solidFill>
                  <a:srgbClr val="1B2D55"/>
                </a:solidFill>
              </a:rPr>
              <a:t>Advisor Contacts</a:t>
            </a:r>
            <a:endParaRPr lang="en-US" sz="900" dirty="0"/>
          </a:p>
        </p:txBody>
      </p:sp>
      <p:sp>
        <p:nvSpPr>
          <p:cNvPr id="33" name="Shape 31"/>
          <p:cNvSpPr/>
          <p:nvPr/>
        </p:nvSpPr>
        <p:spPr>
          <a:xfrm>
            <a:off x="457200" y="4005072"/>
            <a:ext cx="4023360" cy="914400"/>
          </a:xfrm>
          <a:prstGeom prst="rect">
            <a:avLst/>
          </a:prstGeom>
          <a:solidFill>
            <a:srgbClr val="F4F6FA"/>
          </a:solidFill>
          <a:ln w="12700">
            <a:solidFill>
              <a:srgbClr val="D0D8E4"/>
            </a:solidFill>
            <a:prstDash val="solid"/>
          </a:ln>
        </p:spPr>
      </p:sp>
      <p:sp>
        <p:nvSpPr>
          <p:cNvPr id="34" name="Shape 32"/>
          <p:cNvSpPr/>
          <p:nvPr/>
        </p:nvSpPr>
        <p:spPr>
          <a:xfrm>
            <a:off x="457200" y="4005072"/>
            <a:ext cx="54864" cy="914400"/>
          </a:xfrm>
          <a:prstGeom prst="rect">
            <a:avLst/>
          </a:prstGeom>
          <a:solidFill>
            <a:srgbClr val="2B5BAE"/>
          </a:solidFill>
          <a:ln w="12700">
            <a:solidFill>
              <a:srgbClr val="2B5BAE"/>
            </a:solidFill>
            <a:prstDash val="solid"/>
          </a:ln>
        </p:spPr>
      </p:sp>
      <p:sp>
        <p:nvSpPr>
          <p:cNvPr id="35" name="Text 33"/>
          <p:cNvSpPr/>
          <p:nvPr/>
        </p:nvSpPr>
        <p:spPr>
          <a:xfrm>
            <a:off x="594360" y="4059936"/>
            <a:ext cx="3749040" cy="256032"/>
          </a:xfrm>
          <a:prstGeom prst="rect">
            <a:avLst/>
          </a:prstGeom>
          <a:noFill/>
          <a:ln/>
        </p:spPr>
        <p:txBody>
          <a:bodyPr wrap="square" lIns="0" tIns="0" rIns="0" bIns="0" rtlCol="0" anchor="ctr"/>
          <a:lstStyle/>
          <a:p>
            <a:pPr indent="0" marL="0">
              <a:buNone/>
            </a:pPr>
            <a:r>
              <a:rPr lang="en-US" sz="950" b="1" dirty="0">
                <a:solidFill>
                  <a:srgbClr val="1B2D55"/>
                </a:solidFill>
              </a:rPr>
              <a:t>Stephanie Gould</a:t>
            </a:r>
            <a:endParaRPr lang="en-US" sz="950" dirty="0"/>
          </a:p>
        </p:txBody>
      </p:sp>
      <p:sp>
        <p:nvSpPr>
          <p:cNvPr id="36" name="Text 34"/>
          <p:cNvSpPr/>
          <p:nvPr/>
        </p:nvSpPr>
        <p:spPr>
          <a:xfrm>
            <a:off x="594360" y="4315968"/>
            <a:ext cx="3749040" cy="201168"/>
          </a:xfrm>
          <a:prstGeom prst="rect">
            <a:avLst/>
          </a:prstGeom>
          <a:noFill/>
          <a:ln/>
        </p:spPr>
        <p:txBody>
          <a:bodyPr wrap="square" lIns="0" tIns="0" rIns="0" bIns="0" rtlCol="0" anchor="ctr"/>
          <a:lstStyle/>
          <a:p>
            <a:pPr indent="0" marL="0">
              <a:buNone/>
            </a:pPr>
            <a:r>
              <a:rPr lang="en-US" sz="750" dirty="0">
                <a:solidFill>
                  <a:srgbClr val="4A5568"/>
                </a:solidFill>
              </a:rPr>
              <a:t>Managing Director | Harris Williams</a:t>
            </a:r>
            <a:endParaRPr lang="en-US" sz="750" dirty="0"/>
          </a:p>
        </p:txBody>
      </p:sp>
      <p:sp>
        <p:nvSpPr>
          <p:cNvPr id="37" name="Text 35"/>
          <p:cNvSpPr/>
          <p:nvPr/>
        </p:nvSpPr>
        <p:spPr>
          <a:xfrm>
            <a:off x="594360" y="4498848"/>
            <a:ext cx="3749040" cy="201168"/>
          </a:xfrm>
          <a:prstGeom prst="rect">
            <a:avLst/>
          </a:prstGeom>
          <a:noFill/>
          <a:ln/>
        </p:spPr>
        <p:txBody>
          <a:bodyPr wrap="square" lIns="0" tIns="0" rIns="0" bIns="0" rtlCol="0" anchor="ctr"/>
          <a:lstStyle/>
          <a:p>
            <a:pPr indent="0" marL="0">
              <a:buNone/>
            </a:pPr>
            <a:r>
              <a:rPr lang="en-US" sz="750" dirty="0">
                <a:solidFill>
                  <a:srgbClr val="2B5BAE"/>
                </a:solidFill>
              </a:rPr>
              <a:t>sgould@harriswilliams.com  ·  (804) 555-3301</a:t>
            </a:r>
            <a:endParaRPr lang="en-US" sz="750" dirty="0"/>
          </a:p>
        </p:txBody>
      </p:sp>
      <p:sp>
        <p:nvSpPr>
          <p:cNvPr id="38" name="Shape 36"/>
          <p:cNvSpPr/>
          <p:nvPr/>
        </p:nvSpPr>
        <p:spPr>
          <a:xfrm>
            <a:off x="4754880" y="4005072"/>
            <a:ext cx="4023360" cy="914400"/>
          </a:xfrm>
          <a:prstGeom prst="rect">
            <a:avLst/>
          </a:prstGeom>
          <a:solidFill>
            <a:srgbClr val="F4F6FA"/>
          </a:solidFill>
          <a:ln w="12700">
            <a:solidFill>
              <a:srgbClr val="D0D8E4"/>
            </a:solidFill>
            <a:prstDash val="solid"/>
          </a:ln>
        </p:spPr>
      </p:sp>
      <p:sp>
        <p:nvSpPr>
          <p:cNvPr id="39" name="Shape 37"/>
          <p:cNvSpPr/>
          <p:nvPr/>
        </p:nvSpPr>
        <p:spPr>
          <a:xfrm>
            <a:off x="4754880" y="4005072"/>
            <a:ext cx="54864" cy="914400"/>
          </a:xfrm>
          <a:prstGeom prst="rect">
            <a:avLst/>
          </a:prstGeom>
          <a:solidFill>
            <a:srgbClr val="2B5BAE"/>
          </a:solidFill>
          <a:ln w="12700">
            <a:solidFill>
              <a:srgbClr val="2B5BAE"/>
            </a:solidFill>
            <a:prstDash val="solid"/>
          </a:ln>
        </p:spPr>
      </p:sp>
      <p:sp>
        <p:nvSpPr>
          <p:cNvPr id="40" name="Text 38"/>
          <p:cNvSpPr/>
          <p:nvPr/>
        </p:nvSpPr>
        <p:spPr>
          <a:xfrm>
            <a:off x="4892040" y="4059936"/>
            <a:ext cx="3749040" cy="256032"/>
          </a:xfrm>
          <a:prstGeom prst="rect">
            <a:avLst/>
          </a:prstGeom>
          <a:noFill/>
          <a:ln/>
        </p:spPr>
        <p:txBody>
          <a:bodyPr wrap="square" lIns="0" tIns="0" rIns="0" bIns="0" rtlCol="0" anchor="ctr"/>
          <a:lstStyle/>
          <a:p>
            <a:pPr indent="0" marL="0">
              <a:buNone/>
            </a:pPr>
            <a:r>
              <a:rPr lang="en-US" sz="950" b="1" dirty="0">
                <a:solidFill>
                  <a:srgbClr val="1B2D55"/>
                </a:solidFill>
              </a:rPr>
              <a:t>Ryan Takahashi</a:t>
            </a:r>
            <a:endParaRPr lang="en-US" sz="950" dirty="0"/>
          </a:p>
        </p:txBody>
      </p:sp>
      <p:sp>
        <p:nvSpPr>
          <p:cNvPr id="41" name="Text 39"/>
          <p:cNvSpPr/>
          <p:nvPr/>
        </p:nvSpPr>
        <p:spPr>
          <a:xfrm>
            <a:off x="4892040" y="4315968"/>
            <a:ext cx="3749040" cy="201168"/>
          </a:xfrm>
          <a:prstGeom prst="rect">
            <a:avLst/>
          </a:prstGeom>
          <a:noFill/>
          <a:ln/>
        </p:spPr>
        <p:txBody>
          <a:bodyPr wrap="square" lIns="0" tIns="0" rIns="0" bIns="0" rtlCol="0" anchor="ctr"/>
          <a:lstStyle/>
          <a:p>
            <a:pPr indent="0" marL="0">
              <a:buNone/>
            </a:pPr>
            <a:r>
              <a:rPr lang="en-US" sz="750" dirty="0">
                <a:solidFill>
                  <a:srgbClr val="4A5568"/>
                </a:solidFill>
              </a:rPr>
              <a:t>Associate | Harris Williams</a:t>
            </a:r>
            <a:endParaRPr lang="en-US" sz="750" dirty="0"/>
          </a:p>
        </p:txBody>
      </p:sp>
      <p:sp>
        <p:nvSpPr>
          <p:cNvPr id="42" name="Text 40"/>
          <p:cNvSpPr/>
          <p:nvPr/>
        </p:nvSpPr>
        <p:spPr>
          <a:xfrm>
            <a:off x="4892040" y="4498848"/>
            <a:ext cx="3749040" cy="201168"/>
          </a:xfrm>
          <a:prstGeom prst="rect">
            <a:avLst/>
          </a:prstGeom>
          <a:noFill/>
          <a:ln/>
        </p:spPr>
        <p:txBody>
          <a:bodyPr wrap="square" lIns="0" tIns="0" rIns="0" bIns="0" rtlCol="0" anchor="ctr"/>
          <a:lstStyle/>
          <a:p>
            <a:pPr indent="0" marL="0">
              <a:buNone/>
            </a:pPr>
            <a:r>
              <a:rPr lang="en-US" sz="750" dirty="0">
                <a:solidFill>
                  <a:srgbClr val="2B5BAE"/>
                </a:solidFill>
              </a:rPr>
              <a:t>rtakahashi@harriswilliams.com  ·  (804) 555-3302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2026-05-12T00:27:11Z</dcterms:created>
  <dcterms:modified xsi:type="dcterms:W3CDTF">2026-05-12T00:27:11Z</dcterms:modified>
</cp:coreProperties>
</file>