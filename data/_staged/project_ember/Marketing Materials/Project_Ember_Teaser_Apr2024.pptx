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38144"/>
            <a:ext cx="9144000" cy="6400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PROJECT EMBER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D0"/>
                </a:solidFill>
              </a:rPr>
              <a:t>Executive Summary Teaser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200400" cy="0"/>
          </a:xfrm>
          <a:prstGeom prst="line">
            <a:avLst/>
          </a:prstGeom>
          <a:noFill/>
          <a:ln w="19050">
            <a:solidFill>
              <a:srgbClr val="C8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Cascade Outdoor Brands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Consumer Products | Outdoor &amp; Active Lifestyle Hardgoods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0"/>
                </a:solidFill>
              </a:rPr>
              <a:t>Harris Williams | April 2024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A83C"/>
                </a:solidFill>
              </a:rPr>
              <a:t>STRICTLY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</a:rPr>
              <a:t>This teaser is being distributed on a confidential basis to a select group of potential acquirers. Receipt of this document constitutes acceptance of the confidentiality obligations set forth herein. This document is not an offer to sell or a solicitation of an offer to buy any securities.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Investment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Key Financial &amp; Operating 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$112M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186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186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$14.0M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186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52160" y="141732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61888" y="1508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61888" y="17099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+14%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61888" y="2039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44%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DTC Revenue Mix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186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186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186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Owned Brands (Ridgeline / Summit)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52160" y="24871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61888" y="25786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61888" y="27797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22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61888" y="31089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Countries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Transaction Highlights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Ask: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~$175M (12.5x LTM Adj. EBITDA)</a:t>
            </a:r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</a:rPr>
              <a:t>  |  </a:t>
            </a:r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Banker: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Harris Williams</a:t>
            </a:r>
            <a:pPr indent="0" marL="0">
              <a:buNone/>
            </a:pPr>
            <a:r>
              <a:rPr lang="en-US" sz="900" dirty="0">
                <a:solidFill>
                  <a:srgbClr val="D0D8E4"/>
                </a:solidFill>
              </a:rPr>
              <a:t>  |  </a:t>
            </a:r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Process: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April 2024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Cascade Outdoor Brands ("Cascade" or the "Company") is a premium designer and manufacturer of technical outdoor hardgoods — principally tents, backpacking shelters, and ultralight cookware — sold under two owned brands: Ridgeline (mid-market, $95 ASP) and Summit Series (premium, $285 ASP). Founded in 2009 by two former REI product managers, Cascade sells through a diversified omnichannel mix: DTC e-commerce (44%), sp…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Company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Cascade Outdoor Brands — Business Description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3749040" cy="3767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At a Glance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Founded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2009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HQ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Denver, CO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304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Employees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~390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734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SKUs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2734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~340 active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163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Avg. DTC Order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11680" y="31638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$187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93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NPS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35935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74 (Summit Series)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0" y="1078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Business Description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463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Cascade Outdoor Brands ("Cascade" or the "Company") is a premium designer and manufacturer of technical outdoor hardgoods — principally tents, backpacking shelters, and ultralight cookware — sold under two owned brands: Ridgeline (mid-market, $95 ASP) and Summit Series (premium, $285 ASP). Founded in 2009 by two former REI product managers, Cascade sells through a diversified omnichannel mix: DTC e-commerce (44%), specialty outdoor retail (REI, Backcountry, EVO; 38%), and international distributors across 22 countries (18%). The Company sources finished goods from 4 long-term manufacturing partners in Vietnam and Taiwan, complemented by a Colorado-based design and quality team of 28 engineers.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89120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Investment Thesis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Two distinct brands spanning mid-market and premium outdoor segments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Key 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Key Investment Highlights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51560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" y="137160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Two distinct brands spanning mid-market and premium outdoor segments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1783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Ridgeline targets weekend campers and trail runners (ASP $95); Summit Series serves thru-hikers and mountaineers (ASP $285)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51560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74336" y="137160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DTC-led omnichannel driving margin expansion and direct customer relationships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74336" y="1783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DTC e-commerce grew from 29% to 44% of revenue over 3 years; gross margin 15pp higher than wholesale channel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33472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" y="2953512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Proprietary material innovation with 3 patents and 2 pending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3364992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AeroShield™ fabric technology (2 patents): 22% lighter than competitive Dyneema composites at comparable strength; used in Summit Series shelters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2633472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633472"/>
            <a:ext cx="54864" cy="1463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4336" y="2953512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International momentum with underpenetrated distribution in high-growth markets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74336" y="3364992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International revenue +34% YoY, led by Germany, Japan, and Australia; 22 distributor relationships in place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Transaction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Transaction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Process Structure &amp; Advisor Contacts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Transaction Parameters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Ask Enterprise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~$175M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728216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Valuation Multiple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2316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12.5x LTM Adj. EBITDA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039112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LTM Revenue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2316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$112M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350008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LTM Adj. EBITDA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2316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$14M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660904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23160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12.5%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Revenue Growth (YoY)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+14%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Headquarters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2316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Denver, CO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593592"/>
            <a:ext cx="384048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Banker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2316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Harris Williams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904488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Process Date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23160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April 2024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Advisor Contacts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1417320"/>
            <a:ext cx="36576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1417320"/>
            <a:ext cx="54864" cy="11430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1527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Stephanie Gould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1819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Managing Director — Harris Williams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20391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sgould@harriswilliams.com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66360" y="2240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(804) 555-3301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2697480"/>
            <a:ext cx="365760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2697480"/>
            <a:ext cx="54864" cy="11430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807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Ryan Takahashi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3099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Associate — Harris Williams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66360" y="3319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rtakahashi@harriswilliams.com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66360" y="3520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(804) 555-3302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2026-05-12T00:27:11Z</dcterms:created>
  <dcterms:modified xsi:type="dcterms:W3CDTF">2026-05-12T00:27:11Z</dcterms:modified>
</cp:coreProperties>
</file>