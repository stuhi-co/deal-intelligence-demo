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FY2016</c:v>
                  </c:pt>
                  <c:pt idx="1">
                    <c:v>FY2017</c:v>
                  </c:pt>
                  <c:pt idx="2">
                    <c:v>FY2018</c:v>
                  </c:pt>
                  <c:pt idx="3">
                    <c:v>LTM Q1'19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165</c:v>
                </c:pt>
                <c:pt idx="1">
                  <c:v>192.4</c:v>
                </c:pt>
                <c:pt idx="2">
                  <c:v>218.3</c:v>
                </c:pt>
                <c:pt idx="3">
                  <c:v>245.1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B5BAE"/>
            </a:solidFill>
            <a:ln w="31750" cap="flat">
              <a:solidFill>
                <a:srgbClr val="2B5B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5BAE"/>
              </a:solidFill>
              <a:ln w="9525" cap="flat">
                <a:solidFill>
                  <a:srgbClr val="2B5B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FY2019E</c:v>
                  </c:pt>
                  <c:pt idx="1">
                    <c:v>FY2020E</c:v>
                  </c:pt>
                  <c:pt idx="2">
                    <c:v>FY2021E</c:v>
                  </c:pt>
                  <c:pt idx="3">
                    <c:v>FY2022E</c:v>
                  </c:pt>
                  <c:pt idx="4">
                    <c:v>FY2023E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268</c:v>
                </c:pt>
                <c:pt idx="1">
                  <c:v>292</c:v>
                </c:pt>
                <c:pt idx="2">
                  <c:v>315</c:v>
                </c:pt>
                <c:pt idx="3">
                  <c:v>335</c:v>
                </c:pt>
                <c:pt idx="4">
                  <c:v>352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 ($M)</c:v>
                </c:pt>
              </c:strCache>
            </c:strRef>
          </c:tx>
          <c:spPr>
            <a:solidFill>
              <a:srgbClr val="C8A83C"/>
            </a:solidFill>
            <a:ln w="31750" cap="flat">
              <a:solidFill>
                <a:srgbClr val="C8A8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A83C"/>
              </a:solidFill>
              <a:ln w="9525" cap="flat">
                <a:solidFill>
                  <a:srgbClr val="C8A8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FY2019E</c:v>
                  </c:pt>
                  <c:pt idx="1">
                    <c:v>FY2020E</c:v>
                  </c:pt>
                  <c:pt idx="2">
                    <c:v>FY2021E</c:v>
                  </c:pt>
                  <c:pt idx="3">
                    <c:v>FY2022E</c:v>
                  </c:pt>
                  <c:pt idx="4">
                    <c:v>FY2023E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57</c:v>
                </c:pt>
                <c:pt idx="2">
                  <c:v>64</c:v>
                </c:pt>
                <c:pt idx="3">
                  <c:v>71</c:v>
                </c:pt>
                <c:pt idx="4">
                  <c:v>77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1371600" cy="36576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28346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D55"/>
                </a:solidFill>
              </a:rPr>
              <a:t>HARRIS WILLIAMS &amp; CO.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AABBD0"/>
                </a:solidFill>
              </a:rPr>
              <a:t>CONFIDENTIAL INFORMATION MEMORANDUM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</a:rPr>
              <a:t>PROJECT QUARRY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A83C"/>
                </a:solidFill>
              </a:rPr>
              <a:t>Consolidated Rock Industries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Light Industrial — Aggregates &amp; Quarrying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4074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March 2019  |  STRICTLY PRIVATE &amp;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8097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45566"/>
                </a:solidFill>
              </a:rPr>
              <a:t>This CIM has been prepared by Harris Williams &amp; Co. on behalf of Consolidated Rock Industries. Not for distribution.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Consolidated Rock Industries — Light Industrial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Consolidated Rock Industries ("CRI" or the "Company") is a leading regional aggregates producer operating 14 permitted quarry sites across Utah, Nevada, Colorado, and Idaho. The Company produces crushed stone, construction sand &amp; gravel, and ready-mix concrete for residential, commercial, and infrastructure end-markets. With over 580M tons of permitted mineral reserves, CRI offers an acquiror 30+ years of fully-permitted production capacity — a near-irreplaceable asset given increasingly restrictive permitting environments.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Key Financial 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56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LTM Q1'19 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9748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$245M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685032"/>
            <a:ext cx="4206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216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Adj. EBITDA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97480" y="3721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$44M (18.0%)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950208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867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Revenue Growth (YoY)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+18%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215384"/>
            <a:ext cx="4206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51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Asking EV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748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~$350M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5171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Transaction Multiple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97480" y="4517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7.9x LTM Adj. EBITDA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74920" y="1188720"/>
            <a:ext cx="1828800" cy="1042416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353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$245M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749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13448" y="1188720"/>
            <a:ext cx="1828800" cy="1042416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1353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$44M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13448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74920" y="2304288"/>
            <a:ext cx="1828800" cy="104241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+18%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7492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13448" y="2304288"/>
            <a:ext cx="1828800" cy="104241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580M tons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13448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Permitted Reserves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74920" y="3419856"/>
            <a:ext cx="1828800" cy="10424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14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74920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Quarry Sites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013448" y="3419856"/>
            <a:ext cx="1828800" cy="10424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3448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18.0%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13448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EBITDA Margin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14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Investment Highlights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Six reasons Consolidated Rock Industries represents a compelling platform investment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130759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Irreplaceable permitted reserve base with 30+ years of production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" y="155448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580M tons of permitted mineral reserves across 14 active quarry sites   ·   New quarry permitting in the Mountain West takes 8–15 years and &gt;$12M — creating structural supply constraints   ·   CRI holds the largest single permitted reserve in the Salt Lake Basin (190M tons, Granite Peak site)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819656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" y="189280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Diversified end-market exposure with infrastructure tailwind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" y="213969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Revenue mix: infrastructure/public works 48%, residential 31%, commercial 21%   ·   IIJA (Infrastructure Investment &amp; Jobs Act) expected to generate $550B+ in construction spending through 2028   ·   Utah DOT awarded $2.1B in highway projects for 2019–2023; CRI is sole-source supplier on 3 projects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404872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" y="2478024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Strong pricing power in consolidated local markets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" y="272491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CRI holds #1 or #2 market position in each of its 6 served metropolitan areas   ·   Crushed stone ASP of $14.20/ton vs. regional average $11.80/ton — 20% premium reflects permit scarcity   ·   Pricing increased 6.2% in FY2018 with no volume impact; further increases planned for 2019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" y="3063240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Vertically integrated with owned logistics and ready-mix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8408" y="331012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220-vehicle owned fleet eliminates third-party trucking dependency — saves est. $8M/yr vs. outsourced   ·   Ready-Mix Concrete division (14% of revenue) captures downstream value and improves product mix   ·   Owned rail spur at Granite Peak enables large-volume, long-haul sales to new geographies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941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" y="3648456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Consistent cash generation with low ongoing capex requirements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389534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Quarrying is a low-reinvestment business once permitted — maintenance capex averages 4.2% of revenue   ·   Free cash flow conversion &gt;85% of Adj. EBITDA over trailing 3 years   ·   No material environmental remediation liabilities — all sites carry active closure bonds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" y="423367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Founder-led platform with active M&amp;A pipeline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8408" y="448056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CEO David Mercer has identified 6 bolt-on quarry targets in adjacent markets (WY, MT, AZ)   ·   3 targets in late-stage negotiation; combined EV ~$85M at 5–6x EBITDA (immediate accretion)   ·   Acquisitive roll-up strategy proven — CRI completed 4 acquisitions 2012–2017 at avg. 5.3x EBITDA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14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Company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History, scale, and operating footprint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25400">
            <a:solidFill>
              <a:srgbClr val="2B5B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2004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-201168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Founded by David Mercer; acquired Granite Peak quarry (Salt Lake City) for $18M.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7007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2008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704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Expanded into Nevada; acquired Twin Pines Aggregates (2 sites, 85M ton reserves).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0723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420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Ready-Mix Concrete division launched. Revenue crosses $100M for first time.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4439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136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Colorado entry: acquired Rockies Aggregate Partners (3 quarry sites, $42M).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8155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852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Rail spur completed at Granite Peak; opens long-haul bulk sales channel.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1871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2018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568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Revenue $218M; EBITDA margin expands to 17.4%. Idaho market entry.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558784" y="2432304"/>
            <a:ext cx="256032" cy="256032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2019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0284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Initiating sale process via Harris Williams. LTM revenue $245M, EBITDA $44M.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2004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Founded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901952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1952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Salt Lake City, 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01952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HQ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46704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~640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46704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Employees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91456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14 (4 states)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91456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Quarry Sites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36208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~580M tons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36208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Reserves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680960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220+ vehicles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8096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Fleet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Consolidated Rock Industries ("CRI" or the "Company") is a leading regional aggregates producer operating 14 permitted quarry sites across Utah, Nevada, Colorado, and Idaho. The Company produces crushed stone, construction sand &amp; gravel, and ready-mix concrete for residential, commercial, and infrastructure end-markets.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14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PRODUCTS &amp; SERVICES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Products &amp; Services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Diversified offering with multiple growth vectors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4251960" cy="32004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893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PRIMARY PRODUCT — 52% OF REVENUE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108960" y="12893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$14.20/ton avg.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Crushed Stone &amp; Granite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98424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Granite, limestone, and dolomite products graded to DOT specification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225856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Serves base course, drainage, concrete aggregate, and rip-rap applications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53288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Produced at 11 of 14 quarry sites; 190M tons of granite reserves at Granite Peak alone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64608" y="123444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234440"/>
            <a:ext cx="4251960" cy="32004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2893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SECONDARY PRODUCT — 21% OF REVENUE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516368" y="12893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$11.50/ton avg.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Sand &amp; Gravel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1768" y="198424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Natural sand and gravel for concrete, masonry, and landscaping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01768" y="225856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Lower-cost product with high-volume demand from residential housing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01768" y="253288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3 dedicated alluvial deposits; 85M tons of permitted sand &amp; gravel reserves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971800"/>
            <a:ext cx="42519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0266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VALUE-ADD PRODUCT — 14% OF REVENUE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108960" y="30266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$132/yd³ avg.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" y="3355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Ready-Mix Concrete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372160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Vertically integrated concrete mixing using CRI-sourced aggregates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94360" y="399592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950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8 batch plants co-located with quarry sites; 220 mixer trucks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4360" y="427024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Captures ~$35/yd³ of downstream margin vs. selling aggregate to third-party mixers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64608" y="29718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2971800"/>
            <a:ext cx="425196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30266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SPECIALTY — 13% OF REVENUE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516368" y="30266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74336" y="3355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Industrial Minerals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01768" y="372160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High-purity limestone for agricultural lime, water treatment, and industrial applications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01768" y="399592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8928" y="3950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Premium pricing vs. construction aggregate — avg. margin 24% vs. 18% overall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001768" y="427024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Long-term supply contracts with 3 regional municipalities (water treatment)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14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MARKET OPPORTUNITY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Market Opportunity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Large and growing addressable market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 Construction Materials Market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6093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Aggregate demand grows in line with construction activity (source: USGS 2019)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6092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$415B+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011680"/>
            <a:ext cx="6858000" cy="64008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Western US Aggregates Market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0" y="23408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CRI's served geography; growing 5% annually with housing + infrastructure tailwind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$28B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solidFill>
            <a:srgbClr val="2E5FA0"/>
          </a:solidFill>
          <a:ln w="12700">
            <a:solidFill>
              <a:srgbClr val="2E5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346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Mountain West Crushed Stone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30723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CRI's core product TAM; supply-constrained given permitting barriers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$6.5B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14600" y="3474720"/>
            <a:ext cx="4114800" cy="64008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566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CRI Served Markets (6 MSAs)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3803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Direct competitive TAM; CRI holds #1-2 position in each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$1.8B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Market growth is driven by: infrastructure investment (IIJA), Western US population growth, and supply-constrained permitting environment limiting new entrants.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6 / 14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BUSINESS MODEL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Business Model &amp; Unit Economics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Revenue mix and key operating metrics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61872"/>
            <a:ext cx="2743200" cy="4572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Infrastructure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Public Works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48%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~$118M LTM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57984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DOT highway, bridge, and utility projects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2633472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Long-term supply agreements (avg. 3.2 yr duration)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" y="3108960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Sole-source status on 3 Utah DOT projects ($280M combined)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6928" y="3310128"/>
            <a:ext cx="2468880" cy="30175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55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Crushed Stone Gross Margin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94560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22.1%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" y="3630168"/>
            <a:ext cx="24688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Ready-Mix Gross Margin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94560" y="3666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14.8%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55848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5848" y="1261872"/>
            <a:ext cx="2743200" cy="45720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Residential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Construction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84648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31%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465576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~$76M LTM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3008" y="2157984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Homebuilder relationships with D.R. Horton, Ivory Homes, local developers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93008" y="2633472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Aggregate base course, drainage rock, and concrete supply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93008" y="3108960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0168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Strong tailwind: SL metro housing starts +18% YoY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465576" y="3310128"/>
            <a:ext cx="2468880" cy="30175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8728" y="3355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Crushed Stone Gross Margin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093208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22.1%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65576" y="3630168"/>
            <a:ext cx="24688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Ready-Mix Gross Margin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93208" y="3666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14.8%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54496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54496" y="1261872"/>
            <a:ext cx="2743200" cy="4572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Commercial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Industrial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83296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21%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364224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~$51M LTM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91656" y="2157984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8816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Commercial real estate, warehousing, data centers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391656" y="2633472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28816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Industrial mineral supply to municipal water treatment (3 contracts)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91656" y="3108960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28816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Ready-mix concrete direct to GC/sub-contractors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64224" y="3310128"/>
            <a:ext cx="2468880" cy="30175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37376" y="3355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Crushed Stone Gross Margin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991856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22.1%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64224" y="3630168"/>
            <a:ext cx="24688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7376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Ready-Mix Gross Margin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991856" y="36667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14.8%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7 / 14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HISTORICAL FINANCIALS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Historical Financial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$ in millions; FY ends December 31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($M unless noted)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FY2016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FY2017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FY2018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LTM Q1'19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165.0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192.4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218.3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245.1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YoY Growth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+16.6%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+13.5%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+18.1%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Profit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62.0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74.2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86.5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98.0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37.6%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38.6%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39.6%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40.0%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Adj. 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28.1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33.0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38.0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44.1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EBITDA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17.0%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17.2%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17.4%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18.0%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D&amp;A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(18.2)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(20.1)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(22.8)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(25.5)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EBIT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9.9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12.9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15.2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18.6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Interest Expense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(11.5)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(10.8)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(10.2)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(9.8)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Maintenance Capex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(7.0)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(8.0)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(9.2)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(10.4)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3822192"/>
          <a:ext cx="822960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542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Adj. EBITDA excludes stock-based compensation and one-time items.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8 / 14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BALANCE SHEET &amp; CAPITAL STRUCTURE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Balance Sheet &amp; Capital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As of most recent period; $ in millions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Capital Structure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5029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91440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Instrument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Maturity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Balance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Leverage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Senior Secured TL (L+275)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$125.0M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2.8x LTM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Revolving Credit Facility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$30.0M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Total Debt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$155.0M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(-) Cash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($18.5M)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Net Debt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$136.5M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3.1x net leverage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57784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Valuation Context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3200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"/>
                <a:gridCol w="1234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Enterprise Value (guidance)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~$350M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7.9x LTM Adj.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1.4x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Typical for aggregates: 1.2–1.6x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7.9x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Discount to public comps (10–12x) on size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/ Tons of Reserve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$0.60/ton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~$0.50–0.80 range for permitted quarries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(FY2020E)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6.1x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Compelling on projected growth path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9 / 14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MANAGEMENT PROJECTIONS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Financial Projections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Management case; $ in millions — not independently verified by Harris Williams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52144"/>
                <a:gridCol w="1152144"/>
                <a:gridCol w="1152144"/>
                <a:gridCol w="1152144"/>
                <a:gridCol w="115214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($M unless noted)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FY2019E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FY2020E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FY2021E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FY2022E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FY2023E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268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292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315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335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352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YoY Growth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+9%E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+9%E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+8%E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+6%E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+5%E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Profit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109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131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141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150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40.7%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41.1%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41.6%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42.1%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42.6%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Adj. 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64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71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77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EBITDA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18.7%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19.5%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20.3%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21.2%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21.9%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Maintenance Capex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(11)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(13)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(13)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(14)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3822192"/>
          <a:ext cx="8229600" cy="841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542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Management projections. Actual results may differ materially.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10 / 14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MANAGEMENT TEAM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Management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Experienced leadership with deep sector expertise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50876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David Mercer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Executive Officer &amp; Founder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81965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187452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Founder of CRI (2004). 30+ years in aggregates and construction materials. Previously VP Operations at Vulcan Materials Western Region. Owns 62% of company equity. Holds BS Civil Engineering, University of Utah.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64608" y="123444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123444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50876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41848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Patricia Holt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41848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Financial Officer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81965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187452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Joined CRI in 2011. Former Controller at US Concrete and before that 8 years in mining finance at Ernst &amp; Young. CPA. Manages banking relationships and led 2014 Colorado acquisition financing.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42316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269748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Mark Sandoval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34440" y="2788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Operating Officer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0837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30632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27 years in quarry operations. Joined CRI from Martin Marietta Materials in 2009. Oversees all 14 quarry sites, fleet maintenance, and ready-mix operations. Led the Granite Peak rail spur project ($8M, on budget, on schedule).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64608" y="242316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242316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69748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41848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Carol Jensen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41848" y="2788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Sales &amp; Business Development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00837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41848" y="30632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15 years at CRI; VP since 2015. Manages all contractor, DOT, and municipal accounts. Personally manages the top 20 accounts representing 58% of revenue. Identified and closed the 3 municipal water-treatment contracts.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361188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61188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388620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34440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Tom Brewer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34440" y="3977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Land &amp; Permitting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19709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34440" y="4251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Environmental attorney turned operator. Leads all permitting, reclamation, and land acquisition activities. Secured the Granite Peak reserve expansion permit in 2017 — adding 80M tons to reserves — after 4 years of regulatory process.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864608" y="361188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64608" y="361188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388620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41848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Lisa Park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41848" y="3977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Human Resources &amp; Safety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19709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41848" y="4251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MSHA-certified safety director. Reduced recordable incident rate from 4.2 to 1.8 per 200K hours over 6 years. Manages workforce of 640 across 14 sites and 4 states. Leads apprenticeship program with Salt Lake Community College.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11 / 14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TRANSACTION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Transaction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Harris Williams &amp; Co. exclusive sell-side advisory — March 2019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Valuation Context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Enterprise Value (guidance)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~$350M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7.9x LTM Adj.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1.4x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Typical for aggregates: 1.2–1.6x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7.9x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Discount to public comps (10–12x) on size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/ Tons of Reserve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$0.60/ton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~$0.50–0.80 range for permitted quarries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(FY2020E)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6.1x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Compelling on projected growth path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21208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Process Structure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12080" y="1572768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9240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Structure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8368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Targeted process; select financial and strategic buyers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12080" y="1901952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1956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Data Room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3680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Virtual (Merrill DataSite); available to qualified parties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212080" y="2231136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Management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0" y="2286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CEO/CFO/COO presentations; site visits available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12080" y="256032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92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Exclusivity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83680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Per process letter; IOIs due April 5, 2019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212080" y="2889504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924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Advisor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0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Harris Williams &amp; Co. (exclusive sell-side)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703320"/>
            <a:ext cx="91440" cy="9144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3C"/>
                </a:solidFill>
              </a:rPr>
              <a:t>Harris Williams &amp; Co. — Deal Contact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" y="404164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Robert Chen, Managing Director   |   r.chen@harriswilliams.com   |   +1 (312) 258-2500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5800" y="42153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Jennifer Walsh, Vice President   |   j.walsh@harriswilliams.com   |   +1 (312) 258-3814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" y="438912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Tyler Moss, Associate   |   t.moss@harriswilliams.com   |   +1 (312) 258-4102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12 / 14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Harris Williams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ADDITIONAL FINANCIAL DETAIL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Supplemental Financial Detail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Quarterly revenue bridge and unit economics detail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Key Operating Metrics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Trend / 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Crushed Stone Gross Margin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22.1%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+4pp vs. FY2016 on pricing &amp; volume leverage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Ready-Mix Gross Margin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14.8%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Stable; volume growth drives fixed-cost absorption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Blended Gross Margin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40.0%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as industrial minerals / ready-mix mix increases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Revenue per Ton (crushed stone)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$14.20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+6.2% FY2018; +4–5% increases planned annually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Maintenance Capex % of 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4.2%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Low reinvestment intensity — quarry assets long-lived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FCF Conversion (% of Adj. EBITDA)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&gt;85%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Consistent over trailing 3 years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13 / 14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</a:rPr>
              <a:t>APPENDIX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3C"/>
                </a:solidFill>
              </a:rPr>
              <a:t>Additional materials available in virtual data room upon NDA execution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Detailed financial model · Customer list · Site photos · Reference accounts · Environmental reports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5566"/>
                </a:solidFill>
              </a:rPr>
              <a:t>Harris Williams &amp; Co. — March 2019 — Strictly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2026-05-11T23:21:29Z</dcterms:created>
  <dcterms:modified xsi:type="dcterms:W3CDTF">2026-05-11T23:21:29Z</dcterms:modified>
</cp:coreProperties>
</file>