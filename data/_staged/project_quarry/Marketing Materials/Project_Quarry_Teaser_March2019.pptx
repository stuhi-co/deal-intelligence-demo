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D55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2D55"/>
                </a:solidFill>
                <a:latin typeface="Arial"/>
              </a:rPr>
              <a:t>Revenue ($M) — Actual vs. Projected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FY2016</c:v>
                  </c:pt>
                  <c:pt idx="1">
                    <c:v>FY2017</c:v>
                  </c:pt>
                  <c:pt idx="2">
                    <c:v>FY2018</c:v>
                  </c:pt>
                  <c:pt idx="3">
                    <c:v>LTM Q1'19</c:v>
                  </c:pt>
                  <c:pt idx="4">
                    <c:v>FY2019E</c:v>
                  </c:pt>
                  <c:pt idx="5">
                    <c:v>FY2020E</c:v>
                  </c:pt>
                  <c:pt idx="6">
                    <c:v>FY2021E</c:v>
                  </c:pt>
                  <c:pt idx="7">
                    <c:v>FY2022E</c:v>
                  </c:pt>
                  <c:pt idx="8">
                    <c:v>FY2023E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165</c:v>
                </c:pt>
                <c:pt idx="1">
                  <c:v>192.4</c:v>
                </c:pt>
                <c:pt idx="2">
                  <c:v>218.3</c:v>
                </c:pt>
                <c:pt idx="3">
                  <c:v>245.1</c:v>
                </c:pt>
                <c:pt idx="4">
                  <c:v>268</c:v>
                </c:pt>
                <c:pt idx="5">
                  <c:v>292</c:v>
                </c:pt>
                <c:pt idx="6">
                  <c:v>315</c:v>
                </c:pt>
                <c:pt idx="7">
                  <c:v>335</c:v>
                </c:pt>
                <c:pt idx="8">
                  <c:v>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0"/>
            <a:ext cx="5065776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137160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32461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D55"/>
                </a:solidFill>
              </a:rPr>
              <a:t>HARRIS WILLIAMS &amp; CO.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BBD0"/>
                </a:solidFill>
              </a:rPr>
              <a:t>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</a:rPr>
              <a:t>QUARRY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92608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3C"/>
                </a:solidFill>
              </a:rPr>
              <a:t>Executive Teaser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ABBD0"/>
                </a:solidFill>
              </a:rPr>
              <a:t>STRICTLY PRIVATE &amp;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Not for distribution without prior written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consent of Harris Williams &amp; Co..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March 2019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Transaction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713232"/>
            <a:ext cx="45720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86384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85953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Company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16752" y="85953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Consolidated Rock Industries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216152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12893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28930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Light Industrial — Aggregates &amp; Quarrying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645920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7190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HQ / Founded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16752" y="171907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Salt Lake City, UT / 2004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075688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1488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Advisor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16752" y="2148840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Harris Williams &amp; Co. (Exclusive)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2505456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57860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Revenue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6752" y="257860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$245M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2935224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0083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Adj. EBITDA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16752" y="300837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$44M (18.0% margin)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3364992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343814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343814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+18% YoY (LTM)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86791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Asking EV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16752" y="386791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~$350M (7.9x LTM Adj. EBITDA)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SNAPSHOT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Consolidated Rock Industries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Overview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Consolidated Rock Industries ("CRI" or the "Company") is a leading regional aggregates producer operating 14 permitted quarry sites across Utah, Nevada, Colorado, and Idaho. The Company produces crushed stone, construction sand &amp; gravel, and ready-mix concrete for residential, commercial, and infrastructure end-markets. With over 580M tons of permitted mineral reserves, CRI offers an acquiror 30+ years of fully-permitted production capacity — a near-irreplaceable asset given increasingly restrictive permitting environments.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Founded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7316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2004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HQ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2200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Salt Lake City, 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Employees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316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~640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Quarry Sites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2200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14 (4 states)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Reserves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7316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~580M tons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Fleet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220+ vehicles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E"/>
                </a:solidFill>
              </a:rPr>
              <a:t>$245M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633472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$44M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9744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19472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9472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+18%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86016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9574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Permitted Reserves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95744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580M tons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162288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72016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Quarry Sites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272016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14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33856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144828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44828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18.0%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Why Consolidated — Six Investment Highlights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Irreplaceable permitted reserve base with 30+ years of production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580M tons of permitted mineral reserves across 14 active quarry sites  ·  New quarry permitting in the Mountain West takes 8–15 years and &gt;$12M — creating structural supply constraints  ·  CRI holds the largest single permitted reserve in the Salt Lake Basin (190M tons, Granite Peak site)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64608" y="123444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Diversified end-market exposure with infrastructure tailwind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Revenue mix: infrastructure/public works 48%, residential 31%, commercial 21%  ·  IIJA (Infrastructure Investment &amp; Jobs Act) expected to generate $550B+ in construction spending through 2028  ·  Utah DOT awarded $2.1B in highway projects for 2019–2023; CRI is sole-source supplier on 3 projects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441448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Strong pricing power in consolidated local markets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87552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CRI holds #1 or #2 market position in each of its 6 served metropolitan areas  ·  Crushed stone ASP of $14.20/ton vs. regional average $11.80/ton — 20% premium reflects permit scarcity  ·  Pricing increased 6.2% in FY2018 with no volume impact; further increases planned for 2019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64608" y="244144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Vertically integrated with owned logistics and ready-mix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220-vehicle owned fleet eliminates third-party trucking dependency — saves est. $8M/yr vs. outsourced  ·  Ready-Mix Concrete division (14% of revenue) captures downstream value and improves product mix  ·  Owned rail spur at Granite Peak enables large-volume, long-haul sales to new geographies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3648456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Consistent cash generation with low ongoing capex requirements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87552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Quarrying is a low-reinvestment business once permitted — maintenance capex averages 4.2% of revenue  ·  Free cash flow conversion &gt;85% of Adj. EBITDA over trailing 3 years  ·  No material environmental remediation liabilities — all sites carry active closure bonds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64608" y="3648456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Founder-led platform with active M&amp;A pipeline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4960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CEO David Mercer has identified 6 bolt-on quarry targets in adjacent markets (WY, MT, AZ)  ·  3 targets in late-stage negotiation; combined EV ~$85M at 5–6x EBITDA (immediate accretion)  ·  Acquisitive roll-up strategy proven — CRI completed 4 acquisitions 2012–2017 at avg. 5.3x EBITDA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FINANCIAL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Historical results and management projections ($ in millions)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61872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61872"/>
          <a:ext cx="3063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"/>
                <a:gridCol w="493776"/>
                <a:gridCol w="493776"/>
                <a:gridCol w="493776"/>
                <a:gridCol w="493776"/>
                <a:gridCol w="49377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FY2016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FY2017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LTM Q1'19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FY2019E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FY2020E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165.0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192.4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218.3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245.1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YoY Growth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+16.6%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+13.5%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+18.1%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9.9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12.9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15.2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18.6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Interest Expense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(11.5)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(10.8)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(10.2)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(9.8)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292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18.7%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E = Management projections; not independently verified by Harris Williams &amp; Co..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Process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Targeted timeline — 2019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502920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-274320" y="502920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256032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-256032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Teaser Distribution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6596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93392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1993392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38988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IOI Submission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1188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03580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Management Presentations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5780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4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172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CIM &amp; Data Room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0372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5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32764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Final Bids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4964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5528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6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97356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Signing &amp; Announcement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30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Harris Williams &amp; Co. — Contact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38770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Robert Chen, Managing Director   |   r.chen@harriswilliams.com   |   +1 (312) 258-2500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" y="407822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Jennifer Walsh, Vice President   |   j.walsh@harriswilliams.com   |   +1 (312) 258-3814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1520" y="42793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Tyler Moss, Associate   |   t.moss@harriswilliams.com   |   +1 (312) 258-4102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2026-05-11T23:21:29Z</dcterms:created>
  <dcterms:modified xsi:type="dcterms:W3CDTF">2026-05-11T23:21:29Z</dcterms:modified>
</cp:coreProperties>
</file>