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D55"/>
          </a:solidFill>
          <a:ln w="12700">
            <a:solidFill>
              <a:srgbClr val="1B2D55"/>
            </a:solidFill>
            <a:prstDash val="solid"/>
          </a:ln>
        </p:spPr>
      </p:sp>
      <p:sp>
        <p:nvSpPr>
          <p:cNvPr id="3" name="Shape 1"/>
          <p:cNvSpPr/>
          <p:nvPr/>
        </p:nvSpPr>
        <p:spPr>
          <a:xfrm>
            <a:off x="0" y="3474720"/>
            <a:ext cx="9144000" cy="1668780"/>
          </a:xfrm>
          <a:prstGeom prst="rect">
            <a:avLst/>
          </a:prstGeom>
          <a:solidFill>
            <a:srgbClr val="2B5BAE"/>
          </a:solidFill>
          <a:ln w="12700">
            <a:solidFill>
              <a:srgbClr val="2B5BAE"/>
            </a:solidFill>
            <a:prstDash val="solid"/>
          </a:ln>
        </p:spPr>
      </p:sp>
      <p:sp>
        <p:nvSpPr>
          <p:cNvPr id="4" name="Shape 2"/>
          <p:cNvSpPr/>
          <p:nvPr/>
        </p:nvSpPr>
        <p:spPr>
          <a:xfrm>
            <a:off x="0" y="3438144"/>
            <a:ext cx="9144000" cy="64008"/>
          </a:xfrm>
          <a:prstGeom prst="rect">
            <a:avLst/>
          </a:prstGeom>
          <a:solidFill>
            <a:srgbClr val="C8A83C"/>
          </a:solidFill>
          <a:ln w="12700">
            <a:solidFill>
              <a:srgbClr val="C8A83C"/>
            </a:solidFill>
            <a:prstDash val="solid"/>
          </a:ln>
        </p:spPr>
      </p:sp>
      <p:sp>
        <p:nvSpPr>
          <p:cNvPr id="5" name="Text 3"/>
          <p:cNvSpPr/>
          <p:nvPr/>
        </p:nvSpPr>
        <p:spPr>
          <a:xfrm>
            <a:off x="548640" y="411480"/>
            <a:ext cx="8046720" cy="1005840"/>
          </a:xfrm>
          <a:prstGeom prst="rect">
            <a:avLst/>
          </a:prstGeom>
          <a:noFill/>
          <a:ln/>
        </p:spPr>
        <p:txBody>
          <a:bodyPr wrap="square" lIns="0" tIns="0" rIns="0" bIns="0" rtlCol="0" anchor="ctr"/>
          <a:lstStyle/>
          <a:p>
            <a:pPr indent="0" marL="0">
              <a:buNone/>
            </a:pPr>
            <a:r>
              <a:rPr lang="en-US" sz="5200" b="1" dirty="0">
                <a:solidFill>
                  <a:srgbClr val="FFFFFF"/>
                </a:solidFill>
              </a:rPr>
              <a:t>PROJECT BEACON</a:t>
            </a:r>
            <a:endParaRPr lang="en-US" sz="5200" dirty="0"/>
          </a:p>
        </p:txBody>
      </p:sp>
      <p:sp>
        <p:nvSpPr>
          <p:cNvPr id="6" name="Text 4"/>
          <p:cNvSpPr/>
          <p:nvPr/>
        </p:nvSpPr>
        <p:spPr>
          <a:xfrm>
            <a:off x="548640" y="1417320"/>
            <a:ext cx="8046720" cy="457200"/>
          </a:xfrm>
          <a:prstGeom prst="rect">
            <a:avLst/>
          </a:prstGeom>
          <a:noFill/>
          <a:ln/>
        </p:spPr>
        <p:txBody>
          <a:bodyPr wrap="square" lIns="0" tIns="0" rIns="0" bIns="0" rtlCol="0" anchor="ctr"/>
          <a:lstStyle/>
          <a:p>
            <a:pPr indent="0" marL="0">
              <a:buNone/>
            </a:pPr>
            <a:r>
              <a:rPr lang="en-US" sz="1500" dirty="0">
                <a:solidFill>
                  <a:srgbClr val="AABBD0"/>
                </a:solidFill>
              </a:rPr>
              <a:t>Confidential Information Memorandum</a:t>
            </a:r>
            <a:endParaRPr lang="en-US" sz="1500" dirty="0"/>
          </a:p>
        </p:txBody>
      </p:sp>
      <p:sp>
        <p:nvSpPr>
          <p:cNvPr id="7" name="Shape 5"/>
          <p:cNvSpPr/>
          <p:nvPr/>
        </p:nvSpPr>
        <p:spPr>
          <a:xfrm>
            <a:off x="548640" y="1920240"/>
            <a:ext cx="3200400" cy="0"/>
          </a:xfrm>
          <a:prstGeom prst="line">
            <a:avLst/>
          </a:prstGeom>
          <a:noFill/>
          <a:ln w="19050">
            <a:solidFill>
              <a:srgbClr val="C8A83C"/>
            </a:solidFill>
            <a:prstDash val="solid"/>
          </a:ln>
        </p:spPr>
      </p:sp>
      <p:sp>
        <p:nvSpPr>
          <p:cNvPr id="8" name="Text 6"/>
          <p:cNvSpPr/>
          <p:nvPr/>
        </p:nvSpPr>
        <p:spPr>
          <a:xfrm>
            <a:off x="548640" y="2057400"/>
            <a:ext cx="8046720" cy="365760"/>
          </a:xfrm>
          <a:prstGeom prst="rect">
            <a:avLst/>
          </a:prstGeom>
          <a:noFill/>
          <a:ln/>
        </p:spPr>
        <p:txBody>
          <a:bodyPr wrap="square" lIns="0" tIns="0" rIns="0" bIns="0" rtlCol="0" anchor="ctr"/>
          <a:lstStyle/>
          <a:p>
            <a:pPr indent="0" marL="0">
              <a:buNone/>
            </a:pPr>
            <a:r>
              <a:rPr lang="en-US" sz="1400" i="1" dirty="0">
                <a:solidFill>
                  <a:srgbClr val="FFFFFF"/>
                </a:solidFill>
              </a:rPr>
              <a:t>Lighthouse Logistics Group</a:t>
            </a:r>
            <a:endParaRPr lang="en-US" sz="1400" dirty="0"/>
          </a:p>
        </p:txBody>
      </p:sp>
      <p:sp>
        <p:nvSpPr>
          <p:cNvPr id="9" name="Text 7"/>
          <p:cNvSpPr/>
          <p:nvPr/>
        </p:nvSpPr>
        <p:spPr>
          <a:xfrm>
            <a:off x="548640" y="2423160"/>
            <a:ext cx="8046720" cy="292608"/>
          </a:xfrm>
          <a:prstGeom prst="rect">
            <a:avLst/>
          </a:prstGeom>
          <a:noFill/>
          <a:ln/>
        </p:spPr>
        <p:txBody>
          <a:bodyPr wrap="square" lIns="0" tIns="0" rIns="0" bIns="0" rtlCol="0" anchor="ctr"/>
          <a:lstStyle/>
          <a:p>
            <a:pPr indent="0" marL="0">
              <a:buNone/>
            </a:pPr>
            <a:r>
              <a:rPr lang="en-US" sz="1000" dirty="0">
                <a:solidFill>
                  <a:srgbClr val="AABBD0"/>
                </a:solidFill>
              </a:rPr>
              <a:t>Transportation &amp; Logistics | Regional LTL &amp; Final-Mile Freight</a:t>
            </a:r>
            <a:endParaRPr lang="en-US" sz="1000" dirty="0"/>
          </a:p>
        </p:txBody>
      </p:sp>
      <p:sp>
        <p:nvSpPr>
          <p:cNvPr id="10" name="Text 8"/>
          <p:cNvSpPr/>
          <p:nvPr/>
        </p:nvSpPr>
        <p:spPr>
          <a:xfrm>
            <a:off x="548640" y="3547872"/>
            <a:ext cx="4572000" cy="320040"/>
          </a:xfrm>
          <a:prstGeom prst="rect">
            <a:avLst/>
          </a:prstGeom>
          <a:noFill/>
          <a:ln/>
        </p:spPr>
        <p:txBody>
          <a:bodyPr wrap="square" lIns="0" tIns="0" rIns="0" bIns="0" rtlCol="0" anchor="ctr"/>
          <a:lstStyle/>
          <a:p>
            <a:pPr indent="0" marL="0">
              <a:buNone/>
            </a:pPr>
            <a:r>
              <a:rPr lang="en-US" sz="900" dirty="0">
                <a:solidFill>
                  <a:srgbClr val="AABBD0"/>
                </a:solidFill>
              </a:rPr>
              <a:t>William Blair &amp; Company | September 2023</a:t>
            </a:r>
            <a:endParaRPr lang="en-US" sz="900" dirty="0"/>
          </a:p>
        </p:txBody>
      </p:sp>
      <p:sp>
        <p:nvSpPr>
          <p:cNvPr id="11" name="Text 9"/>
          <p:cNvSpPr/>
          <p:nvPr/>
        </p:nvSpPr>
        <p:spPr>
          <a:xfrm>
            <a:off x="5029200" y="3547872"/>
            <a:ext cx="3657600" cy="320040"/>
          </a:xfrm>
          <a:prstGeom prst="rect">
            <a:avLst/>
          </a:prstGeom>
          <a:noFill/>
          <a:ln/>
        </p:spPr>
        <p:txBody>
          <a:bodyPr wrap="square" lIns="0" tIns="0" rIns="0" bIns="0" rtlCol="0" anchor="ctr"/>
          <a:lstStyle/>
          <a:p>
            <a:pPr algn="r" indent="0" marL="0">
              <a:buNone/>
            </a:pPr>
            <a:r>
              <a:rPr lang="en-US" sz="900" b="1" dirty="0">
                <a:solidFill>
                  <a:srgbClr val="C8A83C"/>
                </a:solidFill>
              </a:rPr>
              <a:t>STRICTLY CONFIDENTIAL</a:t>
            </a:r>
            <a:endParaRPr lang="en-US" sz="900" dirty="0"/>
          </a:p>
        </p:txBody>
      </p:sp>
      <p:sp>
        <p:nvSpPr>
          <p:cNvPr id="12" name="Text 10"/>
          <p:cNvSpPr/>
          <p:nvPr/>
        </p:nvSpPr>
        <p:spPr>
          <a:xfrm>
            <a:off x="548640" y="3950208"/>
            <a:ext cx="8046720" cy="822960"/>
          </a:xfrm>
          <a:prstGeom prst="rect">
            <a:avLst/>
          </a:prstGeom>
          <a:noFill/>
          <a:ln/>
        </p:spPr>
        <p:txBody>
          <a:bodyPr wrap="square" lIns="0" tIns="0" rIns="0" bIns="0" rtlCol="0" anchor="ctr"/>
          <a:lstStyle/>
          <a:p>
            <a:pPr indent="0" marL="0">
              <a:buNone/>
            </a:pPr>
            <a:r>
              <a:rPr lang="en-US" sz="700" dirty="0">
                <a:solidFill>
                  <a:srgbClr val="8899AA"/>
                </a:solidFill>
              </a:rPr>
              <a:t>This Confidential Information Memorandum has been prepared by William Blair &amp; Company solely for use by prospective purchasers in evaluating a possible transaction. The information contained herein has been obtained from sources believed to be reliable but has not been independently verified. Recipients must treat this document as strictly confidential.</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Important Disclaimer</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2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Important Disclaimer &amp; Confidentiality Notice</a:t>
            </a:r>
            <a:endParaRPr lang="en-US" sz="1600" dirty="0"/>
          </a:p>
        </p:txBody>
      </p:sp>
      <p:sp>
        <p:nvSpPr>
          <p:cNvPr id="10" name="Text 8"/>
          <p:cNvSpPr/>
          <p:nvPr/>
        </p:nvSpPr>
        <p:spPr>
          <a:xfrm>
            <a:off x="457200" y="1143000"/>
            <a:ext cx="8229600" cy="777240"/>
          </a:xfrm>
          <a:prstGeom prst="rect">
            <a:avLst/>
          </a:prstGeom>
          <a:noFill/>
          <a:ln/>
        </p:spPr>
        <p:txBody>
          <a:bodyPr wrap="square" lIns="0" tIns="0" rIns="0" bIns="0" rtlCol="0" anchor="ctr"/>
          <a:lstStyle/>
          <a:p>
            <a:pPr indent="0" marL="0">
              <a:buNone/>
            </a:pPr>
            <a:r>
              <a:rPr lang="en-US" sz="800" dirty="0">
                <a:solidFill>
                  <a:srgbClr val="4A5568"/>
                </a:solidFill>
              </a:rPr>
              <a:t>This Confidential Information Memorandum (this "CIM") has been prepared by William Blair &amp; Company ("Advisor") on behalf of Lighthouse Logistics Group (the "Company") solely to assist prospective purchasers in making their own evaluation of the Company. This CIM does not purport to contain all of the information that a prospective purchaser may require.</a:t>
            </a:r>
            <a:endParaRPr lang="en-US" sz="800" dirty="0"/>
          </a:p>
        </p:txBody>
      </p:sp>
      <p:sp>
        <p:nvSpPr>
          <p:cNvPr id="11" name="Shape 9"/>
          <p:cNvSpPr/>
          <p:nvPr/>
        </p:nvSpPr>
        <p:spPr>
          <a:xfrm>
            <a:off x="457200" y="1947672"/>
            <a:ext cx="8229600" cy="0"/>
          </a:xfrm>
          <a:prstGeom prst="line">
            <a:avLst/>
          </a:prstGeom>
          <a:noFill/>
          <a:ln w="9525">
            <a:solidFill>
              <a:srgbClr val="D0D8E4"/>
            </a:solidFill>
            <a:prstDash val="solid"/>
          </a:ln>
        </p:spPr>
      </p:sp>
      <p:sp>
        <p:nvSpPr>
          <p:cNvPr id="12" name="Text 10"/>
          <p:cNvSpPr/>
          <p:nvPr/>
        </p:nvSpPr>
        <p:spPr>
          <a:xfrm>
            <a:off x="457200" y="2039112"/>
            <a:ext cx="8229600" cy="777240"/>
          </a:xfrm>
          <a:prstGeom prst="rect">
            <a:avLst/>
          </a:prstGeom>
          <a:noFill/>
          <a:ln/>
        </p:spPr>
        <p:txBody>
          <a:bodyPr wrap="square" lIns="0" tIns="0" rIns="0" bIns="0" rtlCol="0" anchor="ctr"/>
          <a:lstStyle/>
          <a:p>
            <a:pPr indent="0" marL="0">
              <a:buNone/>
            </a:pPr>
            <a:r>
              <a:rPr lang="en-US" sz="800" dirty="0">
                <a:solidFill>
                  <a:srgbClr val="4A5568"/>
                </a:solidFill>
              </a:rPr>
              <a:t>The information contained in this CIM has been obtained from sources believed to be reliable, including from the Company and its management team. However, neither the Company nor Advisor makes any representation or warranty, express or implied, as to the accuracy or completeness of the information contained herein, and nothing contained herein shall be relied upon as a promise or representation as to the future performance of the Company.</a:t>
            </a:r>
            <a:endParaRPr lang="en-US" sz="800" dirty="0"/>
          </a:p>
        </p:txBody>
      </p:sp>
      <p:sp>
        <p:nvSpPr>
          <p:cNvPr id="13" name="Shape 11"/>
          <p:cNvSpPr/>
          <p:nvPr/>
        </p:nvSpPr>
        <p:spPr>
          <a:xfrm>
            <a:off x="457200" y="2843784"/>
            <a:ext cx="8229600" cy="0"/>
          </a:xfrm>
          <a:prstGeom prst="line">
            <a:avLst/>
          </a:prstGeom>
          <a:noFill/>
          <a:ln w="9525">
            <a:solidFill>
              <a:srgbClr val="D0D8E4"/>
            </a:solidFill>
            <a:prstDash val="solid"/>
          </a:ln>
        </p:spPr>
      </p:sp>
      <p:sp>
        <p:nvSpPr>
          <p:cNvPr id="14" name="Text 12"/>
          <p:cNvSpPr/>
          <p:nvPr/>
        </p:nvSpPr>
        <p:spPr>
          <a:xfrm>
            <a:off x="457200" y="2935224"/>
            <a:ext cx="8229600" cy="777240"/>
          </a:xfrm>
          <a:prstGeom prst="rect">
            <a:avLst/>
          </a:prstGeom>
          <a:noFill/>
          <a:ln/>
        </p:spPr>
        <p:txBody>
          <a:bodyPr wrap="square" lIns="0" tIns="0" rIns="0" bIns="0" rtlCol="0" anchor="ctr"/>
          <a:lstStyle/>
          <a:p>
            <a:pPr indent="0" marL="0">
              <a:buNone/>
            </a:pPr>
            <a:r>
              <a:rPr lang="en-US" sz="800" dirty="0">
                <a:solidFill>
                  <a:srgbClr val="4A5568"/>
                </a:solidFill>
              </a:rPr>
              <a:t>This CIM and the information contained herein are strictly confidential and are being provided solely to the recipient. By accepting this CIM, the recipient agrees not to reproduce, disclose, or distribute, in whole or in part, to any other person or entity without the prior written consent of the Advisor.</a:t>
            </a:r>
            <a:endParaRPr lang="en-US" sz="800" dirty="0"/>
          </a:p>
        </p:txBody>
      </p:sp>
      <p:sp>
        <p:nvSpPr>
          <p:cNvPr id="15" name="Shape 13"/>
          <p:cNvSpPr/>
          <p:nvPr/>
        </p:nvSpPr>
        <p:spPr>
          <a:xfrm>
            <a:off x="457200" y="3739896"/>
            <a:ext cx="8229600" cy="0"/>
          </a:xfrm>
          <a:prstGeom prst="line">
            <a:avLst/>
          </a:prstGeom>
          <a:noFill/>
          <a:ln w="9525">
            <a:solidFill>
              <a:srgbClr val="D0D8E4"/>
            </a:solidFill>
            <a:prstDash val="solid"/>
          </a:ln>
        </p:spPr>
      </p:sp>
      <p:sp>
        <p:nvSpPr>
          <p:cNvPr id="16" name="Text 14"/>
          <p:cNvSpPr/>
          <p:nvPr/>
        </p:nvSpPr>
        <p:spPr>
          <a:xfrm>
            <a:off x="457200" y="3831336"/>
            <a:ext cx="8229600" cy="777240"/>
          </a:xfrm>
          <a:prstGeom prst="rect">
            <a:avLst/>
          </a:prstGeom>
          <a:noFill/>
          <a:ln/>
        </p:spPr>
        <p:txBody>
          <a:bodyPr wrap="square" lIns="0" tIns="0" rIns="0" bIns="0" rtlCol="0" anchor="ctr"/>
          <a:lstStyle/>
          <a:p>
            <a:pPr indent="0" marL="0">
              <a:buNone/>
            </a:pPr>
            <a:r>
              <a:rPr lang="en-US" sz="800" dirty="0">
                <a:solidFill>
                  <a:srgbClr val="4A5568"/>
                </a:solidFill>
              </a:rPr>
              <a:t>This CIM is not an offer to sell or a solicitation of an offer to buy any securities. Any such offer or solicitation will be made only pursuant to definitive transaction documents. The Company and Advisor reserve the right, in their absolute discretion, to reject any or all proposals, to terminate discussions at any time, and to negotiate with any party.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Table of Contents</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3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Table of Contents</a:t>
            </a:r>
            <a:endParaRPr lang="en-US" sz="1600" dirty="0"/>
          </a:p>
        </p:txBody>
      </p:sp>
      <p:sp>
        <p:nvSpPr>
          <p:cNvPr id="10" name="Shape 8"/>
          <p:cNvSpPr/>
          <p:nvPr/>
        </p:nvSpPr>
        <p:spPr>
          <a:xfrm>
            <a:off x="1371600" y="1097280"/>
            <a:ext cx="6400800" cy="338328"/>
          </a:xfrm>
          <a:prstGeom prst="rect">
            <a:avLst/>
          </a:prstGeom>
          <a:solidFill>
            <a:srgbClr val="FFFFFF"/>
          </a:solidFill>
          <a:ln w="12700">
            <a:solidFill>
              <a:srgbClr val="FFFFFF"/>
            </a:solidFill>
            <a:prstDash val="solid"/>
          </a:ln>
        </p:spPr>
      </p:sp>
      <p:sp>
        <p:nvSpPr>
          <p:cNvPr id="11" name="Text 9"/>
          <p:cNvSpPr/>
          <p:nvPr/>
        </p:nvSpPr>
        <p:spPr>
          <a:xfrm>
            <a:off x="1508760" y="1152144"/>
            <a:ext cx="5029200" cy="228600"/>
          </a:xfrm>
          <a:prstGeom prst="rect">
            <a:avLst/>
          </a:prstGeom>
          <a:noFill/>
          <a:ln/>
        </p:spPr>
        <p:txBody>
          <a:bodyPr wrap="square" lIns="0" tIns="0" rIns="0" bIns="0" rtlCol="0" anchor="ctr"/>
          <a:lstStyle/>
          <a:p>
            <a:pPr indent="0" marL="0">
              <a:buNone/>
            </a:pPr>
            <a:r>
              <a:rPr lang="en-US" sz="900" dirty="0">
                <a:solidFill>
                  <a:srgbClr val="1B2D55"/>
                </a:solidFill>
              </a:rPr>
              <a:t>Executive Summary</a:t>
            </a:r>
            <a:endParaRPr lang="en-US" sz="900" dirty="0"/>
          </a:p>
        </p:txBody>
      </p:sp>
      <p:sp>
        <p:nvSpPr>
          <p:cNvPr id="12" name="Text 10"/>
          <p:cNvSpPr/>
          <p:nvPr/>
        </p:nvSpPr>
        <p:spPr>
          <a:xfrm>
            <a:off x="6858000" y="1152144"/>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04</a:t>
            </a:r>
            <a:endParaRPr lang="en-US" sz="900" dirty="0"/>
          </a:p>
        </p:txBody>
      </p:sp>
      <p:sp>
        <p:nvSpPr>
          <p:cNvPr id="13" name="Shape 11"/>
          <p:cNvSpPr/>
          <p:nvPr/>
        </p:nvSpPr>
        <p:spPr>
          <a:xfrm>
            <a:off x="1371600" y="1435608"/>
            <a:ext cx="6400800" cy="338328"/>
          </a:xfrm>
          <a:prstGeom prst="rect">
            <a:avLst/>
          </a:prstGeom>
          <a:solidFill>
            <a:srgbClr val="F4F6FA"/>
          </a:solidFill>
          <a:ln w="12700">
            <a:solidFill>
              <a:srgbClr val="F4F6FA"/>
            </a:solidFill>
            <a:prstDash val="solid"/>
          </a:ln>
        </p:spPr>
      </p:sp>
      <p:sp>
        <p:nvSpPr>
          <p:cNvPr id="14" name="Text 12"/>
          <p:cNvSpPr/>
          <p:nvPr/>
        </p:nvSpPr>
        <p:spPr>
          <a:xfrm>
            <a:off x="1508760" y="1490472"/>
            <a:ext cx="5029200" cy="228600"/>
          </a:xfrm>
          <a:prstGeom prst="rect">
            <a:avLst/>
          </a:prstGeom>
          <a:noFill/>
          <a:ln/>
        </p:spPr>
        <p:txBody>
          <a:bodyPr wrap="square" lIns="0" tIns="0" rIns="0" bIns="0" rtlCol="0" anchor="ctr"/>
          <a:lstStyle/>
          <a:p>
            <a:pPr indent="0" marL="0">
              <a:buNone/>
            </a:pPr>
            <a:r>
              <a:rPr lang="en-US" sz="900" dirty="0">
                <a:solidFill>
                  <a:srgbClr val="1B2D55"/>
                </a:solidFill>
              </a:rPr>
              <a:t>Investment Highlights</a:t>
            </a:r>
            <a:endParaRPr lang="en-US" sz="900" dirty="0"/>
          </a:p>
        </p:txBody>
      </p:sp>
      <p:sp>
        <p:nvSpPr>
          <p:cNvPr id="15" name="Text 13"/>
          <p:cNvSpPr/>
          <p:nvPr/>
        </p:nvSpPr>
        <p:spPr>
          <a:xfrm>
            <a:off x="6858000" y="1490472"/>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05</a:t>
            </a:r>
            <a:endParaRPr lang="en-US" sz="900" dirty="0"/>
          </a:p>
        </p:txBody>
      </p:sp>
      <p:sp>
        <p:nvSpPr>
          <p:cNvPr id="16" name="Shape 14"/>
          <p:cNvSpPr/>
          <p:nvPr/>
        </p:nvSpPr>
        <p:spPr>
          <a:xfrm>
            <a:off x="1371600" y="1773936"/>
            <a:ext cx="6400800" cy="338328"/>
          </a:xfrm>
          <a:prstGeom prst="rect">
            <a:avLst/>
          </a:prstGeom>
          <a:solidFill>
            <a:srgbClr val="FFFFFF"/>
          </a:solidFill>
          <a:ln w="12700">
            <a:solidFill>
              <a:srgbClr val="FFFFFF"/>
            </a:solidFill>
            <a:prstDash val="solid"/>
          </a:ln>
        </p:spPr>
      </p:sp>
      <p:sp>
        <p:nvSpPr>
          <p:cNvPr id="17" name="Text 15"/>
          <p:cNvSpPr/>
          <p:nvPr/>
        </p:nvSpPr>
        <p:spPr>
          <a:xfrm>
            <a:off x="1508760" y="1828800"/>
            <a:ext cx="5029200" cy="228600"/>
          </a:xfrm>
          <a:prstGeom prst="rect">
            <a:avLst/>
          </a:prstGeom>
          <a:noFill/>
          <a:ln/>
        </p:spPr>
        <p:txBody>
          <a:bodyPr wrap="square" lIns="0" tIns="0" rIns="0" bIns="0" rtlCol="0" anchor="ctr"/>
          <a:lstStyle/>
          <a:p>
            <a:pPr indent="0" marL="0">
              <a:buNone/>
            </a:pPr>
            <a:r>
              <a:rPr lang="en-US" sz="900" dirty="0">
                <a:solidFill>
                  <a:srgbClr val="1B2D55"/>
                </a:solidFill>
              </a:rPr>
              <a:t>Company Overview</a:t>
            </a:r>
            <a:endParaRPr lang="en-US" sz="900" dirty="0"/>
          </a:p>
        </p:txBody>
      </p:sp>
      <p:sp>
        <p:nvSpPr>
          <p:cNvPr id="18" name="Text 16"/>
          <p:cNvSpPr/>
          <p:nvPr/>
        </p:nvSpPr>
        <p:spPr>
          <a:xfrm>
            <a:off x="6858000" y="1828800"/>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06</a:t>
            </a:r>
            <a:endParaRPr lang="en-US" sz="900" dirty="0"/>
          </a:p>
        </p:txBody>
      </p:sp>
      <p:sp>
        <p:nvSpPr>
          <p:cNvPr id="19" name="Shape 17"/>
          <p:cNvSpPr/>
          <p:nvPr/>
        </p:nvSpPr>
        <p:spPr>
          <a:xfrm>
            <a:off x="1371600" y="2112264"/>
            <a:ext cx="6400800" cy="338328"/>
          </a:xfrm>
          <a:prstGeom prst="rect">
            <a:avLst/>
          </a:prstGeom>
          <a:solidFill>
            <a:srgbClr val="F4F6FA"/>
          </a:solidFill>
          <a:ln w="12700">
            <a:solidFill>
              <a:srgbClr val="F4F6FA"/>
            </a:solidFill>
            <a:prstDash val="solid"/>
          </a:ln>
        </p:spPr>
      </p:sp>
      <p:sp>
        <p:nvSpPr>
          <p:cNvPr id="20" name="Text 18"/>
          <p:cNvSpPr/>
          <p:nvPr/>
        </p:nvSpPr>
        <p:spPr>
          <a:xfrm>
            <a:off x="1508760" y="2167128"/>
            <a:ext cx="5029200" cy="228600"/>
          </a:xfrm>
          <a:prstGeom prst="rect">
            <a:avLst/>
          </a:prstGeom>
          <a:noFill/>
          <a:ln/>
        </p:spPr>
        <p:txBody>
          <a:bodyPr wrap="square" lIns="0" tIns="0" rIns="0" bIns="0" rtlCol="0" anchor="ctr"/>
          <a:lstStyle/>
          <a:p>
            <a:pPr indent="0" marL="0">
              <a:buNone/>
            </a:pPr>
            <a:r>
              <a:rPr lang="en-US" sz="900" dirty="0">
                <a:solidFill>
                  <a:srgbClr val="1B2D55"/>
                </a:solidFill>
              </a:rPr>
              <a:t>Products &amp; Brands</a:t>
            </a:r>
            <a:endParaRPr lang="en-US" sz="900" dirty="0"/>
          </a:p>
        </p:txBody>
      </p:sp>
      <p:sp>
        <p:nvSpPr>
          <p:cNvPr id="21" name="Text 19"/>
          <p:cNvSpPr/>
          <p:nvPr/>
        </p:nvSpPr>
        <p:spPr>
          <a:xfrm>
            <a:off x="6858000" y="2167128"/>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07</a:t>
            </a:r>
            <a:endParaRPr lang="en-US" sz="900" dirty="0"/>
          </a:p>
        </p:txBody>
      </p:sp>
      <p:sp>
        <p:nvSpPr>
          <p:cNvPr id="22" name="Shape 20"/>
          <p:cNvSpPr/>
          <p:nvPr/>
        </p:nvSpPr>
        <p:spPr>
          <a:xfrm>
            <a:off x="1371600" y="2450592"/>
            <a:ext cx="6400800" cy="338328"/>
          </a:xfrm>
          <a:prstGeom prst="rect">
            <a:avLst/>
          </a:prstGeom>
          <a:solidFill>
            <a:srgbClr val="FFFFFF"/>
          </a:solidFill>
          <a:ln w="12700">
            <a:solidFill>
              <a:srgbClr val="FFFFFF"/>
            </a:solidFill>
            <a:prstDash val="solid"/>
          </a:ln>
        </p:spPr>
      </p:sp>
      <p:sp>
        <p:nvSpPr>
          <p:cNvPr id="23" name="Text 21"/>
          <p:cNvSpPr/>
          <p:nvPr/>
        </p:nvSpPr>
        <p:spPr>
          <a:xfrm>
            <a:off x="1508760" y="2505456"/>
            <a:ext cx="5029200" cy="228600"/>
          </a:xfrm>
          <a:prstGeom prst="rect">
            <a:avLst/>
          </a:prstGeom>
          <a:noFill/>
          <a:ln/>
        </p:spPr>
        <p:txBody>
          <a:bodyPr wrap="square" lIns="0" tIns="0" rIns="0" bIns="0" rtlCol="0" anchor="ctr"/>
          <a:lstStyle/>
          <a:p>
            <a:pPr indent="0" marL="0">
              <a:buNone/>
            </a:pPr>
            <a:r>
              <a:rPr lang="en-US" sz="900" dirty="0">
                <a:solidFill>
                  <a:srgbClr val="1B2D55"/>
                </a:solidFill>
              </a:rPr>
              <a:t>Market Opportunity</a:t>
            </a:r>
            <a:endParaRPr lang="en-US" sz="900" dirty="0"/>
          </a:p>
        </p:txBody>
      </p:sp>
      <p:sp>
        <p:nvSpPr>
          <p:cNvPr id="24" name="Text 22"/>
          <p:cNvSpPr/>
          <p:nvPr/>
        </p:nvSpPr>
        <p:spPr>
          <a:xfrm>
            <a:off x="6858000" y="2505456"/>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08</a:t>
            </a:r>
            <a:endParaRPr lang="en-US" sz="900" dirty="0"/>
          </a:p>
        </p:txBody>
      </p:sp>
      <p:sp>
        <p:nvSpPr>
          <p:cNvPr id="25" name="Shape 23"/>
          <p:cNvSpPr/>
          <p:nvPr/>
        </p:nvSpPr>
        <p:spPr>
          <a:xfrm>
            <a:off x="1371600" y="2788920"/>
            <a:ext cx="6400800" cy="338328"/>
          </a:xfrm>
          <a:prstGeom prst="rect">
            <a:avLst/>
          </a:prstGeom>
          <a:solidFill>
            <a:srgbClr val="F4F6FA"/>
          </a:solidFill>
          <a:ln w="12700">
            <a:solidFill>
              <a:srgbClr val="F4F6FA"/>
            </a:solidFill>
            <a:prstDash val="solid"/>
          </a:ln>
        </p:spPr>
      </p:sp>
      <p:sp>
        <p:nvSpPr>
          <p:cNvPr id="26" name="Text 24"/>
          <p:cNvSpPr/>
          <p:nvPr/>
        </p:nvSpPr>
        <p:spPr>
          <a:xfrm>
            <a:off x="1508760" y="2843784"/>
            <a:ext cx="5029200" cy="228600"/>
          </a:xfrm>
          <a:prstGeom prst="rect">
            <a:avLst/>
          </a:prstGeom>
          <a:noFill/>
          <a:ln/>
        </p:spPr>
        <p:txBody>
          <a:bodyPr wrap="square" lIns="0" tIns="0" rIns="0" bIns="0" rtlCol="0" anchor="ctr"/>
          <a:lstStyle/>
          <a:p>
            <a:pPr indent="0" marL="0">
              <a:buNone/>
            </a:pPr>
            <a:r>
              <a:rPr lang="en-US" sz="900" dirty="0">
                <a:solidFill>
                  <a:srgbClr val="1B2D55"/>
                </a:solidFill>
              </a:rPr>
              <a:t>Competitive Landscape</a:t>
            </a:r>
            <a:endParaRPr lang="en-US" sz="900" dirty="0"/>
          </a:p>
        </p:txBody>
      </p:sp>
      <p:sp>
        <p:nvSpPr>
          <p:cNvPr id="27" name="Text 25"/>
          <p:cNvSpPr/>
          <p:nvPr/>
        </p:nvSpPr>
        <p:spPr>
          <a:xfrm>
            <a:off x="6858000" y="2843784"/>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09</a:t>
            </a:r>
            <a:endParaRPr lang="en-US" sz="900" dirty="0"/>
          </a:p>
        </p:txBody>
      </p:sp>
      <p:sp>
        <p:nvSpPr>
          <p:cNvPr id="28" name="Shape 26"/>
          <p:cNvSpPr/>
          <p:nvPr/>
        </p:nvSpPr>
        <p:spPr>
          <a:xfrm>
            <a:off x="1371600" y="3127248"/>
            <a:ext cx="6400800" cy="338328"/>
          </a:xfrm>
          <a:prstGeom prst="rect">
            <a:avLst/>
          </a:prstGeom>
          <a:solidFill>
            <a:srgbClr val="FFFFFF"/>
          </a:solidFill>
          <a:ln w="12700">
            <a:solidFill>
              <a:srgbClr val="FFFFFF"/>
            </a:solidFill>
            <a:prstDash val="solid"/>
          </a:ln>
        </p:spPr>
      </p:sp>
      <p:sp>
        <p:nvSpPr>
          <p:cNvPr id="29" name="Text 27"/>
          <p:cNvSpPr/>
          <p:nvPr/>
        </p:nvSpPr>
        <p:spPr>
          <a:xfrm>
            <a:off x="1508760" y="3182112"/>
            <a:ext cx="5029200" cy="228600"/>
          </a:xfrm>
          <a:prstGeom prst="rect">
            <a:avLst/>
          </a:prstGeom>
          <a:noFill/>
          <a:ln/>
        </p:spPr>
        <p:txBody>
          <a:bodyPr wrap="square" lIns="0" tIns="0" rIns="0" bIns="0" rtlCol="0" anchor="ctr"/>
          <a:lstStyle/>
          <a:p>
            <a:pPr indent="0" marL="0">
              <a:buNone/>
            </a:pPr>
            <a:r>
              <a:rPr lang="en-US" sz="900" dirty="0">
                <a:solidFill>
                  <a:srgbClr val="1B2D55"/>
                </a:solidFill>
              </a:rPr>
              <a:t>Business Model &amp; Financials</a:t>
            </a:r>
            <a:endParaRPr lang="en-US" sz="900" dirty="0"/>
          </a:p>
        </p:txBody>
      </p:sp>
      <p:sp>
        <p:nvSpPr>
          <p:cNvPr id="30" name="Text 28"/>
          <p:cNvSpPr/>
          <p:nvPr/>
        </p:nvSpPr>
        <p:spPr>
          <a:xfrm>
            <a:off x="6858000" y="3182112"/>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10</a:t>
            </a:r>
            <a:endParaRPr lang="en-US" sz="900" dirty="0"/>
          </a:p>
        </p:txBody>
      </p:sp>
      <p:sp>
        <p:nvSpPr>
          <p:cNvPr id="31" name="Shape 29"/>
          <p:cNvSpPr/>
          <p:nvPr/>
        </p:nvSpPr>
        <p:spPr>
          <a:xfrm>
            <a:off x="1371600" y="3465576"/>
            <a:ext cx="6400800" cy="338328"/>
          </a:xfrm>
          <a:prstGeom prst="rect">
            <a:avLst/>
          </a:prstGeom>
          <a:solidFill>
            <a:srgbClr val="F4F6FA"/>
          </a:solidFill>
          <a:ln w="12700">
            <a:solidFill>
              <a:srgbClr val="F4F6FA"/>
            </a:solidFill>
            <a:prstDash val="solid"/>
          </a:ln>
        </p:spPr>
      </p:sp>
      <p:sp>
        <p:nvSpPr>
          <p:cNvPr id="32" name="Text 30"/>
          <p:cNvSpPr/>
          <p:nvPr/>
        </p:nvSpPr>
        <p:spPr>
          <a:xfrm>
            <a:off x="1508760" y="3520440"/>
            <a:ext cx="5029200" cy="228600"/>
          </a:xfrm>
          <a:prstGeom prst="rect">
            <a:avLst/>
          </a:prstGeom>
          <a:noFill/>
          <a:ln/>
        </p:spPr>
        <p:txBody>
          <a:bodyPr wrap="square" lIns="0" tIns="0" rIns="0" bIns="0" rtlCol="0" anchor="ctr"/>
          <a:lstStyle/>
          <a:p>
            <a:pPr indent="0" marL="0">
              <a:buNone/>
            </a:pPr>
            <a:r>
              <a:rPr lang="en-US" sz="900" dirty="0">
                <a:solidFill>
                  <a:srgbClr val="1B2D55"/>
                </a:solidFill>
              </a:rPr>
              <a:t>Historical Financials</a:t>
            </a:r>
            <a:endParaRPr lang="en-US" sz="900" dirty="0"/>
          </a:p>
        </p:txBody>
      </p:sp>
      <p:sp>
        <p:nvSpPr>
          <p:cNvPr id="33" name="Text 31"/>
          <p:cNvSpPr/>
          <p:nvPr/>
        </p:nvSpPr>
        <p:spPr>
          <a:xfrm>
            <a:off x="6858000" y="3520440"/>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11</a:t>
            </a:r>
            <a:endParaRPr lang="en-US" sz="900" dirty="0"/>
          </a:p>
        </p:txBody>
      </p:sp>
      <p:sp>
        <p:nvSpPr>
          <p:cNvPr id="34" name="Shape 32"/>
          <p:cNvSpPr/>
          <p:nvPr/>
        </p:nvSpPr>
        <p:spPr>
          <a:xfrm>
            <a:off x="1371600" y="3803904"/>
            <a:ext cx="6400800" cy="338328"/>
          </a:xfrm>
          <a:prstGeom prst="rect">
            <a:avLst/>
          </a:prstGeom>
          <a:solidFill>
            <a:srgbClr val="FFFFFF"/>
          </a:solidFill>
          <a:ln w="12700">
            <a:solidFill>
              <a:srgbClr val="FFFFFF"/>
            </a:solidFill>
            <a:prstDash val="solid"/>
          </a:ln>
        </p:spPr>
      </p:sp>
      <p:sp>
        <p:nvSpPr>
          <p:cNvPr id="35" name="Text 33"/>
          <p:cNvSpPr/>
          <p:nvPr/>
        </p:nvSpPr>
        <p:spPr>
          <a:xfrm>
            <a:off x="1508760" y="3858768"/>
            <a:ext cx="5029200" cy="228600"/>
          </a:xfrm>
          <a:prstGeom prst="rect">
            <a:avLst/>
          </a:prstGeom>
          <a:noFill/>
          <a:ln/>
        </p:spPr>
        <p:txBody>
          <a:bodyPr wrap="square" lIns="0" tIns="0" rIns="0" bIns="0" rtlCol="0" anchor="ctr"/>
          <a:lstStyle/>
          <a:p>
            <a:pPr indent="0" marL="0">
              <a:buNone/>
            </a:pPr>
            <a:r>
              <a:rPr lang="en-US" sz="900" dirty="0">
                <a:solidFill>
                  <a:srgbClr val="1B2D55"/>
                </a:solidFill>
              </a:rPr>
              <a:t>Financial Projections</a:t>
            </a:r>
            <a:endParaRPr lang="en-US" sz="900" dirty="0"/>
          </a:p>
        </p:txBody>
      </p:sp>
      <p:sp>
        <p:nvSpPr>
          <p:cNvPr id="36" name="Text 34"/>
          <p:cNvSpPr/>
          <p:nvPr/>
        </p:nvSpPr>
        <p:spPr>
          <a:xfrm>
            <a:off x="6858000" y="3858768"/>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12</a:t>
            </a:r>
            <a:endParaRPr lang="en-US" sz="900" dirty="0"/>
          </a:p>
        </p:txBody>
      </p:sp>
      <p:sp>
        <p:nvSpPr>
          <p:cNvPr id="37" name="Shape 35"/>
          <p:cNvSpPr/>
          <p:nvPr/>
        </p:nvSpPr>
        <p:spPr>
          <a:xfrm>
            <a:off x="1371600" y="4142232"/>
            <a:ext cx="6400800" cy="338328"/>
          </a:xfrm>
          <a:prstGeom prst="rect">
            <a:avLst/>
          </a:prstGeom>
          <a:solidFill>
            <a:srgbClr val="F4F6FA"/>
          </a:solidFill>
          <a:ln w="12700">
            <a:solidFill>
              <a:srgbClr val="F4F6FA"/>
            </a:solidFill>
            <a:prstDash val="solid"/>
          </a:ln>
        </p:spPr>
      </p:sp>
      <p:sp>
        <p:nvSpPr>
          <p:cNvPr id="38" name="Text 36"/>
          <p:cNvSpPr/>
          <p:nvPr/>
        </p:nvSpPr>
        <p:spPr>
          <a:xfrm>
            <a:off x="1508760" y="4197096"/>
            <a:ext cx="5029200" cy="228600"/>
          </a:xfrm>
          <a:prstGeom prst="rect">
            <a:avLst/>
          </a:prstGeom>
          <a:noFill/>
          <a:ln/>
        </p:spPr>
        <p:txBody>
          <a:bodyPr wrap="square" lIns="0" tIns="0" rIns="0" bIns="0" rtlCol="0" anchor="ctr"/>
          <a:lstStyle/>
          <a:p>
            <a:pPr indent="0" marL="0">
              <a:buNone/>
            </a:pPr>
            <a:r>
              <a:rPr lang="en-US" sz="900" dirty="0">
                <a:solidFill>
                  <a:srgbClr val="1B2D55"/>
                </a:solidFill>
              </a:rPr>
              <a:t>Capital Structure</a:t>
            </a:r>
            <a:endParaRPr lang="en-US" sz="900" dirty="0"/>
          </a:p>
        </p:txBody>
      </p:sp>
      <p:sp>
        <p:nvSpPr>
          <p:cNvPr id="39" name="Text 37"/>
          <p:cNvSpPr/>
          <p:nvPr/>
        </p:nvSpPr>
        <p:spPr>
          <a:xfrm>
            <a:off x="6858000" y="4197096"/>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13</a:t>
            </a:r>
            <a:endParaRPr lang="en-US" sz="900" dirty="0"/>
          </a:p>
        </p:txBody>
      </p:sp>
      <p:sp>
        <p:nvSpPr>
          <p:cNvPr id="40" name="Shape 38"/>
          <p:cNvSpPr/>
          <p:nvPr/>
        </p:nvSpPr>
        <p:spPr>
          <a:xfrm>
            <a:off x="1371600" y="4480560"/>
            <a:ext cx="6400800" cy="338328"/>
          </a:xfrm>
          <a:prstGeom prst="rect">
            <a:avLst/>
          </a:prstGeom>
          <a:solidFill>
            <a:srgbClr val="FFFFFF"/>
          </a:solidFill>
          <a:ln w="12700">
            <a:solidFill>
              <a:srgbClr val="FFFFFF"/>
            </a:solidFill>
            <a:prstDash val="solid"/>
          </a:ln>
        </p:spPr>
      </p:sp>
      <p:sp>
        <p:nvSpPr>
          <p:cNvPr id="41" name="Text 39"/>
          <p:cNvSpPr/>
          <p:nvPr/>
        </p:nvSpPr>
        <p:spPr>
          <a:xfrm>
            <a:off x="1508760" y="4535424"/>
            <a:ext cx="5029200" cy="228600"/>
          </a:xfrm>
          <a:prstGeom prst="rect">
            <a:avLst/>
          </a:prstGeom>
          <a:noFill/>
          <a:ln/>
        </p:spPr>
        <p:txBody>
          <a:bodyPr wrap="square" lIns="0" tIns="0" rIns="0" bIns="0" rtlCol="0" anchor="ctr"/>
          <a:lstStyle/>
          <a:p>
            <a:pPr indent="0" marL="0">
              <a:buNone/>
            </a:pPr>
            <a:r>
              <a:rPr lang="en-US" sz="900" dirty="0">
                <a:solidFill>
                  <a:srgbClr val="1B2D55"/>
                </a:solidFill>
              </a:rPr>
              <a:t>Transaction Overview</a:t>
            </a:r>
            <a:endParaRPr lang="en-US" sz="900" dirty="0"/>
          </a:p>
        </p:txBody>
      </p:sp>
      <p:sp>
        <p:nvSpPr>
          <p:cNvPr id="42" name="Text 40"/>
          <p:cNvSpPr/>
          <p:nvPr/>
        </p:nvSpPr>
        <p:spPr>
          <a:xfrm>
            <a:off x="6858000" y="4535424"/>
            <a:ext cx="731520" cy="228600"/>
          </a:xfrm>
          <a:prstGeom prst="rect">
            <a:avLst/>
          </a:prstGeom>
          <a:noFill/>
          <a:ln/>
        </p:spPr>
        <p:txBody>
          <a:bodyPr wrap="square" lIns="0" tIns="0" rIns="0" bIns="0" rtlCol="0" anchor="ctr"/>
          <a:lstStyle/>
          <a:p>
            <a:pPr algn="r" indent="0" marL="0">
              <a:buNone/>
            </a:pPr>
            <a:r>
              <a:rPr lang="en-US" sz="900" dirty="0">
                <a:solidFill>
                  <a:srgbClr val="8898AA"/>
                </a:solidFill>
              </a:rPr>
              <a:t>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Executive Summary</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4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Executive Summary</a:t>
            </a:r>
            <a:endParaRPr lang="en-US" sz="1600" dirty="0"/>
          </a:p>
        </p:txBody>
      </p:sp>
      <p:sp>
        <p:nvSpPr>
          <p:cNvPr id="10" name="Text 8"/>
          <p:cNvSpPr/>
          <p:nvPr/>
        </p:nvSpPr>
        <p:spPr>
          <a:xfrm>
            <a:off x="457200" y="1005840"/>
            <a:ext cx="8229600" cy="1371600"/>
          </a:xfrm>
          <a:prstGeom prst="rect">
            <a:avLst/>
          </a:prstGeom>
          <a:noFill/>
          <a:ln/>
        </p:spPr>
        <p:txBody>
          <a:bodyPr wrap="square" lIns="0" tIns="0" rIns="0" bIns="0" rtlCol="0" anchor="ctr"/>
          <a:lstStyle/>
          <a:p>
            <a:pPr indent="0" marL="0">
              <a:buNone/>
            </a:pPr>
            <a:r>
              <a:rPr lang="en-US" sz="850" dirty="0">
                <a:solidFill>
                  <a:srgbClr val="4A5568"/>
                </a:solidFill>
              </a:rPr>
              <a:t>Lighthouse Logistics Group ("Lighthouse" or the "Company") is a technology-enabled regional less-than-truckload (LTL) and final-mile delivery provider operating across the Southeast and Mid-Atlantic United States. Founded in 2004, Lighthouse has grown to operate 14 regional terminals, a fleet of 680 owned and leased vehicles, and a proprietary route optimization platform ("BeaconOS") that drives industry-leading on-time delivery rates of 97.4%. The Company primarily serves mid-market shippers across industrial distribution, retail, and healthcare verticals, with a growing e-commerce fulfillment practice that now represents 28% of revenue.</a:t>
            </a:r>
            <a:endParaRPr lang="en-US" sz="850" dirty="0"/>
          </a:p>
        </p:txBody>
      </p:sp>
      <p:sp>
        <p:nvSpPr>
          <p:cNvPr id="11" name="Shape 9"/>
          <p:cNvSpPr/>
          <p:nvPr/>
        </p:nvSpPr>
        <p:spPr>
          <a:xfrm>
            <a:off x="457200" y="2450592"/>
            <a:ext cx="8229600" cy="0"/>
          </a:xfrm>
          <a:prstGeom prst="line">
            <a:avLst/>
          </a:prstGeom>
          <a:noFill/>
          <a:ln w="9525">
            <a:solidFill>
              <a:srgbClr val="D0D8E4"/>
            </a:solidFill>
            <a:prstDash val="solid"/>
          </a:ln>
        </p:spPr>
      </p:sp>
      <p:sp>
        <p:nvSpPr>
          <p:cNvPr id="12" name="Shape 10"/>
          <p:cNvSpPr/>
          <p:nvPr/>
        </p:nvSpPr>
        <p:spPr>
          <a:xfrm>
            <a:off x="365760"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13" name="Text 11"/>
          <p:cNvSpPr/>
          <p:nvPr/>
        </p:nvSpPr>
        <p:spPr>
          <a:xfrm>
            <a:off x="475488"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Revenue</a:t>
            </a:r>
            <a:endParaRPr lang="en-US" sz="750" dirty="0"/>
          </a:p>
        </p:txBody>
      </p:sp>
      <p:sp>
        <p:nvSpPr>
          <p:cNvPr id="14" name="Text 12"/>
          <p:cNvSpPr/>
          <p:nvPr/>
        </p:nvSpPr>
        <p:spPr>
          <a:xfrm>
            <a:off x="475488"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$218M</a:t>
            </a:r>
            <a:endParaRPr lang="en-US" sz="2000" dirty="0"/>
          </a:p>
        </p:txBody>
      </p:sp>
      <p:sp>
        <p:nvSpPr>
          <p:cNvPr id="15" name="Text 13"/>
          <p:cNvSpPr/>
          <p:nvPr/>
        </p:nvSpPr>
        <p:spPr>
          <a:xfrm>
            <a:off x="475488"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LTM</a:t>
            </a:r>
            <a:endParaRPr lang="en-US" sz="750" dirty="0"/>
          </a:p>
        </p:txBody>
      </p:sp>
      <p:sp>
        <p:nvSpPr>
          <p:cNvPr id="16" name="Shape 14"/>
          <p:cNvSpPr/>
          <p:nvPr/>
        </p:nvSpPr>
        <p:spPr>
          <a:xfrm>
            <a:off x="1810512"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17" name="Text 15"/>
          <p:cNvSpPr/>
          <p:nvPr/>
        </p:nvSpPr>
        <p:spPr>
          <a:xfrm>
            <a:off x="1920240"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EBITDA</a:t>
            </a:r>
            <a:endParaRPr lang="en-US" sz="750" dirty="0"/>
          </a:p>
        </p:txBody>
      </p:sp>
      <p:sp>
        <p:nvSpPr>
          <p:cNvPr id="18" name="Text 16"/>
          <p:cNvSpPr/>
          <p:nvPr/>
        </p:nvSpPr>
        <p:spPr>
          <a:xfrm>
            <a:off x="1920240"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$33.7M</a:t>
            </a:r>
            <a:endParaRPr lang="en-US" sz="2000" dirty="0"/>
          </a:p>
        </p:txBody>
      </p:sp>
      <p:sp>
        <p:nvSpPr>
          <p:cNvPr id="19" name="Text 17"/>
          <p:cNvSpPr/>
          <p:nvPr/>
        </p:nvSpPr>
        <p:spPr>
          <a:xfrm>
            <a:off x="1920240"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LTM</a:t>
            </a:r>
            <a:endParaRPr lang="en-US" sz="750" dirty="0"/>
          </a:p>
        </p:txBody>
      </p:sp>
      <p:sp>
        <p:nvSpPr>
          <p:cNvPr id="20" name="Shape 18"/>
          <p:cNvSpPr/>
          <p:nvPr/>
        </p:nvSpPr>
        <p:spPr>
          <a:xfrm>
            <a:off x="3255264"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21" name="Text 19"/>
          <p:cNvSpPr/>
          <p:nvPr/>
        </p:nvSpPr>
        <p:spPr>
          <a:xfrm>
            <a:off x="3364992"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Margin</a:t>
            </a:r>
            <a:endParaRPr lang="en-US" sz="750" dirty="0"/>
          </a:p>
        </p:txBody>
      </p:sp>
      <p:sp>
        <p:nvSpPr>
          <p:cNvPr id="22" name="Text 20"/>
          <p:cNvSpPr/>
          <p:nvPr/>
        </p:nvSpPr>
        <p:spPr>
          <a:xfrm>
            <a:off x="3364992"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15.5%</a:t>
            </a:r>
            <a:endParaRPr lang="en-US" sz="2000" dirty="0"/>
          </a:p>
        </p:txBody>
      </p:sp>
      <p:sp>
        <p:nvSpPr>
          <p:cNvPr id="23" name="Text 21"/>
          <p:cNvSpPr/>
          <p:nvPr/>
        </p:nvSpPr>
        <p:spPr>
          <a:xfrm>
            <a:off x="3364992"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LTM</a:t>
            </a:r>
            <a:endParaRPr lang="en-US" sz="750" dirty="0"/>
          </a:p>
        </p:txBody>
      </p:sp>
      <p:sp>
        <p:nvSpPr>
          <p:cNvPr id="24" name="Shape 22"/>
          <p:cNvSpPr/>
          <p:nvPr/>
        </p:nvSpPr>
        <p:spPr>
          <a:xfrm>
            <a:off x="4700016"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25" name="Text 23"/>
          <p:cNvSpPr/>
          <p:nvPr/>
        </p:nvSpPr>
        <p:spPr>
          <a:xfrm>
            <a:off x="4809744"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FCF Conv.</a:t>
            </a:r>
            <a:endParaRPr lang="en-US" sz="750" dirty="0"/>
          </a:p>
        </p:txBody>
      </p:sp>
      <p:sp>
        <p:nvSpPr>
          <p:cNvPr id="26" name="Text 24"/>
          <p:cNvSpPr/>
          <p:nvPr/>
        </p:nvSpPr>
        <p:spPr>
          <a:xfrm>
            <a:off x="4809744"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68%</a:t>
            </a:r>
            <a:endParaRPr lang="en-US" sz="2000" dirty="0"/>
          </a:p>
        </p:txBody>
      </p:sp>
      <p:sp>
        <p:nvSpPr>
          <p:cNvPr id="27" name="Text 25"/>
          <p:cNvSpPr/>
          <p:nvPr/>
        </p:nvSpPr>
        <p:spPr>
          <a:xfrm>
            <a:off x="4809744"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of EBITDA</a:t>
            </a:r>
            <a:endParaRPr lang="en-US" sz="750" dirty="0"/>
          </a:p>
        </p:txBody>
      </p:sp>
      <p:sp>
        <p:nvSpPr>
          <p:cNvPr id="28" name="Shape 26"/>
          <p:cNvSpPr/>
          <p:nvPr/>
        </p:nvSpPr>
        <p:spPr>
          <a:xfrm>
            <a:off x="6144768"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29" name="Text 27"/>
          <p:cNvSpPr/>
          <p:nvPr/>
        </p:nvSpPr>
        <p:spPr>
          <a:xfrm>
            <a:off x="6254496"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Net Leverage</a:t>
            </a:r>
            <a:endParaRPr lang="en-US" sz="750" dirty="0"/>
          </a:p>
        </p:txBody>
      </p:sp>
      <p:sp>
        <p:nvSpPr>
          <p:cNvPr id="30" name="Text 28"/>
          <p:cNvSpPr/>
          <p:nvPr/>
        </p:nvSpPr>
        <p:spPr>
          <a:xfrm>
            <a:off x="6254496"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2.4x</a:t>
            </a:r>
            <a:endParaRPr lang="en-US" sz="2000" dirty="0"/>
          </a:p>
        </p:txBody>
      </p:sp>
      <p:sp>
        <p:nvSpPr>
          <p:cNvPr id="31" name="Text 29"/>
          <p:cNvSpPr/>
          <p:nvPr/>
        </p:nvSpPr>
        <p:spPr>
          <a:xfrm>
            <a:off x="6254496"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EBITDA</a:t>
            </a:r>
            <a:endParaRPr lang="en-US" sz="750" dirty="0"/>
          </a:p>
        </p:txBody>
      </p:sp>
      <p:sp>
        <p:nvSpPr>
          <p:cNvPr id="32" name="Shape 30"/>
          <p:cNvSpPr/>
          <p:nvPr/>
        </p:nvSpPr>
        <p:spPr>
          <a:xfrm>
            <a:off x="7589520" y="2514600"/>
            <a:ext cx="1371600" cy="868680"/>
          </a:xfrm>
          <a:prstGeom prst="rect">
            <a:avLst/>
          </a:prstGeom>
          <a:solidFill>
            <a:srgbClr val="FFFFFF"/>
          </a:solidFill>
          <a:ln w="9525">
            <a:solidFill>
              <a:srgbClr val="D0D8E4"/>
            </a:solidFill>
            <a:prstDash val="solid"/>
          </a:ln>
          <a:effectLst>
            <a:outerShdw sx="100000" sy="100000" kx="0" ky="0" algn="bl" rotWithShape="0" blurRad="50800" dist="25400" dir="8100000">
              <a:srgbClr val="000000">
                <a:alpha val="7000"/>
              </a:srgbClr>
            </a:outerShdw>
          </a:effectLst>
        </p:spPr>
      </p:sp>
      <p:sp>
        <p:nvSpPr>
          <p:cNvPr id="33" name="Text 31"/>
          <p:cNvSpPr/>
          <p:nvPr/>
        </p:nvSpPr>
        <p:spPr>
          <a:xfrm>
            <a:off x="7699248" y="2606040"/>
            <a:ext cx="1152144" cy="228600"/>
          </a:xfrm>
          <a:prstGeom prst="rect">
            <a:avLst/>
          </a:prstGeom>
          <a:noFill/>
          <a:ln/>
        </p:spPr>
        <p:txBody>
          <a:bodyPr wrap="square" lIns="0" tIns="0" rIns="0" bIns="0" rtlCol="0" anchor="ctr"/>
          <a:lstStyle/>
          <a:p>
            <a:pPr indent="0" marL="0">
              <a:buNone/>
            </a:pPr>
            <a:r>
              <a:rPr lang="en-US" sz="750" b="1" dirty="0">
                <a:solidFill>
                  <a:srgbClr val="8898AA"/>
                </a:solidFill>
              </a:rPr>
              <a:t>Employees</a:t>
            </a:r>
            <a:endParaRPr lang="en-US" sz="750" dirty="0"/>
          </a:p>
        </p:txBody>
      </p:sp>
      <p:sp>
        <p:nvSpPr>
          <p:cNvPr id="34" name="Text 32"/>
          <p:cNvSpPr/>
          <p:nvPr/>
        </p:nvSpPr>
        <p:spPr>
          <a:xfrm>
            <a:off x="7699248" y="2807208"/>
            <a:ext cx="1152144" cy="347472"/>
          </a:xfrm>
          <a:prstGeom prst="rect">
            <a:avLst/>
          </a:prstGeom>
          <a:noFill/>
          <a:ln/>
        </p:spPr>
        <p:txBody>
          <a:bodyPr wrap="square" lIns="0" tIns="0" rIns="0" bIns="0" rtlCol="0" anchor="ctr"/>
          <a:lstStyle/>
          <a:p>
            <a:pPr indent="0" marL="0">
              <a:buNone/>
            </a:pPr>
            <a:r>
              <a:rPr lang="en-US" sz="2000" b="1" dirty="0">
                <a:solidFill>
                  <a:srgbClr val="1B2D55"/>
                </a:solidFill>
              </a:rPr>
              <a:t>~1,450</a:t>
            </a:r>
            <a:endParaRPr lang="en-US" sz="2000" dirty="0"/>
          </a:p>
        </p:txBody>
      </p:sp>
      <p:sp>
        <p:nvSpPr>
          <p:cNvPr id="35" name="Text 33"/>
          <p:cNvSpPr/>
          <p:nvPr/>
        </p:nvSpPr>
        <p:spPr>
          <a:xfrm>
            <a:off x="7699248" y="3136392"/>
            <a:ext cx="1152144" cy="201168"/>
          </a:xfrm>
          <a:prstGeom prst="rect">
            <a:avLst/>
          </a:prstGeom>
          <a:noFill/>
          <a:ln/>
        </p:spPr>
        <p:txBody>
          <a:bodyPr wrap="square" lIns="0" tIns="0" rIns="0" bIns="0" rtlCol="0" anchor="ctr"/>
          <a:lstStyle/>
          <a:p>
            <a:pPr indent="0" marL="0">
              <a:buNone/>
            </a:pPr>
            <a:r>
              <a:rPr lang="en-US" sz="750" dirty="0">
                <a:solidFill>
                  <a:srgbClr val="4A5568"/>
                </a:solidFill>
              </a:rPr>
              <a:t>FTEs + drivers</a:t>
            </a:r>
            <a:endParaRPr lang="en-US" sz="750" dirty="0"/>
          </a:p>
        </p:txBody>
      </p:sp>
      <p:sp>
        <p:nvSpPr>
          <p:cNvPr id="36" name="Shape 34"/>
          <p:cNvSpPr/>
          <p:nvPr/>
        </p:nvSpPr>
        <p:spPr>
          <a:xfrm>
            <a:off x="457200" y="3520440"/>
            <a:ext cx="8229600" cy="0"/>
          </a:xfrm>
          <a:prstGeom prst="line">
            <a:avLst/>
          </a:prstGeom>
          <a:noFill/>
          <a:ln w="9525">
            <a:solidFill>
              <a:srgbClr val="D0D8E4"/>
            </a:solidFill>
            <a:prstDash val="solid"/>
          </a:ln>
        </p:spPr>
      </p:sp>
      <p:sp>
        <p:nvSpPr>
          <p:cNvPr id="37" name="Text 35"/>
          <p:cNvSpPr/>
          <p:nvPr/>
        </p:nvSpPr>
        <p:spPr>
          <a:xfrm>
            <a:off x="457200" y="3584448"/>
            <a:ext cx="8229600" cy="256032"/>
          </a:xfrm>
          <a:prstGeom prst="rect">
            <a:avLst/>
          </a:prstGeom>
          <a:noFill/>
          <a:ln/>
        </p:spPr>
        <p:txBody>
          <a:bodyPr wrap="square" lIns="0" tIns="0" rIns="0" bIns="0" rtlCol="0" anchor="ctr"/>
          <a:lstStyle/>
          <a:p>
            <a:pPr indent="0" marL="0">
              <a:buNone/>
            </a:pPr>
            <a:r>
              <a:rPr lang="en-US" sz="900" b="1" dirty="0">
                <a:solidFill>
                  <a:srgbClr val="1B2D55"/>
                </a:solidFill>
              </a:rPr>
              <a:t>Why Now?</a:t>
            </a:r>
            <a:endParaRPr lang="en-US" sz="900" dirty="0"/>
          </a:p>
        </p:txBody>
      </p:sp>
      <p:sp>
        <p:nvSpPr>
          <p:cNvPr id="38" name="Text 36"/>
          <p:cNvSpPr/>
          <p:nvPr/>
        </p:nvSpPr>
        <p:spPr>
          <a:xfrm>
            <a:off x="457200" y="3858768"/>
            <a:ext cx="8229600" cy="594360"/>
          </a:xfrm>
          <a:prstGeom prst="rect">
            <a:avLst/>
          </a:prstGeom>
          <a:noFill/>
          <a:ln/>
        </p:spPr>
        <p:txBody>
          <a:bodyPr wrap="square" lIns="0" tIns="0" rIns="0" bIns="0" rtlCol="0" anchor="ctr"/>
          <a:lstStyle/>
          <a:p>
            <a:pPr indent="0" marL="0">
              <a:buNone/>
            </a:pPr>
            <a:r>
              <a:rPr lang="en-US" sz="800" dirty="0">
                <a:solidFill>
                  <a:srgbClr val="4A5568"/>
                </a:solidFill>
              </a:rPr>
              <a:t>BeaconOS route optimization reduces cost-per-stop by 14% vs. manual dispatch; 97.4% OTD rate — top decile for regional LTL  |  Final-mile e-commerce segment grew 41% YoY; now 28% of revenue, targeted at 40%+ by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Investment Highlights</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5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Key Investment Highlights</a:t>
            </a:r>
            <a:endParaRPr lang="en-US" sz="1600" dirty="0"/>
          </a:p>
        </p:txBody>
      </p:sp>
      <p:sp>
        <p:nvSpPr>
          <p:cNvPr id="10" name="Shape 8"/>
          <p:cNvSpPr/>
          <p:nvPr/>
        </p:nvSpPr>
        <p:spPr>
          <a:xfrm>
            <a:off x="457200" y="1024128"/>
            <a:ext cx="8229600" cy="868680"/>
          </a:xfrm>
          <a:prstGeom prst="rect">
            <a:avLst/>
          </a:prstGeom>
          <a:solidFill>
            <a:srgbClr val="FFFFFF"/>
          </a:solidFill>
          <a:ln w="12700">
            <a:solidFill>
              <a:srgbClr val="D0D8E4"/>
            </a:solidFill>
            <a:prstDash val="solid"/>
          </a:ln>
        </p:spPr>
      </p:sp>
      <p:sp>
        <p:nvSpPr>
          <p:cNvPr id="11" name="Shape 9"/>
          <p:cNvSpPr/>
          <p:nvPr/>
        </p:nvSpPr>
        <p:spPr>
          <a:xfrm>
            <a:off x="457200" y="1024128"/>
            <a:ext cx="54864" cy="868680"/>
          </a:xfrm>
          <a:prstGeom prst="rect">
            <a:avLst/>
          </a:prstGeom>
          <a:solidFill>
            <a:srgbClr val="C8A83C"/>
          </a:solidFill>
          <a:ln w="12700">
            <a:solidFill>
              <a:srgbClr val="C8A83C"/>
            </a:solidFill>
            <a:prstDash val="solid"/>
          </a:ln>
        </p:spPr>
      </p:sp>
      <p:sp>
        <p:nvSpPr>
          <p:cNvPr id="12" name="Text 10"/>
          <p:cNvSpPr/>
          <p:nvPr/>
        </p:nvSpPr>
        <p:spPr>
          <a:xfrm>
            <a:off x="594360" y="1097280"/>
            <a:ext cx="365760" cy="274320"/>
          </a:xfrm>
          <a:prstGeom prst="rect">
            <a:avLst/>
          </a:prstGeom>
          <a:noFill/>
          <a:ln/>
        </p:spPr>
        <p:txBody>
          <a:bodyPr wrap="square" lIns="0" tIns="0" rIns="0" bIns="0" rtlCol="0" anchor="ctr"/>
          <a:lstStyle/>
          <a:p>
            <a:pPr indent="0" marL="0">
              <a:buNone/>
            </a:pPr>
            <a:r>
              <a:rPr lang="en-US" sz="900" b="1" dirty="0">
                <a:solidFill>
                  <a:srgbClr val="C8A83C"/>
                </a:solidFill>
              </a:rPr>
              <a:t>1</a:t>
            </a:r>
            <a:endParaRPr lang="en-US" sz="900" dirty="0"/>
          </a:p>
        </p:txBody>
      </p:sp>
      <p:sp>
        <p:nvSpPr>
          <p:cNvPr id="13" name="Text 11"/>
          <p:cNvSpPr/>
          <p:nvPr/>
        </p:nvSpPr>
        <p:spPr>
          <a:xfrm>
            <a:off x="960120" y="1078992"/>
            <a:ext cx="7223760" cy="274320"/>
          </a:xfrm>
          <a:prstGeom prst="rect">
            <a:avLst/>
          </a:prstGeom>
          <a:noFill/>
          <a:ln/>
        </p:spPr>
        <p:txBody>
          <a:bodyPr wrap="square" lIns="0" tIns="0" rIns="0" bIns="0" rtlCol="0" anchor="ctr"/>
          <a:lstStyle/>
          <a:p>
            <a:pPr indent="0" marL="0">
              <a:buNone/>
            </a:pPr>
            <a:r>
              <a:rPr lang="en-US" sz="900" b="1" dirty="0">
                <a:solidFill>
                  <a:srgbClr val="1B2D55"/>
                </a:solidFill>
              </a:rPr>
              <a:t>Leading regional LTL platform with proprietary technology moat</a:t>
            </a:r>
            <a:endParaRPr lang="en-US" sz="900" dirty="0"/>
          </a:p>
        </p:txBody>
      </p:sp>
      <p:sp>
        <p:nvSpPr>
          <p:cNvPr id="14" name="Text 12"/>
          <p:cNvSpPr/>
          <p:nvPr/>
        </p:nvSpPr>
        <p:spPr>
          <a:xfrm>
            <a:off x="960120" y="1408176"/>
            <a:ext cx="7223760" cy="411480"/>
          </a:xfrm>
          <a:prstGeom prst="rect">
            <a:avLst/>
          </a:prstGeom>
          <a:noFill/>
          <a:ln/>
        </p:spPr>
        <p:txBody>
          <a:bodyPr wrap="square" lIns="0" tIns="0" rIns="0" bIns="0" rtlCol="0" anchor="ctr"/>
          <a:lstStyle/>
          <a:p>
            <a:pPr indent="0" marL="0">
              <a:buNone/>
            </a:pPr>
            <a:r>
              <a:rPr lang="en-US" sz="750" dirty="0">
                <a:solidFill>
                  <a:srgbClr val="4A5568"/>
                </a:solidFill>
              </a:rPr>
              <a:t>BeaconOS route optimization reduces cost-per-stop by 14% vs. manual dispatch; 97.4% OTD rate — top decile for regional LTL  ·  7-year average customer tenure; top-20 customers represent 52% of revenue with no single customer &gt;8%  ·  Network density in the Southeast creates structural cost advantage vs. national carriers (XPO, Saia, Old Dominion) on lanes &lt;500 miles</a:t>
            </a:r>
            <a:endParaRPr lang="en-US" sz="750" dirty="0"/>
          </a:p>
        </p:txBody>
      </p:sp>
      <p:sp>
        <p:nvSpPr>
          <p:cNvPr id="15" name="Shape 13"/>
          <p:cNvSpPr/>
          <p:nvPr/>
        </p:nvSpPr>
        <p:spPr>
          <a:xfrm>
            <a:off x="457200" y="1956816"/>
            <a:ext cx="8229600" cy="868680"/>
          </a:xfrm>
          <a:prstGeom prst="rect">
            <a:avLst/>
          </a:prstGeom>
          <a:solidFill>
            <a:srgbClr val="F4F6FA"/>
          </a:solidFill>
          <a:ln w="12700">
            <a:solidFill>
              <a:srgbClr val="D0D8E4"/>
            </a:solidFill>
            <a:prstDash val="solid"/>
          </a:ln>
        </p:spPr>
      </p:sp>
      <p:sp>
        <p:nvSpPr>
          <p:cNvPr id="16" name="Shape 14"/>
          <p:cNvSpPr/>
          <p:nvPr/>
        </p:nvSpPr>
        <p:spPr>
          <a:xfrm>
            <a:off x="457200" y="1956816"/>
            <a:ext cx="54864" cy="868680"/>
          </a:xfrm>
          <a:prstGeom prst="rect">
            <a:avLst/>
          </a:prstGeom>
          <a:solidFill>
            <a:srgbClr val="C8A83C"/>
          </a:solidFill>
          <a:ln w="12700">
            <a:solidFill>
              <a:srgbClr val="C8A83C"/>
            </a:solidFill>
            <a:prstDash val="solid"/>
          </a:ln>
        </p:spPr>
      </p:sp>
      <p:sp>
        <p:nvSpPr>
          <p:cNvPr id="17" name="Text 15"/>
          <p:cNvSpPr/>
          <p:nvPr/>
        </p:nvSpPr>
        <p:spPr>
          <a:xfrm>
            <a:off x="594360" y="2029968"/>
            <a:ext cx="365760" cy="274320"/>
          </a:xfrm>
          <a:prstGeom prst="rect">
            <a:avLst/>
          </a:prstGeom>
          <a:noFill/>
          <a:ln/>
        </p:spPr>
        <p:txBody>
          <a:bodyPr wrap="square" lIns="0" tIns="0" rIns="0" bIns="0" rtlCol="0" anchor="ctr"/>
          <a:lstStyle/>
          <a:p>
            <a:pPr indent="0" marL="0">
              <a:buNone/>
            </a:pPr>
            <a:r>
              <a:rPr lang="en-US" sz="900" b="1" dirty="0">
                <a:solidFill>
                  <a:srgbClr val="C8A83C"/>
                </a:solidFill>
              </a:rPr>
              <a:t>2</a:t>
            </a:r>
            <a:endParaRPr lang="en-US" sz="900" dirty="0"/>
          </a:p>
        </p:txBody>
      </p:sp>
      <p:sp>
        <p:nvSpPr>
          <p:cNvPr id="18" name="Text 16"/>
          <p:cNvSpPr/>
          <p:nvPr/>
        </p:nvSpPr>
        <p:spPr>
          <a:xfrm>
            <a:off x="960120" y="2011680"/>
            <a:ext cx="7223760" cy="274320"/>
          </a:xfrm>
          <a:prstGeom prst="rect">
            <a:avLst/>
          </a:prstGeom>
          <a:noFill/>
          <a:ln/>
        </p:spPr>
        <p:txBody>
          <a:bodyPr wrap="square" lIns="0" tIns="0" rIns="0" bIns="0" rtlCol="0" anchor="ctr"/>
          <a:lstStyle/>
          <a:p>
            <a:pPr indent="0" marL="0">
              <a:buNone/>
            </a:pPr>
            <a:r>
              <a:rPr lang="en-US" sz="900" b="1" dirty="0">
                <a:solidFill>
                  <a:srgbClr val="1B2D55"/>
                </a:solidFill>
              </a:rPr>
              <a:t>High-growth e-commerce and final-mile practice accelerating mix shift</a:t>
            </a:r>
            <a:endParaRPr lang="en-US" sz="900" dirty="0"/>
          </a:p>
        </p:txBody>
      </p:sp>
      <p:sp>
        <p:nvSpPr>
          <p:cNvPr id="19" name="Text 17"/>
          <p:cNvSpPr/>
          <p:nvPr/>
        </p:nvSpPr>
        <p:spPr>
          <a:xfrm>
            <a:off x="960120" y="2340864"/>
            <a:ext cx="7223760" cy="411480"/>
          </a:xfrm>
          <a:prstGeom prst="rect">
            <a:avLst/>
          </a:prstGeom>
          <a:noFill/>
          <a:ln/>
        </p:spPr>
        <p:txBody>
          <a:bodyPr wrap="square" lIns="0" tIns="0" rIns="0" bIns="0" rtlCol="0" anchor="ctr"/>
          <a:lstStyle/>
          <a:p>
            <a:pPr indent="0" marL="0">
              <a:buNone/>
            </a:pPr>
            <a:r>
              <a:rPr lang="en-US" sz="750" dirty="0">
                <a:solidFill>
                  <a:srgbClr val="4A5568"/>
                </a:solidFill>
              </a:rPr>
              <a:t>Final-mile e-commerce segment grew 41% YoY; now 28% of revenue, targeted at 40%+ by 2026  ·  Partnership with 3 regional distribution center operators providing captive volume; pipeline of 2 additional partnerships in diligence  ·  BeaconOS white-labeled to 2 regional 3PLs — SaaS revenue stream of $2.1M ARR at 80%+ gross margin</a:t>
            </a:r>
            <a:endParaRPr lang="en-US" sz="750" dirty="0"/>
          </a:p>
        </p:txBody>
      </p:sp>
      <p:sp>
        <p:nvSpPr>
          <p:cNvPr id="20" name="Shape 18"/>
          <p:cNvSpPr/>
          <p:nvPr/>
        </p:nvSpPr>
        <p:spPr>
          <a:xfrm>
            <a:off x="457200" y="2889504"/>
            <a:ext cx="8229600" cy="868680"/>
          </a:xfrm>
          <a:prstGeom prst="rect">
            <a:avLst/>
          </a:prstGeom>
          <a:solidFill>
            <a:srgbClr val="FFFFFF"/>
          </a:solidFill>
          <a:ln w="12700">
            <a:solidFill>
              <a:srgbClr val="D0D8E4"/>
            </a:solidFill>
            <a:prstDash val="solid"/>
          </a:ln>
        </p:spPr>
      </p:sp>
      <p:sp>
        <p:nvSpPr>
          <p:cNvPr id="21" name="Shape 19"/>
          <p:cNvSpPr/>
          <p:nvPr/>
        </p:nvSpPr>
        <p:spPr>
          <a:xfrm>
            <a:off x="457200" y="2889504"/>
            <a:ext cx="54864" cy="868680"/>
          </a:xfrm>
          <a:prstGeom prst="rect">
            <a:avLst/>
          </a:prstGeom>
          <a:solidFill>
            <a:srgbClr val="C8A83C"/>
          </a:solidFill>
          <a:ln w="12700">
            <a:solidFill>
              <a:srgbClr val="C8A83C"/>
            </a:solidFill>
            <a:prstDash val="solid"/>
          </a:ln>
        </p:spPr>
      </p:sp>
      <p:sp>
        <p:nvSpPr>
          <p:cNvPr id="22" name="Text 20"/>
          <p:cNvSpPr/>
          <p:nvPr/>
        </p:nvSpPr>
        <p:spPr>
          <a:xfrm>
            <a:off x="594360" y="2962656"/>
            <a:ext cx="365760" cy="274320"/>
          </a:xfrm>
          <a:prstGeom prst="rect">
            <a:avLst/>
          </a:prstGeom>
          <a:noFill/>
          <a:ln/>
        </p:spPr>
        <p:txBody>
          <a:bodyPr wrap="square" lIns="0" tIns="0" rIns="0" bIns="0" rtlCol="0" anchor="ctr"/>
          <a:lstStyle/>
          <a:p>
            <a:pPr indent="0" marL="0">
              <a:buNone/>
            </a:pPr>
            <a:r>
              <a:rPr lang="en-US" sz="900" b="1" dirty="0">
                <a:solidFill>
                  <a:srgbClr val="C8A83C"/>
                </a:solidFill>
              </a:rPr>
              <a:t>3</a:t>
            </a:r>
            <a:endParaRPr lang="en-US" sz="900" dirty="0"/>
          </a:p>
        </p:txBody>
      </p:sp>
      <p:sp>
        <p:nvSpPr>
          <p:cNvPr id="23" name="Text 21"/>
          <p:cNvSpPr/>
          <p:nvPr/>
        </p:nvSpPr>
        <p:spPr>
          <a:xfrm>
            <a:off x="960120" y="2944368"/>
            <a:ext cx="7223760" cy="274320"/>
          </a:xfrm>
          <a:prstGeom prst="rect">
            <a:avLst/>
          </a:prstGeom>
          <a:noFill/>
          <a:ln/>
        </p:spPr>
        <p:txBody>
          <a:bodyPr wrap="square" lIns="0" tIns="0" rIns="0" bIns="0" rtlCol="0" anchor="ctr"/>
          <a:lstStyle/>
          <a:p>
            <a:pPr indent="0" marL="0">
              <a:buNone/>
            </a:pPr>
            <a:r>
              <a:rPr lang="en-US" sz="900" b="1" dirty="0">
                <a:solidFill>
                  <a:srgbClr val="1B2D55"/>
                </a:solidFill>
              </a:rPr>
              <a:t>Highly fragmented regional LTL market ripe for consolidation</a:t>
            </a:r>
            <a:endParaRPr lang="en-US" sz="900" dirty="0"/>
          </a:p>
        </p:txBody>
      </p:sp>
      <p:sp>
        <p:nvSpPr>
          <p:cNvPr id="24" name="Text 22"/>
          <p:cNvSpPr/>
          <p:nvPr/>
        </p:nvSpPr>
        <p:spPr>
          <a:xfrm>
            <a:off x="960120" y="3273552"/>
            <a:ext cx="7223760" cy="411480"/>
          </a:xfrm>
          <a:prstGeom prst="rect">
            <a:avLst/>
          </a:prstGeom>
          <a:noFill/>
          <a:ln/>
        </p:spPr>
        <p:txBody>
          <a:bodyPr wrap="square" lIns="0" tIns="0" rIns="0" bIns="0" rtlCol="0" anchor="ctr"/>
          <a:lstStyle/>
          <a:p>
            <a:pPr indent="0" marL="0">
              <a:buNone/>
            </a:pPr>
            <a:r>
              <a:rPr lang="en-US" sz="750" dirty="0">
                <a:solidFill>
                  <a:srgbClr val="4A5568"/>
                </a:solidFill>
              </a:rPr>
              <a:t>Southeast LTL market estimated at $8.4B; top-5 regional players hold &lt;30% share; Lighthouse is #3 by terminals  ·  Completed 2 bolt-on terminal acquisitions in 2022 (Augusta, GA; Greenville, SC) at 5.5-6.0x EBITDA; 3 additional targets identified  ·  Acquirer would gain immediate top-5 regional positioning with 3-4 additional actionable tuck-ins at attractive multiples</a:t>
            </a:r>
            <a:endParaRPr lang="en-US" sz="750" dirty="0"/>
          </a:p>
        </p:txBody>
      </p:sp>
      <p:sp>
        <p:nvSpPr>
          <p:cNvPr id="25" name="Shape 23"/>
          <p:cNvSpPr/>
          <p:nvPr/>
        </p:nvSpPr>
        <p:spPr>
          <a:xfrm>
            <a:off x="457200" y="3822192"/>
            <a:ext cx="8229600" cy="868680"/>
          </a:xfrm>
          <a:prstGeom prst="rect">
            <a:avLst/>
          </a:prstGeom>
          <a:solidFill>
            <a:srgbClr val="F4F6FA"/>
          </a:solidFill>
          <a:ln w="12700">
            <a:solidFill>
              <a:srgbClr val="D0D8E4"/>
            </a:solidFill>
            <a:prstDash val="solid"/>
          </a:ln>
        </p:spPr>
      </p:sp>
      <p:sp>
        <p:nvSpPr>
          <p:cNvPr id="26" name="Shape 24"/>
          <p:cNvSpPr/>
          <p:nvPr/>
        </p:nvSpPr>
        <p:spPr>
          <a:xfrm>
            <a:off x="457200" y="3822192"/>
            <a:ext cx="54864" cy="868680"/>
          </a:xfrm>
          <a:prstGeom prst="rect">
            <a:avLst/>
          </a:prstGeom>
          <a:solidFill>
            <a:srgbClr val="C8A83C"/>
          </a:solidFill>
          <a:ln w="12700">
            <a:solidFill>
              <a:srgbClr val="C8A83C"/>
            </a:solidFill>
            <a:prstDash val="solid"/>
          </a:ln>
        </p:spPr>
      </p:sp>
      <p:sp>
        <p:nvSpPr>
          <p:cNvPr id="27" name="Text 25"/>
          <p:cNvSpPr/>
          <p:nvPr/>
        </p:nvSpPr>
        <p:spPr>
          <a:xfrm>
            <a:off x="594360" y="3895344"/>
            <a:ext cx="365760" cy="274320"/>
          </a:xfrm>
          <a:prstGeom prst="rect">
            <a:avLst/>
          </a:prstGeom>
          <a:noFill/>
          <a:ln/>
        </p:spPr>
        <p:txBody>
          <a:bodyPr wrap="square" lIns="0" tIns="0" rIns="0" bIns="0" rtlCol="0" anchor="ctr"/>
          <a:lstStyle/>
          <a:p>
            <a:pPr indent="0" marL="0">
              <a:buNone/>
            </a:pPr>
            <a:r>
              <a:rPr lang="en-US" sz="900" b="1" dirty="0">
                <a:solidFill>
                  <a:srgbClr val="C8A83C"/>
                </a:solidFill>
              </a:rPr>
              <a:t>4</a:t>
            </a:r>
            <a:endParaRPr lang="en-US" sz="900" dirty="0"/>
          </a:p>
        </p:txBody>
      </p:sp>
      <p:sp>
        <p:nvSpPr>
          <p:cNvPr id="28" name="Text 26"/>
          <p:cNvSpPr/>
          <p:nvPr/>
        </p:nvSpPr>
        <p:spPr>
          <a:xfrm>
            <a:off x="960120" y="3877056"/>
            <a:ext cx="7223760" cy="274320"/>
          </a:xfrm>
          <a:prstGeom prst="rect">
            <a:avLst/>
          </a:prstGeom>
          <a:noFill/>
          <a:ln/>
        </p:spPr>
        <p:txBody>
          <a:bodyPr wrap="square" lIns="0" tIns="0" rIns="0" bIns="0" rtlCol="0" anchor="ctr"/>
          <a:lstStyle/>
          <a:p>
            <a:pPr indent="0" marL="0">
              <a:buNone/>
            </a:pPr>
            <a:r>
              <a:rPr lang="en-US" sz="900" b="1" dirty="0">
                <a:solidFill>
                  <a:srgbClr val="1B2D55"/>
                </a:solidFill>
              </a:rPr>
              <a:t>Resilient, diversified revenue with strong free cash flow conversion</a:t>
            </a:r>
            <a:endParaRPr lang="en-US" sz="900" dirty="0"/>
          </a:p>
        </p:txBody>
      </p:sp>
      <p:sp>
        <p:nvSpPr>
          <p:cNvPr id="29" name="Text 27"/>
          <p:cNvSpPr/>
          <p:nvPr/>
        </p:nvSpPr>
        <p:spPr>
          <a:xfrm>
            <a:off x="960120" y="4206240"/>
            <a:ext cx="7223760" cy="411480"/>
          </a:xfrm>
          <a:prstGeom prst="rect">
            <a:avLst/>
          </a:prstGeom>
          <a:noFill/>
          <a:ln/>
        </p:spPr>
        <p:txBody>
          <a:bodyPr wrap="square" lIns="0" tIns="0" rIns="0" bIns="0" rtlCol="0" anchor="ctr"/>
          <a:lstStyle/>
          <a:p>
            <a:pPr indent="0" marL="0">
              <a:buNone/>
            </a:pPr>
            <a:r>
              <a:rPr lang="en-US" sz="750" dirty="0">
                <a:solidFill>
                  <a:srgbClr val="4A5568"/>
                </a:solidFill>
              </a:rPr>
              <a:t>Healthcare vertical (19% of revenue) provides counter-cyclical stability; 3-year CAGR of 24% in healthcare  ·  Asset-light terminal model: 9 of 14 terminals are leased, preserving capital flexibility for M&amp;A  ·  FCF conversion of 68% of EBITDA; $12M capex run-rate well below depreciation — fleet refresh funded within operating cash flow</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Company Overview</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6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Company Overview</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History &amp; Key Milestones</a:t>
            </a:r>
            <a:endParaRPr lang="en-US" sz="950" dirty="0"/>
          </a:p>
        </p:txBody>
      </p:sp>
      <p:sp>
        <p:nvSpPr>
          <p:cNvPr id="11" name="Shape 9"/>
          <p:cNvSpPr/>
          <p:nvPr/>
        </p:nvSpPr>
        <p:spPr>
          <a:xfrm>
            <a:off x="365760" y="1051560"/>
            <a:ext cx="2697480" cy="502920"/>
          </a:xfrm>
          <a:prstGeom prst="rect">
            <a:avLst/>
          </a:prstGeom>
          <a:solidFill>
            <a:srgbClr val="F4F6FA"/>
          </a:solidFill>
          <a:ln w="12700">
            <a:solidFill>
              <a:srgbClr val="D0D8E4"/>
            </a:solidFill>
            <a:prstDash val="solid"/>
          </a:ln>
        </p:spPr>
      </p:sp>
      <p:sp>
        <p:nvSpPr>
          <p:cNvPr id="12" name="Text 10"/>
          <p:cNvSpPr/>
          <p:nvPr/>
        </p:nvSpPr>
        <p:spPr>
          <a:xfrm>
            <a:off x="475488" y="1106424"/>
            <a:ext cx="1188720" cy="201168"/>
          </a:xfrm>
          <a:prstGeom prst="rect">
            <a:avLst/>
          </a:prstGeom>
          <a:noFill/>
          <a:ln/>
        </p:spPr>
        <p:txBody>
          <a:bodyPr wrap="square" lIns="0" tIns="0" rIns="0" bIns="0" rtlCol="0" anchor="ctr"/>
          <a:lstStyle/>
          <a:p>
            <a:pPr indent="0" marL="0">
              <a:buNone/>
            </a:pPr>
            <a:r>
              <a:rPr lang="en-US" sz="750" dirty="0">
                <a:solidFill>
                  <a:srgbClr val="8898AA"/>
                </a:solidFill>
              </a:rPr>
              <a:t>Founded</a:t>
            </a:r>
            <a:endParaRPr lang="en-US" sz="750" dirty="0"/>
          </a:p>
        </p:txBody>
      </p:sp>
      <p:sp>
        <p:nvSpPr>
          <p:cNvPr id="13" name="Text 11"/>
          <p:cNvSpPr/>
          <p:nvPr/>
        </p:nvSpPr>
        <p:spPr>
          <a:xfrm>
            <a:off x="475488" y="130759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2004</a:t>
            </a:r>
            <a:endParaRPr lang="en-US" sz="900" dirty="0"/>
          </a:p>
        </p:txBody>
      </p:sp>
      <p:sp>
        <p:nvSpPr>
          <p:cNvPr id="14" name="Shape 12"/>
          <p:cNvSpPr/>
          <p:nvPr/>
        </p:nvSpPr>
        <p:spPr>
          <a:xfrm>
            <a:off x="3200400" y="1051560"/>
            <a:ext cx="2697480" cy="502920"/>
          </a:xfrm>
          <a:prstGeom prst="rect">
            <a:avLst/>
          </a:prstGeom>
          <a:solidFill>
            <a:srgbClr val="F4F6FA"/>
          </a:solidFill>
          <a:ln w="12700">
            <a:solidFill>
              <a:srgbClr val="D0D8E4"/>
            </a:solidFill>
            <a:prstDash val="solid"/>
          </a:ln>
        </p:spPr>
      </p:sp>
      <p:sp>
        <p:nvSpPr>
          <p:cNvPr id="15" name="Text 13"/>
          <p:cNvSpPr/>
          <p:nvPr/>
        </p:nvSpPr>
        <p:spPr>
          <a:xfrm>
            <a:off x="3310128" y="1106424"/>
            <a:ext cx="1188720" cy="201168"/>
          </a:xfrm>
          <a:prstGeom prst="rect">
            <a:avLst/>
          </a:prstGeom>
          <a:noFill/>
          <a:ln/>
        </p:spPr>
        <p:txBody>
          <a:bodyPr wrap="square" lIns="0" tIns="0" rIns="0" bIns="0" rtlCol="0" anchor="ctr"/>
          <a:lstStyle/>
          <a:p>
            <a:pPr indent="0" marL="0">
              <a:buNone/>
            </a:pPr>
            <a:r>
              <a:rPr lang="en-US" sz="750" dirty="0">
                <a:solidFill>
                  <a:srgbClr val="8898AA"/>
                </a:solidFill>
              </a:rPr>
              <a:t>HQ</a:t>
            </a:r>
            <a:endParaRPr lang="en-US" sz="750" dirty="0"/>
          </a:p>
        </p:txBody>
      </p:sp>
      <p:sp>
        <p:nvSpPr>
          <p:cNvPr id="16" name="Text 14"/>
          <p:cNvSpPr/>
          <p:nvPr/>
        </p:nvSpPr>
        <p:spPr>
          <a:xfrm>
            <a:off x="3310128" y="130759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Charlotte, NC</a:t>
            </a:r>
            <a:endParaRPr lang="en-US" sz="900" dirty="0"/>
          </a:p>
        </p:txBody>
      </p:sp>
      <p:sp>
        <p:nvSpPr>
          <p:cNvPr id="17" name="Shape 15"/>
          <p:cNvSpPr/>
          <p:nvPr/>
        </p:nvSpPr>
        <p:spPr>
          <a:xfrm>
            <a:off x="6035040" y="1051560"/>
            <a:ext cx="2697480" cy="502920"/>
          </a:xfrm>
          <a:prstGeom prst="rect">
            <a:avLst/>
          </a:prstGeom>
          <a:solidFill>
            <a:srgbClr val="F4F6FA"/>
          </a:solidFill>
          <a:ln w="12700">
            <a:solidFill>
              <a:srgbClr val="D0D8E4"/>
            </a:solidFill>
            <a:prstDash val="solid"/>
          </a:ln>
        </p:spPr>
      </p:sp>
      <p:sp>
        <p:nvSpPr>
          <p:cNvPr id="18" name="Text 16"/>
          <p:cNvSpPr/>
          <p:nvPr/>
        </p:nvSpPr>
        <p:spPr>
          <a:xfrm>
            <a:off x="6144768" y="1106424"/>
            <a:ext cx="1188720" cy="201168"/>
          </a:xfrm>
          <a:prstGeom prst="rect">
            <a:avLst/>
          </a:prstGeom>
          <a:noFill/>
          <a:ln/>
        </p:spPr>
        <p:txBody>
          <a:bodyPr wrap="square" lIns="0" tIns="0" rIns="0" bIns="0" rtlCol="0" anchor="ctr"/>
          <a:lstStyle/>
          <a:p>
            <a:pPr indent="0" marL="0">
              <a:buNone/>
            </a:pPr>
            <a:r>
              <a:rPr lang="en-US" sz="750" dirty="0">
                <a:solidFill>
                  <a:srgbClr val="8898AA"/>
                </a:solidFill>
              </a:rPr>
              <a:t>Employees</a:t>
            </a:r>
            <a:endParaRPr lang="en-US" sz="750" dirty="0"/>
          </a:p>
        </p:txBody>
      </p:sp>
      <p:sp>
        <p:nvSpPr>
          <p:cNvPr id="19" name="Text 17"/>
          <p:cNvSpPr/>
          <p:nvPr/>
        </p:nvSpPr>
        <p:spPr>
          <a:xfrm>
            <a:off x="6144768" y="130759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~1,450</a:t>
            </a:r>
            <a:endParaRPr lang="en-US" sz="900" dirty="0"/>
          </a:p>
        </p:txBody>
      </p:sp>
      <p:sp>
        <p:nvSpPr>
          <p:cNvPr id="20" name="Shape 18"/>
          <p:cNvSpPr/>
          <p:nvPr/>
        </p:nvSpPr>
        <p:spPr>
          <a:xfrm>
            <a:off x="365760" y="1600200"/>
            <a:ext cx="2697480" cy="502920"/>
          </a:xfrm>
          <a:prstGeom prst="rect">
            <a:avLst/>
          </a:prstGeom>
          <a:solidFill>
            <a:srgbClr val="F4F6FA"/>
          </a:solidFill>
          <a:ln w="12700">
            <a:solidFill>
              <a:srgbClr val="D0D8E4"/>
            </a:solidFill>
            <a:prstDash val="solid"/>
          </a:ln>
        </p:spPr>
      </p:sp>
      <p:sp>
        <p:nvSpPr>
          <p:cNvPr id="21" name="Text 19"/>
          <p:cNvSpPr/>
          <p:nvPr/>
        </p:nvSpPr>
        <p:spPr>
          <a:xfrm>
            <a:off x="475488" y="1655064"/>
            <a:ext cx="1188720" cy="201168"/>
          </a:xfrm>
          <a:prstGeom prst="rect">
            <a:avLst/>
          </a:prstGeom>
          <a:noFill/>
          <a:ln/>
        </p:spPr>
        <p:txBody>
          <a:bodyPr wrap="square" lIns="0" tIns="0" rIns="0" bIns="0" rtlCol="0" anchor="ctr"/>
          <a:lstStyle/>
          <a:p>
            <a:pPr indent="0" marL="0">
              <a:buNone/>
            </a:pPr>
            <a:r>
              <a:rPr lang="en-US" sz="750" dirty="0">
                <a:solidFill>
                  <a:srgbClr val="8898AA"/>
                </a:solidFill>
              </a:rPr>
              <a:t>Fleet</a:t>
            </a:r>
            <a:endParaRPr lang="en-US" sz="750" dirty="0"/>
          </a:p>
        </p:txBody>
      </p:sp>
      <p:sp>
        <p:nvSpPr>
          <p:cNvPr id="22" name="Text 20"/>
          <p:cNvSpPr/>
          <p:nvPr/>
        </p:nvSpPr>
        <p:spPr>
          <a:xfrm>
            <a:off x="475488" y="185623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680 owned/leased vehicles</a:t>
            </a:r>
            <a:endParaRPr lang="en-US" sz="900" dirty="0"/>
          </a:p>
        </p:txBody>
      </p:sp>
      <p:sp>
        <p:nvSpPr>
          <p:cNvPr id="23" name="Shape 21"/>
          <p:cNvSpPr/>
          <p:nvPr/>
        </p:nvSpPr>
        <p:spPr>
          <a:xfrm>
            <a:off x="3200400" y="1600200"/>
            <a:ext cx="2697480" cy="502920"/>
          </a:xfrm>
          <a:prstGeom prst="rect">
            <a:avLst/>
          </a:prstGeom>
          <a:solidFill>
            <a:srgbClr val="F4F6FA"/>
          </a:solidFill>
          <a:ln w="12700">
            <a:solidFill>
              <a:srgbClr val="D0D8E4"/>
            </a:solidFill>
            <a:prstDash val="solid"/>
          </a:ln>
        </p:spPr>
      </p:sp>
      <p:sp>
        <p:nvSpPr>
          <p:cNvPr id="24" name="Text 22"/>
          <p:cNvSpPr/>
          <p:nvPr/>
        </p:nvSpPr>
        <p:spPr>
          <a:xfrm>
            <a:off x="3310128" y="1655064"/>
            <a:ext cx="1188720" cy="201168"/>
          </a:xfrm>
          <a:prstGeom prst="rect">
            <a:avLst/>
          </a:prstGeom>
          <a:noFill/>
          <a:ln/>
        </p:spPr>
        <p:txBody>
          <a:bodyPr wrap="square" lIns="0" tIns="0" rIns="0" bIns="0" rtlCol="0" anchor="ctr"/>
          <a:lstStyle/>
          <a:p>
            <a:pPr indent="0" marL="0">
              <a:buNone/>
            </a:pPr>
            <a:r>
              <a:rPr lang="en-US" sz="750" dirty="0">
                <a:solidFill>
                  <a:srgbClr val="8898AA"/>
                </a:solidFill>
              </a:rPr>
              <a:t>Terminals</a:t>
            </a:r>
            <a:endParaRPr lang="en-US" sz="750" dirty="0"/>
          </a:p>
        </p:txBody>
      </p:sp>
      <p:sp>
        <p:nvSpPr>
          <p:cNvPr id="25" name="Text 23"/>
          <p:cNvSpPr/>
          <p:nvPr/>
        </p:nvSpPr>
        <p:spPr>
          <a:xfrm>
            <a:off x="3310128" y="185623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14 across SE/Mid-Atlantic</a:t>
            </a:r>
            <a:endParaRPr lang="en-US" sz="900" dirty="0"/>
          </a:p>
        </p:txBody>
      </p:sp>
      <p:sp>
        <p:nvSpPr>
          <p:cNvPr id="26" name="Shape 24"/>
          <p:cNvSpPr/>
          <p:nvPr/>
        </p:nvSpPr>
        <p:spPr>
          <a:xfrm>
            <a:off x="6035040" y="1600200"/>
            <a:ext cx="2697480" cy="502920"/>
          </a:xfrm>
          <a:prstGeom prst="rect">
            <a:avLst/>
          </a:prstGeom>
          <a:solidFill>
            <a:srgbClr val="F4F6FA"/>
          </a:solidFill>
          <a:ln w="12700">
            <a:solidFill>
              <a:srgbClr val="D0D8E4"/>
            </a:solidFill>
            <a:prstDash val="solid"/>
          </a:ln>
        </p:spPr>
      </p:sp>
      <p:sp>
        <p:nvSpPr>
          <p:cNvPr id="27" name="Text 25"/>
          <p:cNvSpPr/>
          <p:nvPr/>
        </p:nvSpPr>
        <p:spPr>
          <a:xfrm>
            <a:off x="6144768" y="1655064"/>
            <a:ext cx="1188720" cy="201168"/>
          </a:xfrm>
          <a:prstGeom prst="rect">
            <a:avLst/>
          </a:prstGeom>
          <a:noFill/>
          <a:ln/>
        </p:spPr>
        <p:txBody>
          <a:bodyPr wrap="square" lIns="0" tIns="0" rIns="0" bIns="0" rtlCol="0" anchor="ctr"/>
          <a:lstStyle/>
          <a:p>
            <a:pPr indent="0" marL="0">
              <a:buNone/>
            </a:pPr>
            <a:r>
              <a:rPr lang="en-US" sz="750" dirty="0">
                <a:solidFill>
                  <a:srgbClr val="8898AA"/>
                </a:solidFill>
              </a:rPr>
              <a:t>Top Client</a:t>
            </a:r>
            <a:endParaRPr lang="en-US" sz="750" dirty="0"/>
          </a:p>
        </p:txBody>
      </p:sp>
      <p:sp>
        <p:nvSpPr>
          <p:cNvPr id="28" name="Text 26"/>
          <p:cNvSpPr/>
          <p:nvPr/>
        </p:nvSpPr>
        <p:spPr>
          <a:xfrm>
            <a:off x="6144768" y="1856232"/>
            <a:ext cx="2468880" cy="201168"/>
          </a:xfrm>
          <a:prstGeom prst="rect">
            <a:avLst/>
          </a:prstGeom>
          <a:noFill/>
          <a:ln/>
        </p:spPr>
        <p:txBody>
          <a:bodyPr wrap="square" lIns="0" tIns="0" rIns="0" bIns="0" rtlCol="0" anchor="ctr"/>
          <a:lstStyle/>
          <a:p>
            <a:pPr indent="0" marL="0">
              <a:buNone/>
            </a:pPr>
            <a:r>
              <a:rPr lang="en-US" sz="900" b="1" dirty="0">
                <a:solidFill>
                  <a:srgbClr val="1B2D55"/>
                </a:solidFill>
              </a:rPr>
              <a:t>&lt;8% of revenue</a:t>
            </a:r>
            <a:endParaRPr lang="en-US" sz="900" dirty="0"/>
          </a:p>
        </p:txBody>
      </p:sp>
      <p:sp>
        <p:nvSpPr>
          <p:cNvPr id="29" name="Shape 27"/>
          <p:cNvSpPr/>
          <p:nvPr/>
        </p:nvSpPr>
        <p:spPr>
          <a:xfrm>
            <a:off x="457200" y="2221992"/>
            <a:ext cx="8229600" cy="0"/>
          </a:xfrm>
          <a:prstGeom prst="line">
            <a:avLst/>
          </a:prstGeom>
          <a:noFill/>
          <a:ln w="9525">
            <a:solidFill>
              <a:srgbClr val="D0D8E4"/>
            </a:solidFill>
            <a:prstDash val="solid"/>
          </a:ln>
        </p:spPr>
      </p:sp>
      <p:sp>
        <p:nvSpPr>
          <p:cNvPr id="30" name="Text 28"/>
          <p:cNvSpPr/>
          <p:nvPr/>
        </p:nvSpPr>
        <p:spPr>
          <a:xfrm>
            <a:off x="457200" y="2286000"/>
            <a:ext cx="8229600" cy="256032"/>
          </a:xfrm>
          <a:prstGeom prst="rect">
            <a:avLst/>
          </a:prstGeom>
          <a:noFill/>
          <a:ln/>
        </p:spPr>
        <p:txBody>
          <a:bodyPr wrap="square" lIns="0" tIns="0" rIns="0" bIns="0" rtlCol="0" anchor="ctr"/>
          <a:lstStyle/>
          <a:p>
            <a:pPr indent="0" marL="0">
              <a:buNone/>
            </a:pPr>
            <a:r>
              <a:rPr lang="en-US" sz="900" b="1" dirty="0">
                <a:solidFill>
                  <a:srgbClr val="1B2D55"/>
                </a:solidFill>
              </a:rPr>
              <a:t>Company Timeline</a:t>
            </a:r>
            <a:endParaRPr lang="en-US" sz="900" dirty="0"/>
          </a:p>
        </p:txBody>
      </p:sp>
      <p:sp>
        <p:nvSpPr>
          <p:cNvPr id="31" name="Shape 29"/>
          <p:cNvSpPr/>
          <p:nvPr/>
        </p:nvSpPr>
        <p:spPr>
          <a:xfrm>
            <a:off x="457200" y="3017520"/>
            <a:ext cx="8229600" cy="0"/>
          </a:xfrm>
          <a:prstGeom prst="line">
            <a:avLst/>
          </a:prstGeom>
          <a:noFill/>
          <a:ln w="19050">
            <a:solidFill>
              <a:srgbClr val="D0D8E4"/>
            </a:solidFill>
            <a:prstDash val="solid"/>
          </a:ln>
        </p:spPr>
      </p:sp>
      <p:sp>
        <p:nvSpPr>
          <p:cNvPr id="32" name="Shape 30"/>
          <p:cNvSpPr/>
          <p:nvPr/>
        </p:nvSpPr>
        <p:spPr>
          <a:xfrm>
            <a:off x="1051560" y="2944368"/>
            <a:ext cx="182880" cy="182880"/>
          </a:xfrm>
          <a:prstGeom prst="oval">
            <a:avLst/>
          </a:prstGeom>
          <a:solidFill>
            <a:srgbClr val="C8A83C"/>
          </a:solidFill>
          <a:ln w="12700">
            <a:solidFill>
              <a:srgbClr val="C8A83C"/>
            </a:solidFill>
            <a:prstDash val="solid"/>
          </a:ln>
        </p:spPr>
      </p:sp>
      <p:sp>
        <p:nvSpPr>
          <p:cNvPr id="33" name="Text 31"/>
          <p:cNvSpPr/>
          <p:nvPr/>
        </p:nvSpPr>
        <p:spPr>
          <a:xfrm>
            <a:off x="6858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2004</a:t>
            </a:r>
            <a:endParaRPr lang="en-US" sz="800" dirty="0"/>
          </a:p>
        </p:txBody>
      </p:sp>
      <p:sp>
        <p:nvSpPr>
          <p:cNvPr id="34" name="Text 32"/>
          <p:cNvSpPr/>
          <p:nvPr/>
        </p:nvSpPr>
        <p:spPr>
          <a:xfrm>
            <a:off x="5029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Founded in Charlotte, NC by former UPS Freight regional manager</a:t>
            </a:r>
            <a:endParaRPr lang="en-US" sz="650" dirty="0"/>
          </a:p>
        </p:txBody>
      </p:sp>
      <p:sp>
        <p:nvSpPr>
          <p:cNvPr id="35" name="Shape 33"/>
          <p:cNvSpPr/>
          <p:nvPr/>
        </p:nvSpPr>
        <p:spPr>
          <a:xfrm>
            <a:off x="2423160" y="2944368"/>
            <a:ext cx="182880" cy="182880"/>
          </a:xfrm>
          <a:prstGeom prst="oval">
            <a:avLst/>
          </a:prstGeom>
          <a:solidFill>
            <a:srgbClr val="C8A83C"/>
          </a:solidFill>
          <a:ln w="12700">
            <a:solidFill>
              <a:srgbClr val="C8A83C"/>
            </a:solidFill>
            <a:prstDash val="solid"/>
          </a:ln>
        </p:spPr>
      </p:sp>
      <p:sp>
        <p:nvSpPr>
          <p:cNvPr id="36" name="Text 34"/>
          <p:cNvSpPr/>
          <p:nvPr/>
        </p:nvSpPr>
        <p:spPr>
          <a:xfrm>
            <a:off x="20574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2011</a:t>
            </a:r>
            <a:endParaRPr lang="en-US" sz="800" dirty="0"/>
          </a:p>
        </p:txBody>
      </p:sp>
      <p:sp>
        <p:nvSpPr>
          <p:cNvPr id="37" name="Text 35"/>
          <p:cNvSpPr/>
          <p:nvPr/>
        </p:nvSpPr>
        <p:spPr>
          <a:xfrm>
            <a:off x="18745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Launched BeaconOS route optimization platform</a:t>
            </a:r>
            <a:endParaRPr lang="en-US" sz="650" dirty="0"/>
          </a:p>
        </p:txBody>
      </p:sp>
      <p:sp>
        <p:nvSpPr>
          <p:cNvPr id="38" name="Shape 36"/>
          <p:cNvSpPr/>
          <p:nvPr/>
        </p:nvSpPr>
        <p:spPr>
          <a:xfrm>
            <a:off x="3794760" y="2944368"/>
            <a:ext cx="182880" cy="182880"/>
          </a:xfrm>
          <a:prstGeom prst="oval">
            <a:avLst/>
          </a:prstGeom>
          <a:solidFill>
            <a:srgbClr val="C8A83C"/>
          </a:solidFill>
          <a:ln w="12700">
            <a:solidFill>
              <a:srgbClr val="C8A83C"/>
            </a:solidFill>
            <a:prstDash val="solid"/>
          </a:ln>
        </p:spPr>
      </p:sp>
      <p:sp>
        <p:nvSpPr>
          <p:cNvPr id="39" name="Text 37"/>
          <p:cNvSpPr/>
          <p:nvPr/>
        </p:nvSpPr>
        <p:spPr>
          <a:xfrm>
            <a:off x="34290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2016</a:t>
            </a:r>
            <a:endParaRPr lang="en-US" sz="800" dirty="0"/>
          </a:p>
        </p:txBody>
      </p:sp>
      <p:sp>
        <p:nvSpPr>
          <p:cNvPr id="40" name="Text 38"/>
          <p:cNvSpPr/>
          <p:nvPr/>
        </p:nvSpPr>
        <p:spPr>
          <a:xfrm>
            <a:off x="32461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Crossed $100M revenue; expanded into Mid-Atlantic with Richmond hub</a:t>
            </a:r>
            <a:endParaRPr lang="en-US" sz="650" dirty="0"/>
          </a:p>
        </p:txBody>
      </p:sp>
      <p:sp>
        <p:nvSpPr>
          <p:cNvPr id="41" name="Shape 39"/>
          <p:cNvSpPr/>
          <p:nvPr/>
        </p:nvSpPr>
        <p:spPr>
          <a:xfrm>
            <a:off x="5166360" y="2944368"/>
            <a:ext cx="182880" cy="182880"/>
          </a:xfrm>
          <a:prstGeom prst="oval">
            <a:avLst/>
          </a:prstGeom>
          <a:solidFill>
            <a:srgbClr val="C8A83C"/>
          </a:solidFill>
          <a:ln w="12700">
            <a:solidFill>
              <a:srgbClr val="C8A83C"/>
            </a:solidFill>
            <a:prstDash val="solid"/>
          </a:ln>
        </p:spPr>
      </p:sp>
      <p:sp>
        <p:nvSpPr>
          <p:cNvPr id="42" name="Text 40"/>
          <p:cNvSpPr/>
          <p:nvPr/>
        </p:nvSpPr>
        <p:spPr>
          <a:xfrm>
            <a:off x="48006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2019</a:t>
            </a:r>
            <a:endParaRPr lang="en-US" sz="800" dirty="0"/>
          </a:p>
        </p:txBody>
      </p:sp>
      <p:sp>
        <p:nvSpPr>
          <p:cNvPr id="43" name="Text 41"/>
          <p:cNvSpPr/>
          <p:nvPr/>
        </p:nvSpPr>
        <p:spPr>
          <a:xfrm>
            <a:off x="46177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Launched final-mile e-commerce practice; secured first 3PL white-label contract</a:t>
            </a:r>
            <a:endParaRPr lang="en-US" sz="650" dirty="0"/>
          </a:p>
        </p:txBody>
      </p:sp>
      <p:sp>
        <p:nvSpPr>
          <p:cNvPr id="44" name="Shape 42"/>
          <p:cNvSpPr/>
          <p:nvPr/>
        </p:nvSpPr>
        <p:spPr>
          <a:xfrm>
            <a:off x="6537960" y="2944368"/>
            <a:ext cx="182880" cy="182880"/>
          </a:xfrm>
          <a:prstGeom prst="oval">
            <a:avLst/>
          </a:prstGeom>
          <a:solidFill>
            <a:srgbClr val="C8A83C"/>
          </a:solidFill>
          <a:ln w="12700">
            <a:solidFill>
              <a:srgbClr val="C8A83C"/>
            </a:solidFill>
            <a:prstDash val="solid"/>
          </a:ln>
        </p:spPr>
      </p:sp>
      <p:sp>
        <p:nvSpPr>
          <p:cNvPr id="45" name="Text 43"/>
          <p:cNvSpPr/>
          <p:nvPr/>
        </p:nvSpPr>
        <p:spPr>
          <a:xfrm>
            <a:off x="61722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2022</a:t>
            </a:r>
            <a:endParaRPr lang="en-US" sz="800" dirty="0"/>
          </a:p>
        </p:txBody>
      </p:sp>
      <p:sp>
        <p:nvSpPr>
          <p:cNvPr id="46" name="Text 44"/>
          <p:cNvSpPr/>
          <p:nvPr/>
        </p:nvSpPr>
        <p:spPr>
          <a:xfrm>
            <a:off x="59893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Completed Augusta + Greenville terminal acquisitions; crossed $200M revenue</a:t>
            </a:r>
            <a:endParaRPr lang="en-US" sz="650" dirty="0"/>
          </a:p>
        </p:txBody>
      </p:sp>
      <p:sp>
        <p:nvSpPr>
          <p:cNvPr id="47" name="Shape 45"/>
          <p:cNvSpPr/>
          <p:nvPr/>
        </p:nvSpPr>
        <p:spPr>
          <a:xfrm>
            <a:off x="7909560" y="2944368"/>
            <a:ext cx="182880" cy="182880"/>
          </a:xfrm>
          <a:prstGeom prst="oval">
            <a:avLst/>
          </a:prstGeom>
          <a:solidFill>
            <a:srgbClr val="C8A83C"/>
          </a:solidFill>
          <a:ln w="12700">
            <a:solidFill>
              <a:srgbClr val="C8A83C"/>
            </a:solidFill>
            <a:prstDash val="solid"/>
          </a:ln>
        </p:spPr>
      </p:sp>
      <p:sp>
        <p:nvSpPr>
          <p:cNvPr id="48" name="Text 46"/>
          <p:cNvSpPr/>
          <p:nvPr/>
        </p:nvSpPr>
        <p:spPr>
          <a:xfrm>
            <a:off x="7543800" y="2596896"/>
            <a:ext cx="914400" cy="256032"/>
          </a:xfrm>
          <a:prstGeom prst="rect">
            <a:avLst/>
          </a:prstGeom>
          <a:noFill/>
          <a:ln/>
        </p:spPr>
        <p:txBody>
          <a:bodyPr wrap="square" lIns="0" tIns="0" rIns="0" bIns="0" rtlCol="0" anchor="ctr"/>
          <a:lstStyle/>
          <a:p>
            <a:pPr algn="ctr" indent="0" marL="0">
              <a:buNone/>
            </a:pPr>
            <a:r>
              <a:rPr lang="en-US" sz="800" b="1" dirty="0">
                <a:solidFill>
                  <a:srgbClr val="1B2D55"/>
                </a:solidFill>
              </a:rPr>
              <a:t>2023</a:t>
            </a:r>
            <a:endParaRPr lang="en-US" sz="800" dirty="0"/>
          </a:p>
        </p:txBody>
      </p:sp>
      <p:sp>
        <p:nvSpPr>
          <p:cNvPr id="49" name="Text 47"/>
          <p:cNvSpPr/>
          <p:nvPr/>
        </p:nvSpPr>
        <p:spPr>
          <a:xfrm>
            <a:off x="7360920" y="3218688"/>
            <a:ext cx="1280160" cy="594360"/>
          </a:xfrm>
          <a:prstGeom prst="rect">
            <a:avLst/>
          </a:prstGeom>
          <a:noFill/>
          <a:ln/>
        </p:spPr>
        <p:txBody>
          <a:bodyPr wrap="square" lIns="0" tIns="0" rIns="0" bIns="0" rtlCol="0" anchor="ctr"/>
          <a:lstStyle/>
          <a:p>
            <a:pPr algn="ctr" indent="0" marL="0">
              <a:buNone/>
            </a:pPr>
            <a:r>
              <a:rPr lang="en-US" sz="650" dirty="0">
                <a:solidFill>
                  <a:srgbClr val="4A5568"/>
                </a:solidFill>
              </a:rPr>
              <a:t>Launched BeaconOS SaaS licensing; initiated sale process with William Blair</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Products &amp; Brands</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7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Products &amp; Brands</a:t>
            </a:r>
            <a:endParaRPr lang="en-US" sz="1600" dirty="0"/>
          </a:p>
        </p:txBody>
      </p:sp>
      <p:sp>
        <p:nvSpPr>
          <p:cNvPr id="10" name="Shape 8"/>
          <p:cNvSpPr/>
          <p:nvPr/>
        </p:nvSpPr>
        <p:spPr>
          <a:xfrm>
            <a:off x="365760" y="1024128"/>
            <a:ext cx="8412480" cy="859536"/>
          </a:xfrm>
          <a:prstGeom prst="rect">
            <a:avLst/>
          </a:prstGeom>
          <a:solidFill>
            <a:srgbClr val="FFFFFF"/>
          </a:solidFill>
          <a:ln w="12700">
            <a:solidFill>
              <a:srgbClr val="D0D8E4"/>
            </a:solidFill>
            <a:prstDash val="solid"/>
          </a:ln>
        </p:spPr>
      </p:sp>
      <p:sp>
        <p:nvSpPr>
          <p:cNvPr id="11" name="Shape 9"/>
          <p:cNvSpPr/>
          <p:nvPr/>
        </p:nvSpPr>
        <p:spPr>
          <a:xfrm>
            <a:off x="365760" y="1024128"/>
            <a:ext cx="54864" cy="859536"/>
          </a:xfrm>
          <a:prstGeom prst="rect">
            <a:avLst/>
          </a:prstGeom>
          <a:solidFill>
            <a:srgbClr val="2B5BAE"/>
          </a:solidFill>
          <a:ln w="12700">
            <a:solidFill>
              <a:srgbClr val="2B5BAE"/>
            </a:solidFill>
            <a:prstDash val="solid"/>
          </a:ln>
        </p:spPr>
      </p:sp>
      <p:sp>
        <p:nvSpPr>
          <p:cNvPr id="12" name="Text 10"/>
          <p:cNvSpPr/>
          <p:nvPr/>
        </p:nvSpPr>
        <p:spPr>
          <a:xfrm>
            <a:off x="530352" y="1097280"/>
            <a:ext cx="2560320" cy="274320"/>
          </a:xfrm>
          <a:prstGeom prst="rect">
            <a:avLst/>
          </a:prstGeom>
          <a:noFill/>
          <a:ln/>
        </p:spPr>
        <p:txBody>
          <a:bodyPr wrap="square" lIns="0" tIns="0" rIns="0" bIns="0" rtlCol="0" anchor="ctr"/>
          <a:lstStyle/>
          <a:p>
            <a:pPr indent="0" marL="0">
              <a:buNone/>
            </a:pPr>
            <a:r>
              <a:rPr lang="en-US" sz="950" b="1" dirty="0">
                <a:solidFill>
                  <a:srgbClr val="1B2D55"/>
                </a:solidFill>
              </a:rPr>
              <a:t>Regional LTL Freight</a:t>
            </a:r>
            <a:endParaRPr lang="en-US" sz="950" dirty="0"/>
          </a:p>
        </p:txBody>
      </p:sp>
      <p:sp>
        <p:nvSpPr>
          <p:cNvPr id="13" name="Text 11"/>
          <p:cNvSpPr/>
          <p:nvPr/>
        </p:nvSpPr>
        <p:spPr>
          <a:xfrm>
            <a:off x="530352" y="1426464"/>
            <a:ext cx="8138160" cy="384048"/>
          </a:xfrm>
          <a:prstGeom prst="rect">
            <a:avLst/>
          </a:prstGeom>
          <a:noFill/>
          <a:ln/>
        </p:spPr>
        <p:txBody>
          <a:bodyPr wrap="square" lIns="0" tIns="0" rIns="0" bIns="0" rtlCol="0" anchor="ctr"/>
          <a:lstStyle/>
          <a:p>
            <a:pPr indent="0" marL="0">
              <a:buNone/>
            </a:pPr>
            <a:r>
              <a:rPr lang="en-US" sz="800" dirty="0">
                <a:solidFill>
                  <a:srgbClr val="4A5568"/>
                </a:solidFill>
              </a:rPr>
              <a:t>Core door-to-door LTL service across 14-state Southeast/Mid-Atlantic footprint; 1-3 day transit times</a:t>
            </a:r>
            <a:endParaRPr lang="en-US" sz="800" dirty="0"/>
          </a:p>
        </p:txBody>
      </p:sp>
      <p:sp>
        <p:nvSpPr>
          <p:cNvPr id="14" name="Shape 12"/>
          <p:cNvSpPr/>
          <p:nvPr/>
        </p:nvSpPr>
        <p:spPr>
          <a:xfrm>
            <a:off x="365760" y="1956816"/>
            <a:ext cx="8412480" cy="859536"/>
          </a:xfrm>
          <a:prstGeom prst="rect">
            <a:avLst/>
          </a:prstGeom>
          <a:solidFill>
            <a:srgbClr val="F4F6FA"/>
          </a:solidFill>
          <a:ln w="12700">
            <a:solidFill>
              <a:srgbClr val="D0D8E4"/>
            </a:solidFill>
            <a:prstDash val="solid"/>
          </a:ln>
        </p:spPr>
      </p:sp>
      <p:sp>
        <p:nvSpPr>
          <p:cNvPr id="15" name="Shape 13"/>
          <p:cNvSpPr/>
          <p:nvPr/>
        </p:nvSpPr>
        <p:spPr>
          <a:xfrm>
            <a:off x="365760" y="1956816"/>
            <a:ext cx="54864" cy="859536"/>
          </a:xfrm>
          <a:prstGeom prst="rect">
            <a:avLst/>
          </a:prstGeom>
          <a:solidFill>
            <a:srgbClr val="2B5BAE"/>
          </a:solidFill>
          <a:ln w="12700">
            <a:solidFill>
              <a:srgbClr val="2B5BAE"/>
            </a:solidFill>
            <a:prstDash val="solid"/>
          </a:ln>
        </p:spPr>
      </p:sp>
      <p:sp>
        <p:nvSpPr>
          <p:cNvPr id="16" name="Text 14"/>
          <p:cNvSpPr/>
          <p:nvPr/>
        </p:nvSpPr>
        <p:spPr>
          <a:xfrm>
            <a:off x="530352" y="2029968"/>
            <a:ext cx="2560320" cy="274320"/>
          </a:xfrm>
          <a:prstGeom prst="rect">
            <a:avLst/>
          </a:prstGeom>
          <a:noFill/>
          <a:ln/>
        </p:spPr>
        <p:txBody>
          <a:bodyPr wrap="square" lIns="0" tIns="0" rIns="0" bIns="0" rtlCol="0" anchor="ctr"/>
          <a:lstStyle/>
          <a:p>
            <a:pPr indent="0" marL="0">
              <a:buNone/>
            </a:pPr>
            <a:r>
              <a:rPr lang="en-US" sz="950" b="1" dirty="0">
                <a:solidFill>
                  <a:srgbClr val="1B2D55"/>
                </a:solidFill>
              </a:rPr>
              <a:t>Final-Mile Delivery</a:t>
            </a:r>
            <a:endParaRPr lang="en-US" sz="950" dirty="0"/>
          </a:p>
        </p:txBody>
      </p:sp>
      <p:sp>
        <p:nvSpPr>
          <p:cNvPr id="17" name="Text 15"/>
          <p:cNvSpPr/>
          <p:nvPr/>
        </p:nvSpPr>
        <p:spPr>
          <a:xfrm>
            <a:off x="530352" y="2359152"/>
            <a:ext cx="8138160" cy="384048"/>
          </a:xfrm>
          <a:prstGeom prst="rect">
            <a:avLst/>
          </a:prstGeom>
          <a:noFill/>
          <a:ln/>
        </p:spPr>
        <p:txBody>
          <a:bodyPr wrap="square" lIns="0" tIns="0" rIns="0" bIns="0" rtlCol="0" anchor="ctr"/>
          <a:lstStyle/>
          <a:p>
            <a:pPr indent="0" marL="0">
              <a:buNone/>
            </a:pPr>
            <a:r>
              <a:rPr lang="en-US" sz="800" dirty="0">
                <a:solidFill>
                  <a:srgbClr val="4A5568"/>
                </a:solidFill>
              </a:rPr>
              <a:t>White-glove and standard final-mile for e-commerce, furniture, and appliance retailers; scheduled delivery windows</a:t>
            </a:r>
            <a:endParaRPr lang="en-US" sz="800" dirty="0"/>
          </a:p>
        </p:txBody>
      </p:sp>
      <p:sp>
        <p:nvSpPr>
          <p:cNvPr id="18" name="Shape 16"/>
          <p:cNvSpPr/>
          <p:nvPr/>
        </p:nvSpPr>
        <p:spPr>
          <a:xfrm>
            <a:off x="365760" y="2889504"/>
            <a:ext cx="8412480" cy="859536"/>
          </a:xfrm>
          <a:prstGeom prst="rect">
            <a:avLst/>
          </a:prstGeom>
          <a:solidFill>
            <a:srgbClr val="FFFFFF"/>
          </a:solidFill>
          <a:ln w="12700">
            <a:solidFill>
              <a:srgbClr val="D0D8E4"/>
            </a:solidFill>
            <a:prstDash val="solid"/>
          </a:ln>
        </p:spPr>
      </p:sp>
      <p:sp>
        <p:nvSpPr>
          <p:cNvPr id="19" name="Shape 17"/>
          <p:cNvSpPr/>
          <p:nvPr/>
        </p:nvSpPr>
        <p:spPr>
          <a:xfrm>
            <a:off x="365760" y="2889504"/>
            <a:ext cx="54864" cy="859536"/>
          </a:xfrm>
          <a:prstGeom prst="rect">
            <a:avLst/>
          </a:prstGeom>
          <a:solidFill>
            <a:srgbClr val="2B5BAE"/>
          </a:solidFill>
          <a:ln w="12700">
            <a:solidFill>
              <a:srgbClr val="2B5BAE"/>
            </a:solidFill>
            <a:prstDash val="solid"/>
          </a:ln>
        </p:spPr>
      </p:sp>
      <p:sp>
        <p:nvSpPr>
          <p:cNvPr id="20" name="Text 18"/>
          <p:cNvSpPr/>
          <p:nvPr/>
        </p:nvSpPr>
        <p:spPr>
          <a:xfrm>
            <a:off x="530352" y="2962656"/>
            <a:ext cx="2560320" cy="274320"/>
          </a:xfrm>
          <a:prstGeom prst="rect">
            <a:avLst/>
          </a:prstGeom>
          <a:noFill/>
          <a:ln/>
        </p:spPr>
        <p:txBody>
          <a:bodyPr wrap="square" lIns="0" tIns="0" rIns="0" bIns="0" rtlCol="0" anchor="ctr"/>
          <a:lstStyle/>
          <a:p>
            <a:pPr indent="0" marL="0">
              <a:buNone/>
            </a:pPr>
            <a:r>
              <a:rPr lang="en-US" sz="950" b="1" dirty="0">
                <a:solidFill>
                  <a:srgbClr val="1B2D55"/>
                </a:solidFill>
              </a:rPr>
              <a:t>BeaconOS Platform</a:t>
            </a:r>
            <a:endParaRPr lang="en-US" sz="950" dirty="0"/>
          </a:p>
        </p:txBody>
      </p:sp>
      <p:sp>
        <p:nvSpPr>
          <p:cNvPr id="21" name="Text 19"/>
          <p:cNvSpPr/>
          <p:nvPr/>
        </p:nvSpPr>
        <p:spPr>
          <a:xfrm>
            <a:off x="530352" y="3291840"/>
            <a:ext cx="8138160" cy="384048"/>
          </a:xfrm>
          <a:prstGeom prst="rect">
            <a:avLst/>
          </a:prstGeom>
          <a:noFill/>
          <a:ln/>
        </p:spPr>
        <p:txBody>
          <a:bodyPr wrap="square" lIns="0" tIns="0" rIns="0" bIns="0" rtlCol="0" anchor="ctr"/>
          <a:lstStyle/>
          <a:p>
            <a:pPr indent="0" marL="0">
              <a:buNone/>
            </a:pPr>
            <a:r>
              <a:rPr lang="en-US" sz="800" dirty="0">
                <a:solidFill>
                  <a:srgbClr val="4A5568"/>
                </a:solidFill>
              </a:rPr>
              <a:t>Proprietary TMS/route optimization — used internally and licensed to 3PLs as SaaS at $2.1M ARR</a:t>
            </a:r>
            <a:endParaRPr lang="en-US" sz="800" dirty="0"/>
          </a:p>
        </p:txBody>
      </p:sp>
      <p:sp>
        <p:nvSpPr>
          <p:cNvPr id="22" name="Shape 20"/>
          <p:cNvSpPr/>
          <p:nvPr/>
        </p:nvSpPr>
        <p:spPr>
          <a:xfrm>
            <a:off x="365760" y="3822192"/>
            <a:ext cx="8412480" cy="859536"/>
          </a:xfrm>
          <a:prstGeom prst="rect">
            <a:avLst/>
          </a:prstGeom>
          <a:solidFill>
            <a:srgbClr val="F4F6FA"/>
          </a:solidFill>
          <a:ln w="12700">
            <a:solidFill>
              <a:srgbClr val="D0D8E4"/>
            </a:solidFill>
            <a:prstDash val="solid"/>
          </a:ln>
        </p:spPr>
      </p:sp>
      <p:sp>
        <p:nvSpPr>
          <p:cNvPr id="23" name="Shape 21"/>
          <p:cNvSpPr/>
          <p:nvPr/>
        </p:nvSpPr>
        <p:spPr>
          <a:xfrm>
            <a:off x="365760" y="3822192"/>
            <a:ext cx="54864" cy="859536"/>
          </a:xfrm>
          <a:prstGeom prst="rect">
            <a:avLst/>
          </a:prstGeom>
          <a:solidFill>
            <a:srgbClr val="2B5BAE"/>
          </a:solidFill>
          <a:ln w="12700">
            <a:solidFill>
              <a:srgbClr val="2B5BAE"/>
            </a:solidFill>
            <a:prstDash val="solid"/>
          </a:ln>
        </p:spPr>
      </p:sp>
      <p:sp>
        <p:nvSpPr>
          <p:cNvPr id="24" name="Text 22"/>
          <p:cNvSpPr/>
          <p:nvPr/>
        </p:nvSpPr>
        <p:spPr>
          <a:xfrm>
            <a:off x="530352" y="3895344"/>
            <a:ext cx="2560320" cy="274320"/>
          </a:xfrm>
          <a:prstGeom prst="rect">
            <a:avLst/>
          </a:prstGeom>
          <a:noFill/>
          <a:ln/>
        </p:spPr>
        <p:txBody>
          <a:bodyPr wrap="square" lIns="0" tIns="0" rIns="0" bIns="0" rtlCol="0" anchor="ctr"/>
          <a:lstStyle/>
          <a:p>
            <a:pPr indent="0" marL="0">
              <a:buNone/>
            </a:pPr>
            <a:r>
              <a:rPr lang="en-US" sz="950" b="1" dirty="0">
                <a:solidFill>
                  <a:srgbClr val="1B2D55"/>
                </a:solidFill>
              </a:rPr>
              <a:t>Dedicated Fleet Services</a:t>
            </a:r>
            <a:endParaRPr lang="en-US" sz="950" dirty="0"/>
          </a:p>
        </p:txBody>
      </p:sp>
      <p:sp>
        <p:nvSpPr>
          <p:cNvPr id="25" name="Text 23"/>
          <p:cNvSpPr/>
          <p:nvPr/>
        </p:nvSpPr>
        <p:spPr>
          <a:xfrm>
            <a:off x="530352" y="4224528"/>
            <a:ext cx="8138160" cy="384048"/>
          </a:xfrm>
          <a:prstGeom prst="rect">
            <a:avLst/>
          </a:prstGeom>
          <a:noFill/>
          <a:ln/>
        </p:spPr>
        <p:txBody>
          <a:bodyPr wrap="square" lIns="0" tIns="0" rIns="0" bIns="0" rtlCol="0" anchor="ctr"/>
          <a:lstStyle/>
          <a:p>
            <a:pPr indent="0" marL="0">
              <a:buNone/>
            </a:pPr>
            <a:r>
              <a:rPr lang="en-US" sz="800" dirty="0">
                <a:solidFill>
                  <a:srgbClr val="4A5568"/>
                </a:solidFill>
              </a:rPr>
              <a:t>Dedicated contract carriage for high-volume shippers requiring reserved capacity and custom KPIs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Market Opportunity</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8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Market Opportunity</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Addressable Market &amp; Revenue Mix</a:t>
            </a:r>
            <a:endParaRPr lang="en-US" sz="950" dirty="0"/>
          </a:p>
        </p:txBody>
      </p:sp>
      <p:sp>
        <p:nvSpPr>
          <p:cNvPr id="11" name="Shape 9"/>
          <p:cNvSpPr/>
          <p:nvPr/>
        </p:nvSpPr>
        <p:spPr>
          <a:xfrm>
            <a:off x="365760" y="1024128"/>
            <a:ext cx="2286000" cy="502920"/>
          </a:xfrm>
          <a:prstGeom prst="rect">
            <a:avLst/>
          </a:prstGeom>
          <a:solidFill>
            <a:srgbClr val="1B2D55"/>
          </a:solidFill>
          <a:ln w="12700">
            <a:solidFill>
              <a:srgbClr val="1B2D55"/>
            </a:solidFill>
            <a:prstDash val="solid"/>
          </a:ln>
        </p:spPr>
      </p:sp>
      <p:sp>
        <p:nvSpPr>
          <p:cNvPr id="12" name="Text 10"/>
          <p:cNvSpPr/>
          <p:nvPr/>
        </p:nvSpPr>
        <p:spPr>
          <a:xfrm>
            <a:off x="457200" y="1097280"/>
            <a:ext cx="2103120" cy="347472"/>
          </a:xfrm>
          <a:prstGeom prst="rect">
            <a:avLst/>
          </a:prstGeom>
          <a:noFill/>
          <a:ln/>
        </p:spPr>
        <p:txBody>
          <a:bodyPr wrap="square" lIns="0" tIns="0" rIns="0" bIns="0" rtlCol="0" anchor="ctr"/>
          <a:lstStyle/>
          <a:p>
            <a:pPr indent="0" marL="0">
              <a:buNone/>
            </a:pPr>
            <a:r>
              <a:rPr lang="en-US" sz="800" b="1" dirty="0">
                <a:solidFill>
                  <a:srgbClr val="FFFFFF"/>
                </a:solidFill>
              </a:rPr>
              <a:t>Market Segment</a:t>
            </a:r>
            <a:endParaRPr lang="en-US" sz="800" dirty="0"/>
          </a:p>
        </p:txBody>
      </p:sp>
      <p:sp>
        <p:nvSpPr>
          <p:cNvPr id="13" name="Shape 11"/>
          <p:cNvSpPr/>
          <p:nvPr/>
        </p:nvSpPr>
        <p:spPr>
          <a:xfrm>
            <a:off x="2697480" y="1024128"/>
            <a:ext cx="1097280" cy="502920"/>
          </a:xfrm>
          <a:prstGeom prst="rect">
            <a:avLst/>
          </a:prstGeom>
          <a:solidFill>
            <a:srgbClr val="1B2D55"/>
          </a:solidFill>
          <a:ln w="12700">
            <a:solidFill>
              <a:srgbClr val="1B2D55"/>
            </a:solidFill>
            <a:prstDash val="solid"/>
          </a:ln>
        </p:spPr>
      </p:sp>
      <p:sp>
        <p:nvSpPr>
          <p:cNvPr id="14" name="Text 12"/>
          <p:cNvSpPr/>
          <p:nvPr/>
        </p:nvSpPr>
        <p:spPr>
          <a:xfrm>
            <a:off x="2788920" y="1097280"/>
            <a:ext cx="914400" cy="347472"/>
          </a:xfrm>
          <a:prstGeom prst="rect">
            <a:avLst/>
          </a:prstGeom>
          <a:noFill/>
          <a:ln/>
        </p:spPr>
        <p:txBody>
          <a:bodyPr wrap="square" lIns="0" tIns="0" rIns="0" bIns="0" rtlCol="0" anchor="ctr"/>
          <a:lstStyle/>
          <a:p>
            <a:pPr indent="0" marL="0">
              <a:buNone/>
            </a:pPr>
            <a:r>
              <a:rPr lang="en-US" sz="800" b="1" dirty="0">
                <a:solidFill>
                  <a:srgbClr val="FFFFFF"/>
                </a:solidFill>
              </a:rPr>
              <a:t>Total Size</a:t>
            </a:r>
            <a:endParaRPr lang="en-US" sz="800" dirty="0"/>
          </a:p>
        </p:txBody>
      </p:sp>
      <p:sp>
        <p:nvSpPr>
          <p:cNvPr id="15" name="Shape 13"/>
          <p:cNvSpPr/>
          <p:nvPr/>
        </p:nvSpPr>
        <p:spPr>
          <a:xfrm>
            <a:off x="3840480" y="1024128"/>
            <a:ext cx="3657600" cy="502920"/>
          </a:xfrm>
          <a:prstGeom prst="rect">
            <a:avLst/>
          </a:prstGeom>
          <a:solidFill>
            <a:srgbClr val="1B2D55"/>
          </a:solidFill>
          <a:ln w="12700">
            <a:solidFill>
              <a:srgbClr val="1B2D55"/>
            </a:solidFill>
            <a:prstDash val="solid"/>
          </a:ln>
        </p:spPr>
      </p:sp>
      <p:sp>
        <p:nvSpPr>
          <p:cNvPr id="16" name="Text 14"/>
          <p:cNvSpPr/>
          <p:nvPr/>
        </p:nvSpPr>
        <p:spPr>
          <a:xfrm>
            <a:off x="3931920" y="1097280"/>
            <a:ext cx="3474720" cy="347472"/>
          </a:xfrm>
          <a:prstGeom prst="rect">
            <a:avLst/>
          </a:prstGeom>
          <a:noFill/>
          <a:ln/>
        </p:spPr>
        <p:txBody>
          <a:bodyPr wrap="square" lIns="0" tIns="0" rIns="0" bIns="0" rtlCol="0" anchor="ctr"/>
          <a:lstStyle/>
          <a:p>
            <a:pPr indent="0" marL="0">
              <a:buNone/>
            </a:pPr>
            <a:r>
              <a:rPr lang="en-US" sz="800" b="1" dirty="0">
                <a:solidFill>
                  <a:srgbClr val="FFFFFF"/>
                </a:solidFill>
              </a:rPr>
              <a:t>Competitive Context</a:t>
            </a:r>
            <a:endParaRPr lang="en-US" sz="800" dirty="0"/>
          </a:p>
        </p:txBody>
      </p:sp>
      <p:sp>
        <p:nvSpPr>
          <p:cNvPr id="17" name="Shape 15"/>
          <p:cNvSpPr/>
          <p:nvPr/>
        </p:nvSpPr>
        <p:spPr>
          <a:xfrm>
            <a:off x="7543800" y="1024128"/>
            <a:ext cx="1097280" cy="502920"/>
          </a:xfrm>
          <a:prstGeom prst="rect">
            <a:avLst/>
          </a:prstGeom>
          <a:solidFill>
            <a:srgbClr val="1B2D55"/>
          </a:solidFill>
          <a:ln w="12700">
            <a:solidFill>
              <a:srgbClr val="1B2D55"/>
            </a:solidFill>
            <a:prstDash val="solid"/>
          </a:ln>
        </p:spPr>
      </p:sp>
      <p:sp>
        <p:nvSpPr>
          <p:cNvPr id="18" name="Text 16"/>
          <p:cNvSpPr/>
          <p:nvPr/>
        </p:nvSpPr>
        <p:spPr>
          <a:xfrm>
            <a:off x="7635240" y="1097280"/>
            <a:ext cx="914400" cy="347472"/>
          </a:xfrm>
          <a:prstGeom prst="rect">
            <a:avLst/>
          </a:prstGeom>
          <a:noFill/>
          <a:ln/>
        </p:spPr>
        <p:txBody>
          <a:bodyPr wrap="square" lIns="0" tIns="0" rIns="0" bIns="0" rtlCol="0" anchor="ctr"/>
          <a:lstStyle/>
          <a:p>
            <a:pPr indent="0" marL="0">
              <a:buNone/>
            </a:pPr>
            <a:r>
              <a:rPr lang="en-US" sz="800" b="1" dirty="0">
                <a:solidFill>
                  <a:srgbClr val="FFFFFF"/>
                </a:solidFill>
              </a:rPr>
              <a:t>Revenue Mix</a:t>
            </a:r>
            <a:endParaRPr lang="en-US" sz="800" dirty="0"/>
          </a:p>
        </p:txBody>
      </p:sp>
      <p:sp>
        <p:nvSpPr>
          <p:cNvPr id="19" name="Shape 17"/>
          <p:cNvSpPr/>
          <p:nvPr/>
        </p:nvSpPr>
        <p:spPr>
          <a:xfrm>
            <a:off x="365760" y="1527048"/>
            <a:ext cx="2286000" cy="502920"/>
          </a:xfrm>
          <a:prstGeom prst="rect">
            <a:avLst/>
          </a:prstGeom>
          <a:solidFill>
            <a:srgbClr val="F4F6FA"/>
          </a:solidFill>
          <a:ln w="12700">
            <a:solidFill>
              <a:srgbClr val="D0D8E4"/>
            </a:solidFill>
            <a:prstDash val="solid"/>
          </a:ln>
        </p:spPr>
      </p:sp>
      <p:sp>
        <p:nvSpPr>
          <p:cNvPr id="20" name="Text 18"/>
          <p:cNvSpPr/>
          <p:nvPr/>
        </p:nvSpPr>
        <p:spPr>
          <a:xfrm>
            <a:off x="457200" y="1600200"/>
            <a:ext cx="2103120" cy="347472"/>
          </a:xfrm>
          <a:prstGeom prst="rect">
            <a:avLst/>
          </a:prstGeom>
          <a:noFill/>
          <a:ln/>
        </p:spPr>
        <p:txBody>
          <a:bodyPr wrap="square" lIns="0" tIns="0" rIns="0" bIns="0" rtlCol="0" anchor="ctr"/>
          <a:lstStyle/>
          <a:p>
            <a:pPr indent="0" marL="0">
              <a:buNone/>
            </a:pPr>
            <a:r>
              <a:rPr lang="en-US" sz="800" dirty="0">
                <a:solidFill>
                  <a:srgbClr val="1B2D55"/>
                </a:solidFill>
              </a:rPr>
              <a:t>Southeast LTL</a:t>
            </a:r>
            <a:endParaRPr lang="en-US" sz="800" dirty="0"/>
          </a:p>
        </p:txBody>
      </p:sp>
      <p:sp>
        <p:nvSpPr>
          <p:cNvPr id="21" name="Shape 19"/>
          <p:cNvSpPr/>
          <p:nvPr/>
        </p:nvSpPr>
        <p:spPr>
          <a:xfrm>
            <a:off x="2697480" y="1527048"/>
            <a:ext cx="1097280" cy="502920"/>
          </a:xfrm>
          <a:prstGeom prst="rect">
            <a:avLst/>
          </a:prstGeom>
          <a:solidFill>
            <a:srgbClr val="F4F6FA"/>
          </a:solidFill>
          <a:ln w="12700">
            <a:solidFill>
              <a:srgbClr val="D0D8E4"/>
            </a:solidFill>
            <a:prstDash val="solid"/>
          </a:ln>
        </p:spPr>
      </p:sp>
      <p:sp>
        <p:nvSpPr>
          <p:cNvPr id="22" name="Text 20"/>
          <p:cNvSpPr/>
          <p:nvPr/>
        </p:nvSpPr>
        <p:spPr>
          <a:xfrm>
            <a:off x="2788920" y="1600200"/>
            <a:ext cx="914400" cy="347472"/>
          </a:xfrm>
          <a:prstGeom prst="rect">
            <a:avLst/>
          </a:prstGeom>
          <a:noFill/>
          <a:ln/>
        </p:spPr>
        <p:txBody>
          <a:bodyPr wrap="square" lIns="0" tIns="0" rIns="0" bIns="0" rtlCol="0" anchor="ctr"/>
          <a:lstStyle/>
          <a:p>
            <a:pPr indent="0" marL="0">
              <a:buNone/>
            </a:pPr>
            <a:r>
              <a:rPr lang="en-US" sz="800" dirty="0">
                <a:solidFill>
                  <a:srgbClr val="1B2D55"/>
                </a:solidFill>
              </a:rPr>
              <a:t>$8.4B</a:t>
            </a:r>
            <a:endParaRPr lang="en-US" sz="800" dirty="0"/>
          </a:p>
        </p:txBody>
      </p:sp>
      <p:sp>
        <p:nvSpPr>
          <p:cNvPr id="23" name="Shape 21"/>
          <p:cNvSpPr/>
          <p:nvPr/>
        </p:nvSpPr>
        <p:spPr>
          <a:xfrm>
            <a:off x="3840480" y="1527048"/>
            <a:ext cx="3657600" cy="502920"/>
          </a:xfrm>
          <a:prstGeom prst="rect">
            <a:avLst/>
          </a:prstGeom>
          <a:solidFill>
            <a:srgbClr val="F4F6FA"/>
          </a:solidFill>
          <a:ln w="12700">
            <a:solidFill>
              <a:srgbClr val="D0D8E4"/>
            </a:solidFill>
            <a:prstDash val="solid"/>
          </a:ln>
        </p:spPr>
      </p:sp>
      <p:sp>
        <p:nvSpPr>
          <p:cNvPr id="24" name="Text 22"/>
          <p:cNvSpPr/>
          <p:nvPr/>
        </p:nvSpPr>
        <p:spPr>
          <a:xfrm>
            <a:off x="3931920" y="1600200"/>
            <a:ext cx="3474720" cy="347472"/>
          </a:xfrm>
          <a:prstGeom prst="rect">
            <a:avLst/>
          </a:prstGeom>
          <a:noFill/>
          <a:ln/>
        </p:spPr>
        <p:txBody>
          <a:bodyPr wrap="square" lIns="0" tIns="0" rIns="0" bIns="0" rtlCol="0" anchor="ctr"/>
          <a:lstStyle/>
          <a:p>
            <a:pPr indent="0" marL="0">
              <a:buNone/>
            </a:pPr>
            <a:r>
              <a:rPr lang="en-US" sz="800" dirty="0">
                <a:solidFill>
                  <a:srgbClr val="1B2D55"/>
                </a:solidFill>
              </a:rPr>
              <a:t>Highly fragmented; Lighthouse #3 by terminal count</a:t>
            </a:r>
            <a:endParaRPr lang="en-US" sz="800" dirty="0"/>
          </a:p>
        </p:txBody>
      </p:sp>
      <p:sp>
        <p:nvSpPr>
          <p:cNvPr id="25" name="Shape 23"/>
          <p:cNvSpPr/>
          <p:nvPr/>
        </p:nvSpPr>
        <p:spPr>
          <a:xfrm>
            <a:off x="7543800" y="1527048"/>
            <a:ext cx="1097280" cy="502920"/>
          </a:xfrm>
          <a:prstGeom prst="rect">
            <a:avLst/>
          </a:prstGeom>
          <a:solidFill>
            <a:srgbClr val="F4F6FA"/>
          </a:solidFill>
          <a:ln w="12700">
            <a:solidFill>
              <a:srgbClr val="D0D8E4"/>
            </a:solidFill>
            <a:prstDash val="solid"/>
          </a:ln>
        </p:spPr>
      </p:sp>
      <p:sp>
        <p:nvSpPr>
          <p:cNvPr id="26" name="Text 24"/>
          <p:cNvSpPr/>
          <p:nvPr/>
        </p:nvSpPr>
        <p:spPr>
          <a:xfrm>
            <a:off x="7635240" y="1600200"/>
            <a:ext cx="914400" cy="347472"/>
          </a:xfrm>
          <a:prstGeom prst="rect">
            <a:avLst/>
          </a:prstGeom>
          <a:noFill/>
          <a:ln/>
        </p:spPr>
        <p:txBody>
          <a:bodyPr wrap="square" lIns="0" tIns="0" rIns="0" bIns="0" rtlCol="0" anchor="ctr"/>
          <a:lstStyle/>
          <a:p>
            <a:pPr indent="0" marL="0">
              <a:buNone/>
            </a:pPr>
            <a:r>
              <a:rPr lang="en-US" sz="800" dirty="0">
                <a:solidFill>
                  <a:srgbClr val="1B2D55"/>
                </a:solidFill>
              </a:rPr>
              <a:t>32%</a:t>
            </a:r>
            <a:endParaRPr lang="en-US" sz="800" dirty="0"/>
          </a:p>
        </p:txBody>
      </p:sp>
      <p:sp>
        <p:nvSpPr>
          <p:cNvPr id="27" name="Shape 25"/>
          <p:cNvSpPr/>
          <p:nvPr/>
        </p:nvSpPr>
        <p:spPr>
          <a:xfrm>
            <a:off x="365760" y="2029968"/>
            <a:ext cx="2286000" cy="502920"/>
          </a:xfrm>
          <a:prstGeom prst="rect">
            <a:avLst/>
          </a:prstGeom>
          <a:solidFill>
            <a:srgbClr val="FFFFFF"/>
          </a:solidFill>
          <a:ln w="12700">
            <a:solidFill>
              <a:srgbClr val="D0D8E4"/>
            </a:solidFill>
            <a:prstDash val="solid"/>
          </a:ln>
        </p:spPr>
      </p:sp>
      <p:sp>
        <p:nvSpPr>
          <p:cNvPr id="28" name="Text 26"/>
          <p:cNvSpPr/>
          <p:nvPr/>
        </p:nvSpPr>
        <p:spPr>
          <a:xfrm>
            <a:off x="457200" y="2103120"/>
            <a:ext cx="2103120" cy="347472"/>
          </a:xfrm>
          <a:prstGeom prst="rect">
            <a:avLst/>
          </a:prstGeom>
          <a:noFill/>
          <a:ln/>
        </p:spPr>
        <p:txBody>
          <a:bodyPr wrap="square" lIns="0" tIns="0" rIns="0" bIns="0" rtlCol="0" anchor="ctr"/>
          <a:lstStyle/>
          <a:p>
            <a:pPr indent="0" marL="0">
              <a:buNone/>
            </a:pPr>
            <a:r>
              <a:rPr lang="en-US" sz="800" dirty="0">
                <a:solidFill>
                  <a:srgbClr val="1B2D55"/>
                </a:solidFill>
              </a:rPr>
              <a:t>Mid-Atlantic LTL</a:t>
            </a:r>
            <a:endParaRPr lang="en-US" sz="800" dirty="0"/>
          </a:p>
        </p:txBody>
      </p:sp>
      <p:sp>
        <p:nvSpPr>
          <p:cNvPr id="29" name="Shape 27"/>
          <p:cNvSpPr/>
          <p:nvPr/>
        </p:nvSpPr>
        <p:spPr>
          <a:xfrm>
            <a:off x="2697480" y="2029968"/>
            <a:ext cx="1097280" cy="502920"/>
          </a:xfrm>
          <a:prstGeom prst="rect">
            <a:avLst/>
          </a:prstGeom>
          <a:solidFill>
            <a:srgbClr val="FFFFFF"/>
          </a:solidFill>
          <a:ln w="12700">
            <a:solidFill>
              <a:srgbClr val="D0D8E4"/>
            </a:solidFill>
            <a:prstDash val="solid"/>
          </a:ln>
        </p:spPr>
      </p:sp>
      <p:sp>
        <p:nvSpPr>
          <p:cNvPr id="30" name="Text 28"/>
          <p:cNvSpPr/>
          <p:nvPr/>
        </p:nvSpPr>
        <p:spPr>
          <a:xfrm>
            <a:off x="2788920" y="2103120"/>
            <a:ext cx="914400" cy="347472"/>
          </a:xfrm>
          <a:prstGeom prst="rect">
            <a:avLst/>
          </a:prstGeom>
          <a:noFill/>
          <a:ln/>
        </p:spPr>
        <p:txBody>
          <a:bodyPr wrap="square" lIns="0" tIns="0" rIns="0" bIns="0" rtlCol="0" anchor="ctr"/>
          <a:lstStyle/>
          <a:p>
            <a:pPr indent="0" marL="0">
              <a:buNone/>
            </a:pPr>
            <a:r>
              <a:rPr lang="en-US" sz="800" dirty="0">
                <a:solidFill>
                  <a:srgbClr val="1B2D55"/>
                </a:solidFill>
              </a:rPr>
              <a:t>$4.1B</a:t>
            </a:r>
            <a:endParaRPr lang="en-US" sz="800" dirty="0"/>
          </a:p>
        </p:txBody>
      </p:sp>
      <p:sp>
        <p:nvSpPr>
          <p:cNvPr id="31" name="Shape 29"/>
          <p:cNvSpPr/>
          <p:nvPr/>
        </p:nvSpPr>
        <p:spPr>
          <a:xfrm>
            <a:off x="3840480" y="2029968"/>
            <a:ext cx="3657600" cy="502920"/>
          </a:xfrm>
          <a:prstGeom prst="rect">
            <a:avLst/>
          </a:prstGeom>
          <a:solidFill>
            <a:srgbClr val="FFFFFF"/>
          </a:solidFill>
          <a:ln w="12700">
            <a:solidFill>
              <a:srgbClr val="D0D8E4"/>
            </a:solidFill>
            <a:prstDash val="solid"/>
          </a:ln>
        </p:spPr>
      </p:sp>
      <p:sp>
        <p:nvSpPr>
          <p:cNvPr id="32" name="Text 30"/>
          <p:cNvSpPr/>
          <p:nvPr/>
        </p:nvSpPr>
        <p:spPr>
          <a:xfrm>
            <a:off x="3931920" y="2103120"/>
            <a:ext cx="3474720" cy="347472"/>
          </a:xfrm>
          <a:prstGeom prst="rect">
            <a:avLst/>
          </a:prstGeom>
          <a:noFill/>
          <a:ln/>
        </p:spPr>
        <p:txBody>
          <a:bodyPr wrap="square" lIns="0" tIns="0" rIns="0" bIns="0" rtlCol="0" anchor="ctr"/>
          <a:lstStyle/>
          <a:p>
            <a:pPr indent="0" marL="0">
              <a:buNone/>
            </a:pPr>
            <a:r>
              <a:rPr lang="en-US" sz="800" dirty="0">
                <a:solidFill>
                  <a:srgbClr val="1B2D55"/>
                </a:solidFill>
              </a:rPr>
              <a:t>Growing; entered 2016; 3 terminals</a:t>
            </a:r>
            <a:endParaRPr lang="en-US" sz="800" dirty="0"/>
          </a:p>
        </p:txBody>
      </p:sp>
      <p:sp>
        <p:nvSpPr>
          <p:cNvPr id="33" name="Shape 31"/>
          <p:cNvSpPr/>
          <p:nvPr/>
        </p:nvSpPr>
        <p:spPr>
          <a:xfrm>
            <a:off x="7543800" y="2029968"/>
            <a:ext cx="1097280" cy="502920"/>
          </a:xfrm>
          <a:prstGeom prst="rect">
            <a:avLst/>
          </a:prstGeom>
          <a:solidFill>
            <a:srgbClr val="FFFFFF"/>
          </a:solidFill>
          <a:ln w="12700">
            <a:solidFill>
              <a:srgbClr val="D0D8E4"/>
            </a:solidFill>
            <a:prstDash val="solid"/>
          </a:ln>
        </p:spPr>
      </p:sp>
      <p:sp>
        <p:nvSpPr>
          <p:cNvPr id="34" name="Text 32"/>
          <p:cNvSpPr/>
          <p:nvPr/>
        </p:nvSpPr>
        <p:spPr>
          <a:xfrm>
            <a:off x="7635240" y="2103120"/>
            <a:ext cx="914400" cy="347472"/>
          </a:xfrm>
          <a:prstGeom prst="rect">
            <a:avLst/>
          </a:prstGeom>
          <a:noFill/>
          <a:ln/>
        </p:spPr>
        <p:txBody>
          <a:bodyPr wrap="square" lIns="0" tIns="0" rIns="0" bIns="0" rtlCol="0" anchor="ctr"/>
          <a:lstStyle/>
          <a:p>
            <a:pPr indent="0" marL="0">
              <a:buNone/>
            </a:pPr>
            <a:r>
              <a:rPr lang="en-US" sz="800" dirty="0">
                <a:solidFill>
                  <a:srgbClr val="1B2D55"/>
                </a:solidFill>
              </a:rPr>
              <a:t>18%</a:t>
            </a:r>
            <a:endParaRPr lang="en-US" sz="800" dirty="0"/>
          </a:p>
        </p:txBody>
      </p:sp>
      <p:sp>
        <p:nvSpPr>
          <p:cNvPr id="35" name="Shape 33"/>
          <p:cNvSpPr/>
          <p:nvPr/>
        </p:nvSpPr>
        <p:spPr>
          <a:xfrm>
            <a:off x="365760" y="2532888"/>
            <a:ext cx="2286000" cy="502920"/>
          </a:xfrm>
          <a:prstGeom prst="rect">
            <a:avLst/>
          </a:prstGeom>
          <a:solidFill>
            <a:srgbClr val="F4F6FA"/>
          </a:solidFill>
          <a:ln w="12700">
            <a:solidFill>
              <a:srgbClr val="D0D8E4"/>
            </a:solidFill>
            <a:prstDash val="solid"/>
          </a:ln>
        </p:spPr>
      </p:sp>
      <p:sp>
        <p:nvSpPr>
          <p:cNvPr id="36" name="Text 34"/>
          <p:cNvSpPr/>
          <p:nvPr/>
        </p:nvSpPr>
        <p:spPr>
          <a:xfrm>
            <a:off x="457200" y="2606040"/>
            <a:ext cx="2103120" cy="347472"/>
          </a:xfrm>
          <a:prstGeom prst="rect">
            <a:avLst/>
          </a:prstGeom>
          <a:noFill/>
          <a:ln/>
        </p:spPr>
        <p:txBody>
          <a:bodyPr wrap="square" lIns="0" tIns="0" rIns="0" bIns="0" rtlCol="0" anchor="ctr"/>
          <a:lstStyle/>
          <a:p>
            <a:pPr indent="0" marL="0">
              <a:buNone/>
            </a:pPr>
            <a:r>
              <a:rPr lang="en-US" sz="800" dirty="0">
                <a:solidFill>
                  <a:srgbClr val="1B2D55"/>
                </a:solidFill>
              </a:rPr>
              <a:t>E-Commerce Final Mile</a:t>
            </a:r>
            <a:endParaRPr lang="en-US" sz="800" dirty="0"/>
          </a:p>
        </p:txBody>
      </p:sp>
      <p:sp>
        <p:nvSpPr>
          <p:cNvPr id="37" name="Shape 35"/>
          <p:cNvSpPr/>
          <p:nvPr/>
        </p:nvSpPr>
        <p:spPr>
          <a:xfrm>
            <a:off x="2697480" y="2532888"/>
            <a:ext cx="1097280" cy="502920"/>
          </a:xfrm>
          <a:prstGeom prst="rect">
            <a:avLst/>
          </a:prstGeom>
          <a:solidFill>
            <a:srgbClr val="F4F6FA"/>
          </a:solidFill>
          <a:ln w="12700">
            <a:solidFill>
              <a:srgbClr val="D0D8E4"/>
            </a:solidFill>
            <a:prstDash val="solid"/>
          </a:ln>
        </p:spPr>
      </p:sp>
      <p:sp>
        <p:nvSpPr>
          <p:cNvPr id="38" name="Text 36"/>
          <p:cNvSpPr/>
          <p:nvPr/>
        </p:nvSpPr>
        <p:spPr>
          <a:xfrm>
            <a:off x="2788920" y="2606040"/>
            <a:ext cx="914400" cy="347472"/>
          </a:xfrm>
          <a:prstGeom prst="rect">
            <a:avLst/>
          </a:prstGeom>
          <a:noFill/>
          <a:ln/>
        </p:spPr>
        <p:txBody>
          <a:bodyPr wrap="square" lIns="0" tIns="0" rIns="0" bIns="0" rtlCol="0" anchor="ctr"/>
          <a:lstStyle/>
          <a:p>
            <a:pPr indent="0" marL="0">
              <a:buNone/>
            </a:pPr>
            <a:r>
              <a:rPr lang="en-US" sz="800" dirty="0">
                <a:solidFill>
                  <a:srgbClr val="1B2D55"/>
                </a:solidFill>
              </a:rPr>
              <a:t>$6.8B</a:t>
            </a:r>
            <a:endParaRPr lang="en-US" sz="800" dirty="0"/>
          </a:p>
        </p:txBody>
      </p:sp>
      <p:sp>
        <p:nvSpPr>
          <p:cNvPr id="39" name="Shape 37"/>
          <p:cNvSpPr/>
          <p:nvPr/>
        </p:nvSpPr>
        <p:spPr>
          <a:xfrm>
            <a:off x="3840480" y="2532888"/>
            <a:ext cx="3657600" cy="502920"/>
          </a:xfrm>
          <a:prstGeom prst="rect">
            <a:avLst/>
          </a:prstGeom>
          <a:solidFill>
            <a:srgbClr val="F4F6FA"/>
          </a:solidFill>
          <a:ln w="12700">
            <a:solidFill>
              <a:srgbClr val="D0D8E4"/>
            </a:solidFill>
            <a:prstDash val="solid"/>
          </a:ln>
        </p:spPr>
      </p:sp>
      <p:sp>
        <p:nvSpPr>
          <p:cNvPr id="40" name="Text 38"/>
          <p:cNvSpPr/>
          <p:nvPr/>
        </p:nvSpPr>
        <p:spPr>
          <a:xfrm>
            <a:off x="3931920" y="2606040"/>
            <a:ext cx="3474720" cy="347472"/>
          </a:xfrm>
          <a:prstGeom prst="rect">
            <a:avLst/>
          </a:prstGeom>
          <a:noFill/>
          <a:ln/>
        </p:spPr>
        <p:txBody>
          <a:bodyPr wrap="square" lIns="0" tIns="0" rIns="0" bIns="0" rtlCol="0" anchor="ctr"/>
          <a:lstStyle/>
          <a:p>
            <a:pPr indent="0" marL="0">
              <a:buNone/>
            </a:pPr>
            <a:r>
              <a:rPr lang="en-US" sz="800" dirty="0">
                <a:solidFill>
                  <a:srgbClr val="1B2D55"/>
                </a:solidFill>
              </a:rPr>
              <a:t>Fastest growing; 41% YoY</a:t>
            </a:r>
            <a:endParaRPr lang="en-US" sz="800" dirty="0"/>
          </a:p>
        </p:txBody>
      </p:sp>
      <p:sp>
        <p:nvSpPr>
          <p:cNvPr id="41" name="Shape 39"/>
          <p:cNvSpPr/>
          <p:nvPr/>
        </p:nvSpPr>
        <p:spPr>
          <a:xfrm>
            <a:off x="7543800" y="2532888"/>
            <a:ext cx="1097280" cy="502920"/>
          </a:xfrm>
          <a:prstGeom prst="rect">
            <a:avLst/>
          </a:prstGeom>
          <a:solidFill>
            <a:srgbClr val="F4F6FA"/>
          </a:solidFill>
          <a:ln w="12700">
            <a:solidFill>
              <a:srgbClr val="D0D8E4"/>
            </a:solidFill>
            <a:prstDash val="solid"/>
          </a:ln>
        </p:spPr>
      </p:sp>
      <p:sp>
        <p:nvSpPr>
          <p:cNvPr id="42" name="Text 40"/>
          <p:cNvSpPr/>
          <p:nvPr/>
        </p:nvSpPr>
        <p:spPr>
          <a:xfrm>
            <a:off x="7635240" y="2606040"/>
            <a:ext cx="914400" cy="347472"/>
          </a:xfrm>
          <a:prstGeom prst="rect">
            <a:avLst/>
          </a:prstGeom>
          <a:noFill/>
          <a:ln/>
        </p:spPr>
        <p:txBody>
          <a:bodyPr wrap="square" lIns="0" tIns="0" rIns="0" bIns="0" rtlCol="0" anchor="ctr"/>
          <a:lstStyle/>
          <a:p>
            <a:pPr indent="0" marL="0">
              <a:buNone/>
            </a:pPr>
            <a:r>
              <a:rPr lang="en-US" sz="800" dirty="0">
                <a:solidFill>
                  <a:srgbClr val="1B2D55"/>
                </a:solidFill>
              </a:rPr>
              <a:t>28%</a:t>
            </a:r>
            <a:endParaRPr lang="en-US" sz="800" dirty="0"/>
          </a:p>
        </p:txBody>
      </p:sp>
      <p:sp>
        <p:nvSpPr>
          <p:cNvPr id="43" name="Shape 41"/>
          <p:cNvSpPr/>
          <p:nvPr/>
        </p:nvSpPr>
        <p:spPr>
          <a:xfrm>
            <a:off x="365760" y="3035808"/>
            <a:ext cx="2286000" cy="502920"/>
          </a:xfrm>
          <a:prstGeom prst="rect">
            <a:avLst/>
          </a:prstGeom>
          <a:solidFill>
            <a:srgbClr val="FFFFFF"/>
          </a:solidFill>
          <a:ln w="12700">
            <a:solidFill>
              <a:srgbClr val="D0D8E4"/>
            </a:solidFill>
            <a:prstDash val="solid"/>
          </a:ln>
        </p:spPr>
      </p:sp>
      <p:sp>
        <p:nvSpPr>
          <p:cNvPr id="44" name="Text 42"/>
          <p:cNvSpPr/>
          <p:nvPr/>
        </p:nvSpPr>
        <p:spPr>
          <a:xfrm>
            <a:off x="457200" y="3108960"/>
            <a:ext cx="2103120" cy="347472"/>
          </a:xfrm>
          <a:prstGeom prst="rect">
            <a:avLst/>
          </a:prstGeom>
          <a:noFill/>
          <a:ln/>
        </p:spPr>
        <p:txBody>
          <a:bodyPr wrap="square" lIns="0" tIns="0" rIns="0" bIns="0" rtlCol="0" anchor="ctr"/>
          <a:lstStyle/>
          <a:p>
            <a:pPr indent="0" marL="0">
              <a:buNone/>
            </a:pPr>
            <a:r>
              <a:rPr lang="en-US" sz="800" dirty="0">
                <a:solidFill>
                  <a:srgbClr val="1B2D55"/>
                </a:solidFill>
              </a:rPr>
              <a:t>Healthcare Logistics</a:t>
            </a:r>
            <a:endParaRPr lang="en-US" sz="800" dirty="0"/>
          </a:p>
        </p:txBody>
      </p:sp>
      <p:sp>
        <p:nvSpPr>
          <p:cNvPr id="45" name="Shape 43"/>
          <p:cNvSpPr/>
          <p:nvPr/>
        </p:nvSpPr>
        <p:spPr>
          <a:xfrm>
            <a:off x="2697480" y="3035808"/>
            <a:ext cx="1097280" cy="502920"/>
          </a:xfrm>
          <a:prstGeom prst="rect">
            <a:avLst/>
          </a:prstGeom>
          <a:solidFill>
            <a:srgbClr val="FFFFFF"/>
          </a:solidFill>
          <a:ln w="12700">
            <a:solidFill>
              <a:srgbClr val="D0D8E4"/>
            </a:solidFill>
            <a:prstDash val="solid"/>
          </a:ln>
        </p:spPr>
      </p:sp>
      <p:sp>
        <p:nvSpPr>
          <p:cNvPr id="46" name="Text 44"/>
          <p:cNvSpPr/>
          <p:nvPr/>
        </p:nvSpPr>
        <p:spPr>
          <a:xfrm>
            <a:off x="2788920" y="3108960"/>
            <a:ext cx="914400" cy="347472"/>
          </a:xfrm>
          <a:prstGeom prst="rect">
            <a:avLst/>
          </a:prstGeom>
          <a:noFill/>
          <a:ln/>
        </p:spPr>
        <p:txBody>
          <a:bodyPr wrap="square" lIns="0" tIns="0" rIns="0" bIns="0" rtlCol="0" anchor="ctr"/>
          <a:lstStyle/>
          <a:p>
            <a:pPr indent="0" marL="0">
              <a:buNone/>
            </a:pPr>
            <a:r>
              <a:rPr lang="en-US" sz="800" dirty="0">
                <a:solidFill>
                  <a:srgbClr val="1B2D55"/>
                </a:solidFill>
              </a:rPr>
              <a:t>$3.2B</a:t>
            </a:r>
            <a:endParaRPr lang="en-US" sz="800" dirty="0"/>
          </a:p>
        </p:txBody>
      </p:sp>
      <p:sp>
        <p:nvSpPr>
          <p:cNvPr id="47" name="Shape 45"/>
          <p:cNvSpPr/>
          <p:nvPr/>
        </p:nvSpPr>
        <p:spPr>
          <a:xfrm>
            <a:off x="3840480" y="3035808"/>
            <a:ext cx="3657600" cy="502920"/>
          </a:xfrm>
          <a:prstGeom prst="rect">
            <a:avLst/>
          </a:prstGeom>
          <a:solidFill>
            <a:srgbClr val="FFFFFF"/>
          </a:solidFill>
          <a:ln w="12700">
            <a:solidFill>
              <a:srgbClr val="D0D8E4"/>
            </a:solidFill>
            <a:prstDash val="solid"/>
          </a:ln>
        </p:spPr>
      </p:sp>
      <p:sp>
        <p:nvSpPr>
          <p:cNvPr id="48" name="Text 46"/>
          <p:cNvSpPr/>
          <p:nvPr/>
        </p:nvSpPr>
        <p:spPr>
          <a:xfrm>
            <a:off x="3931920" y="3108960"/>
            <a:ext cx="3474720" cy="347472"/>
          </a:xfrm>
          <a:prstGeom prst="rect">
            <a:avLst/>
          </a:prstGeom>
          <a:noFill/>
          <a:ln/>
        </p:spPr>
        <p:txBody>
          <a:bodyPr wrap="square" lIns="0" tIns="0" rIns="0" bIns="0" rtlCol="0" anchor="ctr"/>
          <a:lstStyle/>
          <a:p>
            <a:pPr indent="0" marL="0">
              <a:buNone/>
            </a:pPr>
            <a:r>
              <a:rPr lang="en-US" sz="800" dirty="0">
                <a:solidFill>
                  <a:srgbClr val="1B2D55"/>
                </a:solidFill>
              </a:rPr>
              <a:t>Counter-cyclical; 3-yr CAGR 24%</a:t>
            </a:r>
            <a:endParaRPr lang="en-US" sz="800" dirty="0"/>
          </a:p>
        </p:txBody>
      </p:sp>
      <p:sp>
        <p:nvSpPr>
          <p:cNvPr id="49" name="Shape 47"/>
          <p:cNvSpPr/>
          <p:nvPr/>
        </p:nvSpPr>
        <p:spPr>
          <a:xfrm>
            <a:off x="7543800" y="3035808"/>
            <a:ext cx="1097280" cy="502920"/>
          </a:xfrm>
          <a:prstGeom prst="rect">
            <a:avLst/>
          </a:prstGeom>
          <a:solidFill>
            <a:srgbClr val="FFFFFF"/>
          </a:solidFill>
          <a:ln w="12700">
            <a:solidFill>
              <a:srgbClr val="D0D8E4"/>
            </a:solidFill>
            <a:prstDash val="solid"/>
          </a:ln>
        </p:spPr>
      </p:sp>
      <p:sp>
        <p:nvSpPr>
          <p:cNvPr id="50" name="Text 48"/>
          <p:cNvSpPr/>
          <p:nvPr/>
        </p:nvSpPr>
        <p:spPr>
          <a:xfrm>
            <a:off x="7635240" y="3108960"/>
            <a:ext cx="914400" cy="347472"/>
          </a:xfrm>
          <a:prstGeom prst="rect">
            <a:avLst/>
          </a:prstGeom>
          <a:noFill/>
          <a:ln/>
        </p:spPr>
        <p:txBody>
          <a:bodyPr wrap="square" lIns="0" tIns="0" rIns="0" bIns="0" rtlCol="0" anchor="ctr"/>
          <a:lstStyle/>
          <a:p>
            <a:pPr indent="0" marL="0">
              <a:buNone/>
            </a:pPr>
            <a:r>
              <a:rPr lang="en-US" sz="800" dirty="0">
                <a:solidFill>
                  <a:srgbClr val="1B2D55"/>
                </a:solidFill>
              </a:rPr>
              <a:t>19%</a:t>
            </a:r>
            <a:endParaRPr lang="en-US" sz="800" dirty="0"/>
          </a:p>
        </p:txBody>
      </p:sp>
      <p:sp>
        <p:nvSpPr>
          <p:cNvPr id="51" name="Shape 49"/>
          <p:cNvSpPr/>
          <p:nvPr/>
        </p:nvSpPr>
        <p:spPr>
          <a:xfrm>
            <a:off x="365760" y="3538728"/>
            <a:ext cx="2286000" cy="502920"/>
          </a:xfrm>
          <a:prstGeom prst="rect">
            <a:avLst/>
          </a:prstGeom>
          <a:solidFill>
            <a:srgbClr val="F4F6FA"/>
          </a:solidFill>
          <a:ln w="12700">
            <a:solidFill>
              <a:srgbClr val="D0D8E4"/>
            </a:solidFill>
            <a:prstDash val="solid"/>
          </a:ln>
        </p:spPr>
      </p:sp>
      <p:sp>
        <p:nvSpPr>
          <p:cNvPr id="52" name="Text 50"/>
          <p:cNvSpPr/>
          <p:nvPr/>
        </p:nvSpPr>
        <p:spPr>
          <a:xfrm>
            <a:off x="457200" y="3611880"/>
            <a:ext cx="2103120" cy="347472"/>
          </a:xfrm>
          <a:prstGeom prst="rect">
            <a:avLst/>
          </a:prstGeom>
          <a:noFill/>
          <a:ln/>
        </p:spPr>
        <p:txBody>
          <a:bodyPr wrap="square" lIns="0" tIns="0" rIns="0" bIns="0" rtlCol="0" anchor="ctr"/>
          <a:lstStyle/>
          <a:p>
            <a:pPr indent="0" marL="0">
              <a:buNone/>
            </a:pPr>
            <a:r>
              <a:rPr lang="en-US" sz="800" dirty="0">
                <a:solidFill>
                  <a:srgbClr val="1B2D55"/>
                </a:solidFill>
              </a:rPr>
              <a:t>3PL SaaS Licensing</a:t>
            </a:r>
            <a:endParaRPr lang="en-US" sz="800" dirty="0"/>
          </a:p>
        </p:txBody>
      </p:sp>
      <p:sp>
        <p:nvSpPr>
          <p:cNvPr id="53" name="Shape 51"/>
          <p:cNvSpPr/>
          <p:nvPr/>
        </p:nvSpPr>
        <p:spPr>
          <a:xfrm>
            <a:off x="2697480" y="3538728"/>
            <a:ext cx="1097280" cy="502920"/>
          </a:xfrm>
          <a:prstGeom prst="rect">
            <a:avLst/>
          </a:prstGeom>
          <a:solidFill>
            <a:srgbClr val="F4F6FA"/>
          </a:solidFill>
          <a:ln w="12700">
            <a:solidFill>
              <a:srgbClr val="D0D8E4"/>
            </a:solidFill>
            <a:prstDash val="solid"/>
          </a:ln>
        </p:spPr>
      </p:sp>
      <p:sp>
        <p:nvSpPr>
          <p:cNvPr id="54" name="Text 52"/>
          <p:cNvSpPr/>
          <p:nvPr/>
        </p:nvSpPr>
        <p:spPr>
          <a:xfrm>
            <a:off x="2788920" y="3611880"/>
            <a:ext cx="914400" cy="347472"/>
          </a:xfrm>
          <a:prstGeom prst="rect">
            <a:avLst/>
          </a:prstGeom>
          <a:noFill/>
          <a:ln/>
        </p:spPr>
        <p:txBody>
          <a:bodyPr wrap="square" lIns="0" tIns="0" rIns="0" bIns="0" rtlCol="0" anchor="ctr"/>
          <a:lstStyle/>
          <a:p>
            <a:pPr indent="0" marL="0">
              <a:buNone/>
            </a:pPr>
            <a:r>
              <a:rPr lang="en-US" sz="800" dirty="0">
                <a:solidFill>
                  <a:srgbClr val="1B2D55"/>
                </a:solidFill>
              </a:rPr>
              <a:t>~$85M</a:t>
            </a:r>
            <a:endParaRPr lang="en-US" sz="800" dirty="0"/>
          </a:p>
        </p:txBody>
      </p:sp>
      <p:sp>
        <p:nvSpPr>
          <p:cNvPr id="55" name="Shape 53"/>
          <p:cNvSpPr/>
          <p:nvPr/>
        </p:nvSpPr>
        <p:spPr>
          <a:xfrm>
            <a:off x="3840480" y="3538728"/>
            <a:ext cx="3657600" cy="502920"/>
          </a:xfrm>
          <a:prstGeom prst="rect">
            <a:avLst/>
          </a:prstGeom>
          <a:solidFill>
            <a:srgbClr val="F4F6FA"/>
          </a:solidFill>
          <a:ln w="12700">
            <a:solidFill>
              <a:srgbClr val="D0D8E4"/>
            </a:solidFill>
            <a:prstDash val="solid"/>
          </a:ln>
        </p:spPr>
      </p:sp>
      <p:sp>
        <p:nvSpPr>
          <p:cNvPr id="56" name="Text 54"/>
          <p:cNvSpPr/>
          <p:nvPr/>
        </p:nvSpPr>
        <p:spPr>
          <a:xfrm>
            <a:off x="3931920" y="3611880"/>
            <a:ext cx="3474720" cy="347472"/>
          </a:xfrm>
          <a:prstGeom prst="rect">
            <a:avLst/>
          </a:prstGeom>
          <a:noFill/>
          <a:ln/>
        </p:spPr>
        <p:txBody>
          <a:bodyPr wrap="square" lIns="0" tIns="0" rIns="0" bIns="0" rtlCol="0" anchor="ctr"/>
          <a:lstStyle/>
          <a:p>
            <a:pPr indent="0" marL="0">
              <a:buNone/>
            </a:pPr>
            <a:r>
              <a:rPr lang="en-US" sz="800" dirty="0">
                <a:solidFill>
                  <a:srgbClr val="1B2D55"/>
                </a:solidFill>
              </a:rPr>
              <a:t>Emerging; BeaconOS white-label</a:t>
            </a:r>
            <a:endParaRPr lang="en-US" sz="800" dirty="0"/>
          </a:p>
        </p:txBody>
      </p:sp>
      <p:sp>
        <p:nvSpPr>
          <p:cNvPr id="57" name="Shape 55"/>
          <p:cNvSpPr/>
          <p:nvPr/>
        </p:nvSpPr>
        <p:spPr>
          <a:xfrm>
            <a:off x="7543800" y="3538728"/>
            <a:ext cx="1097280" cy="502920"/>
          </a:xfrm>
          <a:prstGeom prst="rect">
            <a:avLst/>
          </a:prstGeom>
          <a:solidFill>
            <a:srgbClr val="F4F6FA"/>
          </a:solidFill>
          <a:ln w="12700">
            <a:solidFill>
              <a:srgbClr val="D0D8E4"/>
            </a:solidFill>
            <a:prstDash val="solid"/>
          </a:ln>
        </p:spPr>
      </p:sp>
      <p:sp>
        <p:nvSpPr>
          <p:cNvPr id="58" name="Text 56"/>
          <p:cNvSpPr/>
          <p:nvPr/>
        </p:nvSpPr>
        <p:spPr>
          <a:xfrm>
            <a:off x="7635240" y="3611880"/>
            <a:ext cx="914400" cy="347472"/>
          </a:xfrm>
          <a:prstGeom prst="rect">
            <a:avLst/>
          </a:prstGeom>
          <a:noFill/>
          <a:ln/>
        </p:spPr>
        <p:txBody>
          <a:bodyPr wrap="square" lIns="0" tIns="0" rIns="0" bIns="0" rtlCol="0" anchor="ctr"/>
          <a:lstStyle/>
          <a:p>
            <a:pPr indent="0" marL="0">
              <a:buNone/>
            </a:pPr>
            <a:r>
              <a:rPr lang="en-US" sz="800" dirty="0">
                <a:solidFill>
                  <a:srgbClr val="1B2D55"/>
                </a:solidFill>
              </a:rPr>
              <a:t>3%</a:t>
            </a:r>
            <a:endParaRPr lang="en-US" sz="800" dirty="0"/>
          </a:p>
        </p:txBody>
      </p:sp>
      <p:sp>
        <p:nvSpPr>
          <p:cNvPr id="59" name="Shape 57"/>
          <p:cNvSpPr/>
          <p:nvPr/>
        </p:nvSpPr>
        <p:spPr>
          <a:xfrm>
            <a:off x="457200" y="4206240"/>
            <a:ext cx="8229600" cy="0"/>
          </a:xfrm>
          <a:prstGeom prst="line">
            <a:avLst/>
          </a:prstGeom>
          <a:noFill/>
          <a:ln w="9525">
            <a:solidFill>
              <a:srgbClr val="D0D8E4"/>
            </a:solidFill>
            <a:prstDash val="solid"/>
          </a:ln>
        </p:spPr>
      </p:sp>
      <p:sp>
        <p:nvSpPr>
          <p:cNvPr id="60" name="Text 58"/>
          <p:cNvSpPr/>
          <p:nvPr/>
        </p:nvSpPr>
        <p:spPr>
          <a:xfrm>
            <a:off x="457200" y="4270248"/>
            <a:ext cx="8229600" cy="365760"/>
          </a:xfrm>
          <a:prstGeom prst="rect">
            <a:avLst/>
          </a:prstGeom>
          <a:noFill/>
          <a:ln/>
        </p:spPr>
        <p:txBody>
          <a:bodyPr wrap="square" lIns="0" tIns="0" rIns="0" bIns="0" rtlCol="0" anchor="ctr"/>
          <a:lstStyle/>
          <a:p>
            <a:pPr indent="0" marL="0">
              <a:buNone/>
            </a:pPr>
            <a:r>
              <a:rPr lang="en-US" sz="750" i="1" dirty="0">
                <a:solidFill>
                  <a:srgbClr val="4A5568"/>
                </a:solidFill>
              </a:rPr>
              <a:t>Combined addressable market: $8.4B (primary segment) — see detail above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Competitive Landscape</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9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Competitive Landscape</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Key Differentiators vs. Peers</a:t>
            </a:r>
            <a:endParaRPr lang="en-US" sz="950" dirty="0"/>
          </a:p>
        </p:txBody>
      </p:sp>
      <p:sp>
        <p:nvSpPr>
          <p:cNvPr id="11" name="Shape 9"/>
          <p:cNvSpPr/>
          <p:nvPr/>
        </p:nvSpPr>
        <p:spPr>
          <a:xfrm>
            <a:off x="1828800" y="1024128"/>
            <a:ext cx="1737360" cy="411480"/>
          </a:xfrm>
          <a:prstGeom prst="rect">
            <a:avLst/>
          </a:prstGeom>
          <a:solidFill>
            <a:srgbClr val="1B2D55"/>
          </a:solidFill>
          <a:ln w="12700">
            <a:solidFill>
              <a:srgbClr val="1B2D55"/>
            </a:solidFill>
            <a:prstDash val="solid"/>
          </a:ln>
        </p:spPr>
      </p:sp>
      <p:sp>
        <p:nvSpPr>
          <p:cNvPr id="12" name="Text 10"/>
          <p:cNvSpPr/>
          <p:nvPr/>
        </p:nvSpPr>
        <p:spPr>
          <a:xfrm>
            <a:off x="1874520" y="1024128"/>
            <a:ext cx="1645920" cy="411480"/>
          </a:xfrm>
          <a:prstGeom prst="rect">
            <a:avLst/>
          </a:prstGeom>
          <a:noFill/>
          <a:ln/>
        </p:spPr>
        <p:txBody>
          <a:bodyPr wrap="square" lIns="0" tIns="0" rIns="0" bIns="0" rtlCol="0" anchor="ctr"/>
          <a:lstStyle/>
          <a:p>
            <a:pPr algn="ctr" indent="0" marL="0">
              <a:buNone/>
            </a:pPr>
            <a:r>
              <a:rPr lang="en-US" sz="800" b="1" dirty="0">
                <a:solidFill>
                  <a:srgbClr val="FFFFFF"/>
                </a:solidFill>
              </a:rPr>
              <a:t>Lighthouse Logistics Group</a:t>
            </a:r>
            <a:endParaRPr lang="en-US" sz="800" dirty="0"/>
          </a:p>
        </p:txBody>
      </p:sp>
      <p:sp>
        <p:nvSpPr>
          <p:cNvPr id="13" name="Shape 11"/>
          <p:cNvSpPr/>
          <p:nvPr/>
        </p:nvSpPr>
        <p:spPr>
          <a:xfrm>
            <a:off x="3611880" y="1024128"/>
            <a:ext cx="1737360" cy="411480"/>
          </a:xfrm>
          <a:prstGeom prst="rect">
            <a:avLst/>
          </a:prstGeom>
          <a:solidFill>
            <a:srgbClr val="F4F6FA"/>
          </a:solidFill>
          <a:ln w="12700">
            <a:solidFill>
              <a:srgbClr val="D0D8E4"/>
            </a:solidFill>
            <a:prstDash val="solid"/>
          </a:ln>
        </p:spPr>
      </p:sp>
      <p:sp>
        <p:nvSpPr>
          <p:cNvPr id="14" name="Text 12"/>
          <p:cNvSpPr/>
          <p:nvPr/>
        </p:nvSpPr>
        <p:spPr>
          <a:xfrm>
            <a:off x="3657600" y="1024128"/>
            <a:ext cx="1645920" cy="411480"/>
          </a:xfrm>
          <a:prstGeom prst="rect">
            <a:avLst/>
          </a:prstGeom>
          <a:noFill/>
          <a:ln/>
        </p:spPr>
        <p:txBody>
          <a:bodyPr wrap="square" lIns="0" tIns="0" rIns="0" bIns="0" rtlCol="0" anchor="ctr"/>
          <a:lstStyle/>
          <a:p>
            <a:pPr algn="ctr" indent="0" marL="0">
              <a:buNone/>
            </a:pPr>
            <a:r>
              <a:rPr lang="en-US" sz="750" dirty="0">
                <a:solidFill>
                  <a:srgbClr val="1B2D55"/>
                </a:solidFill>
              </a:rPr>
              <a:t>Competitor A</a:t>
            </a:r>
            <a:endParaRPr lang="en-US" sz="750" dirty="0"/>
          </a:p>
        </p:txBody>
      </p:sp>
      <p:sp>
        <p:nvSpPr>
          <p:cNvPr id="15" name="Shape 13"/>
          <p:cNvSpPr/>
          <p:nvPr/>
        </p:nvSpPr>
        <p:spPr>
          <a:xfrm>
            <a:off x="5394960" y="1024128"/>
            <a:ext cx="1737360" cy="411480"/>
          </a:xfrm>
          <a:prstGeom prst="rect">
            <a:avLst/>
          </a:prstGeom>
          <a:solidFill>
            <a:srgbClr val="F4F6FA"/>
          </a:solidFill>
          <a:ln w="12700">
            <a:solidFill>
              <a:srgbClr val="D0D8E4"/>
            </a:solidFill>
            <a:prstDash val="solid"/>
          </a:ln>
        </p:spPr>
      </p:sp>
      <p:sp>
        <p:nvSpPr>
          <p:cNvPr id="16" name="Text 14"/>
          <p:cNvSpPr/>
          <p:nvPr/>
        </p:nvSpPr>
        <p:spPr>
          <a:xfrm>
            <a:off x="5440680" y="1024128"/>
            <a:ext cx="1645920" cy="411480"/>
          </a:xfrm>
          <a:prstGeom prst="rect">
            <a:avLst/>
          </a:prstGeom>
          <a:noFill/>
          <a:ln/>
        </p:spPr>
        <p:txBody>
          <a:bodyPr wrap="square" lIns="0" tIns="0" rIns="0" bIns="0" rtlCol="0" anchor="ctr"/>
          <a:lstStyle/>
          <a:p>
            <a:pPr algn="ctr" indent="0" marL="0">
              <a:buNone/>
            </a:pPr>
            <a:r>
              <a:rPr lang="en-US" sz="750" dirty="0">
                <a:solidFill>
                  <a:srgbClr val="1B2D55"/>
                </a:solidFill>
              </a:rPr>
              <a:t>Competitor B</a:t>
            </a:r>
            <a:endParaRPr lang="en-US" sz="750" dirty="0"/>
          </a:p>
        </p:txBody>
      </p:sp>
      <p:sp>
        <p:nvSpPr>
          <p:cNvPr id="17" name="Shape 15"/>
          <p:cNvSpPr/>
          <p:nvPr/>
        </p:nvSpPr>
        <p:spPr>
          <a:xfrm>
            <a:off x="7178040" y="1024128"/>
            <a:ext cx="1737360" cy="411480"/>
          </a:xfrm>
          <a:prstGeom prst="rect">
            <a:avLst/>
          </a:prstGeom>
          <a:solidFill>
            <a:srgbClr val="F4F6FA"/>
          </a:solidFill>
          <a:ln w="12700">
            <a:solidFill>
              <a:srgbClr val="D0D8E4"/>
            </a:solidFill>
            <a:prstDash val="solid"/>
          </a:ln>
        </p:spPr>
      </p:sp>
      <p:sp>
        <p:nvSpPr>
          <p:cNvPr id="18" name="Text 16"/>
          <p:cNvSpPr/>
          <p:nvPr/>
        </p:nvSpPr>
        <p:spPr>
          <a:xfrm>
            <a:off x="7223760" y="1024128"/>
            <a:ext cx="1645920" cy="411480"/>
          </a:xfrm>
          <a:prstGeom prst="rect">
            <a:avLst/>
          </a:prstGeom>
          <a:noFill/>
          <a:ln/>
        </p:spPr>
        <p:txBody>
          <a:bodyPr wrap="square" lIns="0" tIns="0" rIns="0" bIns="0" rtlCol="0" anchor="ctr"/>
          <a:lstStyle/>
          <a:p>
            <a:pPr algn="ctr" indent="0" marL="0">
              <a:buNone/>
            </a:pPr>
            <a:r>
              <a:rPr lang="en-US" sz="750" dirty="0">
                <a:solidFill>
                  <a:srgbClr val="1B2D55"/>
                </a:solidFill>
              </a:rPr>
              <a:t>Competitor C</a:t>
            </a:r>
            <a:endParaRPr lang="en-US" sz="750" dirty="0"/>
          </a:p>
        </p:txBody>
      </p:sp>
      <p:sp>
        <p:nvSpPr>
          <p:cNvPr id="19" name="Shape 17"/>
          <p:cNvSpPr/>
          <p:nvPr/>
        </p:nvSpPr>
        <p:spPr>
          <a:xfrm>
            <a:off x="365760" y="1481328"/>
            <a:ext cx="1417320" cy="475488"/>
          </a:xfrm>
          <a:prstGeom prst="rect">
            <a:avLst/>
          </a:prstGeom>
          <a:solidFill>
            <a:srgbClr val="FFFFFF"/>
          </a:solidFill>
          <a:ln w="12700">
            <a:solidFill>
              <a:srgbClr val="FFFFFF"/>
            </a:solidFill>
            <a:prstDash val="solid"/>
          </a:ln>
        </p:spPr>
      </p:sp>
      <p:sp>
        <p:nvSpPr>
          <p:cNvPr id="20" name="Text 18"/>
          <p:cNvSpPr/>
          <p:nvPr/>
        </p:nvSpPr>
        <p:spPr>
          <a:xfrm>
            <a:off x="411480" y="1572768"/>
            <a:ext cx="1325880" cy="292608"/>
          </a:xfrm>
          <a:prstGeom prst="rect">
            <a:avLst/>
          </a:prstGeom>
          <a:noFill/>
          <a:ln/>
        </p:spPr>
        <p:txBody>
          <a:bodyPr wrap="square" lIns="0" tIns="0" rIns="0" bIns="0" rtlCol="0" anchor="ctr"/>
          <a:lstStyle/>
          <a:p>
            <a:pPr indent="0" marL="0">
              <a:buNone/>
            </a:pPr>
            <a:r>
              <a:rPr lang="en-US" sz="800" dirty="0">
                <a:solidFill>
                  <a:srgbClr val="1B2D55"/>
                </a:solidFill>
              </a:rPr>
              <a:t>Revenue Scale</a:t>
            </a:r>
            <a:endParaRPr lang="en-US" sz="800" dirty="0"/>
          </a:p>
        </p:txBody>
      </p:sp>
      <p:sp>
        <p:nvSpPr>
          <p:cNvPr id="21" name="Shape 19"/>
          <p:cNvSpPr/>
          <p:nvPr/>
        </p:nvSpPr>
        <p:spPr>
          <a:xfrm>
            <a:off x="1828800" y="1481328"/>
            <a:ext cx="1737360" cy="475488"/>
          </a:xfrm>
          <a:prstGeom prst="rect">
            <a:avLst/>
          </a:prstGeom>
          <a:solidFill>
            <a:srgbClr val="FFFFFF"/>
          </a:solidFill>
          <a:ln w="12700">
            <a:solidFill>
              <a:srgbClr val="D0D8E4"/>
            </a:solidFill>
            <a:prstDash val="solid"/>
          </a:ln>
        </p:spPr>
      </p:sp>
      <p:sp>
        <p:nvSpPr>
          <p:cNvPr id="22" name="Shape 20"/>
          <p:cNvSpPr/>
          <p:nvPr/>
        </p:nvSpPr>
        <p:spPr>
          <a:xfrm>
            <a:off x="1965960" y="1618488"/>
            <a:ext cx="1463040" cy="201168"/>
          </a:xfrm>
          <a:prstGeom prst="rect">
            <a:avLst/>
          </a:prstGeom>
          <a:solidFill>
            <a:srgbClr val="C8A83C"/>
          </a:solidFill>
          <a:ln w="12700">
            <a:solidFill>
              <a:srgbClr val="C8A83C"/>
            </a:solidFill>
            <a:prstDash val="solid"/>
          </a:ln>
        </p:spPr>
      </p:sp>
      <p:sp>
        <p:nvSpPr>
          <p:cNvPr id="23" name="Text 21"/>
          <p:cNvSpPr/>
          <p:nvPr/>
        </p:nvSpPr>
        <p:spPr>
          <a:xfrm>
            <a:off x="1828800" y="1773936"/>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24" name="Shape 22"/>
          <p:cNvSpPr/>
          <p:nvPr/>
        </p:nvSpPr>
        <p:spPr>
          <a:xfrm>
            <a:off x="3611880" y="1481328"/>
            <a:ext cx="1737360" cy="475488"/>
          </a:xfrm>
          <a:prstGeom prst="rect">
            <a:avLst/>
          </a:prstGeom>
          <a:solidFill>
            <a:srgbClr val="FFFFFF"/>
          </a:solidFill>
          <a:ln w="12700">
            <a:solidFill>
              <a:srgbClr val="D0D8E4"/>
            </a:solidFill>
            <a:prstDash val="solid"/>
          </a:ln>
        </p:spPr>
      </p:sp>
      <p:sp>
        <p:nvSpPr>
          <p:cNvPr id="25" name="Shape 23"/>
          <p:cNvSpPr/>
          <p:nvPr/>
        </p:nvSpPr>
        <p:spPr>
          <a:xfrm>
            <a:off x="3749040" y="1618488"/>
            <a:ext cx="877824" cy="201168"/>
          </a:xfrm>
          <a:prstGeom prst="rect">
            <a:avLst/>
          </a:prstGeom>
          <a:solidFill>
            <a:srgbClr val="D0D8E4"/>
          </a:solidFill>
          <a:ln w="12700">
            <a:solidFill>
              <a:srgbClr val="D0D8E4"/>
            </a:solidFill>
            <a:prstDash val="solid"/>
          </a:ln>
        </p:spPr>
      </p:sp>
      <p:sp>
        <p:nvSpPr>
          <p:cNvPr id="26" name="Text 24"/>
          <p:cNvSpPr/>
          <p:nvPr/>
        </p:nvSpPr>
        <p:spPr>
          <a:xfrm>
            <a:off x="3611880" y="177393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27" name="Shape 25"/>
          <p:cNvSpPr/>
          <p:nvPr/>
        </p:nvSpPr>
        <p:spPr>
          <a:xfrm>
            <a:off x="5394960" y="1481328"/>
            <a:ext cx="1737360" cy="475488"/>
          </a:xfrm>
          <a:prstGeom prst="rect">
            <a:avLst/>
          </a:prstGeom>
          <a:solidFill>
            <a:srgbClr val="FFFFFF"/>
          </a:solidFill>
          <a:ln w="12700">
            <a:solidFill>
              <a:srgbClr val="D0D8E4"/>
            </a:solidFill>
            <a:prstDash val="solid"/>
          </a:ln>
        </p:spPr>
      </p:sp>
      <p:sp>
        <p:nvSpPr>
          <p:cNvPr id="28" name="Shape 26"/>
          <p:cNvSpPr/>
          <p:nvPr/>
        </p:nvSpPr>
        <p:spPr>
          <a:xfrm>
            <a:off x="5532120" y="1618488"/>
            <a:ext cx="1170432" cy="201168"/>
          </a:xfrm>
          <a:prstGeom prst="rect">
            <a:avLst/>
          </a:prstGeom>
          <a:solidFill>
            <a:srgbClr val="D0D8E4"/>
          </a:solidFill>
          <a:ln w="12700">
            <a:solidFill>
              <a:srgbClr val="D0D8E4"/>
            </a:solidFill>
            <a:prstDash val="solid"/>
          </a:ln>
        </p:spPr>
      </p:sp>
      <p:sp>
        <p:nvSpPr>
          <p:cNvPr id="29" name="Text 27"/>
          <p:cNvSpPr/>
          <p:nvPr/>
        </p:nvSpPr>
        <p:spPr>
          <a:xfrm>
            <a:off x="5394960" y="177393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30" name="Shape 28"/>
          <p:cNvSpPr/>
          <p:nvPr/>
        </p:nvSpPr>
        <p:spPr>
          <a:xfrm>
            <a:off x="7178040" y="1481328"/>
            <a:ext cx="1737360" cy="475488"/>
          </a:xfrm>
          <a:prstGeom prst="rect">
            <a:avLst/>
          </a:prstGeom>
          <a:solidFill>
            <a:srgbClr val="FFFFFF"/>
          </a:solidFill>
          <a:ln w="12700">
            <a:solidFill>
              <a:srgbClr val="D0D8E4"/>
            </a:solidFill>
            <a:prstDash val="solid"/>
          </a:ln>
        </p:spPr>
      </p:sp>
      <p:sp>
        <p:nvSpPr>
          <p:cNvPr id="31" name="Shape 29"/>
          <p:cNvSpPr/>
          <p:nvPr/>
        </p:nvSpPr>
        <p:spPr>
          <a:xfrm>
            <a:off x="7315200" y="1618488"/>
            <a:ext cx="877824" cy="201168"/>
          </a:xfrm>
          <a:prstGeom prst="rect">
            <a:avLst/>
          </a:prstGeom>
          <a:solidFill>
            <a:srgbClr val="D0D8E4"/>
          </a:solidFill>
          <a:ln w="12700">
            <a:solidFill>
              <a:srgbClr val="D0D8E4"/>
            </a:solidFill>
            <a:prstDash val="solid"/>
          </a:ln>
        </p:spPr>
      </p:sp>
      <p:sp>
        <p:nvSpPr>
          <p:cNvPr id="32" name="Text 30"/>
          <p:cNvSpPr/>
          <p:nvPr/>
        </p:nvSpPr>
        <p:spPr>
          <a:xfrm>
            <a:off x="7178040" y="177393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33" name="Shape 31"/>
          <p:cNvSpPr/>
          <p:nvPr/>
        </p:nvSpPr>
        <p:spPr>
          <a:xfrm>
            <a:off x="365760" y="1956816"/>
            <a:ext cx="1417320" cy="475488"/>
          </a:xfrm>
          <a:prstGeom prst="rect">
            <a:avLst/>
          </a:prstGeom>
          <a:solidFill>
            <a:srgbClr val="F4F6FA"/>
          </a:solidFill>
          <a:ln w="12700">
            <a:solidFill>
              <a:srgbClr val="F4F6FA"/>
            </a:solidFill>
            <a:prstDash val="solid"/>
          </a:ln>
        </p:spPr>
      </p:sp>
      <p:sp>
        <p:nvSpPr>
          <p:cNvPr id="34" name="Text 32"/>
          <p:cNvSpPr/>
          <p:nvPr/>
        </p:nvSpPr>
        <p:spPr>
          <a:xfrm>
            <a:off x="411480" y="2048256"/>
            <a:ext cx="1325880" cy="292608"/>
          </a:xfrm>
          <a:prstGeom prst="rect">
            <a:avLst/>
          </a:prstGeom>
          <a:noFill/>
          <a:ln/>
        </p:spPr>
        <p:txBody>
          <a:bodyPr wrap="square" lIns="0" tIns="0" rIns="0" bIns="0" rtlCol="0" anchor="ctr"/>
          <a:lstStyle/>
          <a:p>
            <a:pPr indent="0" marL="0">
              <a:buNone/>
            </a:pPr>
            <a:r>
              <a:rPr lang="en-US" sz="800" dirty="0">
                <a:solidFill>
                  <a:srgbClr val="1B2D55"/>
                </a:solidFill>
              </a:rPr>
              <a:t>EBITDA Margin</a:t>
            </a:r>
            <a:endParaRPr lang="en-US" sz="800" dirty="0"/>
          </a:p>
        </p:txBody>
      </p:sp>
      <p:sp>
        <p:nvSpPr>
          <p:cNvPr id="35" name="Shape 33"/>
          <p:cNvSpPr/>
          <p:nvPr/>
        </p:nvSpPr>
        <p:spPr>
          <a:xfrm>
            <a:off x="1828800" y="1956816"/>
            <a:ext cx="1737360" cy="475488"/>
          </a:xfrm>
          <a:prstGeom prst="rect">
            <a:avLst/>
          </a:prstGeom>
          <a:solidFill>
            <a:srgbClr val="F4F6FA"/>
          </a:solidFill>
          <a:ln w="12700">
            <a:solidFill>
              <a:srgbClr val="D0D8E4"/>
            </a:solidFill>
            <a:prstDash val="solid"/>
          </a:ln>
        </p:spPr>
      </p:sp>
      <p:sp>
        <p:nvSpPr>
          <p:cNvPr id="36" name="Shape 34"/>
          <p:cNvSpPr/>
          <p:nvPr/>
        </p:nvSpPr>
        <p:spPr>
          <a:xfrm>
            <a:off x="1965960" y="2093976"/>
            <a:ext cx="1170432" cy="201168"/>
          </a:xfrm>
          <a:prstGeom prst="rect">
            <a:avLst/>
          </a:prstGeom>
          <a:solidFill>
            <a:srgbClr val="C8A83C"/>
          </a:solidFill>
          <a:ln w="12700">
            <a:solidFill>
              <a:srgbClr val="C8A83C"/>
            </a:solidFill>
            <a:prstDash val="solid"/>
          </a:ln>
        </p:spPr>
      </p:sp>
      <p:sp>
        <p:nvSpPr>
          <p:cNvPr id="37" name="Text 35"/>
          <p:cNvSpPr/>
          <p:nvPr/>
        </p:nvSpPr>
        <p:spPr>
          <a:xfrm>
            <a:off x="1828800" y="2249424"/>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38" name="Shape 36"/>
          <p:cNvSpPr/>
          <p:nvPr/>
        </p:nvSpPr>
        <p:spPr>
          <a:xfrm>
            <a:off x="3611880" y="1956816"/>
            <a:ext cx="1737360" cy="475488"/>
          </a:xfrm>
          <a:prstGeom prst="rect">
            <a:avLst/>
          </a:prstGeom>
          <a:solidFill>
            <a:srgbClr val="F4F6FA"/>
          </a:solidFill>
          <a:ln w="12700">
            <a:solidFill>
              <a:srgbClr val="D0D8E4"/>
            </a:solidFill>
            <a:prstDash val="solid"/>
          </a:ln>
        </p:spPr>
      </p:sp>
      <p:sp>
        <p:nvSpPr>
          <p:cNvPr id="39" name="Shape 37"/>
          <p:cNvSpPr/>
          <p:nvPr/>
        </p:nvSpPr>
        <p:spPr>
          <a:xfrm>
            <a:off x="3749040" y="2093976"/>
            <a:ext cx="585216" cy="201168"/>
          </a:xfrm>
          <a:prstGeom prst="rect">
            <a:avLst/>
          </a:prstGeom>
          <a:solidFill>
            <a:srgbClr val="D0D8E4"/>
          </a:solidFill>
          <a:ln w="12700">
            <a:solidFill>
              <a:srgbClr val="D0D8E4"/>
            </a:solidFill>
            <a:prstDash val="solid"/>
          </a:ln>
        </p:spPr>
      </p:sp>
      <p:sp>
        <p:nvSpPr>
          <p:cNvPr id="40" name="Text 38"/>
          <p:cNvSpPr/>
          <p:nvPr/>
        </p:nvSpPr>
        <p:spPr>
          <a:xfrm>
            <a:off x="3611880" y="2249424"/>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41" name="Shape 39"/>
          <p:cNvSpPr/>
          <p:nvPr/>
        </p:nvSpPr>
        <p:spPr>
          <a:xfrm>
            <a:off x="5394960" y="1956816"/>
            <a:ext cx="1737360" cy="475488"/>
          </a:xfrm>
          <a:prstGeom prst="rect">
            <a:avLst/>
          </a:prstGeom>
          <a:solidFill>
            <a:srgbClr val="F4F6FA"/>
          </a:solidFill>
          <a:ln w="12700">
            <a:solidFill>
              <a:srgbClr val="D0D8E4"/>
            </a:solidFill>
            <a:prstDash val="solid"/>
          </a:ln>
        </p:spPr>
      </p:sp>
      <p:sp>
        <p:nvSpPr>
          <p:cNvPr id="42" name="Shape 40"/>
          <p:cNvSpPr/>
          <p:nvPr/>
        </p:nvSpPr>
        <p:spPr>
          <a:xfrm>
            <a:off x="5532120" y="2093976"/>
            <a:ext cx="877824" cy="201168"/>
          </a:xfrm>
          <a:prstGeom prst="rect">
            <a:avLst/>
          </a:prstGeom>
          <a:solidFill>
            <a:srgbClr val="D0D8E4"/>
          </a:solidFill>
          <a:ln w="12700">
            <a:solidFill>
              <a:srgbClr val="D0D8E4"/>
            </a:solidFill>
            <a:prstDash val="solid"/>
          </a:ln>
        </p:spPr>
      </p:sp>
      <p:sp>
        <p:nvSpPr>
          <p:cNvPr id="43" name="Text 41"/>
          <p:cNvSpPr/>
          <p:nvPr/>
        </p:nvSpPr>
        <p:spPr>
          <a:xfrm>
            <a:off x="5394960" y="2249424"/>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44" name="Shape 42"/>
          <p:cNvSpPr/>
          <p:nvPr/>
        </p:nvSpPr>
        <p:spPr>
          <a:xfrm>
            <a:off x="7178040" y="1956816"/>
            <a:ext cx="1737360" cy="475488"/>
          </a:xfrm>
          <a:prstGeom prst="rect">
            <a:avLst/>
          </a:prstGeom>
          <a:solidFill>
            <a:srgbClr val="F4F6FA"/>
          </a:solidFill>
          <a:ln w="12700">
            <a:solidFill>
              <a:srgbClr val="D0D8E4"/>
            </a:solidFill>
            <a:prstDash val="solid"/>
          </a:ln>
        </p:spPr>
      </p:sp>
      <p:sp>
        <p:nvSpPr>
          <p:cNvPr id="45" name="Shape 43"/>
          <p:cNvSpPr/>
          <p:nvPr/>
        </p:nvSpPr>
        <p:spPr>
          <a:xfrm>
            <a:off x="7315200" y="2093976"/>
            <a:ext cx="585216" cy="201168"/>
          </a:xfrm>
          <a:prstGeom prst="rect">
            <a:avLst/>
          </a:prstGeom>
          <a:solidFill>
            <a:srgbClr val="D0D8E4"/>
          </a:solidFill>
          <a:ln w="12700">
            <a:solidFill>
              <a:srgbClr val="D0D8E4"/>
            </a:solidFill>
            <a:prstDash val="solid"/>
          </a:ln>
        </p:spPr>
      </p:sp>
      <p:sp>
        <p:nvSpPr>
          <p:cNvPr id="46" name="Text 44"/>
          <p:cNvSpPr/>
          <p:nvPr/>
        </p:nvSpPr>
        <p:spPr>
          <a:xfrm>
            <a:off x="7178040" y="2249424"/>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47" name="Shape 45"/>
          <p:cNvSpPr/>
          <p:nvPr/>
        </p:nvSpPr>
        <p:spPr>
          <a:xfrm>
            <a:off x="365760" y="2432304"/>
            <a:ext cx="1417320" cy="475488"/>
          </a:xfrm>
          <a:prstGeom prst="rect">
            <a:avLst/>
          </a:prstGeom>
          <a:solidFill>
            <a:srgbClr val="FFFFFF"/>
          </a:solidFill>
          <a:ln w="12700">
            <a:solidFill>
              <a:srgbClr val="FFFFFF"/>
            </a:solidFill>
            <a:prstDash val="solid"/>
          </a:ln>
        </p:spPr>
      </p:sp>
      <p:sp>
        <p:nvSpPr>
          <p:cNvPr id="48" name="Text 46"/>
          <p:cNvSpPr/>
          <p:nvPr/>
        </p:nvSpPr>
        <p:spPr>
          <a:xfrm>
            <a:off x="411480" y="2523744"/>
            <a:ext cx="1325880" cy="292608"/>
          </a:xfrm>
          <a:prstGeom prst="rect">
            <a:avLst/>
          </a:prstGeom>
          <a:noFill/>
          <a:ln/>
        </p:spPr>
        <p:txBody>
          <a:bodyPr wrap="square" lIns="0" tIns="0" rIns="0" bIns="0" rtlCol="0" anchor="ctr"/>
          <a:lstStyle/>
          <a:p>
            <a:pPr indent="0" marL="0">
              <a:buNone/>
            </a:pPr>
            <a:r>
              <a:rPr lang="en-US" sz="800" dirty="0">
                <a:solidFill>
                  <a:srgbClr val="1B2D55"/>
                </a:solidFill>
              </a:rPr>
              <a:t>Geographic Reach</a:t>
            </a:r>
            <a:endParaRPr lang="en-US" sz="800" dirty="0"/>
          </a:p>
        </p:txBody>
      </p:sp>
      <p:sp>
        <p:nvSpPr>
          <p:cNvPr id="49" name="Shape 47"/>
          <p:cNvSpPr/>
          <p:nvPr/>
        </p:nvSpPr>
        <p:spPr>
          <a:xfrm>
            <a:off x="1828800" y="2432304"/>
            <a:ext cx="1737360" cy="475488"/>
          </a:xfrm>
          <a:prstGeom prst="rect">
            <a:avLst/>
          </a:prstGeom>
          <a:solidFill>
            <a:srgbClr val="FFFFFF"/>
          </a:solidFill>
          <a:ln w="12700">
            <a:solidFill>
              <a:srgbClr val="D0D8E4"/>
            </a:solidFill>
            <a:prstDash val="solid"/>
          </a:ln>
        </p:spPr>
      </p:sp>
      <p:sp>
        <p:nvSpPr>
          <p:cNvPr id="50" name="Shape 48"/>
          <p:cNvSpPr/>
          <p:nvPr/>
        </p:nvSpPr>
        <p:spPr>
          <a:xfrm>
            <a:off x="1965960" y="2569464"/>
            <a:ext cx="1463040" cy="201168"/>
          </a:xfrm>
          <a:prstGeom prst="rect">
            <a:avLst/>
          </a:prstGeom>
          <a:solidFill>
            <a:srgbClr val="C8A83C"/>
          </a:solidFill>
          <a:ln w="12700">
            <a:solidFill>
              <a:srgbClr val="C8A83C"/>
            </a:solidFill>
            <a:prstDash val="solid"/>
          </a:ln>
        </p:spPr>
      </p:sp>
      <p:sp>
        <p:nvSpPr>
          <p:cNvPr id="51" name="Text 49"/>
          <p:cNvSpPr/>
          <p:nvPr/>
        </p:nvSpPr>
        <p:spPr>
          <a:xfrm>
            <a:off x="1828800" y="2724912"/>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52" name="Shape 50"/>
          <p:cNvSpPr/>
          <p:nvPr/>
        </p:nvSpPr>
        <p:spPr>
          <a:xfrm>
            <a:off x="3611880" y="2432304"/>
            <a:ext cx="1737360" cy="475488"/>
          </a:xfrm>
          <a:prstGeom prst="rect">
            <a:avLst/>
          </a:prstGeom>
          <a:solidFill>
            <a:srgbClr val="FFFFFF"/>
          </a:solidFill>
          <a:ln w="12700">
            <a:solidFill>
              <a:srgbClr val="D0D8E4"/>
            </a:solidFill>
            <a:prstDash val="solid"/>
          </a:ln>
        </p:spPr>
      </p:sp>
      <p:sp>
        <p:nvSpPr>
          <p:cNvPr id="53" name="Shape 51"/>
          <p:cNvSpPr/>
          <p:nvPr/>
        </p:nvSpPr>
        <p:spPr>
          <a:xfrm>
            <a:off x="3749040" y="2569464"/>
            <a:ext cx="877824" cy="201168"/>
          </a:xfrm>
          <a:prstGeom prst="rect">
            <a:avLst/>
          </a:prstGeom>
          <a:solidFill>
            <a:srgbClr val="D0D8E4"/>
          </a:solidFill>
          <a:ln w="12700">
            <a:solidFill>
              <a:srgbClr val="D0D8E4"/>
            </a:solidFill>
            <a:prstDash val="solid"/>
          </a:ln>
        </p:spPr>
      </p:sp>
      <p:sp>
        <p:nvSpPr>
          <p:cNvPr id="54" name="Text 52"/>
          <p:cNvSpPr/>
          <p:nvPr/>
        </p:nvSpPr>
        <p:spPr>
          <a:xfrm>
            <a:off x="3611880" y="2724912"/>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55" name="Shape 53"/>
          <p:cNvSpPr/>
          <p:nvPr/>
        </p:nvSpPr>
        <p:spPr>
          <a:xfrm>
            <a:off x="5394960" y="2432304"/>
            <a:ext cx="1737360" cy="475488"/>
          </a:xfrm>
          <a:prstGeom prst="rect">
            <a:avLst/>
          </a:prstGeom>
          <a:solidFill>
            <a:srgbClr val="FFFFFF"/>
          </a:solidFill>
          <a:ln w="12700">
            <a:solidFill>
              <a:srgbClr val="D0D8E4"/>
            </a:solidFill>
            <a:prstDash val="solid"/>
          </a:ln>
        </p:spPr>
      </p:sp>
      <p:sp>
        <p:nvSpPr>
          <p:cNvPr id="56" name="Shape 54"/>
          <p:cNvSpPr/>
          <p:nvPr/>
        </p:nvSpPr>
        <p:spPr>
          <a:xfrm>
            <a:off x="5532120" y="2569464"/>
            <a:ext cx="1463040" cy="201168"/>
          </a:xfrm>
          <a:prstGeom prst="rect">
            <a:avLst/>
          </a:prstGeom>
          <a:solidFill>
            <a:srgbClr val="D0D8E4"/>
          </a:solidFill>
          <a:ln w="12700">
            <a:solidFill>
              <a:srgbClr val="D0D8E4"/>
            </a:solidFill>
            <a:prstDash val="solid"/>
          </a:ln>
        </p:spPr>
      </p:sp>
      <p:sp>
        <p:nvSpPr>
          <p:cNvPr id="57" name="Text 55"/>
          <p:cNvSpPr/>
          <p:nvPr/>
        </p:nvSpPr>
        <p:spPr>
          <a:xfrm>
            <a:off x="5394960" y="2724912"/>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58" name="Shape 56"/>
          <p:cNvSpPr/>
          <p:nvPr/>
        </p:nvSpPr>
        <p:spPr>
          <a:xfrm>
            <a:off x="7178040" y="2432304"/>
            <a:ext cx="1737360" cy="475488"/>
          </a:xfrm>
          <a:prstGeom prst="rect">
            <a:avLst/>
          </a:prstGeom>
          <a:solidFill>
            <a:srgbClr val="FFFFFF"/>
          </a:solidFill>
          <a:ln w="12700">
            <a:solidFill>
              <a:srgbClr val="D0D8E4"/>
            </a:solidFill>
            <a:prstDash val="solid"/>
          </a:ln>
        </p:spPr>
      </p:sp>
      <p:sp>
        <p:nvSpPr>
          <p:cNvPr id="59" name="Shape 57"/>
          <p:cNvSpPr/>
          <p:nvPr/>
        </p:nvSpPr>
        <p:spPr>
          <a:xfrm>
            <a:off x="7315200" y="2569464"/>
            <a:ext cx="1170432" cy="201168"/>
          </a:xfrm>
          <a:prstGeom prst="rect">
            <a:avLst/>
          </a:prstGeom>
          <a:solidFill>
            <a:srgbClr val="D0D8E4"/>
          </a:solidFill>
          <a:ln w="12700">
            <a:solidFill>
              <a:srgbClr val="D0D8E4"/>
            </a:solidFill>
            <a:prstDash val="solid"/>
          </a:ln>
        </p:spPr>
      </p:sp>
      <p:sp>
        <p:nvSpPr>
          <p:cNvPr id="60" name="Text 58"/>
          <p:cNvSpPr/>
          <p:nvPr/>
        </p:nvSpPr>
        <p:spPr>
          <a:xfrm>
            <a:off x="7178040" y="2724912"/>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61" name="Shape 59"/>
          <p:cNvSpPr/>
          <p:nvPr/>
        </p:nvSpPr>
        <p:spPr>
          <a:xfrm>
            <a:off x="365760" y="2907792"/>
            <a:ext cx="1417320" cy="475488"/>
          </a:xfrm>
          <a:prstGeom prst="rect">
            <a:avLst/>
          </a:prstGeom>
          <a:solidFill>
            <a:srgbClr val="F4F6FA"/>
          </a:solidFill>
          <a:ln w="12700">
            <a:solidFill>
              <a:srgbClr val="F4F6FA"/>
            </a:solidFill>
            <a:prstDash val="solid"/>
          </a:ln>
        </p:spPr>
      </p:sp>
      <p:sp>
        <p:nvSpPr>
          <p:cNvPr id="62" name="Text 60"/>
          <p:cNvSpPr/>
          <p:nvPr/>
        </p:nvSpPr>
        <p:spPr>
          <a:xfrm>
            <a:off x="411480" y="2999232"/>
            <a:ext cx="1325880" cy="292608"/>
          </a:xfrm>
          <a:prstGeom prst="rect">
            <a:avLst/>
          </a:prstGeom>
          <a:noFill/>
          <a:ln/>
        </p:spPr>
        <p:txBody>
          <a:bodyPr wrap="square" lIns="0" tIns="0" rIns="0" bIns="0" rtlCol="0" anchor="ctr"/>
          <a:lstStyle/>
          <a:p>
            <a:pPr indent="0" marL="0">
              <a:buNone/>
            </a:pPr>
            <a:r>
              <a:rPr lang="en-US" sz="800" dirty="0">
                <a:solidFill>
                  <a:srgbClr val="1B2D55"/>
                </a:solidFill>
              </a:rPr>
              <a:t>Technology / IP</a:t>
            </a:r>
            <a:endParaRPr lang="en-US" sz="800" dirty="0"/>
          </a:p>
        </p:txBody>
      </p:sp>
      <p:sp>
        <p:nvSpPr>
          <p:cNvPr id="63" name="Shape 61"/>
          <p:cNvSpPr/>
          <p:nvPr/>
        </p:nvSpPr>
        <p:spPr>
          <a:xfrm>
            <a:off x="1828800" y="2907792"/>
            <a:ext cx="1737360" cy="475488"/>
          </a:xfrm>
          <a:prstGeom prst="rect">
            <a:avLst/>
          </a:prstGeom>
          <a:solidFill>
            <a:srgbClr val="F4F6FA"/>
          </a:solidFill>
          <a:ln w="12700">
            <a:solidFill>
              <a:srgbClr val="D0D8E4"/>
            </a:solidFill>
            <a:prstDash val="solid"/>
          </a:ln>
        </p:spPr>
      </p:sp>
      <p:sp>
        <p:nvSpPr>
          <p:cNvPr id="64" name="Shape 62"/>
          <p:cNvSpPr/>
          <p:nvPr/>
        </p:nvSpPr>
        <p:spPr>
          <a:xfrm>
            <a:off x="1965960" y="3044952"/>
            <a:ext cx="1463040" cy="201168"/>
          </a:xfrm>
          <a:prstGeom prst="rect">
            <a:avLst/>
          </a:prstGeom>
          <a:solidFill>
            <a:srgbClr val="C8A83C"/>
          </a:solidFill>
          <a:ln w="12700">
            <a:solidFill>
              <a:srgbClr val="C8A83C"/>
            </a:solidFill>
            <a:prstDash val="solid"/>
          </a:ln>
        </p:spPr>
      </p:sp>
      <p:sp>
        <p:nvSpPr>
          <p:cNvPr id="65" name="Text 63"/>
          <p:cNvSpPr/>
          <p:nvPr/>
        </p:nvSpPr>
        <p:spPr>
          <a:xfrm>
            <a:off x="1828800" y="3200400"/>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66" name="Shape 64"/>
          <p:cNvSpPr/>
          <p:nvPr/>
        </p:nvSpPr>
        <p:spPr>
          <a:xfrm>
            <a:off x="3611880" y="2907792"/>
            <a:ext cx="1737360" cy="475488"/>
          </a:xfrm>
          <a:prstGeom prst="rect">
            <a:avLst/>
          </a:prstGeom>
          <a:solidFill>
            <a:srgbClr val="F4F6FA"/>
          </a:solidFill>
          <a:ln w="12700">
            <a:solidFill>
              <a:srgbClr val="D0D8E4"/>
            </a:solidFill>
            <a:prstDash val="solid"/>
          </a:ln>
        </p:spPr>
      </p:sp>
      <p:sp>
        <p:nvSpPr>
          <p:cNvPr id="67" name="Shape 65"/>
          <p:cNvSpPr/>
          <p:nvPr/>
        </p:nvSpPr>
        <p:spPr>
          <a:xfrm>
            <a:off x="3749040" y="3044952"/>
            <a:ext cx="585216" cy="201168"/>
          </a:xfrm>
          <a:prstGeom prst="rect">
            <a:avLst/>
          </a:prstGeom>
          <a:solidFill>
            <a:srgbClr val="D0D8E4"/>
          </a:solidFill>
          <a:ln w="12700">
            <a:solidFill>
              <a:srgbClr val="D0D8E4"/>
            </a:solidFill>
            <a:prstDash val="solid"/>
          </a:ln>
        </p:spPr>
      </p:sp>
      <p:sp>
        <p:nvSpPr>
          <p:cNvPr id="68" name="Text 66"/>
          <p:cNvSpPr/>
          <p:nvPr/>
        </p:nvSpPr>
        <p:spPr>
          <a:xfrm>
            <a:off x="3611880" y="3200400"/>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69" name="Shape 67"/>
          <p:cNvSpPr/>
          <p:nvPr/>
        </p:nvSpPr>
        <p:spPr>
          <a:xfrm>
            <a:off x="5394960" y="2907792"/>
            <a:ext cx="1737360" cy="475488"/>
          </a:xfrm>
          <a:prstGeom prst="rect">
            <a:avLst/>
          </a:prstGeom>
          <a:solidFill>
            <a:srgbClr val="F4F6FA"/>
          </a:solidFill>
          <a:ln w="12700">
            <a:solidFill>
              <a:srgbClr val="D0D8E4"/>
            </a:solidFill>
            <a:prstDash val="solid"/>
          </a:ln>
        </p:spPr>
      </p:sp>
      <p:sp>
        <p:nvSpPr>
          <p:cNvPr id="70" name="Shape 68"/>
          <p:cNvSpPr/>
          <p:nvPr/>
        </p:nvSpPr>
        <p:spPr>
          <a:xfrm>
            <a:off x="5532120" y="3044952"/>
            <a:ext cx="877824" cy="201168"/>
          </a:xfrm>
          <a:prstGeom prst="rect">
            <a:avLst/>
          </a:prstGeom>
          <a:solidFill>
            <a:srgbClr val="D0D8E4"/>
          </a:solidFill>
          <a:ln w="12700">
            <a:solidFill>
              <a:srgbClr val="D0D8E4"/>
            </a:solidFill>
            <a:prstDash val="solid"/>
          </a:ln>
        </p:spPr>
      </p:sp>
      <p:sp>
        <p:nvSpPr>
          <p:cNvPr id="71" name="Text 69"/>
          <p:cNvSpPr/>
          <p:nvPr/>
        </p:nvSpPr>
        <p:spPr>
          <a:xfrm>
            <a:off x="5394960" y="3200400"/>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72" name="Shape 70"/>
          <p:cNvSpPr/>
          <p:nvPr/>
        </p:nvSpPr>
        <p:spPr>
          <a:xfrm>
            <a:off x="7178040" y="2907792"/>
            <a:ext cx="1737360" cy="475488"/>
          </a:xfrm>
          <a:prstGeom prst="rect">
            <a:avLst/>
          </a:prstGeom>
          <a:solidFill>
            <a:srgbClr val="F4F6FA"/>
          </a:solidFill>
          <a:ln w="12700">
            <a:solidFill>
              <a:srgbClr val="D0D8E4"/>
            </a:solidFill>
            <a:prstDash val="solid"/>
          </a:ln>
        </p:spPr>
      </p:sp>
      <p:sp>
        <p:nvSpPr>
          <p:cNvPr id="73" name="Shape 71"/>
          <p:cNvSpPr/>
          <p:nvPr/>
        </p:nvSpPr>
        <p:spPr>
          <a:xfrm>
            <a:off x="7315200" y="3044952"/>
            <a:ext cx="585216" cy="201168"/>
          </a:xfrm>
          <a:prstGeom prst="rect">
            <a:avLst/>
          </a:prstGeom>
          <a:solidFill>
            <a:srgbClr val="D0D8E4"/>
          </a:solidFill>
          <a:ln w="12700">
            <a:solidFill>
              <a:srgbClr val="D0D8E4"/>
            </a:solidFill>
            <a:prstDash val="solid"/>
          </a:ln>
        </p:spPr>
      </p:sp>
      <p:sp>
        <p:nvSpPr>
          <p:cNvPr id="74" name="Text 72"/>
          <p:cNvSpPr/>
          <p:nvPr/>
        </p:nvSpPr>
        <p:spPr>
          <a:xfrm>
            <a:off x="7178040" y="3200400"/>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75" name="Shape 73"/>
          <p:cNvSpPr/>
          <p:nvPr/>
        </p:nvSpPr>
        <p:spPr>
          <a:xfrm>
            <a:off x="365760" y="3383280"/>
            <a:ext cx="1417320" cy="475488"/>
          </a:xfrm>
          <a:prstGeom prst="rect">
            <a:avLst/>
          </a:prstGeom>
          <a:solidFill>
            <a:srgbClr val="FFFFFF"/>
          </a:solidFill>
          <a:ln w="12700">
            <a:solidFill>
              <a:srgbClr val="FFFFFF"/>
            </a:solidFill>
            <a:prstDash val="solid"/>
          </a:ln>
        </p:spPr>
      </p:sp>
      <p:sp>
        <p:nvSpPr>
          <p:cNvPr id="76" name="Text 74"/>
          <p:cNvSpPr/>
          <p:nvPr/>
        </p:nvSpPr>
        <p:spPr>
          <a:xfrm>
            <a:off x="411480" y="3474720"/>
            <a:ext cx="1325880" cy="292608"/>
          </a:xfrm>
          <a:prstGeom prst="rect">
            <a:avLst/>
          </a:prstGeom>
          <a:noFill/>
          <a:ln/>
        </p:spPr>
        <p:txBody>
          <a:bodyPr wrap="square" lIns="0" tIns="0" rIns="0" bIns="0" rtlCol="0" anchor="ctr"/>
          <a:lstStyle/>
          <a:p>
            <a:pPr indent="0" marL="0">
              <a:buNone/>
            </a:pPr>
            <a:r>
              <a:rPr lang="en-US" sz="800" dirty="0">
                <a:solidFill>
                  <a:srgbClr val="1B2D55"/>
                </a:solidFill>
              </a:rPr>
              <a:t>Customer Retention</a:t>
            </a:r>
            <a:endParaRPr lang="en-US" sz="800" dirty="0"/>
          </a:p>
        </p:txBody>
      </p:sp>
      <p:sp>
        <p:nvSpPr>
          <p:cNvPr id="77" name="Shape 75"/>
          <p:cNvSpPr/>
          <p:nvPr/>
        </p:nvSpPr>
        <p:spPr>
          <a:xfrm>
            <a:off x="1828800" y="3383280"/>
            <a:ext cx="1737360" cy="475488"/>
          </a:xfrm>
          <a:prstGeom prst="rect">
            <a:avLst/>
          </a:prstGeom>
          <a:solidFill>
            <a:srgbClr val="FFFFFF"/>
          </a:solidFill>
          <a:ln w="12700">
            <a:solidFill>
              <a:srgbClr val="D0D8E4"/>
            </a:solidFill>
            <a:prstDash val="solid"/>
          </a:ln>
        </p:spPr>
      </p:sp>
      <p:sp>
        <p:nvSpPr>
          <p:cNvPr id="78" name="Shape 76"/>
          <p:cNvSpPr/>
          <p:nvPr/>
        </p:nvSpPr>
        <p:spPr>
          <a:xfrm>
            <a:off x="1965960" y="3520440"/>
            <a:ext cx="1463040" cy="201168"/>
          </a:xfrm>
          <a:prstGeom prst="rect">
            <a:avLst/>
          </a:prstGeom>
          <a:solidFill>
            <a:srgbClr val="C8A83C"/>
          </a:solidFill>
          <a:ln w="12700">
            <a:solidFill>
              <a:srgbClr val="C8A83C"/>
            </a:solidFill>
            <a:prstDash val="solid"/>
          </a:ln>
        </p:spPr>
      </p:sp>
      <p:sp>
        <p:nvSpPr>
          <p:cNvPr id="79" name="Text 77"/>
          <p:cNvSpPr/>
          <p:nvPr/>
        </p:nvSpPr>
        <p:spPr>
          <a:xfrm>
            <a:off x="1828800" y="3675888"/>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80" name="Shape 78"/>
          <p:cNvSpPr/>
          <p:nvPr/>
        </p:nvSpPr>
        <p:spPr>
          <a:xfrm>
            <a:off x="3611880" y="3383280"/>
            <a:ext cx="1737360" cy="475488"/>
          </a:xfrm>
          <a:prstGeom prst="rect">
            <a:avLst/>
          </a:prstGeom>
          <a:solidFill>
            <a:srgbClr val="FFFFFF"/>
          </a:solidFill>
          <a:ln w="12700">
            <a:solidFill>
              <a:srgbClr val="D0D8E4"/>
            </a:solidFill>
            <a:prstDash val="solid"/>
          </a:ln>
        </p:spPr>
      </p:sp>
      <p:sp>
        <p:nvSpPr>
          <p:cNvPr id="81" name="Shape 79"/>
          <p:cNvSpPr/>
          <p:nvPr/>
        </p:nvSpPr>
        <p:spPr>
          <a:xfrm>
            <a:off x="3749040" y="3520440"/>
            <a:ext cx="877824" cy="201168"/>
          </a:xfrm>
          <a:prstGeom prst="rect">
            <a:avLst/>
          </a:prstGeom>
          <a:solidFill>
            <a:srgbClr val="D0D8E4"/>
          </a:solidFill>
          <a:ln w="12700">
            <a:solidFill>
              <a:srgbClr val="D0D8E4"/>
            </a:solidFill>
            <a:prstDash val="solid"/>
          </a:ln>
        </p:spPr>
      </p:sp>
      <p:sp>
        <p:nvSpPr>
          <p:cNvPr id="82" name="Text 80"/>
          <p:cNvSpPr/>
          <p:nvPr/>
        </p:nvSpPr>
        <p:spPr>
          <a:xfrm>
            <a:off x="3611880" y="3675888"/>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83" name="Shape 81"/>
          <p:cNvSpPr/>
          <p:nvPr/>
        </p:nvSpPr>
        <p:spPr>
          <a:xfrm>
            <a:off x="5394960" y="3383280"/>
            <a:ext cx="1737360" cy="475488"/>
          </a:xfrm>
          <a:prstGeom prst="rect">
            <a:avLst/>
          </a:prstGeom>
          <a:solidFill>
            <a:srgbClr val="FFFFFF"/>
          </a:solidFill>
          <a:ln w="12700">
            <a:solidFill>
              <a:srgbClr val="D0D8E4"/>
            </a:solidFill>
            <a:prstDash val="solid"/>
          </a:ln>
        </p:spPr>
      </p:sp>
      <p:sp>
        <p:nvSpPr>
          <p:cNvPr id="84" name="Shape 82"/>
          <p:cNvSpPr/>
          <p:nvPr/>
        </p:nvSpPr>
        <p:spPr>
          <a:xfrm>
            <a:off x="5532120" y="3520440"/>
            <a:ext cx="1170432" cy="201168"/>
          </a:xfrm>
          <a:prstGeom prst="rect">
            <a:avLst/>
          </a:prstGeom>
          <a:solidFill>
            <a:srgbClr val="D0D8E4"/>
          </a:solidFill>
          <a:ln w="12700">
            <a:solidFill>
              <a:srgbClr val="D0D8E4"/>
            </a:solidFill>
            <a:prstDash val="solid"/>
          </a:ln>
        </p:spPr>
      </p:sp>
      <p:sp>
        <p:nvSpPr>
          <p:cNvPr id="85" name="Text 83"/>
          <p:cNvSpPr/>
          <p:nvPr/>
        </p:nvSpPr>
        <p:spPr>
          <a:xfrm>
            <a:off x="5394960" y="3675888"/>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86" name="Shape 84"/>
          <p:cNvSpPr/>
          <p:nvPr/>
        </p:nvSpPr>
        <p:spPr>
          <a:xfrm>
            <a:off x="7178040" y="3383280"/>
            <a:ext cx="1737360" cy="475488"/>
          </a:xfrm>
          <a:prstGeom prst="rect">
            <a:avLst/>
          </a:prstGeom>
          <a:solidFill>
            <a:srgbClr val="FFFFFF"/>
          </a:solidFill>
          <a:ln w="12700">
            <a:solidFill>
              <a:srgbClr val="D0D8E4"/>
            </a:solidFill>
            <a:prstDash val="solid"/>
          </a:ln>
        </p:spPr>
      </p:sp>
      <p:sp>
        <p:nvSpPr>
          <p:cNvPr id="87" name="Shape 85"/>
          <p:cNvSpPr/>
          <p:nvPr/>
        </p:nvSpPr>
        <p:spPr>
          <a:xfrm>
            <a:off x="7315200" y="3520440"/>
            <a:ext cx="877824" cy="201168"/>
          </a:xfrm>
          <a:prstGeom prst="rect">
            <a:avLst/>
          </a:prstGeom>
          <a:solidFill>
            <a:srgbClr val="D0D8E4"/>
          </a:solidFill>
          <a:ln w="12700">
            <a:solidFill>
              <a:srgbClr val="D0D8E4"/>
            </a:solidFill>
            <a:prstDash val="solid"/>
          </a:ln>
        </p:spPr>
      </p:sp>
      <p:sp>
        <p:nvSpPr>
          <p:cNvPr id="88" name="Text 86"/>
          <p:cNvSpPr/>
          <p:nvPr/>
        </p:nvSpPr>
        <p:spPr>
          <a:xfrm>
            <a:off x="7178040" y="3675888"/>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89" name="Shape 87"/>
          <p:cNvSpPr/>
          <p:nvPr/>
        </p:nvSpPr>
        <p:spPr>
          <a:xfrm>
            <a:off x="365760" y="3858768"/>
            <a:ext cx="1417320" cy="475488"/>
          </a:xfrm>
          <a:prstGeom prst="rect">
            <a:avLst/>
          </a:prstGeom>
          <a:solidFill>
            <a:srgbClr val="F4F6FA"/>
          </a:solidFill>
          <a:ln w="12700">
            <a:solidFill>
              <a:srgbClr val="F4F6FA"/>
            </a:solidFill>
            <a:prstDash val="solid"/>
          </a:ln>
        </p:spPr>
      </p:sp>
      <p:sp>
        <p:nvSpPr>
          <p:cNvPr id="90" name="Text 88"/>
          <p:cNvSpPr/>
          <p:nvPr/>
        </p:nvSpPr>
        <p:spPr>
          <a:xfrm>
            <a:off x="411480" y="3950208"/>
            <a:ext cx="1325880" cy="292608"/>
          </a:xfrm>
          <a:prstGeom prst="rect">
            <a:avLst/>
          </a:prstGeom>
          <a:noFill/>
          <a:ln/>
        </p:spPr>
        <p:txBody>
          <a:bodyPr wrap="square" lIns="0" tIns="0" rIns="0" bIns="0" rtlCol="0" anchor="ctr"/>
          <a:lstStyle/>
          <a:p>
            <a:pPr indent="0" marL="0">
              <a:buNone/>
            </a:pPr>
            <a:r>
              <a:rPr lang="en-US" sz="800" dirty="0">
                <a:solidFill>
                  <a:srgbClr val="1B2D55"/>
                </a:solidFill>
              </a:rPr>
              <a:t>Growth Rate</a:t>
            </a:r>
            <a:endParaRPr lang="en-US" sz="800" dirty="0"/>
          </a:p>
        </p:txBody>
      </p:sp>
      <p:sp>
        <p:nvSpPr>
          <p:cNvPr id="91" name="Shape 89"/>
          <p:cNvSpPr/>
          <p:nvPr/>
        </p:nvSpPr>
        <p:spPr>
          <a:xfrm>
            <a:off x="1828800" y="3858768"/>
            <a:ext cx="1737360" cy="475488"/>
          </a:xfrm>
          <a:prstGeom prst="rect">
            <a:avLst/>
          </a:prstGeom>
          <a:solidFill>
            <a:srgbClr val="F4F6FA"/>
          </a:solidFill>
          <a:ln w="12700">
            <a:solidFill>
              <a:srgbClr val="D0D8E4"/>
            </a:solidFill>
            <a:prstDash val="solid"/>
          </a:ln>
        </p:spPr>
      </p:sp>
      <p:sp>
        <p:nvSpPr>
          <p:cNvPr id="92" name="Shape 90"/>
          <p:cNvSpPr/>
          <p:nvPr/>
        </p:nvSpPr>
        <p:spPr>
          <a:xfrm>
            <a:off x="1965960" y="3995928"/>
            <a:ext cx="1463040" cy="201168"/>
          </a:xfrm>
          <a:prstGeom prst="rect">
            <a:avLst/>
          </a:prstGeom>
          <a:solidFill>
            <a:srgbClr val="C8A83C"/>
          </a:solidFill>
          <a:ln w="12700">
            <a:solidFill>
              <a:srgbClr val="C8A83C"/>
            </a:solidFill>
            <a:prstDash val="solid"/>
          </a:ln>
        </p:spPr>
      </p:sp>
      <p:sp>
        <p:nvSpPr>
          <p:cNvPr id="93" name="Text 91"/>
          <p:cNvSpPr/>
          <p:nvPr/>
        </p:nvSpPr>
        <p:spPr>
          <a:xfrm>
            <a:off x="1828800" y="4151376"/>
            <a:ext cx="1737360" cy="164592"/>
          </a:xfrm>
          <a:prstGeom prst="rect">
            <a:avLst/>
          </a:prstGeom>
          <a:noFill/>
          <a:ln/>
        </p:spPr>
        <p:txBody>
          <a:bodyPr wrap="square" lIns="0" tIns="0" rIns="0" bIns="0" rtlCol="0" anchor="ctr"/>
          <a:lstStyle/>
          <a:p>
            <a:pPr algn="ctr" indent="0" marL="0">
              <a:buNone/>
            </a:pPr>
            <a:r>
              <a:rPr lang="en-US" sz="700" dirty="0">
                <a:solidFill>
                  <a:srgbClr val="C8A83C"/>
                </a:solidFill>
              </a:rPr>
              <a:t>★★★★★</a:t>
            </a:r>
            <a:endParaRPr lang="en-US" sz="700" dirty="0"/>
          </a:p>
        </p:txBody>
      </p:sp>
      <p:sp>
        <p:nvSpPr>
          <p:cNvPr id="94" name="Shape 92"/>
          <p:cNvSpPr/>
          <p:nvPr/>
        </p:nvSpPr>
        <p:spPr>
          <a:xfrm>
            <a:off x="3611880" y="3858768"/>
            <a:ext cx="1737360" cy="475488"/>
          </a:xfrm>
          <a:prstGeom prst="rect">
            <a:avLst/>
          </a:prstGeom>
          <a:solidFill>
            <a:srgbClr val="F4F6FA"/>
          </a:solidFill>
          <a:ln w="12700">
            <a:solidFill>
              <a:srgbClr val="D0D8E4"/>
            </a:solidFill>
            <a:prstDash val="solid"/>
          </a:ln>
        </p:spPr>
      </p:sp>
      <p:sp>
        <p:nvSpPr>
          <p:cNvPr id="95" name="Shape 93"/>
          <p:cNvSpPr/>
          <p:nvPr/>
        </p:nvSpPr>
        <p:spPr>
          <a:xfrm>
            <a:off x="3749040" y="3995928"/>
            <a:ext cx="877824" cy="201168"/>
          </a:xfrm>
          <a:prstGeom prst="rect">
            <a:avLst/>
          </a:prstGeom>
          <a:solidFill>
            <a:srgbClr val="D0D8E4"/>
          </a:solidFill>
          <a:ln w="12700">
            <a:solidFill>
              <a:srgbClr val="D0D8E4"/>
            </a:solidFill>
            <a:prstDash val="solid"/>
          </a:ln>
        </p:spPr>
      </p:sp>
      <p:sp>
        <p:nvSpPr>
          <p:cNvPr id="96" name="Text 94"/>
          <p:cNvSpPr/>
          <p:nvPr/>
        </p:nvSpPr>
        <p:spPr>
          <a:xfrm>
            <a:off x="3611880" y="415137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97" name="Shape 95"/>
          <p:cNvSpPr/>
          <p:nvPr/>
        </p:nvSpPr>
        <p:spPr>
          <a:xfrm>
            <a:off x="5394960" y="3858768"/>
            <a:ext cx="1737360" cy="475488"/>
          </a:xfrm>
          <a:prstGeom prst="rect">
            <a:avLst/>
          </a:prstGeom>
          <a:solidFill>
            <a:srgbClr val="F4F6FA"/>
          </a:solidFill>
          <a:ln w="12700">
            <a:solidFill>
              <a:srgbClr val="D0D8E4"/>
            </a:solidFill>
            <a:prstDash val="solid"/>
          </a:ln>
        </p:spPr>
      </p:sp>
      <p:sp>
        <p:nvSpPr>
          <p:cNvPr id="98" name="Shape 96"/>
          <p:cNvSpPr/>
          <p:nvPr/>
        </p:nvSpPr>
        <p:spPr>
          <a:xfrm>
            <a:off x="5532120" y="3995928"/>
            <a:ext cx="1170432" cy="201168"/>
          </a:xfrm>
          <a:prstGeom prst="rect">
            <a:avLst/>
          </a:prstGeom>
          <a:solidFill>
            <a:srgbClr val="D0D8E4"/>
          </a:solidFill>
          <a:ln w="12700">
            <a:solidFill>
              <a:srgbClr val="D0D8E4"/>
            </a:solidFill>
            <a:prstDash val="solid"/>
          </a:ln>
        </p:spPr>
      </p:sp>
      <p:sp>
        <p:nvSpPr>
          <p:cNvPr id="99" name="Text 97"/>
          <p:cNvSpPr/>
          <p:nvPr/>
        </p:nvSpPr>
        <p:spPr>
          <a:xfrm>
            <a:off x="5394960" y="415137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
        <p:nvSpPr>
          <p:cNvPr id="100" name="Shape 98"/>
          <p:cNvSpPr/>
          <p:nvPr/>
        </p:nvSpPr>
        <p:spPr>
          <a:xfrm>
            <a:off x="7178040" y="3858768"/>
            <a:ext cx="1737360" cy="475488"/>
          </a:xfrm>
          <a:prstGeom prst="rect">
            <a:avLst/>
          </a:prstGeom>
          <a:solidFill>
            <a:srgbClr val="F4F6FA"/>
          </a:solidFill>
          <a:ln w="12700">
            <a:solidFill>
              <a:srgbClr val="D0D8E4"/>
            </a:solidFill>
            <a:prstDash val="solid"/>
          </a:ln>
        </p:spPr>
      </p:sp>
      <p:sp>
        <p:nvSpPr>
          <p:cNvPr id="101" name="Shape 99"/>
          <p:cNvSpPr/>
          <p:nvPr/>
        </p:nvSpPr>
        <p:spPr>
          <a:xfrm>
            <a:off x="7315200" y="3995928"/>
            <a:ext cx="877824" cy="201168"/>
          </a:xfrm>
          <a:prstGeom prst="rect">
            <a:avLst/>
          </a:prstGeom>
          <a:solidFill>
            <a:srgbClr val="D0D8E4"/>
          </a:solidFill>
          <a:ln w="12700">
            <a:solidFill>
              <a:srgbClr val="D0D8E4"/>
            </a:solidFill>
            <a:prstDash val="solid"/>
          </a:ln>
        </p:spPr>
      </p:sp>
      <p:sp>
        <p:nvSpPr>
          <p:cNvPr id="102" name="Text 100"/>
          <p:cNvSpPr/>
          <p:nvPr/>
        </p:nvSpPr>
        <p:spPr>
          <a:xfrm>
            <a:off x="7178040" y="4151376"/>
            <a:ext cx="1737360" cy="164592"/>
          </a:xfrm>
          <a:prstGeom prst="rect">
            <a:avLst/>
          </a:prstGeom>
          <a:noFill/>
          <a:ln/>
        </p:spPr>
        <p:txBody>
          <a:bodyPr wrap="square" lIns="0" tIns="0" rIns="0" bIns="0" rtlCol="0" anchor="ctr"/>
          <a:lstStyle/>
          <a:p>
            <a:pPr algn="ctr" indent="0" marL="0">
              <a:buNone/>
            </a:pPr>
            <a:r>
              <a:rPr lang="en-US" sz="700" dirty="0">
                <a:solidFill>
                  <a:srgbClr val="8898AA"/>
                </a:solidFill>
              </a:rPr>
              <a:t>★★★☆☆</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Business Model</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10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Business Model &amp; Channel Strategy</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Revenue Streams &amp; Go-to-Market</a:t>
            </a:r>
            <a:endParaRPr lang="en-US" sz="950" dirty="0"/>
          </a:p>
        </p:txBody>
      </p:sp>
      <p:sp>
        <p:nvSpPr>
          <p:cNvPr id="11" name="Shape 9"/>
          <p:cNvSpPr/>
          <p:nvPr/>
        </p:nvSpPr>
        <p:spPr>
          <a:xfrm>
            <a:off x="365760" y="1024128"/>
            <a:ext cx="8412480" cy="859536"/>
          </a:xfrm>
          <a:prstGeom prst="rect">
            <a:avLst/>
          </a:prstGeom>
          <a:solidFill>
            <a:srgbClr val="FFFFFF"/>
          </a:solidFill>
          <a:ln w="12700">
            <a:solidFill>
              <a:srgbClr val="D0D8E4"/>
            </a:solidFill>
            <a:prstDash val="solid"/>
          </a:ln>
        </p:spPr>
      </p:sp>
      <p:sp>
        <p:nvSpPr>
          <p:cNvPr id="12" name="Shape 10"/>
          <p:cNvSpPr/>
          <p:nvPr/>
        </p:nvSpPr>
        <p:spPr>
          <a:xfrm>
            <a:off x="365760" y="1024128"/>
            <a:ext cx="54864" cy="859536"/>
          </a:xfrm>
          <a:prstGeom prst="rect">
            <a:avLst/>
          </a:prstGeom>
          <a:solidFill>
            <a:srgbClr val="C8A83C"/>
          </a:solidFill>
          <a:ln w="12700">
            <a:solidFill>
              <a:srgbClr val="C8A83C"/>
            </a:solidFill>
            <a:prstDash val="solid"/>
          </a:ln>
        </p:spPr>
      </p:sp>
      <p:sp>
        <p:nvSpPr>
          <p:cNvPr id="13" name="Text 11"/>
          <p:cNvSpPr/>
          <p:nvPr/>
        </p:nvSpPr>
        <p:spPr>
          <a:xfrm>
            <a:off x="530352" y="1097280"/>
            <a:ext cx="2286000" cy="274320"/>
          </a:xfrm>
          <a:prstGeom prst="rect">
            <a:avLst/>
          </a:prstGeom>
          <a:noFill/>
          <a:ln/>
        </p:spPr>
        <p:txBody>
          <a:bodyPr wrap="square" lIns="0" tIns="0" rIns="0" bIns="0" rtlCol="0" anchor="ctr"/>
          <a:lstStyle/>
          <a:p>
            <a:pPr indent="0" marL="0">
              <a:buNone/>
            </a:pPr>
            <a:r>
              <a:rPr lang="en-US" sz="950" b="1" dirty="0">
                <a:solidFill>
                  <a:srgbClr val="1B2D55"/>
                </a:solidFill>
              </a:rPr>
              <a:t>Direct Sales</a:t>
            </a:r>
            <a:endParaRPr lang="en-US" sz="950" dirty="0"/>
          </a:p>
        </p:txBody>
      </p:sp>
      <p:sp>
        <p:nvSpPr>
          <p:cNvPr id="14" name="Text 12"/>
          <p:cNvSpPr/>
          <p:nvPr/>
        </p:nvSpPr>
        <p:spPr>
          <a:xfrm>
            <a:off x="530352" y="1426464"/>
            <a:ext cx="8138160" cy="384048"/>
          </a:xfrm>
          <a:prstGeom prst="rect">
            <a:avLst/>
          </a:prstGeom>
          <a:noFill/>
          <a:ln/>
        </p:spPr>
        <p:txBody>
          <a:bodyPr wrap="square" lIns="0" tIns="0" rIns="0" bIns="0" rtlCol="0" anchor="ctr"/>
          <a:lstStyle/>
          <a:p>
            <a:pPr indent="0" marL="0">
              <a:buNone/>
            </a:pPr>
            <a:r>
              <a:rPr lang="en-US" sz="800" dirty="0">
                <a:solidFill>
                  <a:srgbClr val="4A5568"/>
                </a:solidFill>
              </a:rPr>
              <a:t>Regional sales force of 42 reps; hunter/farmer model; avg. deal size $320K ARR</a:t>
            </a:r>
            <a:endParaRPr lang="en-US" sz="800" dirty="0"/>
          </a:p>
        </p:txBody>
      </p:sp>
      <p:sp>
        <p:nvSpPr>
          <p:cNvPr id="15" name="Shape 13"/>
          <p:cNvSpPr/>
          <p:nvPr/>
        </p:nvSpPr>
        <p:spPr>
          <a:xfrm>
            <a:off x="365760" y="1956816"/>
            <a:ext cx="8412480" cy="859536"/>
          </a:xfrm>
          <a:prstGeom prst="rect">
            <a:avLst/>
          </a:prstGeom>
          <a:solidFill>
            <a:srgbClr val="F4F6FA"/>
          </a:solidFill>
          <a:ln w="12700">
            <a:solidFill>
              <a:srgbClr val="D0D8E4"/>
            </a:solidFill>
            <a:prstDash val="solid"/>
          </a:ln>
        </p:spPr>
      </p:sp>
      <p:sp>
        <p:nvSpPr>
          <p:cNvPr id="16" name="Shape 14"/>
          <p:cNvSpPr/>
          <p:nvPr/>
        </p:nvSpPr>
        <p:spPr>
          <a:xfrm>
            <a:off x="365760" y="1956816"/>
            <a:ext cx="54864" cy="859536"/>
          </a:xfrm>
          <a:prstGeom prst="rect">
            <a:avLst/>
          </a:prstGeom>
          <a:solidFill>
            <a:srgbClr val="C8A83C"/>
          </a:solidFill>
          <a:ln w="12700">
            <a:solidFill>
              <a:srgbClr val="C8A83C"/>
            </a:solidFill>
            <a:prstDash val="solid"/>
          </a:ln>
        </p:spPr>
      </p:sp>
      <p:sp>
        <p:nvSpPr>
          <p:cNvPr id="17" name="Text 15"/>
          <p:cNvSpPr/>
          <p:nvPr/>
        </p:nvSpPr>
        <p:spPr>
          <a:xfrm>
            <a:off x="530352" y="2029968"/>
            <a:ext cx="2286000" cy="274320"/>
          </a:xfrm>
          <a:prstGeom prst="rect">
            <a:avLst/>
          </a:prstGeom>
          <a:noFill/>
          <a:ln/>
        </p:spPr>
        <p:txBody>
          <a:bodyPr wrap="square" lIns="0" tIns="0" rIns="0" bIns="0" rtlCol="0" anchor="ctr"/>
          <a:lstStyle/>
          <a:p>
            <a:pPr indent="0" marL="0">
              <a:buNone/>
            </a:pPr>
            <a:r>
              <a:rPr lang="en-US" sz="950" b="1" dirty="0">
                <a:solidFill>
                  <a:srgbClr val="1B2D55"/>
                </a:solidFill>
              </a:rPr>
              <a:t>Broker / Freight Network</a:t>
            </a:r>
            <a:endParaRPr lang="en-US" sz="950" dirty="0"/>
          </a:p>
        </p:txBody>
      </p:sp>
      <p:sp>
        <p:nvSpPr>
          <p:cNvPr id="18" name="Text 16"/>
          <p:cNvSpPr/>
          <p:nvPr/>
        </p:nvSpPr>
        <p:spPr>
          <a:xfrm>
            <a:off x="530352" y="2359152"/>
            <a:ext cx="8138160" cy="384048"/>
          </a:xfrm>
          <a:prstGeom prst="rect">
            <a:avLst/>
          </a:prstGeom>
          <a:noFill/>
          <a:ln/>
        </p:spPr>
        <p:txBody>
          <a:bodyPr wrap="square" lIns="0" tIns="0" rIns="0" bIns="0" rtlCol="0" anchor="ctr"/>
          <a:lstStyle/>
          <a:p>
            <a:pPr indent="0" marL="0">
              <a:buNone/>
            </a:pPr>
            <a:r>
              <a:rPr lang="en-US" sz="800" dirty="0">
                <a:solidFill>
                  <a:srgbClr val="4A5568"/>
                </a:solidFill>
              </a:rPr>
              <a:t>~22% of volume from freight brokers (Coyote, Echo, Transplace); programmatic pricing</a:t>
            </a:r>
            <a:endParaRPr lang="en-US" sz="800" dirty="0"/>
          </a:p>
        </p:txBody>
      </p:sp>
      <p:sp>
        <p:nvSpPr>
          <p:cNvPr id="19" name="Shape 17"/>
          <p:cNvSpPr/>
          <p:nvPr/>
        </p:nvSpPr>
        <p:spPr>
          <a:xfrm>
            <a:off x="365760" y="2889504"/>
            <a:ext cx="8412480" cy="859536"/>
          </a:xfrm>
          <a:prstGeom prst="rect">
            <a:avLst/>
          </a:prstGeom>
          <a:solidFill>
            <a:srgbClr val="FFFFFF"/>
          </a:solidFill>
          <a:ln w="12700">
            <a:solidFill>
              <a:srgbClr val="D0D8E4"/>
            </a:solidFill>
            <a:prstDash val="solid"/>
          </a:ln>
        </p:spPr>
      </p:sp>
      <p:sp>
        <p:nvSpPr>
          <p:cNvPr id="20" name="Shape 18"/>
          <p:cNvSpPr/>
          <p:nvPr/>
        </p:nvSpPr>
        <p:spPr>
          <a:xfrm>
            <a:off x="365760" y="2889504"/>
            <a:ext cx="54864" cy="859536"/>
          </a:xfrm>
          <a:prstGeom prst="rect">
            <a:avLst/>
          </a:prstGeom>
          <a:solidFill>
            <a:srgbClr val="C8A83C"/>
          </a:solidFill>
          <a:ln w="12700">
            <a:solidFill>
              <a:srgbClr val="C8A83C"/>
            </a:solidFill>
            <a:prstDash val="solid"/>
          </a:ln>
        </p:spPr>
      </p:sp>
      <p:sp>
        <p:nvSpPr>
          <p:cNvPr id="21" name="Text 19"/>
          <p:cNvSpPr/>
          <p:nvPr/>
        </p:nvSpPr>
        <p:spPr>
          <a:xfrm>
            <a:off x="530352" y="2962656"/>
            <a:ext cx="2286000" cy="274320"/>
          </a:xfrm>
          <a:prstGeom prst="rect">
            <a:avLst/>
          </a:prstGeom>
          <a:noFill/>
          <a:ln/>
        </p:spPr>
        <p:txBody>
          <a:bodyPr wrap="square" lIns="0" tIns="0" rIns="0" bIns="0" rtlCol="0" anchor="ctr"/>
          <a:lstStyle/>
          <a:p>
            <a:pPr indent="0" marL="0">
              <a:buNone/>
            </a:pPr>
            <a:r>
              <a:rPr lang="en-US" sz="950" b="1" dirty="0">
                <a:solidFill>
                  <a:srgbClr val="1B2D55"/>
                </a:solidFill>
              </a:rPr>
              <a:t>3PL Partnerships</a:t>
            </a:r>
            <a:endParaRPr lang="en-US" sz="950" dirty="0"/>
          </a:p>
        </p:txBody>
      </p:sp>
      <p:sp>
        <p:nvSpPr>
          <p:cNvPr id="22" name="Text 20"/>
          <p:cNvSpPr/>
          <p:nvPr/>
        </p:nvSpPr>
        <p:spPr>
          <a:xfrm>
            <a:off x="530352" y="3291840"/>
            <a:ext cx="8138160" cy="384048"/>
          </a:xfrm>
          <a:prstGeom prst="rect">
            <a:avLst/>
          </a:prstGeom>
          <a:noFill/>
          <a:ln/>
        </p:spPr>
        <p:txBody>
          <a:bodyPr wrap="square" lIns="0" tIns="0" rIns="0" bIns="0" rtlCol="0" anchor="ctr"/>
          <a:lstStyle/>
          <a:p>
            <a:pPr indent="0" marL="0">
              <a:buNone/>
            </a:pPr>
            <a:r>
              <a:rPr lang="en-US" sz="800" dirty="0">
                <a:solidFill>
                  <a:srgbClr val="4A5568"/>
                </a:solidFill>
              </a:rPr>
              <a:t>Captive volume from 3 regional DCs; BeaconOS licensing creates upsell path</a:t>
            </a:r>
            <a:endParaRPr lang="en-US" sz="800" dirty="0"/>
          </a:p>
        </p:txBody>
      </p:sp>
      <p:sp>
        <p:nvSpPr>
          <p:cNvPr id="23" name="Shape 21"/>
          <p:cNvSpPr/>
          <p:nvPr/>
        </p:nvSpPr>
        <p:spPr>
          <a:xfrm>
            <a:off x="365760" y="3822192"/>
            <a:ext cx="8412480" cy="859536"/>
          </a:xfrm>
          <a:prstGeom prst="rect">
            <a:avLst/>
          </a:prstGeom>
          <a:solidFill>
            <a:srgbClr val="F4F6FA"/>
          </a:solidFill>
          <a:ln w="12700">
            <a:solidFill>
              <a:srgbClr val="D0D8E4"/>
            </a:solidFill>
            <a:prstDash val="solid"/>
          </a:ln>
        </p:spPr>
      </p:sp>
      <p:sp>
        <p:nvSpPr>
          <p:cNvPr id="24" name="Shape 22"/>
          <p:cNvSpPr/>
          <p:nvPr/>
        </p:nvSpPr>
        <p:spPr>
          <a:xfrm>
            <a:off x="365760" y="3822192"/>
            <a:ext cx="54864" cy="859536"/>
          </a:xfrm>
          <a:prstGeom prst="rect">
            <a:avLst/>
          </a:prstGeom>
          <a:solidFill>
            <a:srgbClr val="C8A83C"/>
          </a:solidFill>
          <a:ln w="12700">
            <a:solidFill>
              <a:srgbClr val="C8A83C"/>
            </a:solidFill>
            <a:prstDash val="solid"/>
          </a:ln>
        </p:spPr>
      </p:sp>
      <p:sp>
        <p:nvSpPr>
          <p:cNvPr id="25" name="Text 23"/>
          <p:cNvSpPr/>
          <p:nvPr/>
        </p:nvSpPr>
        <p:spPr>
          <a:xfrm>
            <a:off x="530352" y="3895344"/>
            <a:ext cx="2286000" cy="274320"/>
          </a:xfrm>
          <a:prstGeom prst="rect">
            <a:avLst/>
          </a:prstGeom>
          <a:noFill/>
          <a:ln/>
        </p:spPr>
        <p:txBody>
          <a:bodyPr wrap="square" lIns="0" tIns="0" rIns="0" bIns="0" rtlCol="0" anchor="ctr"/>
          <a:lstStyle/>
          <a:p>
            <a:pPr indent="0" marL="0">
              <a:buNone/>
            </a:pPr>
            <a:r>
              <a:rPr lang="en-US" sz="950" b="1" dirty="0">
                <a:solidFill>
                  <a:srgbClr val="1B2D55"/>
                </a:solidFill>
              </a:rPr>
              <a:t>Digital Self-Serve</a:t>
            </a:r>
            <a:endParaRPr lang="en-US" sz="950" dirty="0"/>
          </a:p>
        </p:txBody>
      </p:sp>
      <p:sp>
        <p:nvSpPr>
          <p:cNvPr id="26" name="Text 24"/>
          <p:cNvSpPr/>
          <p:nvPr/>
        </p:nvSpPr>
        <p:spPr>
          <a:xfrm>
            <a:off x="530352" y="4224528"/>
            <a:ext cx="8138160" cy="384048"/>
          </a:xfrm>
          <a:prstGeom prst="rect">
            <a:avLst/>
          </a:prstGeom>
          <a:noFill/>
          <a:ln/>
        </p:spPr>
        <p:txBody>
          <a:bodyPr wrap="square" lIns="0" tIns="0" rIns="0" bIns="0" rtlCol="0" anchor="ctr"/>
          <a:lstStyle/>
          <a:p>
            <a:pPr indent="0" marL="0">
              <a:buNone/>
            </a:pPr>
            <a:r>
              <a:rPr lang="en-US" sz="800" dirty="0">
                <a:solidFill>
                  <a:srgbClr val="4A5568"/>
                </a:solidFill>
              </a:rPr>
              <a:t>Online quoting and booking for SMB shippers; 12% of shipments fully digital</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Historical Financials</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11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Historical Financial Performance</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($M unless otherwise noted)</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8412480" cy="1645920"/>
        </p:xfrm>
        <a:graphic>
          <a:graphicData uri="http://schemas.openxmlformats.org/drawingml/2006/table">
            <a:tbl>
              <a:tblPr/>
              <a:tblGrid>
                <a:gridCol w="2560320"/>
                <a:gridCol w="1640434"/>
                <a:gridCol w="1640434"/>
                <a:gridCol w="1640434"/>
                <a:gridCol w="1640434"/>
              </a:tblGrid>
              <a:tr h="329184">
                <a:tc>
                  <a:txBody>
                    <a:bodyPr/>
                    <a:lstStyle/>
                    <a:p>
                      <a:pPr indent="0" marL="0">
                        <a:buNone/>
                      </a:pPr>
                      <a:r>
                        <a:rPr lang="en-US" sz="900" b="1" dirty="0">
                          <a:solidFill>
                            <a:srgbClr val="FFFFFF"/>
                          </a:solidFill>
                        </a:rPr>
                        <a:t>($M)</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2021</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2022</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LTM Sep'23</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29184">
                <a:tc>
                  <a:txBody>
                    <a:bodyPr/>
                    <a:lstStyle/>
                    <a:p>
                      <a:pPr indent="0" marL="0">
                        <a:buNone/>
                      </a:pPr>
                      <a:r>
                        <a:rPr lang="en-US" sz="900" b="1" dirty="0">
                          <a:solidFill>
                            <a:srgbClr val="1B2D55"/>
                          </a:solidFill>
                        </a:rPr>
                        <a:t>Revenue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148.2</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171.4</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196.5</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218.3</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indent="0" marL="0">
                        <a:buNone/>
                      </a:pPr>
                      <a:r>
                        <a:rPr lang="en-US" sz="900" b="1" dirty="0">
                          <a:solidFill>
                            <a:srgbClr val="1B2D55"/>
                          </a:solidFill>
                        </a:rPr>
                        <a:t>Adj. EBITDA</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19.8</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24.1</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29.4</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33.7</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indent="0" marL="0">
                        <a:buNone/>
                      </a:pPr>
                      <a:r>
                        <a:rPr lang="en-US" sz="900" b="1" dirty="0">
                          <a:solidFill>
                            <a:srgbClr val="1B2D55"/>
                          </a:solidFill>
                        </a:rPr>
                        <a:t>EBITDA Margin (%)</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13.4%</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14.1%</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15.0%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15.5%</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indent="0" marL="0">
                        <a:buNone/>
                      </a:pPr>
                      <a:r>
                        <a:rPr lang="en-US" sz="900" b="1" dirty="0">
                          <a:solidFill>
                            <a:srgbClr val="1B2D55"/>
                          </a:solidFill>
                        </a:rPr>
                        <a:t>Net Income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8.2</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11.4</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15.1</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18.6</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bl>
          </a:graphicData>
        </a:graphic>
      </p:graphicFrame>
      <p:sp>
        <p:nvSpPr>
          <p:cNvPr id="12" name="Shape 9"/>
          <p:cNvSpPr/>
          <p:nvPr/>
        </p:nvSpPr>
        <p:spPr>
          <a:xfrm>
            <a:off x="457200" y="2834640"/>
            <a:ext cx="8229600" cy="0"/>
          </a:xfrm>
          <a:prstGeom prst="line">
            <a:avLst/>
          </a:prstGeom>
          <a:noFill/>
          <a:ln w="9525">
            <a:solidFill>
              <a:srgbClr val="D0D8E4"/>
            </a:solidFill>
            <a:prstDash val="solid"/>
          </a:ln>
        </p:spPr>
      </p:sp>
      <p:sp>
        <p:nvSpPr>
          <p:cNvPr id="13" name="Text 10"/>
          <p:cNvSpPr/>
          <p:nvPr/>
        </p:nvSpPr>
        <p:spPr>
          <a:xfrm>
            <a:off x="457200" y="2898648"/>
            <a:ext cx="4572000" cy="256032"/>
          </a:xfrm>
          <a:prstGeom prst="rect">
            <a:avLst/>
          </a:prstGeom>
          <a:noFill/>
          <a:ln/>
        </p:spPr>
        <p:txBody>
          <a:bodyPr wrap="square" lIns="0" tIns="0" rIns="0" bIns="0" rtlCol="0" anchor="ctr"/>
          <a:lstStyle/>
          <a:p>
            <a:pPr indent="0" marL="0">
              <a:buNone/>
            </a:pPr>
            <a:r>
              <a:rPr lang="en-US" sz="900" b="1" dirty="0">
                <a:solidFill>
                  <a:srgbClr val="1B2D55"/>
                </a:solidFill>
              </a:rPr>
              <a:t>Revenue &amp; EBITDA Trend</a:t>
            </a:r>
            <a:endParaRPr lang="en-US" sz="900" dirty="0"/>
          </a:p>
        </p:txBody>
      </p:sp>
      <p:sp>
        <p:nvSpPr>
          <p:cNvPr id="14" name="Shape 11"/>
          <p:cNvSpPr/>
          <p:nvPr/>
        </p:nvSpPr>
        <p:spPr>
          <a:xfrm>
            <a:off x="594360" y="3596801"/>
            <a:ext cx="1068705" cy="838039"/>
          </a:xfrm>
          <a:prstGeom prst="rect">
            <a:avLst/>
          </a:prstGeom>
          <a:solidFill>
            <a:srgbClr val="2B5BAE"/>
          </a:solidFill>
          <a:ln w="12700">
            <a:solidFill>
              <a:srgbClr val="2B5BAE"/>
            </a:solidFill>
            <a:prstDash val="solid"/>
          </a:ln>
        </p:spPr>
      </p:sp>
      <p:sp>
        <p:nvSpPr>
          <p:cNvPr id="15" name="Shape 12"/>
          <p:cNvSpPr/>
          <p:nvPr/>
        </p:nvSpPr>
        <p:spPr>
          <a:xfrm>
            <a:off x="1690497" y="4322875"/>
            <a:ext cx="641223" cy="111965"/>
          </a:xfrm>
          <a:prstGeom prst="rect">
            <a:avLst/>
          </a:prstGeom>
          <a:solidFill>
            <a:srgbClr val="C8A83C"/>
          </a:solidFill>
          <a:ln w="12700">
            <a:solidFill>
              <a:srgbClr val="C8A83C"/>
            </a:solidFill>
            <a:prstDash val="solid"/>
          </a:ln>
        </p:spPr>
      </p:sp>
      <p:sp>
        <p:nvSpPr>
          <p:cNvPr id="16" name="Text 13"/>
          <p:cNvSpPr/>
          <p:nvPr/>
        </p:nvSpPr>
        <p:spPr>
          <a:xfrm>
            <a:off x="548640" y="4498848"/>
            <a:ext cx="1343025" cy="201168"/>
          </a:xfrm>
          <a:prstGeom prst="rect">
            <a:avLst/>
          </a:prstGeom>
          <a:noFill/>
          <a:ln/>
        </p:spPr>
        <p:txBody>
          <a:bodyPr wrap="square" lIns="0" tIns="0" rIns="0" bIns="0" rtlCol="0" anchor="ctr"/>
          <a:lstStyle/>
          <a:p>
            <a:pPr algn="ctr" indent="0" marL="0">
              <a:buNone/>
            </a:pPr>
            <a:r>
              <a:rPr lang="en-US" sz="700" dirty="0">
                <a:solidFill>
                  <a:srgbClr val="8898AA"/>
                </a:solidFill>
              </a:rPr>
              <a:t>2020</a:t>
            </a:r>
            <a:endParaRPr lang="en-US" sz="700" dirty="0"/>
          </a:p>
        </p:txBody>
      </p:sp>
      <p:sp>
        <p:nvSpPr>
          <p:cNvPr id="17" name="Shape 14"/>
          <p:cNvSpPr/>
          <p:nvPr/>
        </p:nvSpPr>
        <p:spPr>
          <a:xfrm>
            <a:off x="2537460" y="3465610"/>
            <a:ext cx="1068705" cy="969230"/>
          </a:xfrm>
          <a:prstGeom prst="rect">
            <a:avLst/>
          </a:prstGeom>
          <a:solidFill>
            <a:srgbClr val="2B5BAE"/>
          </a:solidFill>
          <a:ln w="12700">
            <a:solidFill>
              <a:srgbClr val="2B5BAE"/>
            </a:solidFill>
            <a:prstDash val="solid"/>
          </a:ln>
        </p:spPr>
      </p:sp>
      <p:sp>
        <p:nvSpPr>
          <p:cNvPr id="18" name="Shape 15"/>
          <p:cNvSpPr/>
          <p:nvPr/>
        </p:nvSpPr>
        <p:spPr>
          <a:xfrm>
            <a:off x="3633597" y="4298560"/>
            <a:ext cx="641223" cy="136280"/>
          </a:xfrm>
          <a:prstGeom prst="rect">
            <a:avLst/>
          </a:prstGeom>
          <a:solidFill>
            <a:srgbClr val="C8A83C"/>
          </a:solidFill>
          <a:ln w="12700">
            <a:solidFill>
              <a:srgbClr val="C8A83C"/>
            </a:solidFill>
            <a:prstDash val="solid"/>
          </a:ln>
        </p:spPr>
      </p:sp>
      <p:sp>
        <p:nvSpPr>
          <p:cNvPr id="19" name="Text 16"/>
          <p:cNvSpPr/>
          <p:nvPr/>
        </p:nvSpPr>
        <p:spPr>
          <a:xfrm>
            <a:off x="2491740" y="4498848"/>
            <a:ext cx="1343025" cy="201168"/>
          </a:xfrm>
          <a:prstGeom prst="rect">
            <a:avLst/>
          </a:prstGeom>
          <a:noFill/>
          <a:ln/>
        </p:spPr>
        <p:txBody>
          <a:bodyPr wrap="square" lIns="0" tIns="0" rIns="0" bIns="0" rtlCol="0" anchor="ctr"/>
          <a:lstStyle/>
          <a:p>
            <a:pPr algn="ctr" indent="0" marL="0">
              <a:buNone/>
            </a:pPr>
            <a:r>
              <a:rPr lang="en-US" sz="700" dirty="0">
                <a:solidFill>
                  <a:srgbClr val="8898AA"/>
                </a:solidFill>
              </a:rPr>
              <a:t>2021</a:t>
            </a:r>
            <a:endParaRPr lang="en-US" sz="700" dirty="0"/>
          </a:p>
        </p:txBody>
      </p:sp>
      <p:sp>
        <p:nvSpPr>
          <p:cNvPr id="20" name="Shape 17"/>
          <p:cNvSpPr/>
          <p:nvPr/>
        </p:nvSpPr>
        <p:spPr>
          <a:xfrm>
            <a:off x="4480560" y="3323674"/>
            <a:ext cx="1068705" cy="1111166"/>
          </a:xfrm>
          <a:prstGeom prst="rect">
            <a:avLst/>
          </a:prstGeom>
          <a:solidFill>
            <a:srgbClr val="2B5BAE"/>
          </a:solidFill>
          <a:ln w="12700">
            <a:solidFill>
              <a:srgbClr val="2B5BAE"/>
            </a:solidFill>
            <a:prstDash val="solid"/>
          </a:ln>
        </p:spPr>
      </p:sp>
      <p:sp>
        <p:nvSpPr>
          <p:cNvPr id="21" name="Shape 18"/>
          <p:cNvSpPr/>
          <p:nvPr/>
        </p:nvSpPr>
        <p:spPr>
          <a:xfrm>
            <a:off x="5576697" y="4268589"/>
            <a:ext cx="641223" cy="166251"/>
          </a:xfrm>
          <a:prstGeom prst="rect">
            <a:avLst/>
          </a:prstGeom>
          <a:solidFill>
            <a:srgbClr val="C8A83C"/>
          </a:solidFill>
          <a:ln w="12700">
            <a:solidFill>
              <a:srgbClr val="C8A83C"/>
            </a:solidFill>
            <a:prstDash val="solid"/>
          </a:ln>
        </p:spPr>
      </p:sp>
      <p:sp>
        <p:nvSpPr>
          <p:cNvPr id="22" name="Text 19"/>
          <p:cNvSpPr/>
          <p:nvPr/>
        </p:nvSpPr>
        <p:spPr>
          <a:xfrm>
            <a:off x="4434840" y="4498848"/>
            <a:ext cx="1343025" cy="201168"/>
          </a:xfrm>
          <a:prstGeom prst="rect">
            <a:avLst/>
          </a:prstGeom>
          <a:noFill/>
          <a:ln/>
        </p:spPr>
        <p:txBody>
          <a:bodyPr wrap="square" lIns="0" tIns="0" rIns="0" bIns="0" rtlCol="0" anchor="ctr"/>
          <a:lstStyle/>
          <a:p>
            <a:pPr algn="ctr" indent="0" marL="0">
              <a:buNone/>
            </a:pPr>
            <a:r>
              <a:rPr lang="en-US" sz="700" dirty="0">
                <a:solidFill>
                  <a:srgbClr val="8898AA"/>
                </a:solidFill>
              </a:rPr>
              <a:t>2022</a:t>
            </a:r>
            <a:endParaRPr lang="en-US" sz="700" dirty="0"/>
          </a:p>
        </p:txBody>
      </p:sp>
      <p:sp>
        <p:nvSpPr>
          <p:cNvPr id="23" name="Shape 20"/>
          <p:cNvSpPr/>
          <p:nvPr/>
        </p:nvSpPr>
        <p:spPr>
          <a:xfrm>
            <a:off x="6423660" y="3200400"/>
            <a:ext cx="1068705" cy="1234440"/>
          </a:xfrm>
          <a:prstGeom prst="rect">
            <a:avLst/>
          </a:prstGeom>
          <a:solidFill>
            <a:srgbClr val="2B5BAE"/>
          </a:solidFill>
          <a:ln w="12700">
            <a:solidFill>
              <a:srgbClr val="2B5BAE"/>
            </a:solidFill>
            <a:prstDash val="solid"/>
          </a:ln>
        </p:spPr>
      </p:sp>
      <p:sp>
        <p:nvSpPr>
          <p:cNvPr id="24" name="Shape 21"/>
          <p:cNvSpPr/>
          <p:nvPr/>
        </p:nvSpPr>
        <p:spPr>
          <a:xfrm>
            <a:off x="7519797" y="4244274"/>
            <a:ext cx="641223" cy="190566"/>
          </a:xfrm>
          <a:prstGeom prst="rect">
            <a:avLst/>
          </a:prstGeom>
          <a:solidFill>
            <a:srgbClr val="C8A83C"/>
          </a:solidFill>
          <a:ln w="12700">
            <a:solidFill>
              <a:srgbClr val="C8A83C"/>
            </a:solidFill>
            <a:prstDash val="solid"/>
          </a:ln>
        </p:spPr>
      </p:sp>
      <p:sp>
        <p:nvSpPr>
          <p:cNvPr id="25" name="Text 22"/>
          <p:cNvSpPr/>
          <p:nvPr/>
        </p:nvSpPr>
        <p:spPr>
          <a:xfrm>
            <a:off x="6377940" y="4498848"/>
            <a:ext cx="1343025" cy="201168"/>
          </a:xfrm>
          <a:prstGeom prst="rect">
            <a:avLst/>
          </a:prstGeom>
          <a:noFill/>
          <a:ln/>
        </p:spPr>
        <p:txBody>
          <a:bodyPr wrap="square" lIns="0" tIns="0" rIns="0" bIns="0" rtlCol="0" anchor="ctr"/>
          <a:lstStyle/>
          <a:p>
            <a:pPr algn="ctr" indent="0" marL="0">
              <a:buNone/>
            </a:pPr>
            <a:r>
              <a:rPr lang="en-US" sz="700" dirty="0">
                <a:solidFill>
                  <a:srgbClr val="8898AA"/>
                </a:solidFill>
              </a:rPr>
              <a:t>LTM Sep'23</a:t>
            </a:r>
            <a:endParaRPr lang="en-US" sz="700" dirty="0"/>
          </a:p>
        </p:txBody>
      </p:sp>
      <p:sp>
        <p:nvSpPr>
          <p:cNvPr id="26" name="Text 23"/>
          <p:cNvSpPr/>
          <p:nvPr/>
        </p:nvSpPr>
        <p:spPr>
          <a:xfrm>
            <a:off x="6583680" y="4526280"/>
            <a:ext cx="1188720" cy="201168"/>
          </a:xfrm>
          <a:prstGeom prst="rect">
            <a:avLst/>
          </a:prstGeom>
          <a:noFill/>
          <a:ln/>
        </p:spPr>
        <p:txBody>
          <a:bodyPr wrap="square" lIns="0" tIns="0" rIns="0" bIns="0" rtlCol="0" anchor="ctr"/>
          <a:lstStyle/>
          <a:p>
            <a:pPr indent="0" marL="0">
              <a:buNone/>
            </a:pPr>
            <a:r>
              <a:rPr lang="en-US" sz="700" dirty="0">
                <a:solidFill>
                  <a:srgbClr val="2B5BAE"/>
                </a:solidFill>
              </a:rPr>
              <a:t>■ Revenue</a:t>
            </a:r>
            <a:endParaRPr lang="en-US" sz="700" dirty="0"/>
          </a:p>
        </p:txBody>
      </p:sp>
      <p:sp>
        <p:nvSpPr>
          <p:cNvPr id="27" name="Text 24"/>
          <p:cNvSpPr/>
          <p:nvPr/>
        </p:nvSpPr>
        <p:spPr>
          <a:xfrm>
            <a:off x="7680960" y="4526280"/>
            <a:ext cx="1097280" cy="201168"/>
          </a:xfrm>
          <a:prstGeom prst="rect">
            <a:avLst/>
          </a:prstGeom>
          <a:noFill/>
          <a:ln/>
        </p:spPr>
        <p:txBody>
          <a:bodyPr wrap="square" lIns="0" tIns="0" rIns="0" bIns="0" rtlCol="0" anchor="ctr"/>
          <a:lstStyle/>
          <a:p>
            <a:pPr indent="0" marL="0">
              <a:buNone/>
            </a:pPr>
            <a:r>
              <a:rPr lang="en-US" sz="700" dirty="0">
                <a:solidFill>
                  <a:srgbClr val="C8A83C"/>
                </a:solidFill>
              </a:rPr>
              <a:t>■ EBITDA</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Financial Projections</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12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Financial Projections</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Management Base Case ($M unless noted)</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8412480" cy="1280160"/>
        </p:xfrm>
        <a:graphic>
          <a:graphicData uri="http://schemas.openxmlformats.org/drawingml/2006/table">
            <a:tbl>
              <a:tblPr/>
              <a:tblGrid>
                <a:gridCol w="2103120"/>
                <a:gridCol w="2103120"/>
                <a:gridCol w="2103120"/>
                <a:gridCol w="2103120"/>
              </a:tblGrid>
              <a:tr h="320040">
                <a:tc>
                  <a:txBody>
                    <a:bodyPr/>
                    <a:lstStyle/>
                    <a:p>
                      <a:pPr indent="0" marL="0">
                        <a:buNone/>
                      </a:pPr>
                      <a:r>
                        <a:rPr lang="en-US" sz="900" b="1" dirty="0">
                          <a:solidFill>
                            <a:srgbClr val="FFFFFF"/>
                          </a:solidFill>
                        </a:rPr>
                        <a:t>($M)</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2024E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2025E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900" b="1" dirty="0">
                          <a:solidFill>
                            <a:srgbClr val="FFFFFF"/>
                          </a:solidFill>
                        </a:rPr>
                        <a:t>2026E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20040">
                <a:tc>
                  <a:txBody>
                    <a:bodyPr/>
                    <a:lstStyle/>
                    <a:p>
                      <a:pPr indent="0" marL="0">
                        <a:buNone/>
                      </a:pPr>
                      <a:r>
                        <a:rPr lang="en-US" sz="900" b="1" dirty="0">
                          <a:solidFill>
                            <a:srgbClr val="1B2D55"/>
                          </a:solidFill>
                        </a:rPr>
                        <a:t>Revenue</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241.0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268.0</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298.5</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20040">
                <a:tc>
                  <a:txBody>
                    <a:bodyPr/>
                    <a:lstStyle/>
                    <a:p>
                      <a:pPr indent="0" marL="0">
                        <a:buNone/>
                      </a:pPr>
                      <a:r>
                        <a:rPr lang="en-US" sz="900" b="1" dirty="0">
                          <a:solidFill>
                            <a:srgbClr val="1B2D55"/>
                          </a:solidFill>
                        </a:rPr>
                        <a:t>Adj. EBITDA</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37.5</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43.2</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50.1</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20040">
                <a:tc>
                  <a:txBody>
                    <a:bodyPr/>
                    <a:lstStyle/>
                    <a:p>
                      <a:pPr indent="0" marL="0">
                        <a:buNone/>
                      </a:pPr>
                      <a:r>
                        <a:rPr lang="en-US" sz="900" b="1" dirty="0">
                          <a:solidFill>
                            <a:srgbClr val="1B2D55"/>
                          </a:solidFill>
                        </a:rPr>
                        <a:t>EBITDA Margin (%)</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tcPr>
                </a:tc>
                <a:tc>
                  <a:txBody>
                    <a:bodyPr/>
                    <a:lstStyle/>
                    <a:p>
                      <a:pPr indent="0" marL="0">
                        <a:buNone/>
                      </a:pPr>
                      <a:r>
                        <a:rPr lang="en-US" sz="900" dirty="0">
                          <a:solidFill>
                            <a:srgbClr val="1B2D55"/>
                          </a:solidFill>
                        </a:rPr>
                        <a:t>15.6%</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900" dirty="0">
                          <a:solidFill>
                            <a:srgbClr val="1B2D55"/>
                          </a:solidFill>
                        </a:rPr>
                        <a:t>16.1%</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900" dirty="0">
                          <a:solidFill>
                            <a:srgbClr val="1B2D55"/>
                          </a:solidFill>
                        </a:rPr>
                        <a:t>16.8%</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bl>
          </a:graphicData>
        </a:graphic>
      </p:graphicFrame>
      <p:sp>
        <p:nvSpPr>
          <p:cNvPr id="12" name="Shape 9"/>
          <p:cNvSpPr/>
          <p:nvPr/>
        </p:nvSpPr>
        <p:spPr>
          <a:xfrm>
            <a:off x="457200" y="2423160"/>
            <a:ext cx="8229600" cy="0"/>
          </a:xfrm>
          <a:prstGeom prst="line">
            <a:avLst/>
          </a:prstGeom>
          <a:noFill/>
          <a:ln w="9525">
            <a:solidFill>
              <a:srgbClr val="D0D8E4"/>
            </a:solidFill>
            <a:prstDash val="solid"/>
          </a:ln>
        </p:spPr>
      </p:sp>
      <p:sp>
        <p:nvSpPr>
          <p:cNvPr id="13" name="Text 10"/>
          <p:cNvSpPr/>
          <p:nvPr/>
        </p:nvSpPr>
        <p:spPr>
          <a:xfrm>
            <a:off x="457200" y="2487168"/>
            <a:ext cx="8229600" cy="256032"/>
          </a:xfrm>
          <a:prstGeom prst="rect">
            <a:avLst/>
          </a:prstGeom>
          <a:noFill/>
          <a:ln/>
        </p:spPr>
        <p:txBody>
          <a:bodyPr wrap="square" lIns="0" tIns="0" rIns="0" bIns="0" rtlCol="0" anchor="ctr"/>
          <a:lstStyle/>
          <a:p>
            <a:pPr indent="0" marL="0">
              <a:buNone/>
            </a:pPr>
            <a:r>
              <a:rPr lang="en-US" sz="900" b="1" dirty="0">
                <a:solidFill>
                  <a:srgbClr val="1B2D55"/>
                </a:solidFill>
              </a:rPr>
              <a:t>Key Projection Assumptions</a:t>
            </a:r>
            <a:endParaRPr lang="en-US" sz="900" dirty="0"/>
          </a:p>
        </p:txBody>
      </p:sp>
      <p:sp>
        <p:nvSpPr>
          <p:cNvPr id="14" name="Shape 11"/>
          <p:cNvSpPr/>
          <p:nvPr/>
        </p:nvSpPr>
        <p:spPr>
          <a:xfrm>
            <a:off x="457200" y="2788920"/>
            <a:ext cx="54864" cy="411480"/>
          </a:xfrm>
          <a:prstGeom prst="rect">
            <a:avLst/>
          </a:prstGeom>
          <a:solidFill>
            <a:srgbClr val="C8A83C"/>
          </a:solidFill>
          <a:ln w="12700">
            <a:solidFill>
              <a:srgbClr val="C8A83C"/>
            </a:solidFill>
            <a:prstDash val="solid"/>
          </a:ln>
        </p:spPr>
      </p:sp>
      <p:sp>
        <p:nvSpPr>
          <p:cNvPr id="15" name="Text 12"/>
          <p:cNvSpPr/>
          <p:nvPr/>
        </p:nvSpPr>
        <p:spPr>
          <a:xfrm>
            <a:off x="621792" y="2816352"/>
            <a:ext cx="8092440" cy="411480"/>
          </a:xfrm>
          <a:prstGeom prst="rect">
            <a:avLst/>
          </a:prstGeom>
          <a:noFill/>
          <a:ln/>
        </p:spPr>
        <p:txBody>
          <a:bodyPr wrap="square" lIns="0" tIns="0" rIns="0" bIns="0" rtlCol="0" anchor="ctr"/>
          <a:lstStyle/>
          <a:p>
            <a:pPr indent="0" marL="0">
              <a:buNone/>
            </a:pPr>
            <a:r>
              <a:rPr lang="en-US" sz="800" dirty="0">
                <a:solidFill>
                  <a:srgbClr val="4A5568"/>
                </a:solidFill>
              </a:rPr>
              <a:t>BeaconOS route optimization reduces cost-per-stop by 14% vs. manual dispatch; 97.4% OTD rate — top decile for regional LTL</a:t>
            </a:r>
            <a:endParaRPr lang="en-US" sz="800" dirty="0"/>
          </a:p>
        </p:txBody>
      </p:sp>
      <p:sp>
        <p:nvSpPr>
          <p:cNvPr id="16" name="Shape 13"/>
          <p:cNvSpPr/>
          <p:nvPr/>
        </p:nvSpPr>
        <p:spPr>
          <a:xfrm>
            <a:off x="457200" y="3319272"/>
            <a:ext cx="54864" cy="411480"/>
          </a:xfrm>
          <a:prstGeom prst="rect">
            <a:avLst/>
          </a:prstGeom>
          <a:solidFill>
            <a:srgbClr val="C8A83C"/>
          </a:solidFill>
          <a:ln w="12700">
            <a:solidFill>
              <a:srgbClr val="C8A83C"/>
            </a:solidFill>
            <a:prstDash val="solid"/>
          </a:ln>
        </p:spPr>
      </p:sp>
      <p:sp>
        <p:nvSpPr>
          <p:cNvPr id="17" name="Text 14"/>
          <p:cNvSpPr/>
          <p:nvPr/>
        </p:nvSpPr>
        <p:spPr>
          <a:xfrm>
            <a:off x="621792" y="3346704"/>
            <a:ext cx="8092440" cy="411480"/>
          </a:xfrm>
          <a:prstGeom prst="rect">
            <a:avLst/>
          </a:prstGeom>
          <a:noFill/>
          <a:ln/>
        </p:spPr>
        <p:txBody>
          <a:bodyPr wrap="square" lIns="0" tIns="0" rIns="0" bIns="0" rtlCol="0" anchor="ctr"/>
          <a:lstStyle/>
          <a:p>
            <a:pPr indent="0" marL="0">
              <a:buNone/>
            </a:pPr>
            <a:r>
              <a:rPr lang="en-US" sz="800" dirty="0">
                <a:solidFill>
                  <a:srgbClr val="4A5568"/>
                </a:solidFill>
              </a:rPr>
              <a:t>Final-mile e-commerce segment grew 41% YoY; now 28% of revenue, targeted at 40%+ by 2026</a:t>
            </a:r>
            <a:endParaRPr lang="en-US" sz="800" dirty="0"/>
          </a:p>
        </p:txBody>
      </p:sp>
      <p:sp>
        <p:nvSpPr>
          <p:cNvPr id="18" name="Shape 15"/>
          <p:cNvSpPr/>
          <p:nvPr/>
        </p:nvSpPr>
        <p:spPr>
          <a:xfrm>
            <a:off x="457200" y="3849624"/>
            <a:ext cx="54864" cy="411480"/>
          </a:xfrm>
          <a:prstGeom prst="rect">
            <a:avLst/>
          </a:prstGeom>
          <a:solidFill>
            <a:srgbClr val="C8A83C"/>
          </a:solidFill>
          <a:ln w="12700">
            <a:solidFill>
              <a:srgbClr val="C8A83C"/>
            </a:solidFill>
            <a:prstDash val="solid"/>
          </a:ln>
        </p:spPr>
      </p:sp>
      <p:sp>
        <p:nvSpPr>
          <p:cNvPr id="19" name="Text 16"/>
          <p:cNvSpPr/>
          <p:nvPr/>
        </p:nvSpPr>
        <p:spPr>
          <a:xfrm>
            <a:off x="621792" y="3877056"/>
            <a:ext cx="8092440" cy="411480"/>
          </a:xfrm>
          <a:prstGeom prst="rect">
            <a:avLst/>
          </a:prstGeom>
          <a:noFill/>
          <a:ln/>
        </p:spPr>
        <p:txBody>
          <a:bodyPr wrap="square" lIns="0" tIns="0" rIns="0" bIns="0" rtlCol="0" anchor="ctr"/>
          <a:lstStyle/>
          <a:p>
            <a:pPr indent="0" marL="0">
              <a:buNone/>
            </a:pPr>
            <a:r>
              <a:rPr lang="en-US" sz="800" dirty="0">
                <a:solidFill>
                  <a:srgbClr val="4A5568"/>
                </a:solidFill>
              </a:rPr>
              <a:t>Southeast LTL market estimated at $8.4B; top-5 regional players hold &lt;30% share; Lighthouse is #3 by terminals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Capital Structure</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13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Indicative Capital Structure &amp; Valuation</a:t>
            </a:r>
            <a:endParaRPr lang="en-US" sz="1600" dirty="0"/>
          </a:p>
        </p:txBody>
      </p:sp>
      <p:sp>
        <p:nvSpPr>
          <p:cNvPr id="10" name="Text 8"/>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($M unless otherwise noted)</a:t>
            </a:r>
            <a:endParaRPr lang="en-US" sz="950" dirty="0"/>
          </a:p>
        </p:txBody>
      </p:sp>
      <p:sp>
        <p:nvSpPr>
          <p:cNvPr id="11" name="Text 9"/>
          <p:cNvSpPr/>
          <p:nvPr/>
        </p:nvSpPr>
        <p:spPr>
          <a:xfrm>
            <a:off x="365760" y="1024128"/>
            <a:ext cx="4114800" cy="274320"/>
          </a:xfrm>
          <a:prstGeom prst="rect">
            <a:avLst/>
          </a:prstGeom>
          <a:noFill/>
          <a:ln/>
        </p:spPr>
        <p:txBody>
          <a:bodyPr wrap="square" lIns="0" tIns="0" rIns="0" bIns="0" rtlCol="0" anchor="ctr"/>
          <a:lstStyle/>
          <a:p>
            <a:pPr indent="0" marL="0">
              <a:buNone/>
            </a:pPr>
            <a:r>
              <a:rPr lang="en-US" sz="900" b="1" dirty="0">
                <a:solidFill>
                  <a:srgbClr val="1B2D55"/>
                </a:solidFill>
              </a:rPr>
              <a:t>Indicative Sources &amp; Uses</a:t>
            </a:r>
            <a:endParaRPr lang="en-US" sz="900" dirty="0"/>
          </a:p>
        </p:txBody>
      </p:sp>
      <p:sp>
        <p:nvSpPr>
          <p:cNvPr id="12" name="Shape 10"/>
          <p:cNvSpPr/>
          <p:nvPr/>
        </p:nvSpPr>
        <p:spPr>
          <a:xfrm>
            <a:off x="365760" y="1353312"/>
            <a:ext cx="4114800" cy="411480"/>
          </a:xfrm>
          <a:prstGeom prst="rect">
            <a:avLst/>
          </a:prstGeom>
          <a:solidFill>
            <a:srgbClr val="1B2D55"/>
          </a:solidFill>
          <a:ln w="12700">
            <a:solidFill>
              <a:srgbClr val="1B2D55"/>
            </a:solidFill>
            <a:prstDash val="solid"/>
          </a:ln>
        </p:spPr>
      </p:sp>
      <p:sp>
        <p:nvSpPr>
          <p:cNvPr id="13" name="Text 11"/>
          <p:cNvSpPr/>
          <p:nvPr/>
        </p:nvSpPr>
        <p:spPr>
          <a:xfrm>
            <a:off x="457200" y="1426464"/>
            <a:ext cx="2194560" cy="265176"/>
          </a:xfrm>
          <a:prstGeom prst="rect">
            <a:avLst/>
          </a:prstGeom>
          <a:noFill/>
          <a:ln/>
        </p:spPr>
        <p:txBody>
          <a:bodyPr wrap="square" lIns="0" tIns="0" rIns="0" bIns="0" rtlCol="0" anchor="ctr"/>
          <a:lstStyle/>
          <a:p>
            <a:pPr indent="0" marL="0">
              <a:buNone/>
            </a:pPr>
            <a:r>
              <a:rPr lang="en-US" sz="800" b="1" dirty="0">
                <a:solidFill>
                  <a:srgbClr val="FFFFFF"/>
                </a:solidFill>
              </a:rPr>
              <a:t>Sources</a:t>
            </a:r>
            <a:endParaRPr lang="en-US" sz="800" dirty="0"/>
          </a:p>
        </p:txBody>
      </p:sp>
      <p:sp>
        <p:nvSpPr>
          <p:cNvPr id="14" name="Text 12"/>
          <p:cNvSpPr/>
          <p:nvPr/>
        </p:nvSpPr>
        <p:spPr>
          <a:xfrm>
            <a:off x="2651760" y="1426464"/>
            <a:ext cx="914400" cy="265176"/>
          </a:xfrm>
          <a:prstGeom prst="rect">
            <a:avLst/>
          </a:prstGeom>
          <a:noFill/>
          <a:ln/>
        </p:spPr>
        <p:txBody>
          <a:bodyPr wrap="square" lIns="0" tIns="0" rIns="0" bIns="0" rtlCol="0" anchor="ctr"/>
          <a:lstStyle/>
          <a:p>
            <a:pPr algn="r" indent="0" marL="0">
              <a:buNone/>
            </a:pPr>
            <a:r>
              <a:rPr lang="en-US" sz="800" b="1" dirty="0">
                <a:solidFill>
                  <a:srgbClr val="FFFFFF"/>
                </a:solidFill>
              </a:rPr>
              <a:t>$M</a:t>
            </a:r>
            <a:endParaRPr lang="en-US" sz="800" dirty="0"/>
          </a:p>
        </p:txBody>
      </p:sp>
      <p:sp>
        <p:nvSpPr>
          <p:cNvPr id="15" name="Text 13"/>
          <p:cNvSpPr/>
          <p:nvPr/>
        </p:nvSpPr>
        <p:spPr>
          <a:xfrm>
            <a:off x="3566160" y="1426464"/>
            <a:ext cx="9144" cy="265176"/>
          </a:xfrm>
          <a:prstGeom prst="rect">
            <a:avLst/>
          </a:prstGeom>
          <a:noFill/>
          <a:ln/>
        </p:spPr>
        <p:txBody>
          <a:bodyPr wrap="square" lIns="0" tIns="0" rIns="0" bIns="0" rtlCol="0" anchor="ctr"/>
          <a:lstStyle/>
          <a:p>
            <a:pPr indent="0" marL="0">
              <a:buNone/>
            </a:pPr>
            <a:r>
              <a:rPr lang="en-US" sz="800" dirty="0">
                <a:solidFill>
                  <a:srgbClr val="FFFFFF"/>
                </a:solidFill>
              </a:rPr>
              <a:t>Uses</a:t>
            </a:r>
            <a:endParaRPr lang="en-US" sz="800" dirty="0"/>
          </a:p>
        </p:txBody>
      </p:sp>
      <p:sp>
        <p:nvSpPr>
          <p:cNvPr id="16" name="Shape 14"/>
          <p:cNvSpPr/>
          <p:nvPr/>
        </p:nvSpPr>
        <p:spPr>
          <a:xfrm>
            <a:off x="365760" y="1764792"/>
            <a:ext cx="4114800" cy="411480"/>
          </a:xfrm>
          <a:prstGeom prst="rect">
            <a:avLst/>
          </a:prstGeom>
          <a:solidFill>
            <a:srgbClr val="F4F6FA"/>
          </a:solidFill>
          <a:ln w="12700">
            <a:solidFill>
              <a:srgbClr val="D0D8E4"/>
            </a:solidFill>
            <a:prstDash val="solid"/>
          </a:ln>
        </p:spPr>
      </p:sp>
      <p:sp>
        <p:nvSpPr>
          <p:cNvPr id="17" name="Text 15"/>
          <p:cNvSpPr/>
          <p:nvPr/>
        </p:nvSpPr>
        <p:spPr>
          <a:xfrm>
            <a:off x="457200" y="1837944"/>
            <a:ext cx="2194560" cy="265176"/>
          </a:xfrm>
          <a:prstGeom prst="rect">
            <a:avLst/>
          </a:prstGeom>
          <a:noFill/>
          <a:ln/>
        </p:spPr>
        <p:txBody>
          <a:bodyPr wrap="square" lIns="0" tIns="0" rIns="0" bIns="0" rtlCol="0" anchor="ctr"/>
          <a:lstStyle/>
          <a:p>
            <a:pPr indent="0" marL="0">
              <a:buNone/>
            </a:pPr>
            <a:r>
              <a:rPr lang="en-US" sz="800" dirty="0">
                <a:solidFill>
                  <a:srgbClr val="1B2D55"/>
                </a:solidFill>
              </a:rPr>
              <a:t>New First Lien Term Loan</a:t>
            </a:r>
            <a:endParaRPr lang="en-US" sz="800" dirty="0"/>
          </a:p>
        </p:txBody>
      </p:sp>
      <p:sp>
        <p:nvSpPr>
          <p:cNvPr id="18" name="Text 16"/>
          <p:cNvSpPr/>
          <p:nvPr/>
        </p:nvSpPr>
        <p:spPr>
          <a:xfrm>
            <a:off x="2651760" y="1837944"/>
            <a:ext cx="914400" cy="265176"/>
          </a:xfrm>
          <a:prstGeom prst="rect">
            <a:avLst/>
          </a:prstGeom>
          <a:noFill/>
          <a:ln/>
        </p:spPr>
        <p:txBody>
          <a:bodyPr wrap="square" lIns="0" tIns="0" rIns="0" bIns="0" rtlCol="0" anchor="ctr"/>
          <a:lstStyle/>
          <a:p>
            <a:pPr algn="r" indent="0" marL="0">
              <a:buNone/>
            </a:pPr>
            <a:r>
              <a:rPr lang="en-US" sz="800" dirty="0">
                <a:solidFill>
                  <a:srgbClr val="1B2D55"/>
                </a:solidFill>
              </a:rPr>
              <a:t>175.0</a:t>
            </a:r>
            <a:endParaRPr lang="en-US" sz="800" dirty="0"/>
          </a:p>
        </p:txBody>
      </p:sp>
      <p:sp>
        <p:nvSpPr>
          <p:cNvPr id="19" name="Text 17"/>
          <p:cNvSpPr/>
          <p:nvPr/>
        </p:nvSpPr>
        <p:spPr>
          <a:xfrm>
            <a:off x="3566160" y="1837944"/>
            <a:ext cx="9144" cy="265176"/>
          </a:xfrm>
          <a:prstGeom prst="rect">
            <a:avLst/>
          </a:prstGeom>
          <a:noFill/>
          <a:ln/>
        </p:spPr>
        <p:txBody>
          <a:bodyPr wrap="square" lIns="0" tIns="0" rIns="0" bIns="0" rtlCol="0" anchor="ctr"/>
          <a:lstStyle/>
          <a:p>
            <a:pPr indent="0" marL="0">
              <a:buNone/>
            </a:pPr>
            <a:r>
              <a:rPr lang="en-US" sz="800" dirty="0">
                <a:solidFill>
                  <a:srgbClr val="1B2D55"/>
                </a:solidFill>
              </a:rPr>
              <a:t>Purchase Price (Equity)</a:t>
            </a:r>
            <a:endParaRPr lang="en-US" sz="800" dirty="0"/>
          </a:p>
        </p:txBody>
      </p:sp>
      <p:sp>
        <p:nvSpPr>
          <p:cNvPr id="20" name="Shape 18"/>
          <p:cNvSpPr/>
          <p:nvPr/>
        </p:nvSpPr>
        <p:spPr>
          <a:xfrm>
            <a:off x="365760" y="2176272"/>
            <a:ext cx="4114800" cy="411480"/>
          </a:xfrm>
          <a:prstGeom prst="rect">
            <a:avLst/>
          </a:prstGeom>
          <a:solidFill>
            <a:srgbClr val="FFFFFF"/>
          </a:solidFill>
          <a:ln w="12700">
            <a:solidFill>
              <a:srgbClr val="D0D8E4"/>
            </a:solidFill>
            <a:prstDash val="solid"/>
          </a:ln>
        </p:spPr>
      </p:sp>
      <p:sp>
        <p:nvSpPr>
          <p:cNvPr id="21" name="Text 19"/>
          <p:cNvSpPr/>
          <p:nvPr/>
        </p:nvSpPr>
        <p:spPr>
          <a:xfrm>
            <a:off x="457200" y="2249424"/>
            <a:ext cx="2194560" cy="265176"/>
          </a:xfrm>
          <a:prstGeom prst="rect">
            <a:avLst/>
          </a:prstGeom>
          <a:noFill/>
          <a:ln/>
        </p:spPr>
        <p:txBody>
          <a:bodyPr wrap="square" lIns="0" tIns="0" rIns="0" bIns="0" rtlCol="0" anchor="ctr"/>
          <a:lstStyle/>
          <a:p>
            <a:pPr indent="0" marL="0">
              <a:buNone/>
            </a:pPr>
            <a:r>
              <a:rPr lang="en-US" sz="800" dirty="0">
                <a:solidFill>
                  <a:srgbClr val="1B2D55"/>
                </a:solidFill>
              </a:rPr>
              <a:t>Sponsor Equity</a:t>
            </a:r>
            <a:endParaRPr lang="en-US" sz="800" dirty="0"/>
          </a:p>
        </p:txBody>
      </p:sp>
      <p:sp>
        <p:nvSpPr>
          <p:cNvPr id="22" name="Text 20"/>
          <p:cNvSpPr/>
          <p:nvPr/>
        </p:nvSpPr>
        <p:spPr>
          <a:xfrm>
            <a:off x="2651760" y="2249424"/>
            <a:ext cx="914400" cy="265176"/>
          </a:xfrm>
          <a:prstGeom prst="rect">
            <a:avLst/>
          </a:prstGeom>
          <a:noFill/>
          <a:ln/>
        </p:spPr>
        <p:txBody>
          <a:bodyPr wrap="square" lIns="0" tIns="0" rIns="0" bIns="0" rtlCol="0" anchor="ctr"/>
          <a:lstStyle/>
          <a:p>
            <a:pPr algn="r" indent="0" marL="0">
              <a:buNone/>
            </a:pPr>
            <a:r>
              <a:rPr lang="en-US" sz="800" dirty="0">
                <a:solidFill>
                  <a:srgbClr val="1B2D55"/>
                </a:solidFill>
              </a:rPr>
              <a:t>135.0</a:t>
            </a:r>
            <a:endParaRPr lang="en-US" sz="800" dirty="0"/>
          </a:p>
        </p:txBody>
      </p:sp>
      <p:sp>
        <p:nvSpPr>
          <p:cNvPr id="23" name="Text 21"/>
          <p:cNvSpPr/>
          <p:nvPr/>
        </p:nvSpPr>
        <p:spPr>
          <a:xfrm>
            <a:off x="3566160" y="2249424"/>
            <a:ext cx="9144" cy="265176"/>
          </a:xfrm>
          <a:prstGeom prst="rect">
            <a:avLst/>
          </a:prstGeom>
          <a:noFill/>
          <a:ln/>
        </p:spPr>
        <p:txBody>
          <a:bodyPr wrap="square" lIns="0" tIns="0" rIns="0" bIns="0" rtlCol="0" anchor="ctr"/>
          <a:lstStyle/>
          <a:p>
            <a:pPr indent="0" marL="0">
              <a:buNone/>
            </a:pPr>
            <a:r>
              <a:rPr lang="en-US" sz="800" dirty="0">
                <a:solidFill>
                  <a:srgbClr val="1B2D55"/>
                </a:solidFill>
              </a:rPr>
              <a:t>Refinance Existing Debt</a:t>
            </a:r>
            <a:endParaRPr lang="en-US" sz="800" dirty="0"/>
          </a:p>
        </p:txBody>
      </p:sp>
      <p:sp>
        <p:nvSpPr>
          <p:cNvPr id="24" name="Shape 22"/>
          <p:cNvSpPr/>
          <p:nvPr/>
        </p:nvSpPr>
        <p:spPr>
          <a:xfrm>
            <a:off x="365760" y="2587752"/>
            <a:ext cx="4114800" cy="411480"/>
          </a:xfrm>
          <a:prstGeom prst="rect">
            <a:avLst/>
          </a:prstGeom>
          <a:solidFill>
            <a:srgbClr val="F4F6FA"/>
          </a:solidFill>
          <a:ln w="12700">
            <a:solidFill>
              <a:srgbClr val="D0D8E4"/>
            </a:solidFill>
            <a:prstDash val="solid"/>
          </a:ln>
        </p:spPr>
      </p:sp>
      <p:sp>
        <p:nvSpPr>
          <p:cNvPr id="25" name="Text 23"/>
          <p:cNvSpPr/>
          <p:nvPr/>
        </p:nvSpPr>
        <p:spPr>
          <a:xfrm>
            <a:off x="457200" y="2660904"/>
            <a:ext cx="2194560" cy="265176"/>
          </a:xfrm>
          <a:prstGeom prst="rect">
            <a:avLst/>
          </a:prstGeom>
          <a:noFill/>
          <a:ln/>
        </p:spPr>
        <p:txBody>
          <a:bodyPr wrap="square" lIns="0" tIns="0" rIns="0" bIns="0" rtlCol="0" anchor="ctr"/>
          <a:lstStyle/>
          <a:p>
            <a:pPr indent="0" marL="0">
              <a:buNone/>
            </a:pPr>
            <a:r>
              <a:rPr lang="en-US" sz="800" dirty="0">
                <a:solidFill>
                  <a:srgbClr val="1B2D55"/>
                </a:solidFill>
              </a:rPr>
              <a:t>Mgmt Rollover</a:t>
            </a:r>
            <a:endParaRPr lang="en-US" sz="800" dirty="0"/>
          </a:p>
        </p:txBody>
      </p:sp>
      <p:sp>
        <p:nvSpPr>
          <p:cNvPr id="26" name="Text 24"/>
          <p:cNvSpPr/>
          <p:nvPr/>
        </p:nvSpPr>
        <p:spPr>
          <a:xfrm>
            <a:off x="2651760" y="2660904"/>
            <a:ext cx="914400" cy="265176"/>
          </a:xfrm>
          <a:prstGeom prst="rect">
            <a:avLst/>
          </a:prstGeom>
          <a:noFill/>
          <a:ln/>
        </p:spPr>
        <p:txBody>
          <a:bodyPr wrap="square" lIns="0" tIns="0" rIns="0" bIns="0" rtlCol="0" anchor="ctr"/>
          <a:lstStyle/>
          <a:p>
            <a:pPr algn="r" indent="0" marL="0">
              <a:buNone/>
            </a:pPr>
            <a:r>
              <a:rPr lang="en-US" sz="800" dirty="0">
                <a:solidFill>
                  <a:srgbClr val="1B2D55"/>
                </a:solidFill>
              </a:rPr>
              <a:t>12.5</a:t>
            </a:r>
            <a:endParaRPr lang="en-US" sz="800" dirty="0"/>
          </a:p>
        </p:txBody>
      </p:sp>
      <p:sp>
        <p:nvSpPr>
          <p:cNvPr id="27" name="Text 25"/>
          <p:cNvSpPr/>
          <p:nvPr/>
        </p:nvSpPr>
        <p:spPr>
          <a:xfrm>
            <a:off x="3566160" y="2660904"/>
            <a:ext cx="9144" cy="265176"/>
          </a:xfrm>
          <a:prstGeom prst="rect">
            <a:avLst/>
          </a:prstGeom>
          <a:noFill/>
          <a:ln/>
        </p:spPr>
        <p:txBody>
          <a:bodyPr wrap="square" lIns="0" tIns="0" rIns="0" bIns="0" rtlCol="0" anchor="ctr"/>
          <a:lstStyle/>
          <a:p>
            <a:pPr indent="0" marL="0">
              <a:buNone/>
            </a:pPr>
            <a:r>
              <a:rPr lang="en-US" sz="800" dirty="0">
                <a:solidFill>
                  <a:srgbClr val="1B2D55"/>
                </a:solidFill>
              </a:rPr>
              <a:t>Transaction Fees &amp; Expenses</a:t>
            </a:r>
            <a:endParaRPr lang="en-US" sz="800" dirty="0"/>
          </a:p>
        </p:txBody>
      </p:sp>
      <p:sp>
        <p:nvSpPr>
          <p:cNvPr id="28" name="Shape 26"/>
          <p:cNvSpPr/>
          <p:nvPr/>
        </p:nvSpPr>
        <p:spPr>
          <a:xfrm>
            <a:off x="365760" y="2999232"/>
            <a:ext cx="4114800" cy="411480"/>
          </a:xfrm>
          <a:prstGeom prst="rect">
            <a:avLst/>
          </a:prstGeom>
          <a:solidFill>
            <a:srgbClr val="E8EEF6"/>
          </a:solidFill>
          <a:ln w="12700">
            <a:solidFill>
              <a:srgbClr val="D0D8E4"/>
            </a:solidFill>
            <a:prstDash val="solid"/>
          </a:ln>
        </p:spPr>
      </p:sp>
      <p:sp>
        <p:nvSpPr>
          <p:cNvPr id="29" name="Text 27"/>
          <p:cNvSpPr/>
          <p:nvPr/>
        </p:nvSpPr>
        <p:spPr>
          <a:xfrm>
            <a:off x="457200" y="3072384"/>
            <a:ext cx="2194560" cy="265176"/>
          </a:xfrm>
          <a:prstGeom prst="rect">
            <a:avLst/>
          </a:prstGeom>
          <a:noFill/>
          <a:ln/>
        </p:spPr>
        <p:txBody>
          <a:bodyPr wrap="square" lIns="0" tIns="0" rIns="0" bIns="0" rtlCol="0" anchor="ctr"/>
          <a:lstStyle/>
          <a:p>
            <a:pPr indent="0" marL="0">
              <a:buNone/>
            </a:pPr>
            <a:r>
              <a:rPr lang="en-US" sz="800" b="1" dirty="0">
                <a:solidFill>
                  <a:srgbClr val="FFFFFF"/>
                </a:solidFill>
              </a:rPr>
              <a:t>Total Sources</a:t>
            </a:r>
            <a:endParaRPr lang="en-US" sz="800" dirty="0"/>
          </a:p>
        </p:txBody>
      </p:sp>
      <p:sp>
        <p:nvSpPr>
          <p:cNvPr id="30" name="Text 28"/>
          <p:cNvSpPr/>
          <p:nvPr/>
        </p:nvSpPr>
        <p:spPr>
          <a:xfrm>
            <a:off x="2651760" y="3072384"/>
            <a:ext cx="914400" cy="265176"/>
          </a:xfrm>
          <a:prstGeom prst="rect">
            <a:avLst/>
          </a:prstGeom>
          <a:noFill/>
          <a:ln/>
        </p:spPr>
        <p:txBody>
          <a:bodyPr wrap="square" lIns="0" tIns="0" rIns="0" bIns="0" rtlCol="0" anchor="ctr"/>
          <a:lstStyle/>
          <a:p>
            <a:pPr algn="r" indent="0" marL="0">
              <a:buNone/>
            </a:pPr>
            <a:r>
              <a:rPr lang="en-US" sz="800" b="1" dirty="0">
                <a:solidFill>
                  <a:srgbClr val="FFFFFF"/>
                </a:solidFill>
              </a:rPr>
              <a:t>322.5</a:t>
            </a:r>
            <a:endParaRPr lang="en-US" sz="800" dirty="0"/>
          </a:p>
        </p:txBody>
      </p:sp>
      <p:sp>
        <p:nvSpPr>
          <p:cNvPr id="31" name="Text 29"/>
          <p:cNvSpPr/>
          <p:nvPr/>
        </p:nvSpPr>
        <p:spPr>
          <a:xfrm>
            <a:off x="3566160" y="3072384"/>
            <a:ext cx="9144" cy="265176"/>
          </a:xfrm>
          <a:prstGeom prst="rect">
            <a:avLst/>
          </a:prstGeom>
          <a:noFill/>
          <a:ln/>
        </p:spPr>
        <p:txBody>
          <a:bodyPr wrap="square" lIns="0" tIns="0" rIns="0" bIns="0" rtlCol="0" anchor="ctr"/>
          <a:lstStyle/>
          <a:p>
            <a:pPr indent="0" marL="0">
              <a:buNone/>
            </a:pPr>
            <a:r>
              <a:rPr lang="en-US" sz="800" dirty="0">
                <a:solidFill>
                  <a:srgbClr val="FFFFFF"/>
                </a:solidFill>
              </a:rPr>
              <a:t>Total Uses</a:t>
            </a:r>
            <a:endParaRPr lang="en-US" sz="800" dirty="0"/>
          </a:p>
        </p:txBody>
      </p:sp>
      <p:sp>
        <p:nvSpPr>
          <p:cNvPr id="32" name="Text 30"/>
          <p:cNvSpPr/>
          <p:nvPr/>
        </p:nvSpPr>
        <p:spPr>
          <a:xfrm>
            <a:off x="4754880" y="1024128"/>
            <a:ext cx="4023360" cy="274320"/>
          </a:xfrm>
          <a:prstGeom prst="rect">
            <a:avLst/>
          </a:prstGeom>
          <a:noFill/>
          <a:ln/>
        </p:spPr>
        <p:txBody>
          <a:bodyPr wrap="square" lIns="0" tIns="0" rIns="0" bIns="0" rtlCol="0" anchor="ctr"/>
          <a:lstStyle/>
          <a:p>
            <a:pPr indent="0" marL="0">
              <a:buNone/>
            </a:pPr>
            <a:r>
              <a:rPr lang="en-US" sz="900" b="1" dirty="0">
                <a:solidFill>
                  <a:srgbClr val="1B2D55"/>
                </a:solidFill>
              </a:rPr>
              <a:t>Valuation Reference</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754880" y="1353312"/>
          <a:ext cx="4023360" cy="1920240"/>
        </p:xfrm>
        <a:graphic>
          <a:graphicData uri="http://schemas.openxmlformats.org/drawingml/2006/table">
            <a:tbl>
              <a:tblPr/>
              <a:tblGrid>
                <a:gridCol w="1341120"/>
                <a:gridCol w="1341120"/>
                <a:gridCol w="1341120"/>
              </a:tblGrid>
              <a:tr h="384048">
                <a:tc>
                  <a:txBody>
                    <a:bodyPr/>
                    <a:lstStyle/>
                    <a:p>
                      <a:pPr indent="0" marL="0">
                        <a:buNone/>
                      </a:pPr>
                      <a:r>
                        <a:rPr lang="en-US" sz="850" b="1" dirty="0">
                          <a:solidFill>
                            <a:srgbClr val="FFFFFF"/>
                          </a:solidFill>
                        </a:rPr>
                        <a:t>Metric</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850" b="1" dirty="0">
                          <a:solidFill>
                            <a:srgbClr val="FFFFFF"/>
                          </a:solidFill>
                        </a:rPr>
                        <a:t>Implied Multiple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indent="0" marL="0">
                        <a:buNone/>
                      </a:pPr>
                      <a:r>
                        <a:rPr lang="en-US" sz="850" b="1" dirty="0">
                          <a:solidFill>
                            <a:srgbClr val="FFFFFF"/>
                          </a:solidFill>
                        </a:rPr>
                        <a:t>Peer Range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84048">
                <a:tc>
                  <a:txBody>
                    <a:bodyPr/>
                    <a:lstStyle/>
                    <a:p>
                      <a:pPr indent="0" marL="0">
                        <a:buNone/>
                      </a:pPr>
                      <a:r>
                        <a:rPr lang="en-US" sz="850" dirty="0">
                          <a:solidFill>
                            <a:srgbClr val="1B2D55"/>
                          </a:solidFill>
                        </a:rPr>
                        <a:t>EV / LTM Revenue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850" b="1" dirty="0">
                          <a:solidFill>
                            <a:srgbClr val="1B2D55"/>
                          </a:solidFill>
                        </a:rPr>
                        <a:t>1.4x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850" dirty="0">
                          <a:solidFill>
                            <a:srgbClr val="4A5568"/>
                          </a:solidFill>
                        </a:rPr>
                        <a:t>1.2x – 1.8x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84048">
                <a:tc>
                  <a:txBody>
                    <a:bodyPr/>
                    <a:lstStyle/>
                    <a:p>
                      <a:pPr indent="0" marL="0">
                        <a:buNone/>
                      </a:pPr>
                      <a:r>
                        <a:rPr lang="en-US" sz="850" dirty="0">
                          <a:solidFill>
                            <a:srgbClr val="1B2D55"/>
                          </a:solidFill>
                        </a:rPr>
                        <a:t>EV / LTM EBITDA</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850" b="1" dirty="0">
                          <a:solidFill>
                            <a:srgbClr val="1B2D55"/>
                          </a:solidFill>
                        </a:rPr>
                        <a:t>9.2x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850" dirty="0">
                          <a:solidFill>
                            <a:srgbClr val="4A5568"/>
                          </a:solidFill>
                        </a:rPr>
                        <a:t>8.0x – 11.5x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84048">
                <a:tc>
                  <a:txBody>
                    <a:bodyPr/>
                    <a:lstStyle/>
                    <a:p>
                      <a:pPr indent="0" marL="0">
                        <a:buNone/>
                      </a:pPr>
                      <a:r>
                        <a:rPr lang="en-US" sz="850" dirty="0">
                          <a:solidFill>
                            <a:srgbClr val="1B2D55"/>
                          </a:solidFill>
                        </a:rPr>
                        <a:t>EV / 2024E EBITDA</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850" b="1" dirty="0">
                          <a:solidFill>
                            <a:srgbClr val="1B2D55"/>
                          </a:solidFill>
                        </a:rPr>
                        <a:t>8.3x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850" dirty="0">
                          <a:solidFill>
                            <a:srgbClr val="4A5568"/>
                          </a:solidFill>
                        </a:rPr>
                        <a:t>7.5x – 10.0x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84048">
                <a:tc>
                  <a:txBody>
                    <a:bodyPr/>
                    <a:lstStyle/>
                    <a:p>
                      <a:pPr indent="0" marL="0">
                        <a:buNone/>
                      </a:pPr>
                      <a:r>
                        <a:rPr lang="en-US" sz="850" dirty="0">
                          <a:solidFill>
                            <a:srgbClr val="1B2D55"/>
                          </a:solidFill>
                        </a:rPr>
                        <a:t>EV / 2024E Revenue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850" b="1" dirty="0">
                          <a:solidFill>
                            <a:srgbClr val="1B2D55"/>
                          </a:solidFill>
                        </a:rPr>
                        <a:t>1.3x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850" dirty="0">
                          <a:solidFill>
                            <a:srgbClr val="4A5568"/>
                          </a:solidFill>
                        </a:rPr>
                        <a:t>1.0x – 1.6x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William Blair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Transaction Overview</a:t>
            </a:r>
            <a:endParaRPr lang="en-US" sz="750" dirty="0"/>
          </a:p>
        </p:txBody>
      </p:sp>
      <p:sp>
        <p:nvSpPr>
          <p:cNvPr id="5" name="Shape 3"/>
          <p:cNvSpPr/>
          <p:nvPr/>
        </p:nvSpPr>
        <p:spPr>
          <a:xfrm>
            <a:off x="0" y="4892040"/>
            <a:ext cx="9144000" cy="251460"/>
          </a:xfrm>
          <a:prstGeom prst="rect">
            <a:avLst/>
          </a:prstGeom>
          <a:solidFill>
            <a:srgbClr val="F4F6FA"/>
          </a:solidFill>
          <a:ln w="12700">
            <a:solidFill>
              <a:srgbClr val="D0D8E4"/>
            </a:solidFill>
            <a:prstDash val="solid"/>
          </a:ln>
        </p:spPr>
      </p:sp>
      <p:sp>
        <p:nvSpPr>
          <p:cNvPr id="6" name="Text 4"/>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 name="Text 5"/>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14 / 14</a:t>
            </a:r>
            <a:endParaRPr lang="en-US" sz="650" dirty="0"/>
          </a:p>
        </p:txBody>
      </p:sp>
      <p:sp>
        <p:nvSpPr>
          <p:cNvPr id="8" name="Shape 6"/>
          <p:cNvSpPr/>
          <p:nvPr/>
        </p:nvSpPr>
        <p:spPr>
          <a:xfrm>
            <a:off x="457200" y="566928"/>
            <a:ext cx="54864" cy="384048"/>
          </a:xfrm>
          <a:prstGeom prst="rect">
            <a:avLst/>
          </a:prstGeom>
          <a:solidFill>
            <a:srgbClr val="C8A83C"/>
          </a:solidFill>
          <a:ln w="12700">
            <a:solidFill>
              <a:srgbClr val="C8A83C"/>
            </a:solidFill>
            <a:prstDash val="solid"/>
          </a:ln>
        </p:spPr>
      </p:sp>
      <p:sp>
        <p:nvSpPr>
          <p:cNvPr id="9" name="Text 7"/>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Transaction Process &amp; Advisor Contacts</a:t>
            </a:r>
            <a:endParaRPr lang="en-US" sz="1600" dirty="0"/>
          </a:p>
        </p:txBody>
      </p:sp>
      <p:sp>
        <p:nvSpPr>
          <p:cNvPr id="10" name="Text 8"/>
          <p:cNvSpPr/>
          <p:nvPr/>
        </p:nvSpPr>
        <p:spPr>
          <a:xfrm>
            <a:off x="457200" y="1005840"/>
            <a:ext cx="8229600" cy="256032"/>
          </a:xfrm>
          <a:prstGeom prst="rect">
            <a:avLst/>
          </a:prstGeom>
          <a:noFill/>
          <a:ln/>
        </p:spPr>
        <p:txBody>
          <a:bodyPr wrap="square" lIns="0" tIns="0" rIns="0" bIns="0" rtlCol="0" anchor="ctr"/>
          <a:lstStyle/>
          <a:p>
            <a:pPr indent="0" marL="0">
              <a:buNone/>
            </a:pPr>
            <a:r>
              <a:rPr lang="en-US" sz="900" b="1" dirty="0">
                <a:solidFill>
                  <a:srgbClr val="1B2D55"/>
                </a:solidFill>
              </a:rPr>
              <a:t>Process Timeline</a:t>
            </a:r>
            <a:endParaRPr lang="en-US" sz="900" dirty="0"/>
          </a:p>
        </p:txBody>
      </p:sp>
      <p:sp>
        <p:nvSpPr>
          <p:cNvPr id="11" name="Shape 9"/>
          <p:cNvSpPr/>
          <p:nvPr/>
        </p:nvSpPr>
        <p:spPr>
          <a:xfrm>
            <a:off x="457200" y="1316736"/>
            <a:ext cx="8229600" cy="530352"/>
          </a:xfrm>
          <a:prstGeom prst="rect">
            <a:avLst/>
          </a:prstGeom>
          <a:solidFill>
            <a:srgbClr val="FFFFFF"/>
          </a:solidFill>
          <a:ln w="12700">
            <a:solidFill>
              <a:srgbClr val="D0D8E4"/>
            </a:solidFill>
            <a:prstDash val="solid"/>
          </a:ln>
        </p:spPr>
      </p:sp>
      <p:sp>
        <p:nvSpPr>
          <p:cNvPr id="12" name="Shape 10"/>
          <p:cNvSpPr/>
          <p:nvPr/>
        </p:nvSpPr>
        <p:spPr>
          <a:xfrm>
            <a:off x="457200" y="1316736"/>
            <a:ext cx="54864" cy="530352"/>
          </a:xfrm>
          <a:prstGeom prst="rect">
            <a:avLst/>
          </a:prstGeom>
          <a:solidFill>
            <a:srgbClr val="C8A83C"/>
          </a:solidFill>
          <a:ln w="12700">
            <a:solidFill>
              <a:srgbClr val="C8A83C"/>
            </a:solidFill>
            <a:prstDash val="solid"/>
          </a:ln>
        </p:spPr>
      </p:sp>
      <p:sp>
        <p:nvSpPr>
          <p:cNvPr id="13" name="Text 11"/>
          <p:cNvSpPr/>
          <p:nvPr/>
        </p:nvSpPr>
        <p:spPr>
          <a:xfrm>
            <a:off x="621792" y="1389888"/>
            <a:ext cx="2926080" cy="201168"/>
          </a:xfrm>
          <a:prstGeom prst="rect">
            <a:avLst/>
          </a:prstGeom>
          <a:noFill/>
          <a:ln/>
        </p:spPr>
        <p:txBody>
          <a:bodyPr wrap="square" lIns="0" tIns="0" rIns="0" bIns="0" rtlCol="0" anchor="ctr"/>
          <a:lstStyle/>
          <a:p>
            <a:pPr indent="0" marL="0">
              <a:buNone/>
            </a:pPr>
            <a:r>
              <a:rPr lang="en-US" sz="850" b="1" dirty="0">
                <a:solidFill>
                  <a:srgbClr val="1B2D55"/>
                </a:solidFill>
              </a:rPr>
              <a:t>Phase I – Teaser / NDA</a:t>
            </a:r>
            <a:endParaRPr lang="en-US" sz="850" dirty="0"/>
          </a:p>
        </p:txBody>
      </p:sp>
      <p:sp>
        <p:nvSpPr>
          <p:cNvPr id="14" name="Text 12"/>
          <p:cNvSpPr/>
          <p:nvPr/>
        </p:nvSpPr>
        <p:spPr>
          <a:xfrm>
            <a:off x="3566160" y="1389888"/>
            <a:ext cx="1828800" cy="201168"/>
          </a:xfrm>
          <a:prstGeom prst="rect">
            <a:avLst/>
          </a:prstGeom>
          <a:noFill/>
          <a:ln/>
        </p:spPr>
        <p:txBody>
          <a:bodyPr wrap="square" lIns="0" tIns="0" rIns="0" bIns="0" rtlCol="0" anchor="ctr"/>
          <a:lstStyle/>
          <a:p>
            <a:pPr indent="0" marL="0">
              <a:buNone/>
            </a:pPr>
            <a:r>
              <a:rPr lang="en-US" sz="850" dirty="0">
                <a:solidFill>
                  <a:srgbClr val="2B5BAE"/>
                </a:solidFill>
              </a:rPr>
              <a:t>Aug – Sep 2023</a:t>
            </a:r>
            <a:endParaRPr lang="en-US" sz="850" dirty="0"/>
          </a:p>
        </p:txBody>
      </p:sp>
      <p:sp>
        <p:nvSpPr>
          <p:cNvPr id="15" name="Text 13"/>
          <p:cNvSpPr/>
          <p:nvPr/>
        </p:nvSpPr>
        <p:spPr>
          <a:xfrm>
            <a:off x="621792" y="1609344"/>
            <a:ext cx="7955280" cy="182880"/>
          </a:xfrm>
          <a:prstGeom prst="rect">
            <a:avLst/>
          </a:prstGeom>
          <a:noFill/>
          <a:ln/>
        </p:spPr>
        <p:txBody>
          <a:bodyPr wrap="square" lIns="0" tIns="0" rIns="0" bIns="0" rtlCol="0" anchor="ctr"/>
          <a:lstStyle/>
          <a:p>
            <a:pPr indent="0" marL="0">
              <a:buNone/>
            </a:pPr>
            <a:r>
              <a:rPr lang="en-US" sz="750" dirty="0">
                <a:solidFill>
                  <a:srgbClr val="4A5568"/>
                </a:solidFill>
              </a:rPr>
              <a:t>~28 parties contacted; 14 NDAs signed</a:t>
            </a:r>
            <a:endParaRPr lang="en-US" sz="750" dirty="0"/>
          </a:p>
        </p:txBody>
      </p:sp>
      <p:sp>
        <p:nvSpPr>
          <p:cNvPr id="16" name="Shape 14"/>
          <p:cNvSpPr/>
          <p:nvPr/>
        </p:nvSpPr>
        <p:spPr>
          <a:xfrm>
            <a:off x="457200" y="1883664"/>
            <a:ext cx="8229600" cy="530352"/>
          </a:xfrm>
          <a:prstGeom prst="rect">
            <a:avLst/>
          </a:prstGeom>
          <a:solidFill>
            <a:srgbClr val="F4F6FA"/>
          </a:solidFill>
          <a:ln w="12700">
            <a:solidFill>
              <a:srgbClr val="D0D8E4"/>
            </a:solidFill>
            <a:prstDash val="solid"/>
          </a:ln>
        </p:spPr>
      </p:sp>
      <p:sp>
        <p:nvSpPr>
          <p:cNvPr id="17" name="Shape 15"/>
          <p:cNvSpPr/>
          <p:nvPr/>
        </p:nvSpPr>
        <p:spPr>
          <a:xfrm>
            <a:off x="457200" y="1883664"/>
            <a:ext cx="54864" cy="530352"/>
          </a:xfrm>
          <a:prstGeom prst="rect">
            <a:avLst/>
          </a:prstGeom>
          <a:solidFill>
            <a:srgbClr val="C8A83C"/>
          </a:solidFill>
          <a:ln w="12700">
            <a:solidFill>
              <a:srgbClr val="C8A83C"/>
            </a:solidFill>
            <a:prstDash val="solid"/>
          </a:ln>
        </p:spPr>
      </p:sp>
      <p:sp>
        <p:nvSpPr>
          <p:cNvPr id="18" name="Text 16"/>
          <p:cNvSpPr/>
          <p:nvPr/>
        </p:nvSpPr>
        <p:spPr>
          <a:xfrm>
            <a:off x="621792" y="1956816"/>
            <a:ext cx="2926080" cy="201168"/>
          </a:xfrm>
          <a:prstGeom prst="rect">
            <a:avLst/>
          </a:prstGeom>
          <a:noFill/>
          <a:ln/>
        </p:spPr>
        <p:txBody>
          <a:bodyPr wrap="square" lIns="0" tIns="0" rIns="0" bIns="0" rtlCol="0" anchor="ctr"/>
          <a:lstStyle/>
          <a:p>
            <a:pPr indent="0" marL="0">
              <a:buNone/>
            </a:pPr>
            <a:r>
              <a:rPr lang="en-US" sz="850" b="1" dirty="0">
                <a:solidFill>
                  <a:srgbClr val="1B2D55"/>
                </a:solidFill>
              </a:rPr>
              <a:t>Phase II – Management Presentations</a:t>
            </a:r>
            <a:endParaRPr lang="en-US" sz="850" dirty="0"/>
          </a:p>
        </p:txBody>
      </p:sp>
      <p:sp>
        <p:nvSpPr>
          <p:cNvPr id="19" name="Text 17"/>
          <p:cNvSpPr/>
          <p:nvPr/>
        </p:nvSpPr>
        <p:spPr>
          <a:xfrm>
            <a:off x="3566160" y="1956816"/>
            <a:ext cx="1828800" cy="201168"/>
          </a:xfrm>
          <a:prstGeom prst="rect">
            <a:avLst/>
          </a:prstGeom>
          <a:noFill/>
          <a:ln/>
        </p:spPr>
        <p:txBody>
          <a:bodyPr wrap="square" lIns="0" tIns="0" rIns="0" bIns="0" rtlCol="0" anchor="ctr"/>
          <a:lstStyle/>
          <a:p>
            <a:pPr indent="0" marL="0">
              <a:buNone/>
            </a:pPr>
            <a:r>
              <a:rPr lang="en-US" sz="850" dirty="0">
                <a:solidFill>
                  <a:srgbClr val="2B5BAE"/>
                </a:solidFill>
              </a:rPr>
              <a:t>Oct – Nov 2023</a:t>
            </a:r>
            <a:endParaRPr lang="en-US" sz="850" dirty="0"/>
          </a:p>
        </p:txBody>
      </p:sp>
      <p:sp>
        <p:nvSpPr>
          <p:cNvPr id="20" name="Text 18"/>
          <p:cNvSpPr/>
          <p:nvPr/>
        </p:nvSpPr>
        <p:spPr>
          <a:xfrm>
            <a:off x="621792" y="2176272"/>
            <a:ext cx="7955280" cy="182880"/>
          </a:xfrm>
          <a:prstGeom prst="rect">
            <a:avLst/>
          </a:prstGeom>
          <a:noFill/>
          <a:ln/>
        </p:spPr>
        <p:txBody>
          <a:bodyPr wrap="square" lIns="0" tIns="0" rIns="0" bIns="0" rtlCol="0" anchor="ctr"/>
          <a:lstStyle/>
          <a:p>
            <a:pPr indent="0" marL="0">
              <a:buNone/>
            </a:pPr>
            <a:r>
              <a:rPr lang="en-US" sz="750" dirty="0">
                <a:solidFill>
                  <a:srgbClr val="4A5568"/>
                </a:solidFill>
              </a:rPr>
              <a:t>12 management presentations; 8 first-round bids</a:t>
            </a:r>
            <a:endParaRPr lang="en-US" sz="750" dirty="0"/>
          </a:p>
        </p:txBody>
      </p:sp>
      <p:sp>
        <p:nvSpPr>
          <p:cNvPr id="21" name="Shape 19"/>
          <p:cNvSpPr/>
          <p:nvPr/>
        </p:nvSpPr>
        <p:spPr>
          <a:xfrm>
            <a:off x="457200" y="2450592"/>
            <a:ext cx="8229600" cy="530352"/>
          </a:xfrm>
          <a:prstGeom prst="rect">
            <a:avLst/>
          </a:prstGeom>
          <a:solidFill>
            <a:srgbClr val="FFFFFF"/>
          </a:solidFill>
          <a:ln w="12700">
            <a:solidFill>
              <a:srgbClr val="D0D8E4"/>
            </a:solidFill>
            <a:prstDash val="solid"/>
          </a:ln>
        </p:spPr>
      </p:sp>
      <p:sp>
        <p:nvSpPr>
          <p:cNvPr id="22" name="Shape 20"/>
          <p:cNvSpPr/>
          <p:nvPr/>
        </p:nvSpPr>
        <p:spPr>
          <a:xfrm>
            <a:off x="457200" y="2450592"/>
            <a:ext cx="54864" cy="530352"/>
          </a:xfrm>
          <a:prstGeom prst="rect">
            <a:avLst/>
          </a:prstGeom>
          <a:solidFill>
            <a:srgbClr val="2B5BAE"/>
          </a:solidFill>
          <a:ln w="12700">
            <a:solidFill>
              <a:srgbClr val="2B5BAE"/>
            </a:solidFill>
            <a:prstDash val="solid"/>
          </a:ln>
        </p:spPr>
      </p:sp>
      <p:sp>
        <p:nvSpPr>
          <p:cNvPr id="23" name="Text 21"/>
          <p:cNvSpPr/>
          <p:nvPr/>
        </p:nvSpPr>
        <p:spPr>
          <a:xfrm>
            <a:off x="621792" y="2523744"/>
            <a:ext cx="2926080" cy="201168"/>
          </a:xfrm>
          <a:prstGeom prst="rect">
            <a:avLst/>
          </a:prstGeom>
          <a:noFill/>
          <a:ln/>
        </p:spPr>
        <p:txBody>
          <a:bodyPr wrap="square" lIns="0" tIns="0" rIns="0" bIns="0" rtlCol="0" anchor="ctr"/>
          <a:lstStyle/>
          <a:p>
            <a:pPr indent="0" marL="0">
              <a:buNone/>
            </a:pPr>
            <a:r>
              <a:rPr lang="en-US" sz="850" b="1" dirty="0">
                <a:solidFill>
                  <a:srgbClr val="1B2D55"/>
                </a:solidFill>
              </a:rPr>
              <a:t>Phase III – Final Bids / Diligence</a:t>
            </a:r>
            <a:endParaRPr lang="en-US" sz="850" dirty="0"/>
          </a:p>
        </p:txBody>
      </p:sp>
      <p:sp>
        <p:nvSpPr>
          <p:cNvPr id="24" name="Text 22"/>
          <p:cNvSpPr/>
          <p:nvPr/>
        </p:nvSpPr>
        <p:spPr>
          <a:xfrm>
            <a:off x="3566160" y="2523744"/>
            <a:ext cx="1828800" cy="201168"/>
          </a:xfrm>
          <a:prstGeom prst="rect">
            <a:avLst/>
          </a:prstGeom>
          <a:noFill/>
          <a:ln/>
        </p:spPr>
        <p:txBody>
          <a:bodyPr wrap="square" lIns="0" tIns="0" rIns="0" bIns="0" rtlCol="0" anchor="ctr"/>
          <a:lstStyle/>
          <a:p>
            <a:pPr indent="0" marL="0">
              <a:buNone/>
            </a:pPr>
            <a:r>
              <a:rPr lang="en-US" sz="850" dirty="0">
                <a:solidFill>
                  <a:srgbClr val="2B5BAE"/>
                </a:solidFill>
              </a:rPr>
              <a:t>Nov – Dec 2023</a:t>
            </a:r>
            <a:endParaRPr lang="en-US" sz="850" dirty="0"/>
          </a:p>
        </p:txBody>
      </p:sp>
      <p:sp>
        <p:nvSpPr>
          <p:cNvPr id="25" name="Text 23"/>
          <p:cNvSpPr/>
          <p:nvPr/>
        </p:nvSpPr>
        <p:spPr>
          <a:xfrm>
            <a:off x="621792" y="2743200"/>
            <a:ext cx="7955280" cy="182880"/>
          </a:xfrm>
          <a:prstGeom prst="rect">
            <a:avLst/>
          </a:prstGeom>
          <a:noFill/>
          <a:ln/>
        </p:spPr>
        <p:txBody>
          <a:bodyPr wrap="square" lIns="0" tIns="0" rIns="0" bIns="0" rtlCol="0" anchor="ctr"/>
          <a:lstStyle/>
          <a:p>
            <a:pPr indent="0" marL="0">
              <a:buNone/>
            </a:pPr>
            <a:r>
              <a:rPr lang="en-US" sz="750" dirty="0">
                <a:solidFill>
                  <a:srgbClr val="4A5568"/>
                </a:solidFill>
              </a:rPr>
              <a:t>4 final bids received; exclusivity granted to bidder</a:t>
            </a:r>
            <a:endParaRPr lang="en-US" sz="750" dirty="0"/>
          </a:p>
        </p:txBody>
      </p:sp>
      <p:sp>
        <p:nvSpPr>
          <p:cNvPr id="26" name="Shape 24"/>
          <p:cNvSpPr/>
          <p:nvPr/>
        </p:nvSpPr>
        <p:spPr>
          <a:xfrm>
            <a:off x="457200" y="3017520"/>
            <a:ext cx="8229600" cy="530352"/>
          </a:xfrm>
          <a:prstGeom prst="rect">
            <a:avLst/>
          </a:prstGeom>
          <a:solidFill>
            <a:srgbClr val="F4F6FA"/>
          </a:solidFill>
          <a:ln w="12700">
            <a:solidFill>
              <a:srgbClr val="D0D8E4"/>
            </a:solidFill>
            <a:prstDash val="solid"/>
          </a:ln>
        </p:spPr>
      </p:sp>
      <p:sp>
        <p:nvSpPr>
          <p:cNvPr id="27" name="Shape 25"/>
          <p:cNvSpPr/>
          <p:nvPr/>
        </p:nvSpPr>
        <p:spPr>
          <a:xfrm>
            <a:off x="457200" y="3017520"/>
            <a:ext cx="54864" cy="530352"/>
          </a:xfrm>
          <a:prstGeom prst="rect">
            <a:avLst/>
          </a:prstGeom>
          <a:solidFill>
            <a:srgbClr val="2B5BAE"/>
          </a:solidFill>
          <a:ln w="12700">
            <a:solidFill>
              <a:srgbClr val="2B5BAE"/>
            </a:solidFill>
            <a:prstDash val="solid"/>
          </a:ln>
        </p:spPr>
      </p:sp>
      <p:sp>
        <p:nvSpPr>
          <p:cNvPr id="28" name="Text 26"/>
          <p:cNvSpPr/>
          <p:nvPr/>
        </p:nvSpPr>
        <p:spPr>
          <a:xfrm>
            <a:off x="621792" y="3090672"/>
            <a:ext cx="2926080" cy="201168"/>
          </a:xfrm>
          <a:prstGeom prst="rect">
            <a:avLst/>
          </a:prstGeom>
          <a:noFill/>
          <a:ln/>
        </p:spPr>
        <p:txBody>
          <a:bodyPr wrap="square" lIns="0" tIns="0" rIns="0" bIns="0" rtlCol="0" anchor="ctr"/>
          <a:lstStyle/>
          <a:p>
            <a:pPr indent="0" marL="0">
              <a:buNone/>
            </a:pPr>
            <a:r>
              <a:rPr lang="en-US" sz="850" b="1" dirty="0">
                <a:solidFill>
                  <a:srgbClr val="1B2D55"/>
                </a:solidFill>
              </a:rPr>
              <a:t>Signing &amp; Closing</a:t>
            </a:r>
            <a:endParaRPr lang="en-US" sz="850" dirty="0"/>
          </a:p>
        </p:txBody>
      </p:sp>
      <p:sp>
        <p:nvSpPr>
          <p:cNvPr id="29" name="Text 27"/>
          <p:cNvSpPr/>
          <p:nvPr/>
        </p:nvSpPr>
        <p:spPr>
          <a:xfrm>
            <a:off x="3566160" y="3090672"/>
            <a:ext cx="1828800" cy="201168"/>
          </a:xfrm>
          <a:prstGeom prst="rect">
            <a:avLst/>
          </a:prstGeom>
          <a:noFill/>
          <a:ln/>
        </p:spPr>
        <p:txBody>
          <a:bodyPr wrap="square" lIns="0" tIns="0" rIns="0" bIns="0" rtlCol="0" anchor="ctr"/>
          <a:lstStyle/>
          <a:p>
            <a:pPr indent="0" marL="0">
              <a:buNone/>
            </a:pPr>
            <a:r>
              <a:rPr lang="en-US" sz="850" dirty="0">
                <a:solidFill>
                  <a:srgbClr val="2B5BAE"/>
                </a:solidFill>
              </a:rPr>
              <a:t>Q1 2024 (est.)</a:t>
            </a:r>
            <a:endParaRPr lang="en-US" sz="850" dirty="0"/>
          </a:p>
        </p:txBody>
      </p:sp>
      <p:sp>
        <p:nvSpPr>
          <p:cNvPr id="30" name="Text 28"/>
          <p:cNvSpPr/>
          <p:nvPr/>
        </p:nvSpPr>
        <p:spPr>
          <a:xfrm>
            <a:off x="621792" y="3310128"/>
            <a:ext cx="7955280" cy="182880"/>
          </a:xfrm>
          <a:prstGeom prst="rect">
            <a:avLst/>
          </a:prstGeom>
          <a:noFill/>
          <a:ln/>
        </p:spPr>
        <p:txBody>
          <a:bodyPr wrap="square" lIns="0" tIns="0" rIns="0" bIns="0" rtlCol="0" anchor="ctr"/>
          <a:lstStyle/>
          <a:p>
            <a:pPr indent="0" marL="0">
              <a:buNone/>
            </a:pPr>
            <a:r>
              <a:rPr lang="en-US" sz="750" dirty="0">
                <a:solidFill>
                  <a:srgbClr val="4A5568"/>
                </a:solidFill>
              </a:rPr>
              <a:t>Regulatory filings; HSR clearance expected</a:t>
            </a:r>
            <a:endParaRPr lang="en-US" sz="750" dirty="0"/>
          </a:p>
        </p:txBody>
      </p:sp>
      <p:sp>
        <p:nvSpPr>
          <p:cNvPr id="31" name="Shape 29"/>
          <p:cNvSpPr/>
          <p:nvPr/>
        </p:nvSpPr>
        <p:spPr>
          <a:xfrm>
            <a:off x="457200" y="3675888"/>
            <a:ext cx="8229600" cy="0"/>
          </a:xfrm>
          <a:prstGeom prst="line">
            <a:avLst/>
          </a:prstGeom>
          <a:noFill/>
          <a:ln w="9525">
            <a:solidFill>
              <a:srgbClr val="D0D8E4"/>
            </a:solidFill>
            <a:prstDash val="solid"/>
          </a:ln>
        </p:spPr>
      </p:sp>
      <p:sp>
        <p:nvSpPr>
          <p:cNvPr id="32" name="Text 30"/>
          <p:cNvSpPr/>
          <p:nvPr/>
        </p:nvSpPr>
        <p:spPr>
          <a:xfrm>
            <a:off x="457200" y="3730752"/>
            <a:ext cx="8229600" cy="256032"/>
          </a:xfrm>
          <a:prstGeom prst="rect">
            <a:avLst/>
          </a:prstGeom>
          <a:noFill/>
          <a:ln/>
        </p:spPr>
        <p:txBody>
          <a:bodyPr wrap="square" lIns="0" tIns="0" rIns="0" bIns="0" rtlCol="0" anchor="ctr"/>
          <a:lstStyle/>
          <a:p>
            <a:pPr indent="0" marL="0">
              <a:buNone/>
            </a:pPr>
            <a:r>
              <a:rPr lang="en-US" sz="900" b="1" dirty="0">
                <a:solidFill>
                  <a:srgbClr val="1B2D55"/>
                </a:solidFill>
              </a:rPr>
              <a:t>Advisor Contacts</a:t>
            </a:r>
            <a:endParaRPr lang="en-US" sz="900" dirty="0"/>
          </a:p>
        </p:txBody>
      </p:sp>
      <p:sp>
        <p:nvSpPr>
          <p:cNvPr id="33" name="Shape 31"/>
          <p:cNvSpPr/>
          <p:nvPr/>
        </p:nvSpPr>
        <p:spPr>
          <a:xfrm>
            <a:off x="457200" y="4005072"/>
            <a:ext cx="4023360" cy="914400"/>
          </a:xfrm>
          <a:prstGeom prst="rect">
            <a:avLst/>
          </a:prstGeom>
          <a:solidFill>
            <a:srgbClr val="F4F6FA"/>
          </a:solidFill>
          <a:ln w="12700">
            <a:solidFill>
              <a:srgbClr val="D0D8E4"/>
            </a:solidFill>
            <a:prstDash val="solid"/>
          </a:ln>
        </p:spPr>
      </p:sp>
      <p:sp>
        <p:nvSpPr>
          <p:cNvPr id="34" name="Shape 32"/>
          <p:cNvSpPr/>
          <p:nvPr/>
        </p:nvSpPr>
        <p:spPr>
          <a:xfrm>
            <a:off x="457200" y="4005072"/>
            <a:ext cx="54864" cy="914400"/>
          </a:xfrm>
          <a:prstGeom prst="rect">
            <a:avLst/>
          </a:prstGeom>
          <a:solidFill>
            <a:srgbClr val="2B5BAE"/>
          </a:solidFill>
          <a:ln w="12700">
            <a:solidFill>
              <a:srgbClr val="2B5BAE"/>
            </a:solidFill>
            <a:prstDash val="solid"/>
          </a:ln>
        </p:spPr>
      </p:sp>
      <p:sp>
        <p:nvSpPr>
          <p:cNvPr id="35" name="Text 33"/>
          <p:cNvSpPr/>
          <p:nvPr/>
        </p:nvSpPr>
        <p:spPr>
          <a:xfrm>
            <a:off x="594360" y="4059936"/>
            <a:ext cx="3749040" cy="256032"/>
          </a:xfrm>
          <a:prstGeom prst="rect">
            <a:avLst/>
          </a:prstGeom>
          <a:noFill/>
          <a:ln/>
        </p:spPr>
        <p:txBody>
          <a:bodyPr wrap="square" lIns="0" tIns="0" rIns="0" bIns="0" rtlCol="0" anchor="ctr"/>
          <a:lstStyle/>
          <a:p>
            <a:pPr indent="0" marL="0">
              <a:buNone/>
            </a:pPr>
            <a:r>
              <a:rPr lang="en-US" sz="950" b="1" dirty="0">
                <a:solidFill>
                  <a:srgbClr val="1B2D55"/>
                </a:solidFill>
              </a:rPr>
              <a:t>James Carrington</a:t>
            </a:r>
            <a:endParaRPr lang="en-US" sz="950" dirty="0"/>
          </a:p>
        </p:txBody>
      </p:sp>
      <p:sp>
        <p:nvSpPr>
          <p:cNvPr id="36" name="Text 34"/>
          <p:cNvSpPr/>
          <p:nvPr/>
        </p:nvSpPr>
        <p:spPr>
          <a:xfrm>
            <a:off x="594360" y="4315968"/>
            <a:ext cx="3749040" cy="201168"/>
          </a:xfrm>
          <a:prstGeom prst="rect">
            <a:avLst/>
          </a:prstGeom>
          <a:noFill/>
          <a:ln/>
        </p:spPr>
        <p:txBody>
          <a:bodyPr wrap="square" lIns="0" tIns="0" rIns="0" bIns="0" rtlCol="0" anchor="ctr"/>
          <a:lstStyle/>
          <a:p>
            <a:pPr indent="0" marL="0">
              <a:buNone/>
            </a:pPr>
            <a:r>
              <a:rPr lang="en-US" sz="750" dirty="0">
                <a:solidFill>
                  <a:srgbClr val="4A5568"/>
                </a:solidFill>
              </a:rPr>
              <a:t>Managing Director | William Blair &amp; Company</a:t>
            </a:r>
            <a:endParaRPr lang="en-US" sz="750" dirty="0"/>
          </a:p>
        </p:txBody>
      </p:sp>
      <p:sp>
        <p:nvSpPr>
          <p:cNvPr id="37" name="Text 35"/>
          <p:cNvSpPr/>
          <p:nvPr/>
        </p:nvSpPr>
        <p:spPr>
          <a:xfrm>
            <a:off x="594360" y="4498848"/>
            <a:ext cx="3749040" cy="201168"/>
          </a:xfrm>
          <a:prstGeom prst="rect">
            <a:avLst/>
          </a:prstGeom>
          <a:noFill/>
          <a:ln/>
        </p:spPr>
        <p:txBody>
          <a:bodyPr wrap="square" lIns="0" tIns="0" rIns="0" bIns="0" rtlCol="0" anchor="ctr"/>
          <a:lstStyle/>
          <a:p>
            <a:pPr indent="0" marL="0">
              <a:buNone/>
            </a:pPr>
            <a:r>
              <a:rPr lang="en-US" sz="750" dirty="0">
                <a:solidFill>
                  <a:srgbClr val="2B5BAE"/>
                </a:solidFill>
              </a:rPr>
              <a:t>jcarrington@williamblair.com  ·  (312) 555-4801</a:t>
            </a:r>
            <a:endParaRPr lang="en-US" sz="750" dirty="0"/>
          </a:p>
        </p:txBody>
      </p:sp>
      <p:sp>
        <p:nvSpPr>
          <p:cNvPr id="38" name="Shape 36"/>
          <p:cNvSpPr/>
          <p:nvPr/>
        </p:nvSpPr>
        <p:spPr>
          <a:xfrm>
            <a:off x="4754880" y="4005072"/>
            <a:ext cx="4023360" cy="914400"/>
          </a:xfrm>
          <a:prstGeom prst="rect">
            <a:avLst/>
          </a:prstGeom>
          <a:solidFill>
            <a:srgbClr val="F4F6FA"/>
          </a:solidFill>
          <a:ln w="12700">
            <a:solidFill>
              <a:srgbClr val="D0D8E4"/>
            </a:solidFill>
            <a:prstDash val="solid"/>
          </a:ln>
        </p:spPr>
      </p:sp>
      <p:sp>
        <p:nvSpPr>
          <p:cNvPr id="39" name="Shape 37"/>
          <p:cNvSpPr/>
          <p:nvPr/>
        </p:nvSpPr>
        <p:spPr>
          <a:xfrm>
            <a:off x="4754880" y="4005072"/>
            <a:ext cx="54864" cy="914400"/>
          </a:xfrm>
          <a:prstGeom prst="rect">
            <a:avLst/>
          </a:prstGeom>
          <a:solidFill>
            <a:srgbClr val="2B5BAE"/>
          </a:solidFill>
          <a:ln w="12700">
            <a:solidFill>
              <a:srgbClr val="2B5BAE"/>
            </a:solidFill>
            <a:prstDash val="solid"/>
          </a:ln>
        </p:spPr>
      </p:sp>
      <p:sp>
        <p:nvSpPr>
          <p:cNvPr id="40" name="Text 38"/>
          <p:cNvSpPr/>
          <p:nvPr/>
        </p:nvSpPr>
        <p:spPr>
          <a:xfrm>
            <a:off x="4892040" y="4059936"/>
            <a:ext cx="3749040" cy="256032"/>
          </a:xfrm>
          <a:prstGeom prst="rect">
            <a:avLst/>
          </a:prstGeom>
          <a:noFill/>
          <a:ln/>
        </p:spPr>
        <p:txBody>
          <a:bodyPr wrap="square" lIns="0" tIns="0" rIns="0" bIns="0" rtlCol="0" anchor="ctr"/>
          <a:lstStyle/>
          <a:p>
            <a:pPr indent="0" marL="0">
              <a:buNone/>
            </a:pPr>
            <a:r>
              <a:rPr lang="en-US" sz="950" b="1" dirty="0">
                <a:solidFill>
                  <a:srgbClr val="1B2D55"/>
                </a:solidFill>
              </a:rPr>
              <a:t>Natasha Kim</a:t>
            </a:r>
            <a:endParaRPr lang="en-US" sz="950" dirty="0"/>
          </a:p>
        </p:txBody>
      </p:sp>
      <p:sp>
        <p:nvSpPr>
          <p:cNvPr id="41" name="Text 39"/>
          <p:cNvSpPr/>
          <p:nvPr/>
        </p:nvSpPr>
        <p:spPr>
          <a:xfrm>
            <a:off x="4892040" y="4315968"/>
            <a:ext cx="3749040" cy="201168"/>
          </a:xfrm>
          <a:prstGeom prst="rect">
            <a:avLst/>
          </a:prstGeom>
          <a:noFill/>
          <a:ln/>
        </p:spPr>
        <p:txBody>
          <a:bodyPr wrap="square" lIns="0" tIns="0" rIns="0" bIns="0" rtlCol="0" anchor="ctr"/>
          <a:lstStyle/>
          <a:p>
            <a:pPr indent="0" marL="0">
              <a:buNone/>
            </a:pPr>
            <a:r>
              <a:rPr lang="en-US" sz="750" dirty="0">
                <a:solidFill>
                  <a:srgbClr val="4A5568"/>
                </a:solidFill>
              </a:rPr>
              <a:t>Vice President | William Blair &amp; Company</a:t>
            </a:r>
            <a:endParaRPr lang="en-US" sz="750" dirty="0"/>
          </a:p>
        </p:txBody>
      </p:sp>
      <p:sp>
        <p:nvSpPr>
          <p:cNvPr id="42" name="Text 40"/>
          <p:cNvSpPr/>
          <p:nvPr/>
        </p:nvSpPr>
        <p:spPr>
          <a:xfrm>
            <a:off x="4892040" y="4498848"/>
            <a:ext cx="3749040" cy="201168"/>
          </a:xfrm>
          <a:prstGeom prst="rect">
            <a:avLst/>
          </a:prstGeom>
          <a:noFill/>
          <a:ln/>
        </p:spPr>
        <p:txBody>
          <a:bodyPr wrap="square" lIns="0" tIns="0" rIns="0" bIns="0" rtlCol="0" anchor="ctr"/>
          <a:lstStyle/>
          <a:p>
            <a:pPr indent="0" marL="0">
              <a:buNone/>
            </a:pPr>
            <a:r>
              <a:rPr lang="en-US" sz="750" dirty="0">
                <a:solidFill>
                  <a:srgbClr val="2B5BAE"/>
                </a:solidFill>
              </a:rPr>
              <a:t>nkim@williamblair.com  ·  (312) 555-4802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2026-05-12T00:27:11Z</dcterms:created>
  <dcterms:modified xsi:type="dcterms:W3CDTF">2026-05-12T00:27:11Z</dcterms:modified>
</cp:coreProperties>
</file>