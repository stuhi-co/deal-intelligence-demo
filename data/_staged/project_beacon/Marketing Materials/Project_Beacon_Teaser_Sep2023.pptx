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38144"/>
            <a:ext cx="9144000" cy="6400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PROJECT BEACON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D0"/>
                </a:solidFill>
              </a:rPr>
              <a:t>Executive Summary Teaser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200400" cy="0"/>
          </a:xfrm>
          <a:prstGeom prst="line">
            <a:avLst/>
          </a:prstGeom>
          <a:noFill/>
          <a:ln w="19050">
            <a:solidFill>
              <a:srgbClr val="C8A8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Lighthouse Logistics Group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Transportation &amp; Logistics | Regional LTL &amp; Final-Mile Freight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0"/>
                </a:solidFill>
              </a:rPr>
              <a:t>William Blair | September 2023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A83C"/>
                </a:solidFill>
              </a:rPr>
              <a:t>STRICTLY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This teaser is being distributed on a confidential basis to a select group of potential acquirers. Receipt of this document constitutes acceptance of the confidentiality obligations set forth herein. This document is not an offer to sell or a solicitation of an offer to buy any securities.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William Blair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Investment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Key Financial &amp; Operating Metrics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1508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" y="17099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$218M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" y="20391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08960" y="141732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18688" y="1508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18688" y="17099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$33.7M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18688" y="20391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852160" y="141732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61888" y="1508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61888" y="17099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+17%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61888" y="20391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4871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25786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14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5488" y="31089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Regional Terminals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08960" y="24871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18688" y="25786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18688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97.4%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18688" y="31089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On-Time Delivery Rate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852160" y="24871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61888" y="25786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61888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15.5%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61888" y="31089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EBITDA Margin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Transaction Highlights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Ask: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~$310M (9.2x LTM Adj. EBITDA)</a:t>
            </a:r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</a:rPr>
              <a:t>  |  </a:t>
            </a:r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Banker: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William Blair</a:t>
            </a:r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</a:rPr>
              <a:t>  |  </a:t>
            </a:r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Process: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September 2023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Lighthouse Logistics Group ("Lighthouse" or the "Company") is a technology-enabled regional less-than-truckload (LTL) and final-mile delivery provider operating across the Southeast and Mid-Atlantic United States. Founded in 2004, Lighthouse has grown to operate 14 regional terminals, a fleet of 680 owned and leased vehicles, and a proprietary route optimization platform ("BeaconOS") that drives industry-leading on-t…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William Blair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Company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Lighthouse Logistics Group — Business Description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3749040" cy="3767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At a Glance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444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Founded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1168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2004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HQ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1168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Charlotte, NC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304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Employees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2304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~1,450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734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Fleet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27340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680 owned/leased vehicles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163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Terminals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11680" y="31638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14 across SE/Mid-Atlantic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593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Top Client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35935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&lt;8% of revenue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0" y="1078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Business Description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14630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Lighthouse Logistics Group ("Lighthouse" or the "Company") is a technology-enabled regional less-than-truckload (LTL) and final-mile delivery provider operating across the Southeast and Mid-Atlantic United States. Founded in 2004, Lighthouse has grown to operate 14 regional terminals, a fleet of 680 owned and leased vehicles, and a proprietary route optimization platform ("BeaconOS") that drives industry-leading on-time delivery rates of 97.4%. The Company primarily serves mid-market shippers across industrial distribution, retail, and healthcare verticals, with a growing e-commerce fulfillment practice that now represents 28% of revenue.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89120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Investment Thesis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0" y="4407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Leading regional LTL platform with proprietary technology moat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William Blair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Key 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Key Investment Highlights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51560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" y="1371600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Leading regional LTL platform with proprietary technology moat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178308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BeaconOS route optimization reduces cost-per-stop by 14% vs. manual dispatch; 97.4% OTD rate — top decile for regional LTL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51560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74336" y="1371600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High-growth e-commerce and final-mile practice accelerating mix shift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74336" y="178308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Final-mile e-commerce segment grew 41% YoY; now 28% of revenue, targeted at 40%+ by 2026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33472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" y="2953512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Highly fragmented regional LTL market ripe for consolidation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" y="3364992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Southeast LTL market estimated at $8.4B; top-5 regional players hold &lt;30% share; Lighthouse is #3 by terminals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46320" y="2633472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633472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74336" y="2953512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Resilient, diversified revenue with strong free cash flow conversion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74336" y="3364992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Healthcare vertical (19% of revenue) provides counter-cyclical stability; 3-year CAGR of 24% in healthcare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William Blair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Transaction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Transaction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Process Structure &amp; Advisor Contacts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Transaction Parameters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Ask Enterprise Value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23160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~$310M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728216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Valuation Multiple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23160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9.2x LTM Adj. EBITDA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039112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LTM Revenue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23160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$218M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350008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LTM Adj. EBITDA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23160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$33.7M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660904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06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EBITDA Margin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23160" y="2706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15.5%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971800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Revenue Growth (YoY)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2316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+17%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282696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Headquarters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23160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Charlotte, NC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593592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Banker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2316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William Blair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904488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950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Process Date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23160" y="3950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September 2023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Advisor Contacts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1417320"/>
            <a:ext cx="36576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1417320"/>
            <a:ext cx="54864" cy="114300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1527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James Carrington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1819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Managing Director — William Blair &amp; Company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66360" y="20391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jcarrington@williamblair.com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66360" y="2240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(312) 555-4801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2697480"/>
            <a:ext cx="36576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0" y="2697480"/>
            <a:ext cx="54864" cy="114300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2807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Natasha Kim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66360" y="3099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Vice President — William Blair &amp; Company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66360" y="33192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nkim@williamblair.com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66360" y="3520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(312) 555-4802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2026-05-12T00:27:11Z</dcterms:created>
  <dcterms:modified xsi:type="dcterms:W3CDTF">2026-05-12T00:27:11Z</dcterms:modified>
</cp:coreProperties>
</file>