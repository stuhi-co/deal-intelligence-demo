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850" b="0" i="0" u="none" strike="noStrike">
                <a:solidFill>
                  <a:srgbClr val="1B2D55"/>
                </a:solidFill>
                <a:latin typeface="Arial"/>
              </a:defRPr>
            </a:pPr>
            <a:r>
              <a:rPr sz="850" b="0" i="0" u="none" strike="noStrike">
                <a:solidFill>
                  <a:srgbClr val="1B2D55"/>
                </a:solidFill>
                <a:latin typeface="Arial"/>
              </a:rPr>
              <a:t>Revenue Mix ($M) — Hardware vs. Subscription</a:t>
            </a:r>
          </a:p>
        </c:rich>
      </c:tx>
      <c:layout/>
      <c:overlay val="0"/>
    </c:title>
    <c:autoTitleDeleted val="0"/>
    <c:plotArea>
      <c:layout/>
      <c:barChart>
        <c:barDir val="col"/>
        <c:grouping val="stacked"/>
        <c:varyColors val="0"/>
        <c:ser>
          <c:idx val="0"/>
          <c:order val="0"/>
          <c:tx>
            <c:strRef>
              <c:f>Sheet1!$B$1</c:f>
              <c:strCache>
                <c:ptCount val="1"/>
                <c:pt idx="0">
                  <c:v>Hardware Rev.</c:v>
                </c:pt>
              </c:strCache>
            </c:strRef>
          </c:tx>
          <c:spPr>
            <a:solidFill>
              <a:srgbClr val="2B5BAE"/>
            </a:solidFill>
            <a:effectLst/>
          </c:spPr>
          <c:invertIfNegative val="0"/>
          <c:dLbls>
            <c:numFmt formatCode="#,##0" sourceLinked="0"/>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FY2019</c:v>
                  </c:pt>
                  <c:pt idx="1">
                    <c:v>FY2020</c:v>
                  </c:pt>
                  <c:pt idx="2">
                    <c:v>FY2021</c:v>
                  </c:pt>
                  <c:pt idx="3">
                    <c:v>LTM Q1'22</c:v>
                  </c:pt>
                </c:lvl>
              </c:multiLvlStrCache>
            </c:multiLvlStrRef>
          </c:cat>
          <c:val>
            <c:numRef>
              <c:f>Sheet1!$B$2:$B$5</c:f>
              <c:numCache>
                <c:formatCode>General</c:formatCode>
                <c:ptCount val="4"/>
                <c:pt idx="0">
                  <c:v>65</c:v>
                </c:pt>
                <c:pt idx="1">
                  <c:v>76</c:v>
                </c:pt>
                <c:pt idx="2">
                  <c:v>90</c:v>
                </c:pt>
                <c:pt idx="3">
                  <c:v>116</c:v>
                </c:pt>
              </c:numCache>
            </c:numRef>
          </c:val>
        </c:ser>
        <c:ser>
          <c:idx val="1"/>
          <c:order val="1"/>
          <c:tx>
            <c:strRef>
              <c:f>Sheet1!$C$1</c:f>
              <c:strCache>
                <c:ptCount val="1"/>
                <c:pt idx="0">
                  <c:v>Subscription Rev.</c:v>
                </c:pt>
              </c:strCache>
            </c:strRef>
          </c:tx>
          <c:spPr>
            <a:solidFill>
              <a:srgbClr val="C8A83C"/>
            </a:solidFill>
            <a:effectLst/>
          </c:spPr>
          <c:invertIfNegative val="0"/>
          <c:dLbls>
            <c:numFmt formatCode="#,##0" sourceLinked="0"/>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FY2019</c:v>
                  </c:pt>
                  <c:pt idx="1">
                    <c:v>FY2020</c:v>
                  </c:pt>
                  <c:pt idx="2">
                    <c:v>FY2021</c:v>
                  </c:pt>
                  <c:pt idx="3">
                    <c:v>LTM Q1'22</c:v>
                  </c:pt>
                </c:lvl>
              </c:multiLvlStrCache>
            </c:multiLvlStrRef>
          </c:cat>
          <c:val>
            <c:numRef>
              <c:f>Sheet1!$C$2:$C$5</c:f>
              <c:numCache>
                <c:formatCode>General</c:formatCode>
                <c:ptCount val="4"/>
                <c:pt idx="0">
                  <c:v>7</c:v>
                </c:pt>
                <c:pt idx="1">
                  <c:v>15</c:v>
                </c:pt>
                <c:pt idx="2">
                  <c:v>25</c:v>
                </c:pt>
                <c:pt idx="3">
                  <c:v>29</c:v>
                </c:pt>
              </c:numCache>
            </c:numRef>
          </c:val>
        </c:ser>
        <c:dLbls>
          <c:numFmt formatCode="#,##0" sourceLinked="0"/>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898A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4EA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8A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Revenue ($M)</c:v>
                </c:pt>
              </c:strCache>
            </c:strRef>
          </c:tx>
          <c:spPr>
            <a:solidFill>
              <a:srgbClr val="2B5BAE"/>
            </a:solidFill>
            <a:ln w="31750" cap="flat">
              <a:solidFill>
                <a:srgbClr val="2B5BA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B5BAE"/>
              </a:solidFill>
              <a:ln w="9525" cap="flat">
                <a:solidFill>
                  <a:srgbClr val="2B5BAE"/>
                </a:solidFill>
                <a:prstDash val="solid"/>
                <a:round/>
              </a:ln>
              <a:effectLst/>
            </c:spPr>
          </c:marker>
          <c:cat>
            <c:multiLvlStrRef>
              <c:f>Sheet1!$A$2:$A$6</c:f>
              <c:multiLvlStrCache>
                <c:ptCount val="5"/>
                <c:lvl>
                  <c:pt idx="0">
                    <c:v>FY2022E</c:v>
                  </c:pt>
                  <c:pt idx="1">
                    <c:v>FY2023E</c:v>
                  </c:pt>
                  <c:pt idx="2">
                    <c:v>FY2024E</c:v>
                  </c:pt>
                  <c:pt idx="3">
                    <c:v>FY2025E</c:v>
                  </c:pt>
                  <c:pt idx="4">
                    <c:v>FY2026E</c:v>
                  </c:pt>
                </c:lvl>
              </c:multiLvlStrCache>
            </c:multiLvlStrRef>
          </c:cat>
          <c:val>
            <c:numRef>
              <c:f>Sheet1!$B$2:$B$6</c:f>
              <c:numCache>
                <c:formatCode>General</c:formatCode>
                <c:ptCount val="5"/>
                <c:pt idx="0">
                  <c:v>175</c:v>
                </c:pt>
                <c:pt idx="1">
                  <c:v>213</c:v>
                </c:pt>
                <c:pt idx="2">
                  <c:v>253</c:v>
                </c:pt>
                <c:pt idx="3">
                  <c:v>295</c:v>
                </c:pt>
                <c:pt idx="4">
                  <c:v>340</c:v>
                </c:pt>
              </c:numCache>
            </c:numRef>
          </c:val>
          <c:smooth val="1"/>
        </c:ser>
        <c:ser>
          <c:idx val="1"/>
          <c:order val="1"/>
          <c:tx>
            <c:strRef>
              <c:f>Sheet1!$C$1</c:f>
              <c:strCache>
                <c:ptCount val="1"/>
                <c:pt idx="0">
                  <c:v>Adj. EBITDA ($M)</c:v>
                </c:pt>
              </c:strCache>
            </c:strRef>
          </c:tx>
          <c:spPr>
            <a:solidFill>
              <a:srgbClr val="C8A83C"/>
            </a:solidFill>
            <a:ln w="31750" cap="flat">
              <a:solidFill>
                <a:srgbClr val="C8A83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8A83C"/>
              </a:solidFill>
              <a:ln w="9525" cap="flat">
                <a:solidFill>
                  <a:srgbClr val="C8A83C"/>
                </a:solidFill>
                <a:prstDash val="solid"/>
                <a:round/>
              </a:ln>
              <a:effectLst/>
            </c:spPr>
          </c:marker>
          <c:cat>
            <c:multiLvlStrRef>
              <c:f>Sheet1!$A$2:$A$6</c:f>
              <c:multiLvlStrCache>
                <c:ptCount val="5"/>
                <c:lvl>
                  <c:pt idx="0">
                    <c:v>FY2022E</c:v>
                  </c:pt>
                  <c:pt idx="1">
                    <c:v>FY2023E</c:v>
                  </c:pt>
                  <c:pt idx="2">
                    <c:v>FY2024E</c:v>
                  </c:pt>
                  <c:pt idx="3">
                    <c:v>FY2025E</c:v>
                  </c:pt>
                  <c:pt idx="4">
                    <c:v>FY2026E</c:v>
                  </c:pt>
                </c:lvl>
              </c:multiLvlStrCache>
            </c:multiLvlStrRef>
          </c:cat>
          <c:val>
            <c:numRef>
              <c:f>Sheet1!$C$2:$C$6</c:f>
              <c:numCache>
                <c:formatCode>General</c:formatCode>
                <c:ptCount val="5"/>
                <c:pt idx="0">
                  <c:v>22.5</c:v>
                </c:pt>
                <c:pt idx="1">
                  <c:v>32</c:v>
                </c:pt>
                <c:pt idx="2">
                  <c:v>43</c:v>
                </c:pt>
                <c:pt idx="3">
                  <c:v>57</c:v>
                </c:pt>
                <c:pt idx="4">
                  <c:v>74</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898A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4EA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8AA"/>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7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D55"/>
          </a:solidFill>
          <a:ln w="12700">
            <a:solidFill>
              <a:srgbClr val="1B2D55"/>
            </a:solidFill>
            <a:prstDash val="solid"/>
          </a:ln>
        </p:spPr>
      </p:sp>
      <p:sp>
        <p:nvSpPr>
          <p:cNvPr id="3" name="Shape 1"/>
          <p:cNvSpPr/>
          <p:nvPr/>
        </p:nvSpPr>
        <p:spPr>
          <a:xfrm>
            <a:off x="0" y="0"/>
            <a:ext cx="73152" cy="5143500"/>
          </a:xfrm>
          <a:prstGeom prst="rect">
            <a:avLst/>
          </a:prstGeom>
          <a:solidFill>
            <a:srgbClr val="C8A83C"/>
          </a:solidFill>
          <a:ln w="12700">
            <a:solidFill>
              <a:srgbClr val="C8A83C"/>
            </a:solidFill>
            <a:prstDash val="solid"/>
          </a:ln>
        </p:spPr>
      </p:sp>
      <p:sp>
        <p:nvSpPr>
          <p:cNvPr id="4" name="Shape 2"/>
          <p:cNvSpPr/>
          <p:nvPr/>
        </p:nvSpPr>
        <p:spPr>
          <a:xfrm>
            <a:off x="9070848" y="0"/>
            <a:ext cx="73152" cy="5143500"/>
          </a:xfrm>
          <a:prstGeom prst="rect">
            <a:avLst/>
          </a:prstGeom>
          <a:solidFill>
            <a:srgbClr val="C8A83C"/>
          </a:solidFill>
          <a:ln w="12700">
            <a:solidFill>
              <a:srgbClr val="C8A83C"/>
            </a:solidFill>
            <a:prstDash val="solid"/>
          </a:ln>
        </p:spPr>
      </p:sp>
      <p:sp>
        <p:nvSpPr>
          <p:cNvPr id="5" name="Shape 3"/>
          <p:cNvSpPr/>
          <p:nvPr/>
        </p:nvSpPr>
        <p:spPr>
          <a:xfrm>
            <a:off x="365760" y="274320"/>
            <a:ext cx="1280160" cy="365760"/>
          </a:xfrm>
          <a:prstGeom prst="rect">
            <a:avLst/>
          </a:prstGeom>
          <a:solidFill>
            <a:srgbClr val="C8A83C"/>
          </a:solidFill>
          <a:ln w="12700">
            <a:solidFill>
              <a:srgbClr val="C8A83C"/>
            </a:solidFill>
            <a:prstDash val="solid"/>
          </a:ln>
        </p:spPr>
      </p:sp>
      <p:sp>
        <p:nvSpPr>
          <p:cNvPr id="6" name="Text 4"/>
          <p:cNvSpPr/>
          <p:nvPr/>
        </p:nvSpPr>
        <p:spPr>
          <a:xfrm>
            <a:off x="374904" y="283464"/>
            <a:ext cx="1261872" cy="347472"/>
          </a:xfrm>
          <a:prstGeom prst="rect">
            <a:avLst/>
          </a:prstGeom>
          <a:noFill/>
          <a:ln/>
        </p:spPr>
        <p:txBody>
          <a:bodyPr wrap="square" lIns="0" tIns="0" rIns="0" bIns="0" rtlCol="0" anchor="ctr"/>
          <a:lstStyle/>
          <a:p>
            <a:pPr algn="ctr" indent="0" marL="0">
              <a:buNone/>
            </a:pPr>
            <a:r>
              <a:rPr lang="en-US" sz="750" b="1" dirty="0">
                <a:solidFill>
                  <a:srgbClr val="1B2D55"/>
                </a:solidFill>
              </a:rPr>
              <a:t>GOLDMAN SACHS</a:t>
            </a:r>
            <a:endParaRPr lang="en-US" sz="750" dirty="0"/>
          </a:p>
        </p:txBody>
      </p:sp>
      <p:sp>
        <p:nvSpPr>
          <p:cNvPr id="7" name="Text 5"/>
          <p:cNvSpPr/>
          <p:nvPr/>
        </p:nvSpPr>
        <p:spPr>
          <a:xfrm>
            <a:off x="914400" y="1097280"/>
            <a:ext cx="7315200" cy="365760"/>
          </a:xfrm>
          <a:prstGeom prst="rect">
            <a:avLst/>
          </a:prstGeom>
          <a:noFill/>
          <a:ln/>
        </p:spPr>
        <p:txBody>
          <a:bodyPr wrap="square" lIns="0" tIns="0" rIns="0" bIns="0" rtlCol="0" anchor="ctr"/>
          <a:lstStyle/>
          <a:p>
            <a:pPr algn="ctr" indent="0" marL="0">
              <a:buNone/>
            </a:pPr>
            <a:r>
              <a:rPr lang="en-US" sz="900" spc="300" kern="0" dirty="0">
                <a:solidFill>
                  <a:srgbClr val="AABBD0"/>
                </a:solidFill>
              </a:rPr>
              <a:t>CONFIDENTIAL INFORMATION MEMORANDUM</a:t>
            </a:r>
            <a:endParaRPr lang="en-US" sz="900" dirty="0"/>
          </a:p>
        </p:txBody>
      </p:sp>
      <p:sp>
        <p:nvSpPr>
          <p:cNvPr id="8" name="Text 6"/>
          <p:cNvSpPr/>
          <p:nvPr/>
        </p:nvSpPr>
        <p:spPr>
          <a:xfrm>
            <a:off x="457200" y="1554480"/>
            <a:ext cx="8229600" cy="1097280"/>
          </a:xfrm>
          <a:prstGeom prst="rect">
            <a:avLst/>
          </a:prstGeom>
          <a:noFill/>
          <a:ln/>
        </p:spPr>
        <p:txBody>
          <a:bodyPr wrap="square" lIns="0" tIns="0" rIns="0" bIns="0" rtlCol="0" anchor="ctr"/>
          <a:lstStyle/>
          <a:p>
            <a:pPr algn="ctr" indent="0" marL="0">
              <a:buNone/>
            </a:pPr>
            <a:r>
              <a:rPr lang="en-US" sz="6200" b="1" spc="100" kern="0" dirty="0">
                <a:solidFill>
                  <a:srgbClr val="FFFFFF"/>
                </a:solidFill>
              </a:rPr>
              <a:t>PROJECT SUNDIAL</a:t>
            </a:r>
            <a:endParaRPr lang="en-US" sz="6200" dirty="0"/>
          </a:p>
        </p:txBody>
      </p:sp>
      <p:sp>
        <p:nvSpPr>
          <p:cNvPr id="9" name="Shape 7"/>
          <p:cNvSpPr/>
          <p:nvPr/>
        </p:nvSpPr>
        <p:spPr>
          <a:xfrm>
            <a:off x="2286000" y="2788920"/>
            <a:ext cx="4572000" cy="0"/>
          </a:xfrm>
          <a:prstGeom prst="line">
            <a:avLst/>
          </a:prstGeom>
          <a:noFill/>
          <a:ln w="25400">
            <a:solidFill>
              <a:srgbClr val="C8A83C"/>
            </a:solidFill>
            <a:prstDash val="solid"/>
          </a:ln>
        </p:spPr>
      </p:sp>
      <p:sp>
        <p:nvSpPr>
          <p:cNvPr id="10" name="Text 8"/>
          <p:cNvSpPr/>
          <p:nvPr/>
        </p:nvSpPr>
        <p:spPr>
          <a:xfrm>
            <a:off x="914400" y="2907792"/>
            <a:ext cx="7315200" cy="457200"/>
          </a:xfrm>
          <a:prstGeom prst="rect">
            <a:avLst/>
          </a:prstGeom>
          <a:noFill/>
          <a:ln/>
        </p:spPr>
        <p:txBody>
          <a:bodyPr wrap="square" lIns="0" tIns="0" rIns="0" bIns="0" rtlCol="0" anchor="ctr"/>
          <a:lstStyle/>
          <a:p>
            <a:pPr algn="ctr" indent="0" marL="0">
              <a:buNone/>
            </a:pPr>
            <a:r>
              <a:rPr lang="en-US" sz="1800" dirty="0">
                <a:solidFill>
                  <a:srgbClr val="C8A83C"/>
                </a:solidFill>
              </a:rPr>
              <a:t>Slumber Smart, Inc.</a:t>
            </a:r>
            <a:endParaRPr lang="en-US" sz="1800" dirty="0"/>
          </a:p>
        </p:txBody>
      </p:sp>
      <p:sp>
        <p:nvSpPr>
          <p:cNvPr id="11" name="Text 9"/>
          <p:cNvSpPr/>
          <p:nvPr/>
        </p:nvSpPr>
        <p:spPr>
          <a:xfrm>
            <a:off x="914400" y="3401568"/>
            <a:ext cx="7315200" cy="320040"/>
          </a:xfrm>
          <a:prstGeom prst="rect">
            <a:avLst/>
          </a:prstGeom>
          <a:noFill/>
          <a:ln/>
        </p:spPr>
        <p:txBody>
          <a:bodyPr wrap="square" lIns="0" tIns="0" rIns="0" bIns="0" rtlCol="0" anchor="ctr"/>
          <a:lstStyle/>
          <a:p>
            <a:pPr algn="ctr" indent="0" marL="0">
              <a:buNone/>
            </a:pPr>
            <a:r>
              <a:rPr lang="en-US" sz="1200" dirty="0">
                <a:solidFill>
                  <a:srgbClr val="8898AA"/>
                </a:solidFill>
              </a:rPr>
              <a:t>Sleep-Tech Hardware &amp; Software Platform</a:t>
            </a:r>
            <a:endParaRPr lang="en-US" sz="1200" dirty="0"/>
          </a:p>
        </p:txBody>
      </p:sp>
      <p:sp>
        <p:nvSpPr>
          <p:cNvPr id="12" name="Text 10"/>
          <p:cNvSpPr/>
          <p:nvPr/>
        </p:nvSpPr>
        <p:spPr>
          <a:xfrm>
            <a:off x="914400" y="4434840"/>
            <a:ext cx="7315200" cy="228600"/>
          </a:xfrm>
          <a:prstGeom prst="rect">
            <a:avLst/>
          </a:prstGeom>
          <a:noFill/>
          <a:ln/>
        </p:spPr>
        <p:txBody>
          <a:bodyPr wrap="square" lIns="0" tIns="0" rIns="0" bIns="0" rtlCol="0" anchor="ctr"/>
          <a:lstStyle/>
          <a:p>
            <a:pPr algn="ctr" indent="0" marL="0">
              <a:buNone/>
            </a:pPr>
            <a:r>
              <a:rPr lang="en-US" sz="800" dirty="0">
                <a:solidFill>
                  <a:srgbClr val="8898AA"/>
                </a:solidFill>
              </a:rPr>
              <a:t>April 2022  |  STRICTLY PRIVATE &amp; CONFIDENTIAL</a:t>
            </a:r>
            <a:endParaRPr lang="en-US" sz="800" dirty="0"/>
          </a:p>
        </p:txBody>
      </p:sp>
      <p:sp>
        <p:nvSpPr>
          <p:cNvPr id="13" name="Text 11"/>
          <p:cNvSpPr/>
          <p:nvPr/>
        </p:nvSpPr>
        <p:spPr>
          <a:xfrm>
            <a:off x="457200" y="4828032"/>
            <a:ext cx="8229600" cy="274320"/>
          </a:xfrm>
          <a:prstGeom prst="rect">
            <a:avLst/>
          </a:prstGeom>
          <a:noFill/>
          <a:ln/>
        </p:spPr>
        <p:txBody>
          <a:bodyPr wrap="square" lIns="0" tIns="0" rIns="0" bIns="0" rtlCol="0" anchor="ctr"/>
          <a:lstStyle/>
          <a:p>
            <a:pPr algn="ctr" indent="0" marL="0">
              <a:buNone/>
            </a:pPr>
            <a:r>
              <a:rPr lang="en-US" sz="550" dirty="0">
                <a:solidFill>
                  <a:srgbClr val="556677"/>
                </a:solidFill>
              </a:rPr>
              <a:t>This Confidential Information Memorandum has been prepared by Goldman Sachs &amp; Co. LLC ("Goldman Sachs") on behalf of Slumber Smart, Inc. (the "Company"). This memorandum is intended solely for the use of the prospective investor to whom it is delivered and may not be reproduced, distributed or used for any other purpose without the prior written consent of Goldman Sachs. This document does not constitute an offer to sell or a solicitation of an offer to buy any securities.</a:t>
            </a:r>
            <a:endParaRPr lang="en-US" sz="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GOLDMAN SACHS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IMPORTANT NOTICE</a:t>
            </a:r>
            <a:endParaRPr lang="en-US" sz="750" dirty="0"/>
          </a:p>
        </p:txBody>
      </p:sp>
      <p:sp>
        <p:nvSpPr>
          <p:cNvPr id="5" name="Shape 3"/>
          <p:cNvSpPr/>
          <p:nvPr/>
        </p:nvSpPr>
        <p:spPr>
          <a:xfrm>
            <a:off x="457200" y="548640"/>
            <a:ext cx="8229600" cy="4206240"/>
          </a:xfrm>
          <a:prstGeom prst="rect">
            <a:avLst/>
          </a:prstGeom>
          <a:solidFill>
            <a:srgbClr val="F4F6FA"/>
          </a:solidFill>
          <a:ln w="12700">
            <a:solidFill>
              <a:srgbClr val="D0D8E4"/>
            </a:solidFill>
            <a:prstDash val="solid"/>
          </a:ln>
        </p:spPr>
      </p:sp>
      <p:sp>
        <p:nvSpPr>
          <p:cNvPr id="6" name="Text 4"/>
          <p:cNvSpPr/>
          <p:nvPr/>
        </p:nvSpPr>
        <p:spPr>
          <a:xfrm>
            <a:off x="685800" y="658368"/>
            <a:ext cx="7772400" cy="384048"/>
          </a:xfrm>
          <a:prstGeom prst="rect">
            <a:avLst/>
          </a:prstGeom>
          <a:noFill/>
          <a:ln/>
        </p:spPr>
        <p:txBody>
          <a:bodyPr wrap="square" lIns="0" tIns="0" rIns="0" bIns="0" rtlCol="0" anchor="ctr"/>
          <a:lstStyle/>
          <a:p>
            <a:pPr indent="0" marL="0">
              <a:buNone/>
            </a:pPr>
            <a:r>
              <a:rPr lang="en-US" sz="1300" b="1" dirty="0">
                <a:solidFill>
                  <a:srgbClr val="1B2D55"/>
                </a:solidFill>
              </a:rPr>
              <a:t>Important Notice</a:t>
            </a:r>
            <a:endParaRPr lang="en-US" sz="1300" dirty="0"/>
          </a:p>
        </p:txBody>
      </p:sp>
      <p:sp>
        <p:nvSpPr>
          <p:cNvPr id="7" name="Text 5"/>
          <p:cNvSpPr/>
          <p:nvPr/>
        </p:nvSpPr>
        <p:spPr>
          <a:xfrm>
            <a:off x="685800" y="1097280"/>
            <a:ext cx="7772400" cy="3474720"/>
          </a:xfrm>
          <a:prstGeom prst="rect">
            <a:avLst/>
          </a:prstGeom>
          <a:noFill/>
          <a:ln/>
        </p:spPr>
        <p:txBody>
          <a:bodyPr wrap="square" lIns="0" tIns="0" rIns="0" bIns="0" rtlCol="0" anchor="t"/>
          <a:lstStyle/>
          <a:p>
            <a:pPr indent="0" marL="0">
              <a:buNone/>
            </a:pPr>
            <a:r>
              <a:rPr lang="en-US" sz="850" dirty="0">
                <a:solidFill>
                  <a:srgbClr val="4A5568"/>
                </a:solidFill>
              </a:rPr>
              <a:t>This Confidential Information Memorandum ("CIM") has been prepared by Goldman Sachs &amp; Co. LLC ("Goldman Sachs") exclusively for informational purposes and solely for the benefit of prospective acquirors in connection with a potential acquisition of Slumber Smart, Inc. (the "Company").</a:t>
            </a:r>
            <a:endParaRPr lang="en-US" sz="850" dirty="0"/>
          </a:p>
          <a:p>
            <a:pPr indent="0" marL="0">
              <a:buNone/>
            </a:pPr>
            <a:endParaRPr lang="en-US" sz="850" dirty="0"/>
          </a:p>
          <a:p>
            <a:pPr indent="0" marL="0">
              <a:buNone/>
            </a:pPr>
            <a:r>
              <a:rPr lang="en-US" sz="850" dirty="0">
                <a:solidFill>
                  <a:srgbClr val="4A5568"/>
                </a:solidFill>
              </a:rPr>
              <a:t>By accepting this CIM, the recipient agrees: (i) to keep this document and the information herein strictly confidential; (ii) that this document may not be reproduced, distributed, or disclosed in whole or in part to any third party without the prior written consent of Goldman Sachs; and (iii) to use the information solely for purposes of evaluating a potential acquisition.</a:t>
            </a:r>
            <a:endParaRPr lang="en-US" sz="850" dirty="0"/>
          </a:p>
          <a:p>
            <a:pPr indent="0" marL="0">
              <a:buNone/>
            </a:pPr>
            <a:endParaRPr lang="en-US" sz="850" dirty="0"/>
          </a:p>
          <a:p>
            <a:pPr indent="0" marL="0">
              <a:buNone/>
            </a:pPr>
            <a:r>
              <a:rPr lang="en-US" sz="850" dirty="0">
                <a:solidFill>
                  <a:srgbClr val="4A5568"/>
                </a:solidFill>
              </a:rPr>
              <a:t>This CIM contains forward-looking statements and projections prepared by Company management. Actual results may differ materially. Goldman Sachs has not independently verified the accuracy or completeness of the information provided by the Company and makes no representation or warranty, expressed or implied, as to the accuracy or completeness of this CIM.</a:t>
            </a:r>
            <a:endParaRPr lang="en-US" sz="850" dirty="0"/>
          </a:p>
          <a:p>
            <a:pPr indent="0" marL="0">
              <a:buNone/>
            </a:pPr>
            <a:endParaRPr lang="en-US" sz="850" dirty="0"/>
          </a:p>
          <a:p>
            <a:pPr indent="0" marL="0">
              <a:buNone/>
            </a:pPr>
            <a:r>
              <a:rPr lang="en-US" sz="850" dirty="0">
                <a:solidFill>
                  <a:srgbClr val="4A5568"/>
                </a:solidFill>
              </a:rPr>
              <a:t>This CIM does not constitute an offer to sell or a solicitation of an offer to buy any securities. Any such offer will be made only pursuant to a definitive agreement and following completion of appropriate due diligence by prospective purchasers.</a:t>
            </a:r>
            <a:endParaRPr lang="en-US" sz="850" dirty="0"/>
          </a:p>
          <a:p>
            <a:pPr indent="0" marL="0">
              <a:buNone/>
            </a:pPr>
            <a:endParaRPr lang="en-US" sz="850" dirty="0"/>
          </a:p>
          <a:p>
            <a:pPr indent="0" marL="0">
              <a:buNone/>
            </a:pPr>
            <a:r>
              <a:rPr lang="en-US" sz="850" dirty="0">
                <a:solidFill>
                  <a:srgbClr val="4A5568"/>
                </a:solidFill>
              </a:rPr>
              <a:t>All financial data is presented in U.S. dollars unless otherwise noted. Fiscal year end is December 31.</a:t>
            </a:r>
            <a:endParaRPr lang="en-US" sz="850" dirty="0"/>
          </a:p>
        </p:txBody>
      </p:sp>
      <p:sp>
        <p:nvSpPr>
          <p:cNvPr id="8" name="Shape 6"/>
          <p:cNvSpPr/>
          <p:nvPr/>
        </p:nvSpPr>
        <p:spPr>
          <a:xfrm>
            <a:off x="0" y="4892040"/>
            <a:ext cx="9144000" cy="251460"/>
          </a:xfrm>
          <a:prstGeom prst="rect">
            <a:avLst/>
          </a:prstGeom>
          <a:solidFill>
            <a:srgbClr val="F4F6FA"/>
          </a:solidFill>
          <a:ln w="12700">
            <a:solidFill>
              <a:srgbClr val="D0D8E4"/>
            </a:solidFill>
            <a:prstDash val="solid"/>
          </a:ln>
        </p:spPr>
      </p:sp>
      <p:sp>
        <p:nvSpPr>
          <p:cNvPr id="9" name="Text 7"/>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10" name="Text 8"/>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2 / 20</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GOLDMAN SACHS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TABLE OF CONTENTS</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Table of Contents</a:t>
            </a:r>
            <a:endParaRPr lang="en-US" sz="1600" dirty="0"/>
          </a:p>
        </p:txBody>
      </p:sp>
      <p:sp>
        <p:nvSpPr>
          <p:cNvPr id="7" name="Shape 5"/>
          <p:cNvSpPr/>
          <p:nvPr/>
        </p:nvSpPr>
        <p:spPr>
          <a:xfrm>
            <a:off x="1097280" y="1188720"/>
            <a:ext cx="6949440" cy="260604"/>
          </a:xfrm>
          <a:prstGeom prst="rect">
            <a:avLst/>
          </a:prstGeom>
          <a:solidFill>
            <a:srgbClr val="F4F6FA"/>
          </a:solidFill>
          <a:ln w="12700">
            <a:solidFill>
              <a:srgbClr val="D0D8E4"/>
            </a:solidFill>
            <a:prstDash val="solid"/>
          </a:ln>
        </p:spPr>
      </p:sp>
      <p:sp>
        <p:nvSpPr>
          <p:cNvPr id="8" name="Shape 6"/>
          <p:cNvSpPr/>
          <p:nvPr/>
        </p:nvSpPr>
        <p:spPr>
          <a:xfrm>
            <a:off x="1097280" y="1188720"/>
            <a:ext cx="411480" cy="260604"/>
          </a:xfrm>
          <a:prstGeom prst="rect">
            <a:avLst/>
          </a:prstGeom>
          <a:solidFill>
            <a:srgbClr val="2B5BAE"/>
          </a:solidFill>
          <a:ln w="12700">
            <a:solidFill>
              <a:srgbClr val="2B5BAE"/>
            </a:solidFill>
            <a:prstDash val="solid"/>
          </a:ln>
        </p:spPr>
      </p:sp>
      <p:sp>
        <p:nvSpPr>
          <p:cNvPr id="9" name="Text 7"/>
          <p:cNvSpPr/>
          <p:nvPr/>
        </p:nvSpPr>
        <p:spPr>
          <a:xfrm>
            <a:off x="1097280" y="1225296"/>
            <a:ext cx="411480" cy="192024"/>
          </a:xfrm>
          <a:prstGeom prst="rect">
            <a:avLst/>
          </a:prstGeom>
          <a:noFill/>
          <a:ln/>
        </p:spPr>
        <p:txBody>
          <a:bodyPr wrap="square" lIns="0" tIns="0" rIns="0" bIns="0" rtlCol="0" anchor="ctr"/>
          <a:lstStyle/>
          <a:p>
            <a:pPr algn="ctr" indent="0" marL="0">
              <a:buNone/>
            </a:pPr>
            <a:r>
              <a:rPr lang="en-US" sz="750" b="1" dirty="0">
                <a:solidFill>
                  <a:srgbClr val="FFFFFF"/>
                </a:solidFill>
              </a:rPr>
              <a:t>I</a:t>
            </a:r>
            <a:endParaRPr lang="en-US" sz="750" dirty="0"/>
          </a:p>
        </p:txBody>
      </p:sp>
      <p:sp>
        <p:nvSpPr>
          <p:cNvPr id="10" name="Text 8"/>
          <p:cNvSpPr/>
          <p:nvPr/>
        </p:nvSpPr>
        <p:spPr>
          <a:xfrm>
            <a:off x="1572768" y="1225296"/>
            <a:ext cx="5029200" cy="192024"/>
          </a:xfrm>
          <a:prstGeom prst="rect">
            <a:avLst/>
          </a:prstGeom>
          <a:noFill/>
          <a:ln/>
        </p:spPr>
        <p:txBody>
          <a:bodyPr wrap="square" lIns="0" tIns="0" rIns="0" bIns="0" rtlCol="0" anchor="ctr"/>
          <a:lstStyle/>
          <a:p>
            <a:pPr indent="0" marL="0">
              <a:buNone/>
            </a:pPr>
            <a:r>
              <a:rPr lang="en-US" sz="850" dirty="0">
                <a:solidFill>
                  <a:srgbClr val="1B2D55"/>
                </a:solidFill>
              </a:rPr>
              <a:t>Executive Summary</a:t>
            </a:r>
            <a:endParaRPr lang="en-US" sz="850" dirty="0"/>
          </a:p>
        </p:txBody>
      </p:sp>
      <p:sp>
        <p:nvSpPr>
          <p:cNvPr id="11" name="Text 9"/>
          <p:cNvSpPr/>
          <p:nvPr/>
        </p:nvSpPr>
        <p:spPr>
          <a:xfrm>
            <a:off x="7589520" y="1225296"/>
            <a:ext cx="457200" cy="192024"/>
          </a:xfrm>
          <a:prstGeom prst="rect">
            <a:avLst/>
          </a:prstGeom>
          <a:noFill/>
          <a:ln/>
        </p:spPr>
        <p:txBody>
          <a:bodyPr wrap="square" lIns="0" tIns="0" rIns="0" bIns="0" rtlCol="0" anchor="ctr"/>
          <a:lstStyle/>
          <a:p>
            <a:pPr algn="r" indent="0" marL="0">
              <a:buNone/>
            </a:pPr>
            <a:r>
              <a:rPr lang="en-US" sz="850" dirty="0">
                <a:solidFill>
                  <a:srgbClr val="8898AA"/>
                </a:solidFill>
              </a:rPr>
              <a:t>4</a:t>
            </a:r>
            <a:endParaRPr lang="en-US" sz="850" dirty="0"/>
          </a:p>
        </p:txBody>
      </p:sp>
      <p:sp>
        <p:nvSpPr>
          <p:cNvPr id="12" name="Shape 10"/>
          <p:cNvSpPr/>
          <p:nvPr/>
        </p:nvSpPr>
        <p:spPr>
          <a:xfrm>
            <a:off x="1097280" y="1458468"/>
            <a:ext cx="6949440" cy="260604"/>
          </a:xfrm>
          <a:prstGeom prst="rect">
            <a:avLst/>
          </a:prstGeom>
          <a:solidFill>
            <a:srgbClr val="FFFFFF"/>
          </a:solidFill>
          <a:ln w="12700">
            <a:solidFill>
              <a:srgbClr val="D0D8E4"/>
            </a:solidFill>
            <a:prstDash val="solid"/>
          </a:ln>
        </p:spPr>
      </p:sp>
      <p:sp>
        <p:nvSpPr>
          <p:cNvPr id="13" name="Shape 11"/>
          <p:cNvSpPr/>
          <p:nvPr/>
        </p:nvSpPr>
        <p:spPr>
          <a:xfrm>
            <a:off x="1097280" y="1458468"/>
            <a:ext cx="411480" cy="260604"/>
          </a:xfrm>
          <a:prstGeom prst="rect">
            <a:avLst/>
          </a:prstGeom>
          <a:solidFill>
            <a:srgbClr val="2B5BAE"/>
          </a:solidFill>
          <a:ln w="12700">
            <a:solidFill>
              <a:srgbClr val="2B5BAE"/>
            </a:solidFill>
            <a:prstDash val="solid"/>
          </a:ln>
        </p:spPr>
      </p:sp>
      <p:sp>
        <p:nvSpPr>
          <p:cNvPr id="14" name="Text 12"/>
          <p:cNvSpPr/>
          <p:nvPr/>
        </p:nvSpPr>
        <p:spPr>
          <a:xfrm>
            <a:off x="1097280" y="1495044"/>
            <a:ext cx="411480" cy="192024"/>
          </a:xfrm>
          <a:prstGeom prst="rect">
            <a:avLst/>
          </a:prstGeom>
          <a:noFill/>
          <a:ln/>
        </p:spPr>
        <p:txBody>
          <a:bodyPr wrap="square" lIns="0" tIns="0" rIns="0" bIns="0" rtlCol="0" anchor="ctr"/>
          <a:lstStyle/>
          <a:p>
            <a:pPr algn="ctr" indent="0" marL="0">
              <a:buNone/>
            </a:pPr>
            <a:r>
              <a:rPr lang="en-US" sz="750" b="1" dirty="0">
                <a:solidFill>
                  <a:srgbClr val="FFFFFF"/>
                </a:solidFill>
              </a:rPr>
              <a:t>II</a:t>
            </a:r>
            <a:endParaRPr lang="en-US" sz="750" dirty="0"/>
          </a:p>
        </p:txBody>
      </p:sp>
      <p:sp>
        <p:nvSpPr>
          <p:cNvPr id="15" name="Text 13"/>
          <p:cNvSpPr/>
          <p:nvPr/>
        </p:nvSpPr>
        <p:spPr>
          <a:xfrm>
            <a:off x="1572768" y="1495044"/>
            <a:ext cx="5029200" cy="192024"/>
          </a:xfrm>
          <a:prstGeom prst="rect">
            <a:avLst/>
          </a:prstGeom>
          <a:noFill/>
          <a:ln/>
        </p:spPr>
        <p:txBody>
          <a:bodyPr wrap="square" lIns="0" tIns="0" rIns="0" bIns="0" rtlCol="0" anchor="ctr"/>
          <a:lstStyle/>
          <a:p>
            <a:pPr indent="0" marL="0">
              <a:buNone/>
            </a:pPr>
            <a:r>
              <a:rPr lang="en-US" sz="850" dirty="0">
                <a:solidFill>
                  <a:srgbClr val="1B2D55"/>
                </a:solidFill>
              </a:rPr>
              <a:t>Investment Highlights</a:t>
            </a:r>
            <a:endParaRPr lang="en-US" sz="850" dirty="0"/>
          </a:p>
        </p:txBody>
      </p:sp>
      <p:sp>
        <p:nvSpPr>
          <p:cNvPr id="16" name="Text 14"/>
          <p:cNvSpPr/>
          <p:nvPr/>
        </p:nvSpPr>
        <p:spPr>
          <a:xfrm>
            <a:off x="7589520" y="1495044"/>
            <a:ext cx="457200" cy="192024"/>
          </a:xfrm>
          <a:prstGeom prst="rect">
            <a:avLst/>
          </a:prstGeom>
          <a:noFill/>
          <a:ln/>
        </p:spPr>
        <p:txBody>
          <a:bodyPr wrap="square" lIns="0" tIns="0" rIns="0" bIns="0" rtlCol="0" anchor="ctr"/>
          <a:lstStyle/>
          <a:p>
            <a:pPr algn="r" indent="0" marL="0">
              <a:buNone/>
            </a:pPr>
            <a:r>
              <a:rPr lang="en-US" sz="850" dirty="0">
                <a:solidFill>
                  <a:srgbClr val="8898AA"/>
                </a:solidFill>
              </a:rPr>
              <a:t>5–6</a:t>
            </a:r>
            <a:endParaRPr lang="en-US" sz="850" dirty="0"/>
          </a:p>
        </p:txBody>
      </p:sp>
      <p:sp>
        <p:nvSpPr>
          <p:cNvPr id="17" name="Shape 15"/>
          <p:cNvSpPr/>
          <p:nvPr/>
        </p:nvSpPr>
        <p:spPr>
          <a:xfrm>
            <a:off x="1097280" y="1728216"/>
            <a:ext cx="6949440" cy="260604"/>
          </a:xfrm>
          <a:prstGeom prst="rect">
            <a:avLst/>
          </a:prstGeom>
          <a:solidFill>
            <a:srgbClr val="F4F6FA"/>
          </a:solidFill>
          <a:ln w="12700">
            <a:solidFill>
              <a:srgbClr val="D0D8E4"/>
            </a:solidFill>
            <a:prstDash val="solid"/>
          </a:ln>
        </p:spPr>
      </p:sp>
      <p:sp>
        <p:nvSpPr>
          <p:cNvPr id="18" name="Shape 16"/>
          <p:cNvSpPr/>
          <p:nvPr/>
        </p:nvSpPr>
        <p:spPr>
          <a:xfrm>
            <a:off x="1097280" y="1728216"/>
            <a:ext cx="411480" cy="260604"/>
          </a:xfrm>
          <a:prstGeom prst="rect">
            <a:avLst/>
          </a:prstGeom>
          <a:solidFill>
            <a:srgbClr val="2B5BAE"/>
          </a:solidFill>
          <a:ln w="12700">
            <a:solidFill>
              <a:srgbClr val="2B5BAE"/>
            </a:solidFill>
            <a:prstDash val="solid"/>
          </a:ln>
        </p:spPr>
      </p:sp>
      <p:sp>
        <p:nvSpPr>
          <p:cNvPr id="19" name="Text 17"/>
          <p:cNvSpPr/>
          <p:nvPr/>
        </p:nvSpPr>
        <p:spPr>
          <a:xfrm>
            <a:off x="1097280" y="1764792"/>
            <a:ext cx="411480" cy="192024"/>
          </a:xfrm>
          <a:prstGeom prst="rect">
            <a:avLst/>
          </a:prstGeom>
          <a:noFill/>
          <a:ln/>
        </p:spPr>
        <p:txBody>
          <a:bodyPr wrap="square" lIns="0" tIns="0" rIns="0" bIns="0" rtlCol="0" anchor="ctr"/>
          <a:lstStyle/>
          <a:p>
            <a:pPr algn="ctr" indent="0" marL="0">
              <a:buNone/>
            </a:pPr>
            <a:r>
              <a:rPr lang="en-US" sz="750" b="1" dirty="0">
                <a:solidFill>
                  <a:srgbClr val="FFFFFF"/>
                </a:solidFill>
              </a:rPr>
              <a:t>III</a:t>
            </a:r>
            <a:endParaRPr lang="en-US" sz="750" dirty="0"/>
          </a:p>
        </p:txBody>
      </p:sp>
      <p:sp>
        <p:nvSpPr>
          <p:cNvPr id="20" name="Text 18"/>
          <p:cNvSpPr/>
          <p:nvPr/>
        </p:nvSpPr>
        <p:spPr>
          <a:xfrm>
            <a:off x="1572768" y="1764792"/>
            <a:ext cx="5029200" cy="192024"/>
          </a:xfrm>
          <a:prstGeom prst="rect">
            <a:avLst/>
          </a:prstGeom>
          <a:noFill/>
          <a:ln/>
        </p:spPr>
        <p:txBody>
          <a:bodyPr wrap="square" lIns="0" tIns="0" rIns="0" bIns="0" rtlCol="0" anchor="ctr"/>
          <a:lstStyle/>
          <a:p>
            <a:pPr indent="0" marL="0">
              <a:buNone/>
            </a:pPr>
            <a:r>
              <a:rPr lang="en-US" sz="850" dirty="0">
                <a:solidFill>
                  <a:srgbClr val="1B2D55"/>
                </a:solidFill>
              </a:rPr>
              <a:t>Company Overview</a:t>
            </a:r>
            <a:endParaRPr lang="en-US" sz="850" dirty="0"/>
          </a:p>
        </p:txBody>
      </p:sp>
      <p:sp>
        <p:nvSpPr>
          <p:cNvPr id="21" name="Text 19"/>
          <p:cNvSpPr/>
          <p:nvPr/>
        </p:nvSpPr>
        <p:spPr>
          <a:xfrm>
            <a:off x="7589520" y="1764792"/>
            <a:ext cx="457200" cy="192024"/>
          </a:xfrm>
          <a:prstGeom prst="rect">
            <a:avLst/>
          </a:prstGeom>
          <a:noFill/>
          <a:ln/>
        </p:spPr>
        <p:txBody>
          <a:bodyPr wrap="square" lIns="0" tIns="0" rIns="0" bIns="0" rtlCol="0" anchor="ctr"/>
          <a:lstStyle/>
          <a:p>
            <a:pPr algn="r" indent="0" marL="0">
              <a:buNone/>
            </a:pPr>
            <a:r>
              <a:rPr lang="en-US" sz="850" dirty="0">
                <a:solidFill>
                  <a:srgbClr val="8898AA"/>
                </a:solidFill>
              </a:rPr>
              <a:t>7–8</a:t>
            </a:r>
            <a:endParaRPr lang="en-US" sz="850" dirty="0"/>
          </a:p>
        </p:txBody>
      </p:sp>
      <p:sp>
        <p:nvSpPr>
          <p:cNvPr id="22" name="Shape 20"/>
          <p:cNvSpPr/>
          <p:nvPr/>
        </p:nvSpPr>
        <p:spPr>
          <a:xfrm>
            <a:off x="1097280" y="1997964"/>
            <a:ext cx="6949440" cy="260604"/>
          </a:xfrm>
          <a:prstGeom prst="rect">
            <a:avLst/>
          </a:prstGeom>
          <a:solidFill>
            <a:srgbClr val="FFFFFF"/>
          </a:solidFill>
          <a:ln w="12700">
            <a:solidFill>
              <a:srgbClr val="D0D8E4"/>
            </a:solidFill>
            <a:prstDash val="solid"/>
          </a:ln>
        </p:spPr>
      </p:sp>
      <p:sp>
        <p:nvSpPr>
          <p:cNvPr id="23" name="Shape 21"/>
          <p:cNvSpPr/>
          <p:nvPr/>
        </p:nvSpPr>
        <p:spPr>
          <a:xfrm>
            <a:off x="1097280" y="1997964"/>
            <a:ext cx="411480" cy="260604"/>
          </a:xfrm>
          <a:prstGeom prst="rect">
            <a:avLst/>
          </a:prstGeom>
          <a:solidFill>
            <a:srgbClr val="2B5BAE"/>
          </a:solidFill>
          <a:ln w="12700">
            <a:solidFill>
              <a:srgbClr val="2B5BAE"/>
            </a:solidFill>
            <a:prstDash val="solid"/>
          </a:ln>
        </p:spPr>
      </p:sp>
      <p:sp>
        <p:nvSpPr>
          <p:cNvPr id="24" name="Text 22"/>
          <p:cNvSpPr/>
          <p:nvPr/>
        </p:nvSpPr>
        <p:spPr>
          <a:xfrm>
            <a:off x="1097280" y="2034540"/>
            <a:ext cx="411480" cy="192024"/>
          </a:xfrm>
          <a:prstGeom prst="rect">
            <a:avLst/>
          </a:prstGeom>
          <a:noFill/>
          <a:ln/>
        </p:spPr>
        <p:txBody>
          <a:bodyPr wrap="square" lIns="0" tIns="0" rIns="0" bIns="0" rtlCol="0" anchor="ctr"/>
          <a:lstStyle/>
          <a:p>
            <a:pPr algn="ctr" indent="0" marL="0">
              <a:buNone/>
            </a:pPr>
            <a:r>
              <a:rPr lang="en-US" sz="750" b="1" dirty="0">
                <a:solidFill>
                  <a:srgbClr val="FFFFFF"/>
                </a:solidFill>
              </a:rPr>
              <a:t>IV</a:t>
            </a:r>
            <a:endParaRPr lang="en-US" sz="750" dirty="0"/>
          </a:p>
        </p:txBody>
      </p:sp>
      <p:sp>
        <p:nvSpPr>
          <p:cNvPr id="25" name="Text 23"/>
          <p:cNvSpPr/>
          <p:nvPr/>
        </p:nvSpPr>
        <p:spPr>
          <a:xfrm>
            <a:off x="1572768" y="2034540"/>
            <a:ext cx="5029200" cy="192024"/>
          </a:xfrm>
          <a:prstGeom prst="rect">
            <a:avLst/>
          </a:prstGeom>
          <a:noFill/>
          <a:ln/>
        </p:spPr>
        <p:txBody>
          <a:bodyPr wrap="square" lIns="0" tIns="0" rIns="0" bIns="0" rtlCol="0" anchor="ctr"/>
          <a:lstStyle/>
          <a:p>
            <a:pPr indent="0" marL="0">
              <a:buNone/>
            </a:pPr>
            <a:r>
              <a:rPr lang="en-US" sz="850" dirty="0">
                <a:solidFill>
                  <a:srgbClr val="1B2D55"/>
                </a:solidFill>
              </a:rPr>
              <a:t>Products &amp; Technology</a:t>
            </a:r>
            <a:endParaRPr lang="en-US" sz="850" dirty="0"/>
          </a:p>
        </p:txBody>
      </p:sp>
      <p:sp>
        <p:nvSpPr>
          <p:cNvPr id="26" name="Text 24"/>
          <p:cNvSpPr/>
          <p:nvPr/>
        </p:nvSpPr>
        <p:spPr>
          <a:xfrm>
            <a:off x="7589520" y="2034540"/>
            <a:ext cx="457200" cy="192024"/>
          </a:xfrm>
          <a:prstGeom prst="rect">
            <a:avLst/>
          </a:prstGeom>
          <a:noFill/>
          <a:ln/>
        </p:spPr>
        <p:txBody>
          <a:bodyPr wrap="square" lIns="0" tIns="0" rIns="0" bIns="0" rtlCol="0" anchor="ctr"/>
          <a:lstStyle/>
          <a:p>
            <a:pPr algn="r" indent="0" marL="0">
              <a:buNone/>
            </a:pPr>
            <a:r>
              <a:rPr lang="en-US" sz="850" dirty="0">
                <a:solidFill>
                  <a:srgbClr val="8898AA"/>
                </a:solidFill>
              </a:rPr>
              <a:t>9–10</a:t>
            </a:r>
            <a:endParaRPr lang="en-US" sz="850" dirty="0"/>
          </a:p>
        </p:txBody>
      </p:sp>
      <p:sp>
        <p:nvSpPr>
          <p:cNvPr id="27" name="Shape 25"/>
          <p:cNvSpPr/>
          <p:nvPr/>
        </p:nvSpPr>
        <p:spPr>
          <a:xfrm>
            <a:off x="1097280" y="2267712"/>
            <a:ext cx="6949440" cy="260604"/>
          </a:xfrm>
          <a:prstGeom prst="rect">
            <a:avLst/>
          </a:prstGeom>
          <a:solidFill>
            <a:srgbClr val="F4F6FA"/>
          </a:solidFill>
          <a:ln w="12700">
            <a:solidFill>
              <a:srgbClr val="D0D8E4"/>
            </a:solidFill>
            <a:prstDash val="solid"/>
          </a:ln>
        </p:spPr>
      </p:sp>
      <p:sp>
        <p:nvSpPr>
          <p:cNvPr id="28" name="Shape 26"/>
          <p:cNvSpPr/>
          <p:nvPr/>
        </p:nvSpPr>
        <p:spPr>
          <a:xfrm>
            <a:off x="1097280" y="2267712"/>
            <a:ext cx="411480" cy="260604"/>
          </a:xfrm>
          <a:prstGeom prst="rect">
            <a:avLst/>
          </a:prstGeom>
          <a:solidFill>
            <a:srgbClr val="2B5BAE"/>
          </a:solidFill>
          <a:ln w="12700">
            <a:solidFill>
              <a:srgbClr val="2B5BAE"/>
            </a:solidFill>
            <a:prstDash val="solid"/>
          </a:ln>
        </p:spPr>
      </p:sp>
      <p:sp>
        <p:nvSpPr>
          <p:cNvPr id="29" name="Text 27"/>
          <p:cNvSpPr/>
          <p:nvPr/>
        </p:nvSpPr>
        <p:spPr>
          <a:xfrm>
            <a:off x="1097280" y="2304288"/>
            <a:ext cx="411480" cy="192024"/>
          </a:xfrm>
          <a:prstGeom prst="rect">
            <a:avLst/>
          </a:prstGeom>
          <a:noFill/>
          <a:ln/>
        </p:spPr>
        <p:txBody>
          <a:bodyPr wrap="square" lIns="0" tIns="0" rIns="0" bIns="0" rtlCol="0" anchor="ctr"/>
          <a:lstStyle/>
          <a:p>
            <a:pPr algn="ctr" indent="0" marL="0">
              <a:buNone/>
            </a:pPr>
            <a:r>
              <a:rPr lang="en-US" sz="750" b="1" dirty="0">
                <a:solidFill>
                  <a:srgbClr val="FFFFFF"/>
                </a:solidFill>
              </a:rPr>
              <a:t>V</a:t>
            </a:r>
            <a:endParaRPr lang="en-US" sz="750" dirty="0"/>
          </a:p>
        </p:txBody>
      </p:sp>
      <p:sp>
        <p:nvSpPr>
          <p:cNvPr id="30" name="Text 28"/>
          <p:cNvSpPr/>
          <p:nvPr/>
        </p:nvSpPr>
        <p:spPr>
          <a:xfrm>
            <a:off x="1572768" y="2304288"/>
            <a:ext cx="5029200" cy="192024"/>
          </a:xfrm>
          <a:prstGeom prst="rect">
            <a:avLst/>
          </a:prstGeom>
          <a:noFill/>
          <a:ln/>
        </p:spPr>
        <p:txBody>
          <a:bodyPr wrap="square" lIns="0" tIns="0" rIns="0" bIns="0" rtlCol="0" anchor="ctr"/>
          <a:lstStyle/>
          <a:p>
            <a:pPr indent="0" marL="0">
              <a:buNone/>
            </a:pPr>
            <a:r>
              <a:rPr lang="en-US" sz="850" dirty="0">
                <a:solidFill>
                  <a:srgbClr val="1B2D55"/>
                </a:solidFill>
              </a:rPr>
              <a:t>Market Opportunity</a:t>
            </a:r>
            <a:endParaRPr lang="en-US" sz="850" dirty="0"/>
          </a:p>
        </p:txBody>
      </p:sp>
      <p:sp>
        <p:nvSpPr>
          <p:cNvPr id="31" name="Text 29"/>
          <p:cNvSpPr/>
          <p:nvPr/>
        </p:nvSpPr>
        <p:spPr>
          <a:xfrm>
            <a:off x="7589520" y="2304288"/>
            <a:ext cx="457200" cy="192024"/>
          </a:xfrm>
          <a:prstGeom prst="rect">
            <a:avLst/>
          </a:prstGeom>
          <a:noFill/>
          <a:ln/>
        </p:spPr>
        <p:txBody>
          <a:bodyPr wrap="square" lIns="0" tIns="0" rIns="0" bIns="0" rtlCol="0" anchor="ctr"/>
          <a:lstStyle/>
          <a:p>
            <a:pPr algn="r" indent="0" marL="0">
              <a:buNone/>
            </a:pPr>
            <a:r>
              <a:rPr lang="en-US" sz="850" dirty="0">
                <a:solidFill>
                  <a:srgbClr val="8898AA"/>
                </a:solidFill>
              </a:rPr>
              <a:t>11</a:t>
            </a:r>
            <a:endParaRPr lang="en-US" sz="850" dirty="0"/>
          </a:p>
        </p:txBody>
      </p:sp>
      <p:sp>
        <p:nvSpPr>
          <p:cNvPr id="32" name="Shape 30"/>
          <p:cNvSpPr/>
          <p:nvPr/>
        </p:nvSpPr>
        <p:spPr>
          <a:xfrm>
            <a:off x="1097280" y="2537460"/>
            <a:ext cx="6949440" cy="260604"/>
          </a:xfrm>
          <a:prstGeom prst="rect">
            <a:avLst/>
          </a:prstGeom>
          <a:solidFill>
            <a:srgbClr val="FFFFFF"/>
          </a:solidFill>
          <a:ln w="12700">
            <a:solidFill>
              <a:srgbClr val="D0D8E4"/>
            </a:solidFill>
            <a:prstDash val="solid"/>
          </a:ln>
        </p:spPr>
      </p:sp>
      <p:sp>
        <p:nvSpPr>
          <p:cNvPr id="33" name="Shape 31"/>
          <p:cNvSpPr/>
          <p:nvPr/>
        </p:nvSpPr>
        <p:spPr>
          <a:xfrm>
            <a:off x="1097280" y="2537460"/>
            <a:ext cx="411480" cy="260604"/>
          </a:xfrm>
          <a:prstGeom prst="rect">
            <a:avLst/>
          </a:prstGeom>
          <a:solidFill>
            <a:srgbClr val="2B5BAE"/>
          </a:solidFill>
          <a:ln w="12700">
            <a:solidFill>
              <a:srgbClr val="2B5BAE"/>
            </a:solidFill>
            <a:prstDash val="solid"/>
          </a:ln>
        </p:spPr>
      </p:sp>
      <p:sp>
        <p:nvSpPr>
          <p:cNvPr id="34" name="Text 32"/>
          <p:cNvSpPr/>
          <p:nvPr/>
        </p:nvSpPr>
        <p:spPr>
          <a:xfrm>
            <a:off x="1097280" y="2574036"/>
            <a:ext cx="411480" cy="192024"/>
          </a:xfrm>
          <a:prstGeom prst="rect">
            <a:avLst/>
          </a:prstGeom>
          <a:noFill/>
          <a:ln/>
        </p:spPr>
        <p:txBody>
          <a:bodyPr wrap="square" lIns="0" tIns="0" rIns="0" bIns="0" rtlCol="0" anchor="ctr"/>
          <a:lstStyle/>
          <a:p>
            <a:pPr algn="ctr" indent="0" marL="0">
              <a:buNone/>
            </a:pPr>
            <a:r>
              <a:rPr lang="en-US" sz="750" b="1" dirty="0">
                <a:solidFill>
                  <a:srgbClr val="FFFFFF"/>
                </a:solidFill>
              </a:rPr>
              <a:t>VI</a:t>
            </a:r>
            <a:endParaRPr lang="en-US" sz="750" dirty="0"/>
          </a:p>
        </p:txBody>
      </p:sp>
      <p:sp>
        <p:nvSpPr>
          <p:cNvPr id="35" name="Text 33"/>
          <p:cNvSpPr/>
          <p:nvPr/>
        </p:nvSpPr>
        <p:spPr>
          <a:xfrm>
            <a:off x="1572768" y="2574036"/>
            <a:ext cx="5029200" cy="192024"/>
          </a:xfrm>
          <a:prstGeom prst="rect">
            <a:avLst/>
          </a:prstGeom>
          <a:noFill/>
          <a:ln/>
        </p:spPr>
        <p:txBody>
          <a:bodyPr wrap="square" lIns="0" tIns="0" rIns="0" bIns="0" rtlCol="0" anchor="ctr"/>
          <a:lstStyle/>
          <a:p>
            <a:pPr indent="0" marL="0">
              <a:buNone/>
            </a:pPr>
            <a:r>
              <a:rPr lang="en-US" sz="850" dirty="0">
                <a:solidFill>
                  <a:srgbClr val="1B2D55"/>
                </a:solidFill>
              </a:rPr>
              <a:t>Competitive Landscape</a:t>
            </a:r>
            <a:endParaRPr lang="en-US" sz="850" dirty="0"/>
          </a:p>
        </p:txBody>
      </p:sp>
      <p:sp>
        <p:nvSpPr>
          <p:cNvPr id="36" name="Text 34"/>
          <p:cNvSpPr/>
          <p:nvPr/>
        </p:nvSpPr>
        <p:spPr>
          <a:xfrm>
            <a:off x="7589520" y="2574036"/>
            <a:ext cx="457200" cy="192024"/>
          </a:xfrm>
          <a:prstGeom prst="rect">
            <a:avLst/>
          </a:prstGeom>
          <a:noFill/>
          <a:ln/>
        </p:spPr>
        <p:txBody>
          <a:bodyPr wrap="square" lIns="0" tIns="0" rIns="0" bIns="0" rtlCol="0" anchor="ctr"/>
          <a:lstStyle/>
          <a:p>
            <a:pPr algn="r" indent="0" marL="0">
              <a:buNone/>
            </a:pPr>
            <a:r>
              <a:rPr lang="en-US" sz="850" dirty="0">
                <a:solidFill>
                  <a:srgbClr val="8898AA"/>
                </a:solidFill>
              </a:rPr>
              <a:t>12</a:t>
            </a:r>
            <a:endParaRPr lang="en-US" sz="850" dirty="0"/>
          </a:p>
        </p:txBody>
      </p:sp>
      <p:sp>
        <p:nvSpPr>
          <p:cNvPr id="37" name="Shape 35"/>
          <p:cNvSpPr/>
          <p:nvPr/>
        </p:nvSpPr>
        <p:spPr>
          <a:xfrm>
            <a:off x="1097280" y="2807208"/>
            <a:ext cx="6949440" cy="260604"/>
          </a:xfrm>
          <a:prstGeom prst="rect">
            <a:avLst/>
          </a:prstGeom>
          <a:solidFill>
            <a:srgbClr val="F4F6FA"/>
          </a:solidFill>
          <a:ln w="12700">
            <a:solidFill>
              <a:srgbClr val="D0D8E4"/>
            </a:solidFill>
            <a:prstDash val="solid"/>
          </a:ln>
        </p:spPr>
      </p:sp>
      <p:sp>
        <p:nvSpPr>
          <p:cNvPr id="38" name="Shape 36"/>
          <p:cNvSpPr/>
          <p:nvPr/>
        </p:nvSpPr>
        <p:spPr>
          <a:xfrm>
            <a:off x="1097280" y="2807208"/>
            <a:ext cx="411480" cy="260604"/>
          </a:xfrm>
          <a:prstGeom prst="rect">
            <a:avLst/>
          </a:prstGeom>
          <a:solidFill>
            <a:srgbClr val="2B5BAE"/>
          </a:solidFill>
          <a:ln w="12700">
            <a:solidFill>
              <a:srgbClr val="2B5BAE"/>
            </a:solidFill>
            <a:prstDash val="solid"/>
          </a:ln>
        </p:spPr>
      </p:sp>
      <p:sp>
        <p:nvSpPr>
          <p:cNvPr id="39" name="Text 37"/>
          <p:cNvSpPr/>
          <p:nvPr/>
        </p:nvSpPr>
        <p:spPr>
          <a:xfrm>
            <a:off x="1097280" y="2843784"/>
            <a:ext cx="411480" cy="192024"/>
          </a:xfrm>
          <a:prstGeom prst="rect">
            <a:avLst/>
          </a:prstGeom>
          <a:noFill/>
          <a:ln/>
        </p:spPr>
        <p:txBody>
          <a:bodyPr wrap="square" lIns="0" tIns="0" rIns="0" bIns="0" rtlCol="0" anchor="ctr"/>
          <a:lstStyle/>
          <a:p>
            <a:pPr algn="ctr" indent="0" marL="0">
              <a:buNone/>
            </a:pPr>
            <a:r>
              <a:rPr lang="en-US" sz="750" b="1" dirty="0">
                <a:solidFill>
                  <a:srgbClr val="FFFFFF"/>
                </a:solidFill>
              </a:rPr>
              <a:t>VII</a:t>
            </a:r>
            <a:endParaRPr lang="en-US" sz="750" dirty="0"/>
          </a:p>
        </p:txBody>
      </p:sp>
      <p:sp>
        <p:nvSpPr>
          <p:cNvPr id="40" name="Text 38"/>
          <p:cNvSpPr/>
          <p:nvPr/>
        </p:nvSpPr>
        <p:spPr>
          <a:xfrm>
            <a:off x="1572768" y="2843784"/>
            <a:ext cx="5029200" cy="192024"/>
          </a:xfrm>
          <a:prstGeom prst="rect">
            <a:avLst/>
          </a:prstGeom>
          <a:noFill/>
          <a:ln/>
        </p:spPr>
        <p:txBody>
          <a:bodyPr wrap="square" lIns="0" tIns="0" rIns="0" bIns="0" rtlCol="0" anchor="ctr"/>
          <a:lstStyle/>
          <a:p>
            <a:pPr indent="0" marL="0">
              <a:buNone/>
            </a:pPr>
            <a:r>
              <a:rPr lang="en-US" sz="850" dirty="0">
                <a:solidFill>
                  <a:srgbClr val="1B2D55"/>
                </a:solidFill>
              </a:rPr>
              <a:t>Business Model &amp; Revenue Mix</a:t>
            </a:r>
            <a:endParaRPr lang="en-US" sz="850" dirty="0"/>
          </a:p>
        </p:txBody>
      </p:sp>
      <p:sp>
        <p:nvSpPr>
          <p:cNvPr id="41" name="Text 39"/>
          <p:cNvSpPr/>
          <p:nvPr/>
        </p:nvSpPr>
        <p:spPr>
          <a:xfrm>
            <a:off x="7589520" y="2843784"/>
            <a:ext cx="457200" cy="192024"/>
          </a:xfrm>
          <a:prstGeom prst="rect">
            <a:avLst/>
          </a:prstGeom>
          <a:noFill/>
          <a:ln/>
        </p:spPr>
        <p:txBody>
          <a:bodyPr wrap="square" lIns="0" tIns="0" rIns="0" bIns="0" rtlCol="0" anchor="ctr"/>
          <a:lstStyle/>
          <a:p>
            <a:pPr algn="r" indent="0" marL="0">
              <a:buNone/>
            </a:pPr>
            <a:r>
              <a:rPr lang="en-US" sz="850" dirty="0">
                <a:solidFill>
                  <a:srgbClr val="8898AA"/>
                </a:solidFill>
              </a:rPr>
              <a:t>13</a:t>
            </a:r>
            <a:endParaRPr lang="en-US" sz="850" dirty="0"/>
          </a:p>
        </p:txBody>
      </p:sp>
      <p:sp>
        <p:nvSpPr>
          <p:cNvPr id="42" name="Shape 40"/>
          <p:cNvSpPr/>
          <p:nvPr/>
        </p:nvSpPr>
        <p:spPr>
          <a:xfrm>
            <a:off x="1097280" y="3076956"/>
            <a:ext cx="6949440" cy="260604"/>
          </a:xfrm>
          <a:prstGeom prst="rect">
            <a:avLst/>
          </a:prstGeom>
          <a:solidFill>
            <a:srgbClr val="FFFFFF"/>
          </a:solidFill>
          <a:ln w="12700">
            <a:solidFill>
              <a:srgbClr val="D0D8E4"/>
            </a:solidFill>
            <a:prstDash val="solid"/>
          </a:ln>
        </p:spPr>
      </p:sp>
      <p:sp>
        <p:nvSpPr>
          <p:cNvPr id="43" name="Shape 41"/>
          <p:cNvSpPr/>
          <p:nvPr/>
        </p:nvSpPr>
        <p:spPr>
          <a:xfrm>
            <a:off x="1097280" y="3076956"/>
            <a:ext cx="411480" cy="260604"/>
          </a:xfrm>
          <a:prstGeom prst="rect">
            <a:avLst/>
          </a:prstGeom>
          <a:solidFill>
            <a:srgbClr val="2B5BAE"/>
          </a:solidFill>
          <a:ln w="12700">
            <a:solidFill>
              <a:srgbClr val="2B5BAE"/>
            </a:solidFill>
            <a:prstDash val="solid"/>
          </a:ln>
        </p:spPr>
      </p:sp>
      <p:sp>
        <p:nvSpPr>
          <p:cNvPr id="44" name="Text 42"/>
          <p:cNvSpPr/>
          <p:nvPr/>
        </p:nvSpPr>
        <p:spPr>
          <a:xfrm>
            <a:off x="1097280" y="3113532"/>
            <a:ext cx="411480" cy="192024"/>
          </a:xfrm>
          <a:prstGeom prst="rect">
            <a:avLst/>
          </a:prstGeom>
          <a:noFill/>
          <a:ln/>
        </p:spPr>
        <p:txBody>
          <a:bodyPr wrap="square" lIns="0" tIns="0" rIns="0" bIns="0" rtlCol="0" anchor="ctr"/>
          <a:lstStyle/>
          <a:p>
            <a:pPr algn="ctr" indent="0" marL="0">
              <a:buNone/>
            </a:pPr>
            <a:r>
              <a:rPr lang="en-US" sz="750" b="1" dirty="0">
                <a:solidFill>
                  <a:srgbClr val="FFFFFF"/>
                </a:solidFill>
              </a:rPr>
              <a:t>VIII</a:t>
            </a:r>
            <a:endParaRPr lang="en-US" sz="750" dirty="0"/>
          </a:p>
        </p:txBody>
      </p:sp>
      <p:sp>
        <p:nvSpPr>
          <p:cNvPr id="45" name="Text 43"/>
          <p:cNvSpPr/>
          <p:nvPr/>
        </p:nvSpPr>
        <p:spPr>
          <a:xfrm>
            <a:off x="1572768" y="3113532"/>
            <a:ext cx="5029200" cy="192024"/>
          </a:xfrm>
          <a:prstGeom prst="rect">
            <a:avLst/>
          </a:prstGeom>
          <a:noFill/>
          <a:ln/>
        </p:spPr>
        <p:txBody>
          <a:bodyPr wrap="square" lIns="0" tIns="0" rIns="0" bIns="0" rtlCol="0" anchor="ctr"/>
          <a:lstStyle/>
          <a:p>
            <a:pPr indent="0" marL="0">
              <a:buNone/>
            </a:pPr>
            <a:r>
              <a:rPr lang="en-US" sz="850" dirty="0">
                <a:solidFill>
                  <a:srgbClr val="1B2D55"/>
                </a:solidFill>
              </a:rPr>
              <a:t>Customer &amp; Channel Strategy</a:t>
            </a:r>
            <a:endParaRPr lang="en-US" sz="850" dirty="0"/>
          </a:p>
        </p:txBody>
      </p:sp>
      <p:sp>
        <p:nvSpPr>
          <p:cNvPr id="46" name="Text 44"/>
          <p:cNvSpPr/>
          <p:nvPr/>
        </p:nvSpPr>
        <p:spPr>
          <a:xfrm>
            <a:off x="7589520" y="3113532"/>
            <a:ext cx="457200" cy="192024"/>
          </a:xfrm>
          <a:prstGeom prst="rect">
            <a:avLst/>
          </a:prstGeom>
          <a:noFill/>
          <a:ln/>
        </p:spPr>
        <p:txBody>
          <a:bodyPr wrap="square" lIns="0" tIns="0" rIns="0" bIns="0" rtlCol="0" anchor="ctr"/>
          <a:lstStyle/>
          <a:p>
            <a:pPr algn="r" indent="0" marL="0">
              <a:buNone/>
            </a:pPr>
            <a:r>
              <a:rPr lang="en-US" sz="850" dirty="0">
                <a:solidFill>
                  <a:srgbClr val="8898AA"/>
                </a:solidFill>
              </a:rPr>
              <a:t>14</a:t>
            </a:r>
            <a:endParaRPr lang="en-US" sz="850" dirty="0"/>
          </a:p>
        </p:txBody>
      </p:sp>
      <p:sp>
        <p:nvSpPr>
          <p:cNvPr id="47" name="Shape 45"/>
          <p:cNvSpPr/>
          <p:nvPr/>
        </p:nvSpPr>
        <p:spPr>
          <a:xfrm>
            <a:off x="1097280" y="3346704"/>
            <a:ext cx="6949440" cy="260604"/>
          </a:xfrm>
          <a:prstGeom prst="rect">
            <a:avLst/>
          </a:prstGeom>
          <a:solidFill>
            <a:srgbClr val="F4F6FA"/>
          </a:solidFill>
          <a:ln w="12700">
            <a:solidFill>
              <a:srgbClr val="D0D8E4"/>
            </a:solidFill>
            <a:prstDash val="solid"/>
          </a:ln>
        </p:spPr>
      </p:sp>
      <p:sp>
        <p:nvSpPr>
          <p:cNvPr id="48" name="Shape 46"/>
          <p:cNvSpPr/>
          <p:nvPr/>
        </p:nvSpPr>
        <p:spPr>
          <a:xfrm>
            <a:off x="1097280" y="3346704"/>
            <a:ext cx="411480" cy="260604"/>
          </a:xfrm>
          <a:prstGeom prst="rect">
            <a:avLst/>
          </a:prstGeom>
          <a:solidFill>
            <a:srgbClr val="2B5BAE"/>
          </a:solidFill>
          <a:ln w="12700">
            <a:solidFill>
              <a:srgbClr val="2B5BAE"/>
            </a:solidFill>
            <a:prstDash val="solid"/>
          </a:ln>
        </p:spPr>
      </p:sp>
      <p:sp>
        <p:nvSpPr>
          <p:cNvPr id="49" name="Text 47"/>
          <p:cNvSpPr/>
          <p:nvPr/>
        </p:nvSpPr>
        <p:spPr>
          <a:xfrm>
            <a:off x="1097280" y="3383280"/>
            <a:ext cx="411480" cy="192024"/>
          </a:xfrm>
          <a:prstGeom prst="rect">
            <a:avLst/>
          </a:prstGeom>
          <a:noFill/>
          <a:ln/>
        </p:spPr>
        <p:txBody>
          <a:bodyPr wrap="square" lIns="0" tIns="0" rIns="0" bIns="0" rtlCol="0" anchor="ctr"/>
          <a:lstStyle/>
          <a:p>
            <a:pPr algn="ctr" indent="0" marL="0">
              <a:buNone/>
            </a:pPr>
            <a:r>
              <a:rPr lang="en-US" sz="750" b="1" dirty="0">
                <a:solidFill>
                  <a:srgbClr val="FFFFFF"/>
                </a:solidFill>
              </a:rPr>
              <a:t>IX</a:t>
            </a:r>
            <a:endParaRPr lang="en-US" sz="750" dirty="0"/>
          </a:p>
        </p:txBody>
      </p:sp>
      <p:sp>
        <p:nvSpPr>
          <p:cNvPr id="50" name="Text 48"/>
          <p:cNvSpPr/>
          <p:nvPr/>
        </p:nvSpPr>
        <p:spPr>
          <a:xfrm>
            <a:off x="1572768" y="3383280"/>
            <a:ext cx="5029200" cy="192024"/>
          </a:xfrm>
          <a:prstGeom prst="rect">
            <a:avLst/>
          </a:prstGeom>
          <a:noFill/>
          <a:ln/>
        </p:spPr>
        <p:txBody>
          <a:bodyPr wrap="square" lIns="0" tIns="0" rIns="0" bIns="0" rtlCol="0" anchor="ctr"/>
          <a:lstStyle/>
          <a:p>
            <a:pPr indent="0" marL="0">
              <a:buNone/>
            </a:pPr>
            <a:r>
              <a:rPr lang="en-US" sz="850" dirty="0">
                <a:solidFill>
                  <a:srgbClr val="1B2D55"/>
                </a:solidFill>
              </a:rPr>
              <a:t>Historical Financials</a:t>
            </a:r>
            <a:endParaRPr lang="en-US" sz="850" dirty="0"/>
          </a:p>
        </p:txBody>
      </p:sp>
      <p:sp>
        <p:nvSpPr>
          <p:cNvPr id="51" name="Text 49"/>
          <p:cNvSpPr/>
          <p:nvPr/>
        </p:nvSpPr>
        <p:spPr>
          <a:xfrm>
            <a:off x="7589520" y="3383280"/>
            <a:ext cx="457200" cy="192024"/>
          </a:xfrm>
          <a:prstGeom prst="rect">
            <a:avLst/>
          </a:prstGeom>
          <a:noFill/>
          <a:ln/>
        </p:spPr>
        <p:txBody>
          <a:bodyPr wrap="square" lIns="0" tIns="0" rIns="0" bIns="0" rtlCol="0" anchor="ctr"/>
          <a:lstStyle/>
          <a:p>
            <a:pPr algn="r" indent="0" marL="0">
              <a:buNone/>
            </a:pPr>
            <a:r>
              <a:rPr lang="en-US" sz="850" dirty="0">
                <a:solidFill>
                  <a:srgbClr val="8898AA"/>
                </a:solidFill>
              </a:rPr>
              <a:t>15–16</a:t>
            </a:r>
            <a:endParaRPr lang="en-US" sz="850" dirty="0"/>
          </a:p>
        </p:txBody>
      </p:sp>
      <p:sp>
        <p:nvSpPr>
          <p:cNvPr id="52" name="Shape 50"/>
          <p:cNvSpPr/>
          <p:nvPr/>
        </p:nvSpPr>
        <p:spPr>
          <a:xfrm>
            <a:off x="1097280" y="3616452"/>
            <a:ext cx="6949440" cy="260604"/>
          </a:xfrm>
          <a:prstGeom prst="rect">
            <a:avLst/>
          </a:prstGeom>
          <a:solidFill>
            <a:srgbClr val="FFFFFF"/>
          </a:solidFill>
          <a:ln w="12700">
            <a:solidFill>
              <a:srgbClr val="D0D8E4"/>
            </a:solidFill>
            <a:prstDash val="solid"/>
          </a:ln>
        </p:spPr>
      </p:sp>
      <p:sp>
        <p:nvSpPr>
          <p:cNvPr id="53" name="Shape 51"/>
          <p:cNvSpPr/>
          <p:nvPr/>
        </p:nvSpPr>
        <p:spPr>
          <a:xfrm>
            <a:off x="1097280" y="3616452"/>
            <a:ext cx="411480" cy="260604"/>
          </a:xfrm>
          <a:prstGeom prst="rect">
            <a:avLst/>
          </a:prstGeom>
          <a:solidFill>
            <a:srgbClr val="2B5BAE"/>
          </a:solidFill>
          <a:ln w="12700">
            <a:solidFill>
              <a:srgbClr val="2B5BAE"/>
            </a:solidFill>
            <a:prstDash val="solid"/>
          </a:ln>
        </p:spPr>
      </p:sp>
      <p:sp>
        <p:nvSpPr>
          <p:cNvPr id="54" name="Text 52"/>
          <p:cNvSpPr/>
          <p:nvPr/>
        </p:nvSpPr>
        <p:spPr>
          <a:xfrm>
            <a:off x="1097280" y="3653028"/>
            <a:ext cx="411480" cy="192024"/>
          </a:xfrm>
          <a:prstGeom prst="rect">
            <a:avLst/>
          </a:prstGeom>
          <a:noFill/>
          <a:ln/>
        </p:spPr>
        <p:txBody>
          <a:bodyPr wrap="square" lIns="0" tIns="0" rIns="0" bIns="0" rtlCol="0" anchor="ctr"/>
          <a:lstStyle/>
          <a:p>
            <a:pPr algn="ctr" indent="0" marL="0">
              <a:buNone/>
            </a:pPr>
            <a:r>
              <a:rPr lang="en-US" sz="750" b="1" dirty="0">
                <a:solidFill>
                  <a:srgbClr val="FFFFFF"/>
                </a:solidFill>
              </a:rPr>
              <a:t>X</a:t>
            </a:r>
            <a:endParaRPr lang="en-US" sz="750" dirty="0"/>
          </a:p>
        </p:txBody>
      </p:sp>
      <p:sp>
        <p:nvSpPr>
          <p:cNvPr id="55" name="Text 53"/>
          <p:cNvSpPr/>
          <p:nvPr/>
        </p:nvSpPr>
        <p:spPr>
          <a:xfrm>
            <a:off x="1572768" y="3653028"/>
            <a:ext cx="5029200" cy="192024"/>
          </a:xfrm>
          <a:prstGeom prst="rect">
            <a:avLst/>
          </a:prstGeom>
          <a:noFill/>
          <a:ln/>
        </p:spPr>
        <p:txBody>
          <a:bodyPr wrap="square" lIns="0" tIns="0" rIns="0" bIns="0" rtlCol="0" anchor="ctr"/>
          <a:lstStyle/>
          <a:p>
            <a:pPr indent="0" marL="0">
              <a:buNone/>
            </a:pPr>
            <a:r>
              <a:rPr lang="en-US" sz="850" dirty="0">
                <a:solidFill>
                  <a:srgbClr val="1B2D55"/>
                </a:solidFill>
              </a:rPr>
              <a:t>Management Projections</a:t>
            </a:r>
            <a:endParaRPr lang="en-US" sz="850" dirty="0"/>
          </a:p>
        </p:txBody>
      </p:sp>
      <p:sp>
        <p:nvSpPr>
          <p:cNvPr id="56" name="Text 54"/>
          <p:cNvSpPr/>
          <p:nvPr/>
        </p:nvSpPr>
        <p:spPr>
          <a:xfrm>
            <a:off x="7589520" y="3653028"/>
            <a:ext cx="457200" cy="192024"/>
          </a:xfrm>
          <a:prstGeom prst="rect">
            <a:avLst/>
          </a:prstGeom>
          <a:noFill/>
          <a:ln/>
        </p:spPr>
        <p:txBody>
          <a:bodyPr wrap="square" lIns="0" tIns="0" rIns="0" bIns="0" rtlCol="0" anchor="ctr"/>
          <a:lstStyle/>
          <a:p>
            <a:pPr algn="r" indent="0" marL="0">
              <a:buNone/>
            </a:pPr>
            <a:r>
              <a:rPr lang="en-US" sz="850" dirty="0">
                <a:solidFill>
                  <a:srgbClr val="8898AA"/>
                </a:solidFill>
              </a:rPr>
              <a:t>17</a:t>
            </a:r>
            <a:endParaRPr lang="en-US" sz="850" dirty="0"/>
          </a:p>
        </p:txBody>
      </p:sp>
      <p:sp>
        <p:nvSpPr>
          <p:cNvPr id="57" name="Shape 55"/>
          <p:cNvSpPr/>
          <p:nvPr/>
        </p:nvSpPr>
        <p:spPr>
          <a:xfrm>
            <a:off x="1097280" y="3886200"/>
            <a:ext cx="6949440" cy="260604"/>
          </a:xfrm>
          <a:prstGeom prst="rect">
            <a:avLst/>
          </a:prstGeom>
          <a:solidFill>
            <a:srgbClr val="F4F6FA"/>
          </a:solidFill>
          <a:ln w="12700">
            <a:solidFill>
              <a:srgbClr val="D0D8E4"/>
            </a:solidFill>
            <a:prstDash val="solid"/>
          </a:ln>
        </p:spPr>
      </p:sp>
      <p:sp>
        <p:nvSpPr>
          <p:cNvPr id="58" name="Shape 56"/>
          <p:cNvSpPr/>
          <p:nvPr/>
        </p:nvSpPr>
        <p:spPr>
          <a:xfrm>
            <a:off x="1097280" y="3886200"/>
            <a:ext cx="411480" cy="260604"/>
          </a:xfrm>
          <a:prstGeom prst="rect">
            <a:avLst/>
          </a:prstGeom>
          <a:solidFill>
            <a:srgbClr val="2B5BAE"/>
          </a:solidFill>
          <a:ln w="12700">
            <a:solidFill>
              <a:srgbClr val="2B5BAE"/>
            </a:solidFill>
            <a:prstDash val="solid"/>
          </a:ln>
        </p:spPr>
      </p:sp>
      <p:sp>
        <p:nvSpPr>
          <p:cNvPr id="59" name="Text 57"/>
          <p:cNvSpPr/>
          <p:nvPr/>
        </p:nvSpPr>
        <p:spPr>
          <a:xfrm>
            <a:off x="1097280" y="3922776"/>
            <a:ext cx="411480" cy="192024"/>
          </a:xfrm>
          <a:prstGeom prst="rect">
            <a:avLst/>
          </a:prstGeom>
          <a:noFill/>
          <a:ln/>
        </p:spPr>
        <p:txBody>
          <a:bodyPr wrap="square" lIns="0" tIns="0" rIns="0" bIns="0" rtlCol="0" anchor="ctr"/>
          <a:lstStyle/>
          <a:p>
            <a:pPr algn="ctr" indent="0" marL="0">
              <a:buNone/>
            </a:pPr>
            <a:r>
              <a:rPr lang="en-US" sz="750" b="1" dirty="0">
                <a:solidFill>
                  <a:srgbClr val="FFFFFF"/>
                </a:solidFill>
              </a:rPr>
              <a:t>XI</a:t>
            </a:r>
            <a:endParaRPr lang="en-US" sz="750" dirty="0"/>
          </a:p>
        </p:txBody>
      </p:sp>
      <p:sp>
        <p:nvSpPr>
          <p:cNvPr id="60" name="Text 58"/>
          <p:cNvSpPr/>
          <p:nvPr/>
        </p:nvSpPr>
        <p:spPr>
          <a:xfrm>
            <a:off x="1572768" y="3922776"/>
            <a:ext cx="5029200" cy="192024"/>
          </a:xfrm>
          <a:prstGeom prst="rect">
            <a:avLst/>
          </a:prstGeom>
          <a:noFill/>
          <a:ln/>
        </p:spPr>
        <p:txBody>
          <a:bodyPr wrap="square" lIns="0" tIns="0" rIns="0" bIns="0" rtlCol="0" anchor="ctr"/>
          <a:lstStyle/>
          <a:p>
            <a:pPr indent="0" marL="0">
              <a:buNone/>
            </a:pPr>
            <a:r>
              <a:rPr lang="en-US" sz="850" dirty="0">
                <a:solidFill>
                  <a:srgbClr val="1B2D55"/>
                </a:solidFill>
              </a:rPr>
              <a:t>Management Team</a:t>
            </a:r>
            <a:endParaRPr lang="en-US" sz="850" dirty="0"/>
          </a:p>
        </p:txBody>
      </p:sp>
      <p:sp>
        <p:nvSpPr>
          <p:cNvPr id="61" name="Text 59"/>
          <p:cNvSpPr/>
          <p:nvPr/>
        </p:nvSpPr>
        <p:spPr>
          <a:xfrm>
            <a:off x="7589520" y="3922776"/>
            <a:ext cx="457200" cy="192024"/>
          </a:xfrm>
          <a:prstGeom prst="rect">
            <a:avLst/>
          </a:prstGeom>
          <a:noFill/>
          <a:ln/>
        </p:spPr>
        <p:txBody>
          <a:bodyPr wrap="square" lIns="0" tIns="0" rIns="0" bIns="0" rtlCol="0" anchor="ctr"/>
          <a:lstStyle/>
          <a:p>
            <a:pPr algn="r" indent="0" marL="0">
              <a:buNone/>
            </a:pPr>
            <a:r>
              <a:rPr lang="en-US" sz="850" dirty="0">
                <a:solidFill>
                  <a:srgbClr val="8898AA"/>
                </a:solidFill>
              </a:rPr>
              <a:t>18</a:t>
            </a:r>
            <a:endParaRPr lang="en-US" sz="850" dirty="0"/>
          </a:p>
        </p:txBody>
      </p:sp>
      <p:sp>
        <p:nvSpPr>
          <p:cNvPr id="62" name="Shape 60"/>
          <p:cNvSpPr/>
          <p:nvPr/>
        </p:nvSpPr>
        <p:spPr>
          <a:xfrm>
            <a:off x="1097280" y="4155948"/>
            <a:ext cx="6949440" cy="260604"/>
          </a:xfrm>
          <a:prstGeom prst="rect">
            <a:avLst/>
          </a:prstGeom>
          <a:solidFill>
            <a:srgbClr val="FFFFFF"/>
          </a:solidFill>
          <a:ln w="12700">
            <a:solidFill>
              <a:srgbClr val="D0D8E4"/>
            </a:solidFill>
            <a:prstDash val="solid"/>
          </a:ln>
        </p:spPr>
      </p:sp>
      <p:sp>
        <p:nvSpPr>
          <p:cNvPr id="63" name="Shape 61"/>
          <p:cNvSpPr/>
          <p:nvPr/>
        </p:nvSpPr>
        <p:spPr>
          <a:xfrm>
            <a:off x="1097280" y="4155948"/>
            <a:ext cx="411480" cy="260604"/>
          </a:xfrm>
          <a:prstGeom prst="rect">
            <a:avLst/>
          </a:prstGeom>
          <a:solidFill>
            <a:srgbClr val="2B5BAE"/>
          </a:solidFill>
          <a:ln w="12700">
            <a:solidFill>
              <a:srgbClr val="2B5BAE"/>
            </a:solidFill>
            <a:prstDash val="solid"/>
          </a:ln>
        </p:spPr>
      </p:sp>
      <p:sp>
        <p:nvSpPr>
          <p:cNvPr id="64" name="Text 62"/>
          <p:cNvSpPr/>
          <p:nvPr/>
        </p:nvSpPr>
        <p:spPr>
          <a:xfrm>
            <a:off x="1097280" y="4192524"/>
            <a:ext cx="411480" cy="192024"/>
          </a:xfrm>
          <a:prstGeom prst="rect">
            <a:avLst/>
          </a:prstGeom>
          <a:noFill/>
          <a:ln/>
        </p:spPr>
        <p:txBody>
          <a:bodyPr wrap="square" lIns="0" tIns="0" rIns="0" bIns="0" rtlCol="0" anchor="ctr"/>
          <a:lstStyle/>
          <a:p>
            <a:pPr algn="ctr" indent="0" marL="0">
              <a:buNone/>
            </a:pPr>
            <a:r>
              <a:rPr lang="en-US" sz="750" b="1" dirty="0">
                <a:solidFill>
                  <a:srgbClr val="FFFFFF"/>
                </a:solidFill>
              </a:rPr>
              <a:t>XII</a:t>
            </a:r>
            <a:endParaRPr lang="en-US" sz="750" dirty="0"/>
          </a:p>
        </p:txBody>
      </p:sp>
      <p:sp>
        <p:nvSpPr>
          <p:cNvPr id="65" name="Text 63"/>
          <p:cNvSpPr/>
          <p:nvPr/>
        </p:nvSpPr>
        <p:spPr>
          <a:xfrm>
            <a:off x="1572768" y="4192524"/>
            <a:ext cx="5029200" cy="192024"/>
          </a:xfrm>
          <a:prstGeom prst="rect">
            <a:avLst/>
          </a:prstGeom>
          <a:noFill/>
          <a:ln/>
        </p:spPr>
        <p:txBody>
          <a:bodyPr wrap="square" lIns="0" tIns="0" rIns="0" bIns="0" rtlCol="0" anchor="ctr"/>
          <a:lstStyle/>
          <a:p>
            <a:pPr indent="0" marL="0">
              <a:buNone/>
            </a:pPr>
            <a:r>
              <a:rPr lang="en-US" sz="850" dirty="0">
                <a:solidFill>
                  <a:srgbClr val="1B2D55"/>
                </a:solidFill>
              </a:rPr>
              <a:t>Transaction Overview</a:t>
            </a:r>
            <a:endParaRPr lang="en-US" sz="850" dirty="0"/>
          </a:p>
        </p:txBody>
      </p:sp>
      <p:sp>
        <p:nvSpPr>
          <p:cNvPr id="66" name="Text 64"/>
          <p:cNvSpPr/>
          <p:nvPr/>
        </p:nvSpPr>
        <p:spPr>
          <a:xfrm>
            <a:off x="7589520" y="4192524"/>
            <a:ext cx="457200" cy="192024"/>
          </a:xfrm>
          <a:prstGeom prst="rect">
            <a:avLst/>
          </a:prstGeom>
          <a:noFill/>
          <a:ln/>
        </p:spPr>
        <p:txBody>
          <a:bodyPr wrap="square" lIns="0" tIns="0" rIns="0" bIns="0" rtlCol="0" anchor="ctr"/>
          <a:lstStyle/>
          <a:p>
            <a:pPr algn="r" indent="0" marL="0">
              <a:buNone/>
            </a:pPr>
            <a:r>
              <a:rPr lang="en-US" sz="850" dirty="0">
                <a:solidFill>
                  <a:srgbClr val="8898AA"/>
                </a:solidFill>
              </a:rPr>
              <a:t>19</a:t>
            </a:r>
            <a:endParaRPr lang="en-US" sz="850" dirty="0"/>
          </a:p>
        </p:txBody>
      </p:sp>
      <p:sp>
        <p:nvSpPr>
          <p:cNvPr id="67" name="Shape 65"/>
          <p:cNvSpPr/>
          <p:nvPr/>
        </p:nvSpPr>
        <p:spPr>
          <a:xfrm>
            <a:off x="1097280" y="4425696"/>
            <a:ext cx="6949440" cy="260604"/>
          </a:xfrm>
          <a:prstGeom prst="rect">
            <a:avLst/>
          </a:prstGeom>
          <a:solidFill>
            <a:srgbClr val="F4F6FA"/>
          </a:solidFill>
          <a:ln w="12700">
            <a:solidFill>
              <a:srgbClr val="D0D8E4"/>
            </a:solidFill>
            <a:prstDash val="solid"/>
          </a:ln>
        </p:spPr>
      </p:sp>
      <p:sp>
        <p:nvSpPr>
          <p:cNvPr id="68" name="Text 66"/>
          <p:cNvSpPr/>
          <p:nvPr/>
        </p:nvSpPr>
        <p:spPr>
          <a:xfrm>
            <a:off x="1097280" y="4462272"/>
            <a:ext cx="411480" cy="192024"/>
          </a:xfrm>
          <a:prstGeom prst="rect">
            <a:avLst/>
          </a:prstGeom>
          <a:noFill/>
          <a:ln/>
        </p:spPr>
        <p:txBody>
          <a:bodyPr wrap="square" lIns="0" tIns="0" rIns="0" bIns="0" rtlCol="0" anchor="ctr"/>
          <a:lstStyle/>
          <a:p>
            <a:pPr algn="ctr" indent="0" marL="0">
              <a:buNone/>
            </a:pPr>
            <a:endParaRPr lang="en-US" sz="750" dirty="0"/>
          </a:p>
        </p:txBody>
      </p:sp>
      <p:sp>
        <p:nvSpPr>
          <p:cNvPr id="69" name="Text 67"/>
          <p:cNvSpPr/>
          <p:nvPr/>
        </p:nvSpPr>
        <p:spPr>
          <a:xfrm>
            <a:off x="1572768" y="4462272"/>
            <a:ext cx="5029200" cy="192024"/>
          </a:xfrm>
          <a:prstGeom prst="rect">
            <a:avLst/>
          </a:prstGeom>
          <a:noFill/>
          <a:ln/>
        </p:spPr>
        <p:txBody>
          <a:bodyPr wrap="square" lIns="0" tIns="0" rIns="0" bIns="0" rtlCol="0" anchor="ctr"/>
          <a:lstStyle/>
          <a:p>
            <a:pPr indent="0" marL="0">
              <a:buNone/>
            </a:pPr>
            <a:r>
              <a:rPr lang="en-US" sz="850" dirty="0">
                <a:solidFill>
                  <a:srgbClr val="4A5568"/>
                </a:solidFill>
              </a:rPr>
              <a:t>Appendix</a:t>
            </a:r>
            <a:endParaRPr lang="en-US" sz="850" dirty="0"/>
          </a:p>
        </p:txBody>
      </p:sp>
      <p:sp>
        <p:nvSpPr>
          <p:cNvPr id="70" name="Text 68"/>
          <p:cNvSpPr/>
          <p:nvPr/>
        </p:nvSpPr>
        <p:spPr>
          <a:xfrm>
            <a:off x="7589520" y="4462272"/>
            <a:ext cx="457200" cy="192024"/>
          </a:xfrm>
          <a:prstGeom prst="rect">
            <a:avLst/>
          </a:prstGeom>
          <a:noFill/>
          <a:ln/>
        </p:spPr>
        <p:txBody>
          <a:bodyPr wrap="square" lIns="0" tIns="0" rIns="0" bIns="0" rtlCol="0" anchor="ctr"/>
          <a:lstStyle/>
          <a:p>
            <a:pPr algn="r" indent="0" marL="0">
              <a:buNone/>
            </a:pPr>
            <a:r>
              <a:rPr lang="en-US" sz="850" dirty="0">
                <a:solidFill>
                  <a:srgbClr val="8898AA"/>
                </a:solidFill>
              </a:rPr>
              <a:t>20</a:t>
            </a:r>
            <a:endParaRPr lang="en-US" sz="850" dirty="0"/>
          </a:p>
        </p:txBody>
      </p:sp>
      <p:sp>
        <p:nvSpPr>
          <p:cNvPr id="71" name="Shape 69"/>
          <p:cNvSpPr/>
          <p:nvPr/>
        </p:nvSpPr>
        <p:spPr>
          <a:xfrm>
            <a:off x="0" y="4892040"/>
            <a:ext cx="9144000" cy="251460"/>
          </a:xfrm>
          <a:prstGeom prst="rect">
            <a:avLst/>
          </a:prstGeom>
          <a:solidFill>
            <a:srgbClr val="F4F6FA"/>
          </a:solidFill>
          <a:ln w="12700">
            <a:solidFill>
              <a:srgbClr val="D0D8E4"/>
            </a:solidFill>
            <a:prstDash val="solid"/>
          </a:ln>
        </p:spPr>
      </p:sp>
      <p:sp>
        <p:nvSpPr>
          <p:cNvPr id="72" name="Text 70"/>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73" name="Text 71"/>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3 / 20</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GOLDMAN SACHS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SECTION I — EXECUTIVE SUMMARY</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Executive Summary</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Slumber Smart — Premier Platform for Precision Sleep Optimization</a:t>
            </a:r>
            <a:endParaRPr lang="en-US" sz="950" dirty="0"/>
          </a:p>
        </p:txBody>
      </p:sp>
      <p:sp>
        <p:nvSpPr>
          <p:cNvPr id="8" name="Text 6"/>
          <p:cNvSpPr/>
          <p:nvPr/>
        </p:nvSpPr>
        <p:spPr>
          <a:xfrm>
            <a:off x="457200" y="1188720"/>
            <a:ext cx="4572000" cy="3200400"/>
          </a:xfrm>
          <a:prstGeom prst="rect">
            <a:avLst/>
          </a:prstGeom>
          <a:noFill/>
          <a:ln/>
        </p:spPr>
        <p:txBody>
          <a:bodyPr wrap="square" lIns="0" tIns="0" rIns="0" bIns="0" rtlCol="0" anchor="t"/>
          <a:lstStyle/>
          <a:p>
            <a:pPr indent="0" marL="0">
              <a:buNone/>
            </a:pPr>
            <a:r>
              <a:rPr lang="en-US" sz="850" dirty="0">
                <a:solidFill>
                  <a:srgbClr val="4A5568"/>
                </a:solidFill>
              </a:rPr>
              <a:t>Slumber Smart, Inc. ("Slumber Smart" or the "Company") is the category-defining brand in premium sleep-tech hardware and software. Founded in 2014 by CEO Maya Chen, the Company designs and sells an integrated ecosystem of smart mattress pads, biometric monitoring hardware, and AI-powered sleep coaching software — collectively branded as the SlumberPod™ system and SlumberOS™ platform.</a:t>
            </a:r>
            <a:endParaRPr lang="en-US" sz="850" dirty="0"/>
          </a:p>
          <a:p>
            <a:pPr indent="0" marL="0">
              <a:buNone/>
            </a:pPr>
            <a:endParaRPr lang="en-US" sz="850" dirty="0"/>
          </a:p>
          <a:p>
            <a:pPr indent="0" marL="0">
              <a:buNone/>
            </a:pPr>
            <a:r>
              <a:rPr lang="en-US" sz="850" dirty="0">
                <a:solidFill>
                  <a:srgbClr val="4A5568"/>
                </a:solidFill>
              </a:rPr>
              <a:t>The Company serves an affluent, health-conscious consumer base that increasingly views sleep as a core wellness priority. Its DTC-first model (78% of revenue) drives superior unit economics with a CAC of ~$180 and an LTV of ~$1,900, yielding a &lt;6-month payback period.</a:t>
            </a:r>
            <a:endParaRPr lang="en-US" sz="850" dirty="0"/>
          </a:p>
          <a:p>
            <a:pPr indent="0" marL="0">
              <a:buNone/>
            </a:pPr>
            <a:endParaRPr lang="en-US" sz="850" dirty="0"/>
          </a:p>
          <a:p>
            <a:pPr indent="0" marL="0">
              <a:buNone/>
            </a:pPr>
            <a:r>
              <a:rPr lang="en-US" sz="850" dirty="0">
                <a:solidFill>
                  <a:srgbClr val="4A5568"/>
                </a:solidFill>
              </a:rPr>
              <a:t>Slumber Smart has grown revenue at a 26% CAGR from FY2019 to FY2021, reaching $115M in FY2021 and an estimated $145M LTM through Q1 2022. Adj. EBITDA has grown from $7.5M (10.4% margin) in FY2019 to $18M (12.4% margin) LTM — demonstrating strong operating leverage as the subscription layer (currently $29M ARR) continues to scale.</a:t>
            </a:r>
            <a:endParaRPr lang="en-US" sz="850" dirty="0"/>
          </a:p>
        </p:txBody>
      </p:sp>
      <p:sp>
        <p:nvSpPr>
          <p:cNvPr id="9" name="Shape 7"/>
          <p:cNvSpPr/>
          <p:nvPr/>
        </p:nvSpPr>
        <p:spPr>
          <a:xfrm>
            <a:off x="5257800" y="1188720"/>
            <a:ext cx="1737360" cy="868680"/>
          </a:xfrm>
          <a:prstGeom prst="rect">
            <a:avLst/>
          </a:prstGeom>
          <a:solidFill>
            <a:srgbClr val="1B2D55"/>
          </a:solidFill>
          <a:ln w="12700">
            <a:solidFill>
              <a:srgbClr val="1B2D55"/>
            </a:solidFill>
            <a:prstDash val="solid"/>
          </a:ln>
        </p:spPr>
      </p:sp>
      <p:sp>
        <p:nvSpPr>
          <p:cNvPr id="10" name="Text 8"/>
          <p:cNvSpPr/>
          <p:nvPr/>
        </p:nvSpPr>
        <p:spPr>
          <a:xfrm>
            <a:off x="5257800" y="1316736"/>
            <a:ext cx="1737360" cy="402336"/>
          </a:xfrm>
          <a:prstGeom prst="rect">
            <a:avLst/>
          </a:prstGeom>
          <a:noFill/>
          <a:ln/>
        </p:spPr>
        <p:txBody>
          <a:bodyPr wrap="square" lIns="0" tIns="0" rIns="0" bIns="0" rtlCol="0" anchor="ctr"/>
          <a:lstStyle/>
          <a:p>
            <a:pPr algn="ctr" indent="0" marL="0">
              <a:buNone/>
            </a:pPr>
            <a:r>
              <a:rPr lang="en-US" sz="2200" b="1" dirty="0">
                <a:solidFill>
                  <a:srgbClr val="C8A83C"/>
                </a:solidFill>
              </a:rPr>
              <a:t>$145M</a:t>
            </a:r>
            <a:endParaRPr lang="en-US" sz="2200" dirty="0"/>
          </a:p>
        </p:txBody>
      </p:sp>
      <p:sp>
        <p:nvSpPr>
          <p:cNvPr id="11" name="Text 9"/>
          <p:cNvSpPr/>
          <p:nvPr/>
        </p:nvSpPr>
        <p:spPr>
          <a:xfrm>
            <a:off x="5257800" y="1719072"/>
            <a:ext cx="1737360" cy="274320"/>
          </a:xfrm>
          <a:prstGeom prst="rect">
            <a:avLst/>
          </a:prstGeom>
          <a:noFill/>
          <a:ln/>
        </p:spPr>
        <p:txBody>
          <a:bodyPr wrap="square" lIns="0" tIns="0" rIns="0" bIns="0" rtlCol="0" anchor="ctr"/>
          <a:lstStyle/>
          <a:p>
            <a:pPr algn="ctr" indent="0" marL="0">
              <a:buNone/>
            </a:pPr>
            <a:r>
              <a:rPr lang="en-US" sz="750" dirty="0">
                <a:solidFill>
                  <a:srgbClr val="FFFFFF"/>
                </a:solidFill>
              </a:rPr>
              <a:t>LTM Revenue</a:t>
            </a:r>
            <a:endParaRPr lang="en-US" sz="750" dirty="0"/>
          </a:p>
        </p:txBody>
      </p:sp>
      <p:sp>
        <p:nvSpPr>
          <p:cNvPr id="12" name="Shape 10"/>
          <p:cNvSpPr/>
          <p:nvPr/>
        </p:nvSpPr>
        <p:spPr>
          <a:xfrm>
            <a:off x="7086600" y="1188720"/>
            <a:ext cx="1737360" cy="868680"/>
          </a:xfrm>
          <a:prstGeom prst="rect">
            <a:avLst/>
          </a:prstGeom>
          <a:solidFill>
            <a:srgbClr val="1B2D55"/>
          </a:solidFill>
          <a:ln w="12700">
            <a:solidFill>
              <a:srgbClr val="1B2D55"/>
            </a:solidFill>
            <a:prstDash val="solid"/>
          </a:ln>
        </p:spPr>
      </p:sp>
      <p:sp>
        <p:nvSpPr>
          <p:cNvPr id="13" name="Text 11"/>
          <p:cNvSpPr/>
          <p:nvPr/>
        </p:nvSpPr>
        <p:spPr>
          <a:xfrm>
            <a:off x="7086600" y="1316736"/>
            <a:ext cx="1737360" cy="402336"/>
          </a:xfrm>
          <a:prstGeom prst="rect">
            <a:avLst/>
          </a:prstGeom>
          <a:noFill/>
          <a:ln/>
        </p:spPr>
        <p:txBody>
          <a:bodyPr wrap="square" lIns="0" tIns="0" rIns="0" bIns="0" rtlCol="0" anchor="ctr"/>
          <a:lstStyle/>
          <a:p>
            <a:pPr algn="ctr" indent="0" marL="0">
              <a:buNone/>
            </a:pPr>
            <a:r>
              <a:rPr lang="en-US" sz="2200" b="1" dirty="0">
                <a:solidFill>
                  <a:srgbClr val="C8A83C"/>
                </a:solidFill>
              </a:rPr>
              <a:t>$18M</a:t>
            </a:r>
            <a:endParaRPr lang="en-US" sz="2200" dirty="0"/>
          </a:p>
        </p:txBody>
      </p:sp>
      <p:sp>
        <p:nvSpPr>
          <p:cNvPr id="14" name="Text 12"/>
          <p:cNvSpPr/>
          <p:nvPr/>
        </p:nvSpPr>
        <p:spPr>
          <a:xfrm>
            <a:off x="7086600" y="1719072"/>
            <a:ext cx="1737360" cy="274320"/>
          </a:xfrm>
          <a:prstGeom prst="rect">
            <a:avLst/>
          </a:prstGeom>
          <a:noFill/>
          <a:ln/>
        </p:spPr>
        <p:txBody>
          <a:bodyPr wrap="square" lIns="0" tIns="0" rIns="0" bIns="0" rtlCol="0" anchor="ctr"/>
          <a:lstStyle/>
          <a:p>
            <a:pPr algn="ctr" indent="0" marL="0">
              <a:buNone/>
            </a:pPr>
            <a:r>
              <a:rPr lang="en-US" sz="750" dirty="0">
                <a:solidFill>
                  <a:srgbClr val="FFFFFF"/>
                </a:solidFill>
              </a:rPr>
              <a:t>LTM Adj. EBITDA</a:t>
            </a:r>
            <a:endParaRPr lang="en-US" sz="750" dirty="0"/>
          </a:p>
        </p:txBody>
      </p:sp>
      <p:sp>
        <p:nvSpPr>
          <p:cNvPr id="15" name="Shape 13"/>
          <p:cNvSpPr/>
          <p:nvPr/>
        </p:nvSpPr>
        <p:spPr>
          <a:xfrm>
            <a:off x="5257800" y="2148840"/>
            <a:ext cx="1737360" cy="868680"/>
          </a:xfrm>
          <a:prstGeom prst="rect">
            <a:avLst/>
          </a:prstGeom>
          <a:solidFill>
            <a:srgbClr val="2B5BAE"/>
          </a:solidFill>
          <a:ln w="12700">
            <a:solidFill>
              <a:srgbClr val="2B5BAE"/>
            </a:solidFill>
            <a:prstDash val="solid"/>
          </a:ln>
        </p:spPr>
      </p:sp>
      <p:sp>
        <p:nvSpPr>
          <p:cNvPr id="16" name="Text 14"/>
          <p:cNvSpPr/>
          <p:nvPr/>
        </p:nvSpPr>
        <p:spPr>
          <a:xfrm>
            <a:off x="5257800" y="2276856"/>
            <a:ext cx="1737360" cy="402336"/>
          </a:xfrm>
          <a:prstGeom prst="rect">
            <a:avLst/>
          </a:prstGeom>
          <a:noFill/>
          <a:ln/>
        </p:spPr>
        <p:txBody>
          <a:bodyPr wrap="square" lIns="0" tIns="0" rIns="0" bIns="0" rtlCol="0" anchor="ctr"/>
          <a:lstStyle/>
          <a:p>
            <a:pPr algn="ctr" indent="0" marL="0">
              <a:buNone/>
            </a:pPr>
            <a:r>
              <a:rPr lang="en-US" sz="2200" b="1" dirty="0">
                <a:solidFill>
                  <a:srgbClr val="C8A83C"/>
                </a:solidFill>
              </a:rPr>
              <a:t>+28%</a:t>
            </a:r>
            <a:endParaRPr lang="en-US" sz="2200" dirty="0"/>
          </a:p>
        </p:txBody>
      </p:sp>
      <p:sp>
        <p:nvSpPr>
          <p:cNvPr id="17" name="Text 15"/>
          <p:cNvSpPr/>
          <p:nvPr/>
        </p:nvSpPr>
        <p:spPr>
          <a:xfrm>
            <a:off x="5257800" y="2679192"/>
            <a:ext cx="1737360" cy="274320"/>
          </a:xfrm>
          <a:prstGeom prst="rect">
            <a:avLst/>
          </a:prstGeom>
          <a:noFill/>
          <a:ln/>
        </p:spPr>
        <p:txBody>
          <a:bodyPr wrap="square" lIns="0" tIns="0" rIns="0" bIns="0" rtlCol="0" anchor="ctr"/>
          <a:lstStyle/>
          <a:p>
            <a:pPr algn="ctr" indent="0" marL="0">
              <a:buNone/>
            </a:pPr>
            <a:r>
              <a:rPr lang="en-US" sz="750" dirty="0">
                <a:solidFill>
                  <a:srgbClr val="FFFFFF"/>
                </a:solidFill>
              </a:rPr>
              <a:t>YoY Revenue Growth</a:t>
            </a:r>
            <a:endParaRPr lang="en-US" sz="750" dirty="0"/>
          </a:p>
        </p:txBody>
      </p:sp>
      <p:sp>
        <p:nvSpPr>
          <p:cNvPr id="18" name="Shape 16"/>
          <p:cNvSpPr/>
          <p:nvPr/>
        </p:nvSpPr>
        <p:spPr>
          <a:xfrm>
            <a:off x="7086600" y="2148840"/>
            <a:ext cx="1737360" cy="868680"/>
          </a:xfrm>
          <a:prstGeom prst="rect">
            <a:avLst/>
          </a:prstGeom>
          <a:solidFill>
            <a:srgbClr val="2B5BAE"/>
          </a:solidFill>
          <a:ln w="12700">
            <a:solidFill>
              <a:srgbClr val="2B5BAE"/>
            </a:solidFill>
            <a:prstDash val="solid"/>
          </a:ln>
        </p:spPr>
      </p:sp>
      <p:sp>
        <p:nvSpPr>
          <p:cNvPr id="19" name="Text 17"/>
          <p:cNvSpPr/>
          <p:nvPr/>
        </p:nvSpPr>
        <p:spPr>
          <a:xfrm>
            <a:off x="7086600" y="2276856"/>
            <a:ext cx="1737360" cy="402336"/>
          </a:xfrm>
          <a:prstGeom prst="rect">
            <a:avLst/>
          </a:prstGeom>
          <a:noFill/>
          <a:ln/>
        </p:spPr>
        <p:txBody>
          <a:bodyPr wrap="square" lIns="0" tIns="0" rIns="0" bIns="0" rtlCol="0" anchor="ctr"/>
          <a:lstStyle/>
          <a:p>
            <a:pPr algn="ctr" indent="0" marL="0">
              <a:buNone/>
            </a:pPr>
            <a:r>
              <a:rPr lang="en-US" sz="2200" b="1" dirty="0">
                <a:solidFill>
                  <a:srgbClr val="C8A83C"/>
                </a:solidFill>
              </a:rPr>
              <a:t>$29M</a:t>
            </a:r>
            <a:endParaRPr lang="en-US" sz="2200" dirty="0"/>
          </a:p>
        </p:txBody>
      </p:sp>
      <p:sp>
        <p:nvSpPr>
          <p:cNvPr id="20" name="Text 18"/>
          <p:cNvSpPr/>
          <p:nvPr/>
        </p:nvSpPr>
        <p:spPr>
          <a:xfrm>
            <a:off x="7086600" y="2679192"/>
            <a:ext cx="1737360" cy="274320"/>
          </a:xfrm>
          <a:prstGeom prst="rect">
            <a:avLst/>
          </a:prstGeom>
          <a:noFill/>
          <a:ln/>
        </p:spPr>
        <p:txBody>
          <a:bodyPr wrap="square" lIns="0" tIns="0" rIns="0" bIns="0" rtlCol="0" anchor="ctr"/>
          <a:lstStyle/>
          <a:p>
            <a:pPr algn="ctr" indent="0" marL="0">
              <a:buNone/>
            </a:pPr>
            <a:r>
              <a:rPr lang="en-US" sz="750" dirty="0">
                <a:solidFill>
                  <a:srgbClr val="FFFFFF"/>
                </a:solidFill>
              </a:rPr>
              <a:t>Subscription ARR</a:t>
            </a:r>
            <a:endParaRPr lang="en-US" sz="750" dirty="0"/>
          </a:p>
        </p:txBody>
      </p:sp>
      <p:sp>
        <p:nvSpPr>
          <p:cNvPr id="21" name="Shape 19"/>
          <p:cNvSpPr/>
          <p:nvPr/>
        </p:nvSpPr>
        <p:spPr>
          <a:xfrm>
            <a:off x="5257800" y="3108960"/>
            <a:ext cx="1737360" cy="868680"/>
          </a:xfrm>
          <a:prstGeom prst="rect">
            <a:avLst/>
          </a:prstGeom>
          <a:solidFill>
            <a:srgbClr val="1B2D55"/>
          </a:solidFill>
          <a:ln w="12700">
            <a:solidFill>
              <a:srgbClr val="1B2D55"/>
            </a:solidFill>
            <a:prstDash val="solid"/>
          </a:ln>
        </p:spPr>
      </p:sp>
      <p:sp>
        <p:nvSpPr>
          <p:cNvPr id="22" name="Text 20"/>
          <p:cNvSpPr/>
          <p:nvPr/>
        </p:nvSpPr>
        <p:spPr>
          <a:xfrm>
            <a:off x="5257800" y="3236976"/>
            <a:ext cx="1737360" cy="402336"/>
          </a:xfrm>
          <a:prstGeom prst="rect">
            <a:avLst/>
          </a:prstGeom>
          <a:noFill/>
          <a:ln/>
        </p:spPr>
        <p:txBody>
          <a:bodyPr wrap="square" lIns="0" tIns="0" rIns="0" bIns="0" rtlCol="0" anchor="ctr"/>
          <a:lstStyle/>
          <a:p>
            <a:pPr algn="ctr" indent="0" marL="0">
              <a:buNone/>
            </a:pPr>
            <a:r>
              <a:rPr lang="en-US" sz="2200" b="1" dirty="0">
                <a:solidFill>
                  <a:srgbClr val="C8A83C"/>
                </a:solidFill>
              </a:rPr>
              <a:t>~185K</a:t>
            </a:r>
            <a:endParaRPr lang="en-US" sz="2200" dirty="0"/>
          </a:p>
        </p:txBody>
      </p:sp>
      <p:sp>
        <p:nvSpPr>
          <p:cNvPr id="23" name="Text 21"/>
          <p:cNvSpPr/>
          <p:nvPr/>
        </p:nvSpPr>
        <p:spPr>
          <a:xfrm>
            <a:off x="5257800" y="3639312"/>
            <a:ext cx="1737360" cy="274320"/>
          </a:xfrm>
          <a:prstGeom prst="rect">
            <a:avLst/>
          </a:prstGeom>
          <a:noFill/>
          <a:ln/>
        </p:spPr>
        <p:txBody>
          <a:bodyPr wrap="square" lIns="0" tIns="0" rIns="0" bIns="0" rtlCol="0" anchor="ctr"/>
          <a:lstStyle/>
          <a:p>
            <a:pPr algn="ctr" indent="0" marL="0">
              <a:buNone/>
            </a:pPr>
            <a:r>
              <a:rPr lang="en-US" sz="750" dirty="0">
                <a:solidFill>
                  <a:srgbClr val="FFFFFF"/>
                </a:solidFill>
              </a:rPr>
              <a:t>Subscribers</a:t>
            </a:r>
            <a:endParaRPr lang="en-US" sz="750" dirty="0"/>
          </a:p>
        </p:txBody>
      </p:sp>
      <p:sp>
        <p:nvSpPr>
          <p:cNvPr id="24" name="Shape 22"/>
          <p:cNvSpPr/>
          <p:nvPr/>
        </p:nvSpPr>
        <p:spPr>
          <a:xfrm>
            <a:off x="7086600" y="3108960"/>
            <a:ext cx="1737360" cy="868680"/>
          </a:xfrm>
          <a:prstGeom prst="rect">
            <a:avLst/>
          </a:prstGeom>
          <a:solidFill>
            <a:srgbClr val="1B2D55"/>
          </a:solidFill>
          <a:ln w="12700">
            <a:solidFill>
              <a:srgbClr val="1B2D55"/>
            </a:solidFill>
            <a:prstDash val="solid"/>
          </a:ln>
        </p:spPr>
      </p:sp>
      <p:sp>
        <p:nvSpPr>
          <p:cNvPr id="25" name="Text 23"/>
          <p:cNvSpPr/>
          <p:nvPr/>
        </p:nvSpPr>
        <p:spPr>
          <a:xfrm>
            <a:off x="7086600" y="3236976"/>
            <a:ext cx="1737360" cy="402336"/>
          </a:xfrm>
          <a:prstGeom prst="rect">
            <a:avLst/>
          </a:prstGeom>
          <a:noFill/>
          <a:ln/>
        </p:spPr>
        <p:txBody>
          <a:bodyPr wrap="square" lIns="0" tIns="0" rIns="0" bIns="0" rtlCol="0" anchor="ctr"/>
          <a:lstStyle/>
          <a:p>
            <a:pPr algn="ctr" indent="0" marL="0">
              <a:buNone/>
            </a:pPr>
            <a:r>
              <a:rPr lang="en-US" sz="2200" b="1" dirty="0">
                <a:solidFill>
                  <a:srgbClr val="C8A83C"/>
                </a:solidFill>
              </a:rPr>
              <a:t>115%</a:t>
            </a:r>
            <a:endParaRPr lang="en-US" sz="2200" dirty="0"/>
          </a:p>
        </p:txBody>
      </p:sp>
      <p:sp>
        <p:nvSpPr>
          <p:cNvPr id="26" name="Text 24"/>
          <p:cNvSpPr/>
          <p:nvPr/>
        </p:nvSpPr>
        <p:spPr>
          <a:xfrm>
            <a:off x="7086600" y="3639312"/>
            <a:ext cx="1737360" cy="274320"/>
          </a:xfrm>
          <a:prstGeom prst="rect">
            <a:avLst/>
          </a:prstGeom>
          <a:noFill/>
          <a:ln/>
        </p:spPr>
        <p:txBody>
          <a:bodyPr wrap="square" lIns="0" tIns="0" rIns="0" bIns="0" rtlCol="0" anchor="ctr"/>
          <a:lstStyle/>
          <a:p>
            <a:pPr algn="ctr" indent="0" marL="0">
              <a:buNone/>
            </a:pPr>
            <a:r>
              <a:rPr lang="en-US" sz="750" dirty="0">
                <a:solidFill>
                  <a:srgbClr val="FFFFFF"/>
                </a:solidFill>
              </a:rPr>
              <a:t>Net Revenue Retention</a:t>
            </a:r>
            <a:endParaRPr lang="en-US" sz="750" dirty="0"/>
          </a:p>
        </p:txBody>
      </p:sp>
      <p:sp>
        <p:nvSpPr>
          <p:cNvPr id="27" name="Shape 25"/>
          <p:cNvSpPr/>
          <p:nvPr/>
        </p:nvSpPr>
        <p:spPr>
          <a:xfrm>
            <a:off x="0" y="4892040"/>
            <a:ext cx="9144000" cy="251460"/>
          </a:xfrm>
          <a:prstGeom prst="rect">
            <a:avLst/>
          </a:prstGeom>
          <a:solidFill>
            <a:srgbClr val="F4F6FA"/>
          </a:solidFill>
          <a:ln w="12700">
            <a:solidFill>
              <a:srgbClr val="D0D8E4"/>
            </a:solidFill>
            <a:prstDash val="solid"/>
          </a:ln>
        </p:spPr>
      </p:sp>
      <p:sp>
        <p:nvSpPr>
          <p:cNvPr id="28" name="Text 26"/>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29" name="Text 27"/>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4 / 20</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GOLDMAN SACHS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SECTION II — INVESTMENT HIGHLIGHTS</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Investment Highlights</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A platform built to win in the premium sleep economy (1 of 2)</a:t>
            </a:r>
            <a:endParaRPr lang="en-US" sz="950" dirty="0"/>
          </a:p>
        </p:txBody>
      </p:sp>
      <p:sp>
        <p:nvSpPr>
          <p:cNvPr id="8" name="Shape 6"/>
          <p:cNvSpPr/>
          <p:nvPr/>
        </p:nvSpPr>
        <p:spPr>
          <a:xfrm>
            <a:off x="457200" y="1234440"/>
            <a:ext cx="457200" cy="411480"/>
          </a:xfrm>
          <a:prstGeom prst="rect">
            <a:avLst/>
          </a:prstGeom>
          <a:solidFill>
            <a:srgbClr val="C8A83C"/>
          </a:solidFill>
          <a:ln w="12700">
            <a:solidFill>
              <a:srgbClr val="C8A83C"/>
            </a:solidFill>
            <a:prstDash val="solid"/>
          </a:ln>
        </p:spPr>
      </p:sp>
      <p:sp>
        <p:nvSpPr>
          <p:cNvPr id="9" name="Text 7"/>
          <p:cNvSpPr/>
          <p:nvPr/>
        </p:nvSpPr>
        <p:spPr>
          <a:xfrm>
            <a:off x="457200" y="1298448"/>
            <a:ext cx="457200" cy="283464"/>
          </a:xfrm>
          <a:prstGeom prst="rect">
            <a:avLst/>
          </a:prstGeom>
          <a:noFill/>
          <a:ln/>
        </p:spPr>
        <p:txBody>
          <a:bodyPr wrap="square" lIns="0" tIns="0" rIns="0" bIns="0" rtlCol="0" anchor="ctr"/>
          <a:lstStyle/>
          <a:p>
            <a:pPr algn="ctr" indent="0" marL="0">
              <a:buNone/>
            </a:pPr>
            <a:r>
              <a:rPr lang="en-US" sz="1000" b="1" dirty="0">
                <a:solidFill>
                  <a:srgbClr val="1B2D55"/>
                </a:solidFill>
              </a:rPr>
              <a:t>01</a:t>
            </a:r>
            <a:endParaRPr lang="en-US" sz="1000" dirty="0"/>
          </a:p>
        </p:txBody>
      </p:sp>
      <p:sp>
        <p:nvSpPr>
          <p:cNvPr id="10" name="Text 8"/>
          <p:cNvSpPr/>
          <p:nvPr/>
        </p:nvSpPr>
        <p:spPr>
          <a:xfrm>
            <a:off x="1005840" y="1289304"/>
            <a:ext cx="7680960" cy="274320"/>
          </a:xfrm>
          <a:prstGeom prst="rect">
            <a:avLst/>
          </a:prstGeom>
          <a:noFill/>
          <a:ln/>
        </p:spPr>
        <p:txBody>
          <a:bodyPr wrap="square" lIns="0" tIns="0" rIns="0" bIns="0" rtlCol="0" anchor="ctr"/>
          <a:lstStyle/>
          <a:p>
            <a:pPr indent="0" marL="0">
              <a:buNone/>
            </a:pPr>
            <a:r>
              <a:rPr lang="en-US" sz="1050" b="1" dirty="0">
                <a:solidFill>
                  <a:srgbClr val="1B2D55"/>
                </a:solidFill>
              </a:rPr>
              <a:t>Market leadership in a structurally growing category</a:t>
            </a:r>
            <a:endParaRPr lang="en-US" sz="1050" dirty="0"/>
          </a:p>
        </p:txBody>
      </p:sp>
      <p:sp>
        <p:nvSpPr>
          <p:cNvPr id="11" name="Shape 9"/>
          <p:cNvSpPr/>
          <p:nvPr/>
        </p:nvSpPr>
        <p:spPr>
          <a:xfrm>
            <a:off x="457200" y="1673352"/>
            <a:ext cx="8229600" cy="0"/>
          </a:xfrm>
          <a:prstGeom prst="line">
            <a:avLst/>
          </a:prstGeom>
          <a:noFill/>
          <a:ln w="9525">
            <a:solidFill>
              <a:srgbClr val="D0D8E4"/>
            </a:solidFill>
            <a:prstDash val="solid"/>
          </a:ln>
        </p:spPr>
      </p:sp>
      <p:sp>
        <p:nvSpPr>
          <p:cNvPr id="12" name="Shape 10"/>
          <p:cNvSpPr/>
          <p:nvPr/>
        </p:nvSpPr>
        <p:spPr>
          <a:xfrm>
            <a:off x="1005840" y="1801368"/>
            <a:ext cx="82296" cy="82296"/>
          </a:xfrm>
          <a:prstGeom prst="oval">
            <a:avLst/>
          </a:prstGeom>
          <a:solidFill>
            <a:srgbClr val="2B5BAE"/>
          </a:solidFill>
          <a:ln w="12700">
            <a:solidFill>
              <a:srgbClr val="2B5BAE"/>
            </a:solidFill>
            <a:prstDash val="solid"/>
          </a:ln>
        </p:spPr>
      </p:sp>
      <p:sp>
        <p:nvSpPr>
          <p:cNvPr id="13" name="Text 11"/>
          <p:cNvSpPr/>
          <p:nvPr/>
        </p:nvSpPr>
        <p:spPr>
          <a:xfrm>
            <a:off x="1170432" y="1746504"/>
            <a:ext cx="7516368" cy="219456"/>
          </a:xfrm>
          <a:prstGeom prst="rect">
            <a:avLst/>
          </a:prstGeom>
          <a:noFill/>
          <a:ln/>
        </p:spPr>
        <p:txBody>
          <a:bodyPr wrap="square" lIns="0" tIns="0" rIns="0" bIns="0" rtlCol="0" anchor="ctr"/>
          <a:lstStyle/>
          <a:p>
            <a:pPr indent="0" marL="0">
              <a:buNone/>
            </a:pPr>
            <a:r>
              <a:rPr lang="en-US" sz="850" dirty="0">
                <a:solidFill>
                  <a:srgbClr val="4A5568"/>
                </a:solidFill>
              </a:rPr>
              <a:t>Sleep health is the fastest-growing segment of the $80B wellness economy</a:t>
            </a:r>
            <a:endParaRPr lang="en-US" sz="850" dirty="0"/>
          </a:p>
        </p:txBody>
      </p:sp>
      <p:sp>
        <p:nvSpPr>
          <p:cNvPr id="14" name="Shape 12"/>
          <p:cNvSpPr/>
          <p:nvPr/>
        </p:nvSpPr>
        <p:spPr>
          <a:xfrm>
            <a:off x="1005840" y="2029968"/>
            <a:ext cx="82296" cy="82296"/>
          </a:xfrm>
          <a:prstGeom prst="oval">
            <a:avLst/>
          </a:prstGeom>
          <a:solidFill>
            <a:srgbClr val="2B5BAE"/>
          </a:solidFill>
          <a:ln w="12700">
            <a:solidFill>
              <a:srgbClr val="2B5BAE"/>
            </a:solidFill>
            <a:prstDash val="solid"/>
          </a:ln>
        </p:spPr>
      </p:sp>
      <p:sp>
        <p:nvSpPr>
          <p:cNvPr id="15" name="Text 13"/>
          <p:cNvSpPr/>
          <p:nvPr/>
        </p:nvSpPr>
        <p:spPr>
          <a:xfrm>
            <a:off x="1170432" y="1975104"/>
            <a:ext cx="7516368" cy="219456"/>
          </a:xfrm>
          <a:prstGeom prst="rect">
            <a:avLst/>
          </a:prstGeom>
          <a:noFill/>
          <a:ln/>
        </p:spPr>
        <p:txBody>
          <a:bodyPr wrap="square" lIns="0" tIns="0" rIns="0" bIns="0" rtlCol="0" anchor="ctr"/>
          <a:lstStyle/>
          <a:p>
            <a:pPr indent="0" marL="0">
              <a:buNone/>
            </a:pPr>
            <a:r>
              <a:rPr lang="en-US" sz="850" dirty="0">
                <a:solidFill>
                  <a:srgbClr val="4A5568"/>
                </a:solidFill>
              </a:rPr>
              <a:t>~$2.5B premium sleep-tech TAM growing 18% CAGR through 2026 (per Frost &amp; Sullivan 2022)</a:t>
            </a:r>
            <a:endParaRPr lang="en-US" sz="850" dirty="0"/>
          </a:p>
        </p:txBody>
      </p:sp>
      <p:sp>
        <p:nvSpPr>
          <p:cNvPr id="16" name="Shape 14"/>
          <p:cNvSpPr/>
          <p:nvPr/>
        </p:nvSpPr>
        <p:spPr>
          <a:xfrm>
            <a:off x="1005840" y="2258568"/>
            <a:ext cx="82296" cy="82296"/>
          </a:xfrm>
          <a:prstGeom prst="oval">
            <a:avLst/>
          </a:prstGeom>
          <a:solidFill>
            <a:srgbClr val="2B5BAE"/>
          </a:solidFill>
          <a:ln w="12700">
            <a:solidFill>
              <a:srgbClr val="2B5BAE"/>
            </a:solidFill>
            <a:prstDash val="solid"/>
          </a:ln>
        </p:spPr>
      </p:sp>
      <p:sp>
        <p:nvSpPr>
          <p:cNvPr id="17" name="Text 15"/>
          <p:cNvSpPr/>
          <p:nvPr/>
        </p:nvSpPr>
        <p:spPr>
          <a:xfrm>
            <a:off x="1170432" y="2203704"/>
            <a:ext cx="7516368" cy="219456"/>
          </a:xfrm>
          <a:prstGeom prst="rect">
            <a:avLst/>
          </a:prstGeom>
          <a:noFill/>
          <a:ln/>
        </p:spPr>
        <p:txBody>
          <a:bodyPr wrap="square" lIns="0" tIns="0" rIns="0" bIns="0" rtlCol="0" anchor="ctr"/>
          <a:lstStyle/>
          <a:p>
            <a:pPr indent="0" marL="0">
              <a:buNone/>
            </a:pPr>
            <a:r>
              <a:rPr lang="en-US" sz="850" dirty="0">
                <a:solidFill>
                  <a:srgbClr val="4A5568"/>
                </a:solidFill>
              </a:rPr>
              <a:t>Slumber Smart holds 35% share in the smart mattress sub-segment — 2.5x next closest competitor</a:t>
            </a:r>
            <a:endParaRPr lang="en-US" sz="850" dirty="0"/>
          </a:p>
        </p:txBody>
      </p:sp>
      <p:sp>
        <p:nvSpPr>
          <p:cNvPr id="18" name="Shape 16"/>
          <p:cNvSpPr/>
          <p:nvPr/>
        </p:nvSpPr>
        <p:spPr>
          <a:xfrm>
            <a:off x="457200" y="2404872"/>
            <a:ext cx="457200" cy="411480"/>
          </a:xfrm>
          <a:prstGeom prst="rect">
            <a:avLst/>
          </a:prstGeom>
          <a:solidFill>
            <a:srgbClr val="C8A83C"/>
          </a:solidFill>
          <a:ln w="12700">
            <a:solidFill>
              <a:srgbClr val="C8A83C"/>
            </a:solidFill>
            <a:prstDash val="solid"/>
          </a:ln>
        </p:spPr>
      </p:sp>
      <p:sp>
        <p:nvSpPr>
          <p:cNvPr id="19" name="Text 17"/>
          <p:cNvSpPr/>
          <p:nvPr/>
        </p:nvSpPr>
        <p:spPr>
          <a:xfrm>
            <a:off x="457200" y="2468880"/>
            <a:ext cx="457200" cy="283464"/>
          </a:xfrm>
          <a:prstGeom prst="rect">
            <a:avLst/>
          </a:prstGeom>
          <a:noFill/>
          <a:ln/>
        </p:spPr>
        <p:txBody>
          <a:bodyPr wrap="square" lIns="0" tIns="0" rIns="0" bIns="0" rtlCol="0" anchor="ctr"/>
          <a:lstStyle/>
          <a:p>
            <a:pPr algn="ctr" indent="0" marL="0">
              <a:buNone/>
            </a:pPr>
            <a:r>
              <a:rPr lang="en-US" sz="1000" b="1" dirty="0">
                <a:solidFill>
                  <a:srgbClr val="1B2D55"/>
                </a:solidFill>
              </a:rPr>
              <a:t>02</a:t>
            </a:r>
            <a:endParaRPr lang="en-US" sz="1000" dirty="0"/>
          </a:p>
        </p:txBody>
      </p:sp>
      <p:sp>
        <p:nvSpPr>
          <p:cNvPr id="20" name="Text 18"/>
          <p:cNvSpPr/>
          <p:nvPr/>
        </p:nvSpPr>
        <p:spPr>
          <a:xfrm>
            <a:off x="1005840" y="2459736"/>
            <a:ext cx="7680960" cy="274320"/>
          </a:xfrm>
          <a:prstGeom prst="rect">
            <a:avLst/>
          </a:prstGeom>
          <a:noFill/>
          <a:ln/>
        </p:spPr>
        <p:txBody>
          <a:bodyPr wrap="square" lIns="0" tIns="0" rIns="0" bIns="0" rtlCol="0" anchor="ctr"/>
          <a:lstStyle/>
          <a:p>
            <a:pPr indent="0" marL="0">
              <a:buNone/>
            </a:pPr>
            <a:r>
              <a:rPr lang="en-US" sz="1050" b="1" dirty="0">
                <a:solidFill>
                  <a:srgbClr val="1B2D55"/>
                </a:solidFill>
              </a:rPr>
              <a:t>Proprietary hardware-software flywheel with defensible IP</a:t>
            </a:r>
            <a:endParaRPr lang="en-US" sz="1050" dirty="0"/>
          </a:p>
        </p:txBody>
      </p:sp>
      <p:sp>
        <p:nvSpPr>
          <p:cNvPr id="21" name="Shape 19"/>
          <p:cNvSpPr/>
          <p:nvPr/>
        </p:nvSpPr>
        <p:spPr>
          <a:xfrm>
            <a:off x="457200" y="2843784"/>
            <a:ext cx="8229600" cy="0"/>
          </a:xfrm>
          <a:prstGeom prst="line">
            <a:avLst/>
          </a:prstGeom>
          <a:noFill/>
          <a:ln w="9525">
            <a:solidFill>
              <a:srgbClr val="D0D8E4"/>
            </a:solidFill>
            <a:prstDash val="solid"/>
          </a:ln>
        </p:spPr>
      </p:sp>
      <p:sp>
        <p:nvSpPr>
          <p:cNvPr id="22" name="Shape 20"/>
          <p:cNvSpPr/>
          <p:nvPr/>
        </p:nvSpPr>
        <p:spPr>
          <a:xfrm>
            <a:off x="1005840" y="2971800"/>
            <a:ext cx="82296" cy="82296"/>
          </a:xfrm>
          <a:prstGeom prst="oval">
            <a:avLst/>
          </a:prstGeom>
          <a:solidFill>
            <a:srgbClr val="2B5BAE"/>
          </a:solidFill>
          <a:ln w="12700">
            <a:solidFill>
              <a:srgbClr val="2B5BAE"/>
            </a:solidFill>
            <a:prstDash val="solid"/>
          </a:ln>
        </p:spPr>
      </p:sp>
      <p:sp>
        <p:nvSpPr>
          <p:cNvPr id="23" name="Text 21"/>
          <p:cNvSpPr/>
          <p:nvPr/>
        </p:nvSpPr>
        <p:spPr>
          <a:xfrm>
            <a:off x="1170432" y="2916936"/>
            <a:ext cx="7516368" cy="219456"/>
          </a:xfrm>
          <a:prstGeom prst="rect">
            <a:avLst/>
          </a:prstGeom>
          <a:noFill/>
          <a:ln/>
        </p:spPr>
        <p:txBody>
          <a:bodyPr wrap="square" lIns="0" tIns="0" rIns="0" bIns="0" rtlCol="0" anchor="ctr"/>
          <a:lstStyle/>
          <a:p>
            <a:pPr indent="0" marL="0">
              <a:buNone/>
            </a:pPr>
            <a:r>
              <a:rPr lang="en-US" sz="850" dirty="0">
                <a:solidFill>
                  <a:srgbClr val="4A5568"/>
                </a:solidFill>
              </a:rPr>
              <a:t>15 patents (10 granted, 5 pending) on thermal regulation algorithms and biometric integration</a:t>
            </a:r>
            <a:endParaRPr lang="en-US" sz="850" dirty="0"/>
          </a:p>
        </p:txBody>
      </p:sp>
      <p:sp>
        <p:nvSpPr>
          <p:cNvPr id="24" name="Shape 22"/>
          <p:cNvSpPr/>
          <p:nvPr/>
        </p:nvSpPr>
        <p:spPr>
          <a:xfrm>
            <a:off x="1005840" y="3200400"/>
            <a:ext cx="82296" cy="82296"/>
          </a:xfrm>
          <a:prstGeom prst="oval">
            <a:avLst/>
          </a:prstGeom>
          <a:solidFill>
            <a:srgbClr val="2B5BAE"/>
          </a:solidFill>
          <a:ln w="12700">
            <a:solidFill>
              <a:srgbClr val="2B5BAE"/>
            </a:solidFill>
            <a:prstDash val="solid"/>
          </a:ln>
        </p:spPr>
      </p:sp>
      <p:sp>
        <p:nvSpPr>
          <p:cNvPr id="25" name="Text 23"/>
          <p:cNvSpPr/>
          <p:nvPr/>
        </p:nvSpPr>
        <p:spPr>
          <a:xfrm>
            <a:off x="1170432" y="3145536"/>
            <a:ext cx="7516368" cy="219456"/>
          </a:xfrm>
          <a:prstGeom prst="rect">
            <a:avLst/>
          </a:prstGeom>
          <a:noFill/>
          <a:ln/>
        </p:spPr>
        <p:txBody>
          <a:bodyPr wrap="square" lIns="0" tIns="0" rIns="0" bIns="0" rtlCol="0" anchor="ctr"/>
          <a:lstStyle/>
          <a:p>
            <a:pPr indent="0" marL="0">
              <a:buNone/>
            </a:pPr>
            <a:r>
              <a:rPr lang="en-US" sz="850" dirty="0">
                <a:solidFill>
                  <a:srgbClr val="4A5568"/>
                </a:solidFill>
              </a:rPr>
              <a:t>Each night of use feeds the SlumberAI model — accuracy improves with scale, creating embedded switching cost</a:t>
            </a:r>
            <a:endParaRPr lang="en-US" sz="850" dirty="0"/>
          </a:p>
        </p:txBody>
      </p:sp>
      <p:sp>
        <p:nvSpPr>
          <p:cNvPr id="26" name="Shape 24"/>
          <p:cNvSpPr/>
          <p:nvPr/>
        </p:nvSpPr>
        <p:spPr>
          <a:xfrm>
            <a:off x="1005840" y="3429000"/>
            <a:ext cx="82296" cy="82296"/>
          </a:xfrm>
          <a:prstGeom prst="oval">
            <a:avLst/>
          </a:prstGeom>
          <a:solidFill>
            <a:srgbClr val="2B5BAE"/>
          </a:solidFill>
          <a:ln w="12700">
            <a:solidFill>
              <a:srgbClr val="2B5BAE"/>
            </a:solidFill>
            <a:prstDash val="solid"/>
          </a:ln>
        </p:spPr>
      </p:sp>
      <p:sp>
        <p:nvSpPr>
          <p:cNvPr id="27" name="Text 25"/>
          <p:cNvSpPr/>
          <p:nvPr/>
        </p:nvSpPr>
        <p:spPr>
          <a:xfrm>
            <a:off x="1170432" y="3374136"/>
            <a:ext cx="7516368" cy="219456"/>
          </a:xfrm>
          <a:prstGeom prst="rect">
            <a:avLst/>
          </a:prstGeom>
          <a:noFill/>
          <a:ln/>
        </p:spPr>
        <p:txBody>
          <a:bodyPr wrap="square" lIns="0" tIns="0" rIns="0" bIns="0" rtlCol="0" anchor="ctr"/>
          <a:lstStyle/>
          <a:p>
            <a:pPr indent="0" marL="0">
              <a:buNone/>
            </a:pPr>
            <a:r>
              <a:rPr lang="en-US" sz="850" dirty="0">
                <a:solidFill>
                  <a:srgbClr val="4A5568"/>
                </a:solidFill>
              </a:rPr>
              <a:t>Software platform (SlumberOS) handles 95M+ nightly data points; 3.2M+ nights of training data accumulated</a:t>
            </a:r>
            <a:endParaRPr lang="en-US" sz="850" dirty="0"/>
          </a:p>
        </p:txBody>
      </p:sp>
      <p:sp>
        <p:nvSpPr>
          <p:cNvPr id="28" name="Shape 26"/>
          <p:cNvSpPr/>
          <p:nvPr/>
        </p:nvSpPr>
        <p:spPr>
          <a:xfrm>
            <a:off x="457200" y="3575304"/>
            <a:ext cx="457200" cy="411480"/>
          </a:xfrm>
          <a:prstGeom prst="rect">
            <a:avLst/>
          </a:prstGeom>
          <a:solidFill>
            <a:srgbClr val="C8A83C"/>
          </a:solidFill>
          <a:ln w="12700">
            <a:solidFill>
              <a:srgbClr val="C8A83C"/>
            </a:solidFill>
            <a:prstDash val="solid"/>
          </a:ln>
        </p:spPr>
      </p:sp>
      <p:sp>
        <p:nvSpPr>
          <p:cNvPr id="29" name="Text 27"/>
          <p:cNvSpPr/>
          <p:nvPr/>
        </p:nvSpPr>
        <p:spPr>
          <a:xfrm>
            <a:off x="457200" y="3639312"/>
            <a:ext cx="457200" cy="283464"/>
          </a:xfrm>
          <a:prstGeom prst="rect">
            <a:avLst/>
          </a:prstGeom>
          <a:noFill/>
          <a:ln/>
        </p:spPr>
        <p:txBody>
          <a:bodyPr wrap="square" lIns="0" tIns="0" rIns="0" bIns="0" rtlCol="0" anchor="ctr"/>
          <a:lstStyle/>
          <a:p>
            <a:pPr algn="ctr" indent="0" marL="0">
              <a:buNone/>
            </a:pPr>
            <a:r>
              <a:rPr lang="en-US" sz="1000" b="1" dirty="0">
                <a:solidFill>
                  <a:srgbClr val="1B2D55"/>
                </a:solidFill>
              </a:rPr>
              <a:t>03</a:t>
            </a:r>
            <a:endParaRPr lang="en-US" sz="1000" dirty="0"/>
          </a:p>
        </p:txBody>
      </p:sp>
      <p:sp>
        <p:nvSpPr>
          <p:cNvPr id="30" name="Text 28"/>
          <p:cNvSpPr/>
          <p:nvPr/>
        </p:nvSpPr>
        <p:spPr>
          <a:xfrm>
            <a:off x="1005840" y="3630168"/>
            <a:ext cx="7680960" cy="274320"/>
          </a:xfrm>
          <a:prstGeom prst="rect">
            <a:avLst/>
          </a:prstGeom>
          <a:noFill/>
          <a:ln/>
        </p:spPr>
        <p:txBody>
          <a:bodyPr wrap="square" lIns="0" tIns="0" rIns="0" bIns="0" rtlCol="0" anchor="ctr"/>
          <a:lstStyle/>
          <a:p>
            <a:pPr indent="0" marL="0">
              <a:buNone/>
            </a:pPr>
            <a:r>
              <a:rPr lang="en-US" sz="1050" b="1" dirty="0">
                <a:solidFill>
                  <a:srgbClr val="1B2D55"/>
                </a:solidFill>
              </a:rPr>
              <a:t>Exceptional subscription economics — high-quality recurring revenue</a:t>
            </a:r>
            <a:endParaRPr lang="en-US" sz="1050" dirty="0"/>
          </a:p>
        </p:txBody>
      </p:sp>
      <p:sp>
        <p:nvSpPr>
          <p:cNvPr id="31" name="Shape 29"/>
          <p:cNvSpPr/>
          <p:nvPr/>
        </p:nvSpPr>
        <p:spPr>
          <a:xfrm>
            <a:off x="457200" y="4014216"/>
            <a:ext cx="8229600" cy="0"/>
          </a:xfrm>
          <a:prstGeom prst="line">
            <a:avLst/>
          </a:prstGeom>
          <a:noFill/>
          <a:ln w="9525">
            <a:solidFill>
              <a:srgbClr val="D0D8E4"/>
            </a:solidFill>
            <a:prstDash val="solid"/>
          </a:ln>
        </p:spPr>
      </p:sp>
      <p:sp>
        <p:nvSpPr>
          <p:cNvPr id="32" name="Shape 30"/>
          <p:cNvSpPr/>
          <p:nvPr/>
        </p:nvSpPr>
        <p:spPr>
          <a:xfrm>
            <a:off x="1005840" y="4142232"/>
            <a:ext cx="82296" cy="82296"/>
          </a:xfrm>
          <a:prstGeom prst="oval">
            <a:avLst/>
          </a:prstGeom>
          <a:solidFill>
            <a:srgbClr val="2B5BAE"/>
          </a:solidFill>
          <a:ln w="12700">
            <a:solidFill>
              <a:srgbClr val="2B5BAE"/>
            </a:solidFill>
            <a:prstDash val="solid"/>
          </a:ln>
        </p:spPr>
      </p:sp>
      <p:sp>
        <p:nvSpPr>
          <p:cNvPr id="33" name="Text 31"/>
          <p:cNvSpPr/>
          <p:nvPr/>
        </p:nvSpPr>
        <p:spPr>
          <a:xfrm>
            <a:off x="1170432" y="4087368"/>
            <a:ext cx="7516368" cy="219456"/>
          </a:xfrm>
          <a:prstGeom prst="rect">
            <a:avLst/>
          </a:prstGeom>
          <a:noFill/>
          <a:ln/>
        </p:spPr>
        <p:txBody>
          <a:bodyPr wrap="square" lIns="0" tIns="0" rIns="0" bIns="0" rtlCol="0" anchor="ctr"/>
          <a:lstStyle/>
          <a:p>
            <a:pPr indent="0" marL="0">
              <a:buNone/>
            </a:pPr>
            <a:r>
              <a:rPr lang="en-US" sz="850" dirty="0">
                <a:solidFill>
                  <a:srgbClr val="4A5568"/>
                </a:solidFill>
              </a:rPr>
              <a:t>$29M ARR growing ~60% YoY; subscription attached to 73% of hardware sold in trailing 12 months</a:t>
            </a:r>
            <a:endParaRPr lang="en-US" sz="850" dirty="0"/>
          </a:p>
        </p:txBody>
      </p:sp>
      <p:sp>
        <p:nvSpPr>
          <p:cNvPr id="34" name="Shape 32"/>
          <p:cNvSpPr/>
          <p:nvPr/>
        </p:nvSpPr>
        <p:spPr>
          <a:xfrm>
            <a:off x="1005840" y="4370832"/>
            <a:ext cx="82296" cy="82296"/>
          </a:xfrm>
          <a:prstGeom prst="oval">
            <a:avLst/>
          </a:prstGeom>
          <a:solidFill>
            <a:srgbClr val="2B5BAE"/>
          </a:solidFill>
          <a:ln w="12700">
            <a:solidFill>
              <a:srgbClr val="2B5BAE"/>
            </a:solidFill>
            <a:prstDash val="solid"/>
          </a:ln>
        </p:spPr>
      </p:sp>
      <p:sp>
        <p:nvSpPr>
          <p:cNvPr id="35" name="Text 33"/>
          <p:cNvSpPr/>
          <p:nvPr/>
        </p:nvSpPr>
        <p:spPr>
          <a:xfrm>
            <a:off x="1170432" y="4315968"/>
            <a:ext cx="7516368" cy="219456"/>
          </a:xfrm>
          <a:prstGeom prst="rect">
            <a:avLst/>
          </a:prstGeom>
          <a:noFill/>
          <a:ln/>
        </p:spPr>
        <p:txBody>
          <a:bodyPr wrap="square" lIns="0" tIns="0" rIns="0" bIns="0" rtlCol="0" anchor="ctr"/>
          <a:lstStyle/>
          <a:p>
            <a:pPr indent="0" marL="0">
              <a:buNone/>
            </a:pPr>
            <a:r>
              <a:rPr lang="en-US" sz="850" dirty="0">
                <a:solidFill>
                  <a:srgbClr val="4A5568"/>
                </a:solidFill>
              </a:rPr>
              <a:t>115% Net Revenue Retention — upsell from Basic ($9.99/mo) to Premium ($24.99/mo) coaching tier</a:t>
            </a:r>
            <a:endParaRPr lang="en-US" sz="850" dirty="0"/>
          </a:p>
        </p:txBody>
      </p:sp>
      <p:sp>
        <p:nvSpPr>
          <p:cNvPr id="36" name="Shape 34"/>
          <p:cNvSpPr/>
          <p:nvPr/>
        </p:nvSpPr>
        <p:spPr>
          <a:xfrm>
            <a:off x="1005840" y="4599432"/>
            <a:ext cx="82296" cy="82296"/>
          </a:xfrm>
          <a:prstGeom prst="oval">
            <a:avLst/>
          </a:prstGeom>
          <a:solidFill>
            <a:srgbClr val="2B5BAE"/>
          </a:solidFill>
          <a:ln w="12700">
            <a:solidFill>
              <a:srgbClr val="2B5BAE"/>
            </a:solidFill>
            <a:prstDash val="solid"/>
          </a:ln>
        </p:spPr>
      </p:sp>
      <p:sp>
        <p:nvSpPr>
          <p:cNvPr id="37" name="Text 35"/>
          <p:cNvSpPr/>
          <p:nvPr/>
        </p:nvSpPr>
        <p:spPr>
          <a:xfrm>
            <a:off x="1170432" y="4544568"/>
            <a:ext cx="7516368" cy="219456"/>
          </a:xfrm>
          <a:prstGeom prst="rect">
            <a:avLst/>
          </a:prstGeom>
          <a:noFill/>
          <a:ln/>
        </p:spPr>
        <p:txBody>
          <a:bodyPr wrap="square" lIns="0" tIns="0" rIns="0" bIns="0" rtlCol="0" anchor="ctr"/>
          <a:lstStyle/>
          <a:p>
            <a:pPr indent="0" marL="0">
              <a:buNone/>
            </a:pPr>
            <a:r>
              <a:rPr lang="en-US" sz="850" dirty="0">
                <a:solidFill>
                  <a:srgbClr val="4A5568"/>
                </a:solidFill>
              </a:rPr>
              <a:t>Cohort analysis shows 3-year gross retention of 82% — best-in-class for consumer hardware subscription</a:t>
            </a:r>
            <a:endParaRPr lang="en-US" sz="850" dirty="0"/>
          </a:p>
        </p:txBody>
      </p:sp>
      <p:sp>
        <p:nvSpPr>
          <p:cNvPr id="38" name="Shape 36"/>
          <p:cNvSpPr/>
          <p:nvPr/>
        </p:nvSpPr>
        <p:spPr>
          <a:xfrm>
            <a:off x="0" y="4892040"/>
            <a:ext cx="9144000" cy="251460"/>
          </a:xfrm>
          <a:prstGeom prst="rect">
            <a:avLst/>
          </a:prstGeom>
          <a:solidFill>
            <a:srgbClr val="F4F6FA"/>
          </a:solidFill>
          <a:ln w="12700">
            <a:solidFill>
              <a:srgbClr val="D0D8E4"/>
            </a:solidFill>
            <a:prstDash val="solid"/>
          </a:ln>
        </p:spPr>
      </p:sp>
      <p:sp>
        <p:nvSpPr>
          <p:cNvPr id="39" name="Text 37"/>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40" name="Text 38"/>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5 / 20</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GOLDMAN SACHS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SECTION II — INVESTMENT HIGHLIGHTS</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Investment Highlights</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A platform built to win in the premium sleep economy (2 of 2)</a:t>
            </a:r>
            <a:endParaRPr lang="en-US" sz="950" dirty="0"/>
          </a:p>
        </p:txBody>
      </p:sp>
      <p:sp>
        <p:nvSpPr>
          <p:cNvPr id="8" name="Shape 6"/>
          <p:cNvSpPr/>
          <p:nvPr/>
        </p:nvSpPr>
        <p:spPr>
          <a:xfrm>
            <a:off x="457200" y="1234440"/>
            <a:ext cx="457200" cy="411480"/>
          </a:xfrm>
          <a:prstGeom prst="rect">
            <a:avLst/>
          </a:prstGeom>
          <a:solidFill>
            <a:srgbClr val="1B2D55"/>
          </a:solidFill>
          <a:ln w="12700">
            <a:solidFill>
              <a:srgbClr val="1B2D55"/>
            </a:solidFill>
            <a:prstDash val="solid"/>
          </a:ln>
        </p:spPr>
      </p:sp>
      <p:sp>
        <p:nvSpPr>
          <p:cNvPr id="9" name="Text 7"/>
          <p:cNvSpPr/>
          <p:nvPr/>
        </p:nvSpPr>
        <p:spPr>
          <a:xfrm>
            <a:off x="457200" y="1298448"/>
            <a:ext cx="457200" cy="283464"/>
          </a:xfrm>
          <a:prstGeom prst="rect">
            <a:avLst/>
          </a:prstGeom>
          <a:noFill/>
          <a:ln/>
        </p:spPr>
        <p:txBody>
          <a:bodyPr wrap="square" lIns="0" tIns="0" rIns="0" bIns="0" rtlCol="0" anchor="ctr"/>
          <a:lstStyle/>
          <a:p>
            <a:pPr algn="ctr" indent="0" marL="0">
              <a:buNone/>
            </a:pPr>
            <a:r>
              <a:rPr lang="en-US" sz="1000" b="1" dirty="0">
                <a:solidFill>
                  <a:srgbClr val="C8A83C"/>
                </a:solidFill>
              </a:rPr>
              <a:t>04</a:t>
            </a:r>
            <a:endParaRPr lang="en-US" sz="1000" dirty="0"/>
          </a:p>
        </p:txBody>
      </p:sp>
      <p:sp>
        <p:nvSpPr>
          <p:cNvPr id="10" name="Text 8"/>
          <p:cNvSpPr/>
          <p:nvPr/>
        </p:nvSpPr>
        <p:spPr>
          <a:xfrm>
            <a:off x="1005840" y="1289304"/>
            <a:ext cx="7680960" cy="274320"/>
          </a:xfrm>
          <a:prstGeom prst="rect">
            <a:avLst/>
          </a:prstGeom>
          <a:noFill/>
          <a:ln/>
        </p:spPr>
        <p:txBody>
          <a:bodyPr wrap="square" lIns="0" tIns="0" rIns="0" bIns="0" rtlCol="0" anchor="ctr"/>
          <a:lstStyle/>
          <a:p>
            <a:pPr indent="0" marL="0">
              <a:buNone/>
            </a:pPr>
            <a:r>
              <a:rPr lang="en-US" sz="1050" b="1" dirty="0">
                <a:solidFill>
                  <a:srgbClr val="1B2D55"/>
                </a:solidFill>
              </a:rPr>
              <a:t>Proven DTC model with rapidly expanding retail presence</a:t>
            </a:r>
            <a:endParaRPr lang="en-US" sz="1050" dirty="0"/>
          </a:p>
        </p:txBody>
      </p:sp>
      <p:sp>
        <p:nvSpPr>
          <p:cNvPr id="11" name="Shape 9"/>
          <p:cNvSpPr/>
          <p:nvPr/>
        </p:nvSpPr>
        <p:spPr>
          <a:xfrm>
            <a:off x="457200" y="1673352"/>
            <a:ext cx="8229600" cy="0"/>
          </a:xfrm>
          <a:prstGeom prst="line">
            <a:avLst/>
          </a:prstGeom>
          <a:noFill/>
          <a:ln w="9525">
            <a:solidFill>
              <a:srgbClr val="D0D8E4"/>
            </a:solidFill>
            <a:prstDash val="solid"/>
          </a:ln>
        </p:spPr>
      </p:sp>
      <p:sp>
        <p:nvSpPr>
          <p:cNvPr id="12" name="Shape 10"/>
          <p:cNvSpPr/>
          <p:nvPr/>
        </p:nvSpPr>
        <p:spPr>
          <a:xfrm>
            <a:off x="1005840" y="1801368"/>
            <a:ext cx="82296" cy="82296"/>
          </a:xfrm>
          <a:prstGeom prst="oval">
            <a:avLst/>
          </a:prstGeom>
          <a:solidFill>
            <a:srgbClr val="2B5BAE"/>
          </a:solidFill>
          <a:ln w="12700">
            <a:solidFill>
              <a:srgbClr val="2B5BAE"/>
            </a:solidFill>
            <a:prstDash val="solid"/>
          </a:ln>
        </p:spPr>
      </p:sp>
      <p:sp>
        <p:nvSpPr>
          <p:cNvPr id="13" name="Text 11"/>
          <p:cNvSpPr/>
          <p:nvPr/>
        </p:nvSpPr>
        <p:spPr>
          <a:xfrm>
            <a:off x="1170432" y="1746504"/>
            <a:ext cx="7516368" cy="219456"/>
          </a:xfrm>
          <a:prstGeom prst="rect">
            <a:avLst/>
          </a:prstGeom>
          <a:noFill/>
          <a:ln/>
        </p:spPr>
        <p:txBody>
          <a:bodyPr wrap="square" lIns="0" tIns="0" rIns="0" bIns="0" rtlCol="0" anchor="ctr"/>
          <a:lstStyle/>
          <a:p>
            <a:pPr indent="0" marL="0">
              <a:buNone/>
            </a:pPr>
            <a:r>
              <a:rPr lang="en-US" sz="850" dirty="0">
                <a:solidFill>
                  <a:srgbClr val="4A5568"/>
                </a:solidFill>
              </a:rPr>
              <a:t>78% DTC direct (slumbersmart.com) — drives 45%+ gross margins and rich customer data ownership</a:t>
            </a:r>
            <a:endParaRPr lang="en-US" sz="850" dirty="0"/>
          </a:p>
        </p:txBody>
      </p:sp>
      <p:sp>
        <p:nvSpPr>
          <p:cNvPr id="14" name="Shape 12"/>
          <p:cNvSpPr/>
          <p:nvPr/>
        </p:nvSpPr>
        <p:spPr>
          <a:xfrm>
            <a:off x="1005840" y="2029968"/>
            <a:ext cx="82296" cy="82296"/>
          </a:xfrm>
          <a:prstGeom prst="oval">
            <a:avLst/>
          </a:prstGeom>
          <a:solidFill>
            <a:srgbClr val="2B5BAE"/>
          </a:solidFill>
          <a:ln w="12700">
            <a:solidFill>
              <a:srgbClr val="2B5BAE"/>
            </a:solidFill>
            <a:prstDash val="solid"/>
          </a:ln>
        </p:spPr>
      </p:sp>
      <p:sp>
        <p:nvSpPr>
          <p:cNvPr id="15" name="Text 13"/>
          <p:cNvSpPr/>
          <p:nvPr/>
        </p:nvSpPr>
        <p:spPr>
          <a:xfrm>
            <a:off x="1170432" y="1975104"/>
            <a:ext cx="7516368" cy="219456"/>
          </a:xfrm>
          <a:prstGeom prst="rect">
            <a:avLst/>
          </a:prstGeom>
          <a:noFill/>
          <a:ln/>
        </p:spPr>
        <p:txBody>
          <a:bodyPr wrap="square" lIns="0" tIns="0" rIns="0" bIns="0" rtlCol="0" anchor="ctr"/>
          <a:lstStyle/>
          <a:p>
            <a:pPr indent="0" marL="0">
              <a:buNone/>
            </a:pPr>
            <a:r>
              <a:rPr lang="en-US" sz="850" dirty="0">
                <a:solidFill>
                  <a:srgbClr val="4A5568"/>
                </a:solidFill>
              </a:rPr>
              <a:t>Retail expansion: Nordstrom (2020), Crate &amp; Barrel (2021), Best Buy (2022Q1) — retailer re-orders accelerating</a:t>
            </a:r>
            <a:endParaRPr lang="en-US" sz="850" dirty="0"/>
          </a:p>
        </p:txBody>
      </p:sp>
      <p:sp>
        <p:nvSpPr>
          <p:cNvPr id="16" name="Shape 14"/>
          <p:cNvSpPr/>
          <p:nvPr/>
        </p:nvSpPr>
        <p:spPr>
          <a:xfrm>
            <a:off x="1005840" y="2258568"/>
            <a:ext cx="82296" cy="82296"/>
          </a:xfrm>
          <a:prstGeom prst="oval">
            <a:avLst/>
          </a:prstGeom>
          <a:solidFill>
            <a:srgbClr val="2B5BAE"/>
          </a:solidFill>
          <a:ln w="12700">
            <a:solidFill>
              <a:srgbClr val="2B5BAE"/>
            </a:solidFill>
            <a:prstDash val="solid"/>
          </a:ln>
        </p:spPr>
      </p:sp>
      <p:sp>
        <p:nvSpPr>
          <p:cNvPr id="17" name="Text 15"/>
          <p:cNvSpPr/>
          <p:nvPr/>
        </p:nvSpPr>
        <p:spPr>
          <a:xfrm>
            <a:off x="1170432" y="2203704"/>
            <a:ext cx="7516368" cy="219456"/>
          </a:xfrm>
          <a:prstGeom prst="rect">
            <a:avLst/>
          </a:prstGeom>
          <a:noFill/>
          <a:ln/>
        </p:spPr>
        <p:txBody>
          <a:bodyPr wrap="square" lIns="0" tIns="0" rIns="0" bIns="0" rtlCol="0" anchor="ctr"/>
          <a:lstStyle/>
          <a:p>
            <a:pPr indent="0" marL="0">
              <a:buNone/>
            </a:pPr>
            <a:r>
              <a:rPr lang="en-US" sz="850" dirty="0">
                <a:solidFill>
                  <a:srgbClr val="4A5568"/>
                </a:solidFill>
              </a:rPr>
              <a:t>International (UK, AU) launched Q3 2021; revenue tracking $9M annualized with minimal incremental OpEx</a:t>
            </a:r>
            <a:endParaRPr lang="en-US" sz="850" dirty="0"/>
          </a:p>
        </p:txBody>
      </p:sp>
      <p:sp>
        <p:nvSpPr>
          <p:cNvPr id="18" name="Shape 16"/>
          <p:cNvSpPr/>
          <p:nvPr/>
        </p:nvSpPr>
        <p:spPr>
          <a:xfrm>
            <a:off x="457200" y="2404872"/>
            <a:ext cx="457200" cy="411480"/>
          </a:xfrm>
          <a:prstGeom prst="rect">
            <a:avLst/>
          </a:prstGeom>
          <a:solidFill>
            <a:srgbClr val="1B2D55"/>
          </a:solidFill>
          <a:ln w="12700">
            <a:solidFill>
              <a:srgbClr val="1B2D55"/>
            </a:solidFill>
            <a:prstDash val="solid"/>
          </a:ln>
        </p:spPr>
      </p:sp>
      <p:sp>
        <p:nvSpPr>
          <p:cNvPr id="19" name="Text 17"/>
          <p:cNvSpPr/>
          <p:nvPr/>
        </p:nvSpPr>
        <p:spPr>
          <a:xfrm>
            <a:off x="457200" y="2468880"/>
            <a:ext cx="457200" cy="283464"/>
          </a:xfrm>
          <a:prstGeom prst="rect">
            <a:avLst/>
          </a:prstGeom>
          <a:noFill/>
          <a:ln/>
        </p:spPr>
        <p:txBody>
          <a:bodyPr wrap="square" lIns="0" tIns="0" rIns="0" bIns="0" rtlCol="0" anchor="ctr"/>
          <a:lstStyle/>
          <a:p>
            <a:pPr algn="ctr" indent="0" marL="0">
              <a:buNone/>
            </a:pPr>
            <a:r>
              <a:rPr lang="en-US" sz="1000" b="1" dirty="0">
                <a:solidFill>
                  <a:srgbClr val="C8A83C"/>
                </a:solidFill>
              </a:rPr>
              <a:t>05</a:t>
            </a:r>
            <a:endParaRPr lang="en-US" sz="1000" dirty="0"/>
          </a:p>
        </p:txBody>
      </p:sp>
      <p:sp>
        <p:nvSpPr>
          <p:cNvPr id="20" name="Text 18"/>
          <p:cNvSpPr/>
          <p:nvPr/>
        </p:nvSpPr>
        <p:spPr>
          <a:xfrm>
            <a:off x="1005840" y="2459736"/>
            <a:ext cx="7680960" cy="274320"/>
          </a:xfrm>
          <a:prstGeom prst="rect">
            <a:avLst/>
          </a:prstGeom>
          <a:noFill/>
          <a:ln/>
        </p:spPr>
        <p:txBody>
          <a:bodyPr wrap="square" lIns="0" tIns="0" rIns="0" bIns="0" rtlCol="0" anchor="ctr"/>
          <a:lstStyle/>
          <a:p>
            <a:pPr indent="0" marL="0">
              <a:buNone/>
            </a:pPr>
            <a:r>
              <a:rPr lang="en-US" sz="1050" b="1" dirty="0">
                <a:solidFill>
                  <a:srgbClr val="1B2D55"/>
                </a:solidFill>
              </a:rPr>
              <a:t>Significant white-space for geographic and product expansion</a:t>
            </a:r>
            <a:endParaRPr lang="en-US" sz="1050" dirty="0"/>
          </a:p>
        </p:txBody>
      </p:sp>
      <p:sp>
        <p:nvSpPr>
          <p:cNvPr id="21" name="Shape 19"/>
          <p:cNvSpPr/>
          <p:nvPr/>
        </p:nvSpPr>
        <p:spPr>
          <a:xfrm>
            <a:off x="457200" y="2843784"/>
            <a:ext cx="8229600" cy="0"/>
          </a:xfrm>
          <a:prstGeom prst="line">
            <a:avLst/>
          </a:prstGeom>
          <a:noFill/>
          <a:ln w="9525">
            <a:solidFill>
              <a:srgbClr val="D0D8E4"/>
            </a:solidFill>
            <a:prstDash val="solid"/>
          </a:ln>
        </p:spPr>
      </p:sp>
      <p:sp>
        <p:nvSpPr>
          <p:cNvPr id="22" name="Shape 20"/>
          <p:cNvSpPr/>
          <p:nvPr/>
        </p:nvSpPr>
        <p:spPr>
          <a:xfrm>
            <a:off x="1005840" y="2971800"/>
            <a:ext cx="82296" cy="82296"/>
          </a:xfrm>
          <a:prstGeom prst="oval">
            <a:avLst/>
          </a:prstGeom>
          <a:solidFill>
            <a:srgbClr val="2B5BAE"/>
          </a:solidFill>
          <a:ln w="12700">
            <a:solidFill>
              <a:srgbClr val="2B5BAE"/>
            </a:solidFill>
            <a:prstDash val="solid"/>
          </a:ln>
        </p:spPr>
      </p:sp>
      <p:sp>
        <p:nvSpPr>
          <p:cNvPr id="23" name="Text 21"/>
          <p:cNvSpPr/>
          <p:nvPr/>
        </p:nvSpPr>
        <p:spPr>
          <a:xfrm>
            <a:off x="1170432" y="2916936"/>
            <a:ext cx="7516368" cy="219456"/>
          </a:xfrm>
          <a:prstGeom prst="rect">
            <a:avLst/>
          </a:prstGeom>
          <a:noFill/>
          <a:ln/>
        </p:spPr>
        <p:txBody>
          <a:bodyPr wrap="square" lIns="0" tIns="0" rIns="0" bIns="0" rtlCol="0" anchor="ctr"/>
          <a:lstStyle/>
          <a:p>
            <a:pPr indent="0" marL="0">
              <a:buNone/>
            </a:pPr>
            <a:r>
              <a:rPr lang="en-US" sz="850" dirty="0">
                <a:solidFill>
                  <a:srgbClr val="4A5568"/>
                </a:solidFill>
              </a:rPr>
              <a:t>Europe (Germany, France, Netherlands) targeted for 2023; $500M+ premium sleep-tech addressable market</a:t>
            </a:r>
            <a:endParaRPr lang="en-US" sz="850" dirty="0"/>
          </a:p>
        </p:txBody>
      </p:sp>
      <p:sp>
        <p:nvSpPr>
          <p:cNvPr id="24" name="Shape 22"/>
          <p:cNvSpPr/>
          <p:nvPr/>
        </p:nvSpPr>
        <p:spPr>
          <a:xfrm>
            <a:off x="1005840" y="3200400"/>
            <a:ext cx="82296" cy="82296"/>
          </a:xfrm>
          <a:prstGeom prst="oval">
            <a:avLst/>
          </a:prstGeom>
          <a:solidFill>
            <a:srgbClr val="2B5BAE"/>
          </a:solidFill>
          <a:ln w="12700">
            <a:solidFill>
              <a:srgbClr val="2B5BAE"/>
            </a:solidFill>
            <a:prstDash val="solid"/>
          </a:ln>
        </p:spPr>
      </p:sp>
      <p:sp>
        <p:nvSpPr>
          <p:cNvPr id="25" name="Text 23"/>
          <p:cNvSpPr/>
          <p:nvPr/>
        </p:nvSpPr>
        <p:spPr>
          <a:xfrm>
            <a:off x="1170432" y="3145536"/>
            <a:ext cx="7516368" cy="219456"/>
          </a:xfrm>
          <a:prstGeom prst="rect">
            <a:avLst/>
          </a:prstGeom>
          <a:noFill/>
          <a:ln/>
        </p:spPr>
        <p:txBody>
          <a:bodyPr wrap="square" lIns="0" tIns="0" rIns="0" bIns="0" rtlCol="0" anchor="ctr"/>
          <a:lstStyle/>
          <a:p>
            <a:pPr indent="0" marL="0">
              <a:buNone/>
            </a:pPr>
            <a:r>
              <a:rPr lang="en-US" sz="850" dirty="0">
                <a:solidFill>
                  <a:srgbClr val="4A5568"/>
                </a:solidFill>
              </a:rPr>
              <a:t>Adjacent SKUs in late-stage development: SlumberPillow™, SlumberCrib™ (infant sleep monitor)</a:t>
            </a:r>
            <a:endParaRPr lang="en-US" sz="850" dirty="0"/>
          </a:p>
        </p:txBody>
      </p:sp>
      <p:sp>
        <p:nvSpPr>
          <p:cNvPr id="26" name="Shape 24"/>
          <p:cNvSpPr/>
          <p:nvPr/>
        </p:nvSpPr>
        <p:spPr>
          <a:xfrm>
            <a:off x="1005840" y="3429000"/>
            <a:ext cx="82296" cy="82296"/>
          </a:xfrm>
          <a:prstGeom prst="oval">
            <a:avLst/>
          </a:prstGeom>
          <a:solidFill>
            <a:srgbClr val="2B5BAE"/>
          </a:solidFill>
          <a:ln w="12700">
            <a:solidFill>
              <a:srgbClr val="2B5BAE"/>
            </a:solidFill>
            <a:prstDash val="solid"/>
          </a:ln>
        </p:spPr>
      </p:sp>
      <p:sp>
        <p:nvSpPr>
          <p:cNvPr id="27" name="Text 25"/>
          <p:cNvSpPr/>
          <p:nvPr/>
        </p:nvSpPr>
        <p:spPr>
          <a:xfrm>
            <a:off x="1170432" y="3374136"/>
            <a:ext cx="7516368" cy="219456"/>
          </a:xfrm>
          <a:prstGeom prst="rect">
            <a:avLst/>
          </a:prstGeom>
          <a:noFill/>
          <a:ln/>
        </p:spPr>
        <p:txBody>
          <a:bodyPr wrap="square" lIns="0" tIns="0" rIns="0" bIns="0" rtlCol="0" anchor="ctr"/>
          <a:lstStyle/>
          <a:p>
            <a:pPr indent="0" marL="0">
              <a:buNone/>
            </a:pPr>
            <a:r>
              <a:rPr lang="en-US" sz="850" dirty="0">
                <a:solidFill>
                  <a:srgbClr val="4A5568"/>
                </a:solidFill>
              </a:rPr>
              <a:t>SlumberPro™ for B2B (luxury hotels, corporate wellness) — pilot with Marriott Bonvoy completed Q4 2021</a:t>
            </a:r>
            <a:endParaRPr lang="en-US" sz="850" dirty="0"/>
          </a:p>
        </p:txBody>
      </p:sp>
      <p:sp>
        <p:nvSpPr>
          <p:cNvPr id="28" name="Shape 26"/>
          <p:cNvSpPr/>
          <p:nvPr/>
        </p:nvSpPr>
        <p:spPr>
          <a:xfrm>
            <a:off x="457200" y="3575304"/>
            <a:ext cx="457200" cy="411480"/>
          </a:xfrm>
          <a:prstGeom prst="rect">
            <a:avLst/>
          </a:prstGeom>
          <a:solidFill>
            <a:srgbClr val="1B2D55"/>
          </a:solidFill>
          <a:ln w="12700">
            <a:solidFill>
              <a:srgbClr val="1B2D55"/>
            </a:solidFill>
            <a:prstDash val="solid"/>
          </a:ln>
        </p:spPr>
      </p:sp>
      <p:sp>
        <p:nvSpPr>
          <p:cNvPr id="29" name="Text 27"/>
          <p:cNvSpPr/>
          <p:nvPr/>
        </p:nvSpPr>
        <p:spPr>
          <a:xfrm>
            <a:off x="457200" y="3639312"/>
            <a:ext cx="457200" cy="283464"/>
          </a:xfrm>
          <a:prstGeom prst="rect">
            <a:avLst/>
          </a:prstGeom>
          <a:noFill/>
          <a:ln/>
        </p:spPr>
        <p:txBody>
          <a:bodyPr wrap="square" lIns="0" tIns="0" rIns="0" bIns="0" rtlCol="0" anchor="ctr"/>
          <a:lstStyle/>
          <a:p>
            <a:pPr algn="ctr" indent="0" marL="0">
              <a:buNone/>
            </a:pPr>
            <a:r>
              <a:rPr lang="en-US" sz="1000" b="1" dirty="0">
                <a:solidFill>
                  <a:srgbClr val="C8A83C"/>
                </a:solidFill>
              </a:rPr>
              <a:t>06</a:t>
            </a:r>
            <a:endParaRPr lang="en-US" sz="1000" dirty="0"/>
          </a:p>
        </p:txBody>
      </p:sp>
      <p:sp>
        <p:nvSpPr>
          <p:cNvPr id="30" name="Text 28"/>
          <p:cNvSpPr/>
          <p:nvPr/>
        </p:nvSpPr>
        <p:spPr>
          <a:xfrm>
            <a:off x="1005840" y="3630168"/>
            <a:ext cx="7680960" cy="274320"/>
          </a:xfrm>
          <a:prstGeom prst="rect">
            <a:avLst/>
          </a:prstGeom>
          <a:noFill/>
          <a:ln/>
        </p:spPr>
        <p:txBody>
          <a:bodyPr wrap="square" lIns="0" tIns="0" rIns="0" bIns="0" rtlCol="0" anchor="ctr"/>
          <a:lstStyle/>
          <a:p>
            <a:pPr indent="0" marL="0">
              <a:buNone/>
            </a:pPr>
            <a:r>
              <a:rPr lang="en-US" sz="1050" b="1" dirty="0">
                <a:solidFill>
                  <a:srgbClr val="1B2D55"/>
                </a:solidFill>
              </a:rPr>
              <a:t>Experienced, founder-led management team — proven operating track record</a:t>
            </a:r>
            <a:endParaRPr lang="en-US" sz="1050" dirty="0"/>
          </a:p>
        </p:txBody>
      </p:sp>
      <p:sp>
        <p:nvSpPr>
          <p:cNvPr id="31" name="Shape 29"/>
          <p:cNvSpPr/>
          <p:nvPr/>
        </p:nvSpPr>
        <p:spPr>
          <a:xfrm>
            <a:off x="457200" y="4014216"/>
            <a:ext cx="8229600" cy="0"/>
          </a:xfrm>
          <a:prstGeom prst="line">
            <a:avLst/>
          </a:prstGeom>
          <a:noFill/>
          <a:ln w="9525">
            <a:solidFill>
              <a:srgbClr val="D0D8E4"/>
            </a:solidFill>
            <a:prstDash val="solid"/>
          </a:ln>
        </p:spPr>
      </p:sp>
      <p:sp>
        <p:nvSpPr>
          <p:cNvPr id="32" name="Shape 30"/>
          <p:cNvSpPr/>
          <p:nvPr/>
        </p:nvSpPr>
        <p:spPr>
          <a:xfrm>
            <a:off x="1005840" y="4142232"/>
            <a:ext cx="82296" cy="82296"/>
          </a:xfrm>
          <a:prstGeom prst="oval">
            <a:avLst/>
          </a:prstGeom>
          <a:solidFill>
            <a:srgbClr val="2B5BAE"/>
          </a:solidFill>
          <a:ln w="12700">
            <a:solidFill>
              <a:srgbClr val="2B5BAE"/>
            </a:solidFill>
            <a:prstDash val="solid"/>
          </a:ln>
        </p:spPr>
      </p:sp>
      <p:sp>
        <p:nvSpPr>
          <p:cNvPr id="33" name="Text 31"/>
          <p:cNvSpPr/>
          <p:nvPr/>
        </p:nvSpPr>
        <p:spPr>
          <a:xfrm>
            <a:off x="1170432" y="4087368"/>
            <a:ext cx="7516368" cy="219456"/>
          </a:xfrm>
          <a:prstGeom prst="rect">
            <a:avLst/>
          </a:prstGeom>
          <a:noFill/>
          <a:ln/>
        </p:spPr>
        <p:txBody>
          <a:bodyPr wrap="square" lIns="0" tIns="0" rIns="0" bIns="0" rtlCol="0" anchor="ctr"/>
          <a:lstStyle/>
          <a:p>
            <a:pPr indent="0" marL="0">
              <a:buNone/>
            </a:pPr>
            <a:r>
              <a:rPr lang="en-US" sz="850" dirty="0">
                <a:solidFill>
                  <a:srgbClr val="4A5568"/>
                </a:solidFill>
              </a:rPr>
              <a:t>Maya Chen (CEO, founder) — previously VP Product at Fitbit; built Slumber Smart from zero to $145M revenue</a:t>
            </a:r>
            <a:endParaRPr lang="en-US" sz="850" dirty="0"/>
          </a:p>
        </p:txBody>
      </p:sp>
      <p:sp>
        <p:nvSpPr>
          <p:cNvPr id="34" name="Shape 32"/>
          <p:cNvSpPr/>
          <p:nvPr/>
        </p:nvSpPr>
        <p:spPr>
          <a:xfrm>
            <a:off x="1005840" y="4370832"/>
            <a:ext cx="82296" cy="82296"/>
          </a:xfrm>
          <a:prstGeom prst="oval">
            <a:avLst/>
          </a:prstGeom>
          <a:solidFill>
            <a:srgbClr val="2B5BAE"/>
          </a:solidFill>
          <a:ln w="12700">
            <a:solidFill>
              <a:srgbClr val="2B5BAE"/>
            </a:solidFill>
            <a:prstDash val="solid"/>
          </a:ln>
        </p:spPr>
      </p:sp>
      <p:sp>
        <p:nvSpPr>
          <p:cNvPr id="35" name="Text 33"/>
          <p:cNvSpPr/>
          <p:nvPr/>
        </p:nvSpPr>
        <p:spPr>
          <a:xfrm>
            <a:off x="1170432" y="4315968"/>
            <a:ext cx="7516368" cy="219456"/>
          </a:xfrm>
          <a:prstGeom prst="rect">
            <a:avLst/>
          </a:prstGeom>
          <a:noFill/>
          <a:ln/>
        </p:spPr>
        <p:txBody>
          <a:bodyPr wrap="square" lIns="0" tIns="0" rIns="0" bIns="0" rtlCol="0" anchor="ctr"/>
          <a:lstStyle/>
          <a:p>
            <a:pPr indent="0" marL="0">
              <a:buNone/>
            </a:pPr>
            <a:r>
              <a:rPr lang="en-US" sz="850" dirty="0">
                <a:solidFill>
                  <a:srgbClr val="4A5568"/>
                </a:solidFill>
              </a:rPr>
              <a:t>CFO (Rachel Torres) — ex-Purple Innovation CFO; scaled operations through IPO; joined 2020</a:t>
            </a:r>
            <a:endParaRPr lang="en-US" sz="850" dirty="0"/>
          </a:p>
        </p:txBody>
      </p:sp>
      <p:sp>
        <p:nvSpPr>
          <p:cNvPr id="36" name="Shape 34"/>
          <p:cNvSpPr/>
          <p:nvPr/>
        </p:nvSpPr>
        <p:spPr>
          <a:xfrm>
            <a:off x="1005840" y="4599432"/>
            <a:ext cx="82296" cy="82296"/>
          </a:xfrm>
          <a:prstGeom prst="oval">
            <a:avLst/>
          </a:prstGeom>
          <a:solidFill>
            <a:srgbClr val="2B5BAE"/>
          </a:solidFill>
          <a:ln w="12700">
            <a:solidFill>
              <a:srgbClr val="2B5BAE"/>
            </a:solidFill>
            <a:prstDash val="solid"/>
          </a:ln>
        </p:spPr>
      </p:sp>
      <p:sp>
        <p:nvSpPr>
          <p:cNvPr id="37" name="Text 35"/>
          <p:cNvSpPr/>
          <p:nvPr/>
        </p:nvSpPr>
        <p:spPr>
          <a:xfrm>
            <a:off x="1170432" y="4544568"/>
            <a:ext cx="7516368" cy="219456"/>
          </a:xfrm>
          <a:prstGeom prst="rect">
            <a:avLst/>
          </a:prstGeom>
          <a:noFill/>
          <a:ln/>
        </p:spPr>
        <p:txBody>
          <a:bodyPr wrap="square" lIns="0" tIns="0" rIns="0" bIns="0" rtlCol="0" anchor="ctr"/>
          <a:lstStyle/>
          <a:p>
            <a:pPr indent="0" marL="0">
              <a:buNone/>
            </a:pPr>
            <a:r>
              <a:rPr lang="en-US" sz="850" dirty="0">
                <a:solidFill>
                  <a:srgbClr val="4A5568"/>
                </a:solidFill>
              </a:rPr>
              <a:t>COO (Kevin Park) — built Casper supply chain; reduced COGS 7pp over 4 years at Slumber Smart</a:t>
            </a:r>
            <a:endParaRPr lang="en-US" sz="850" dirty="0"/>
          </a:p>
        </p:txBody>
      </p:sp>
      <p:sp>
        <p:nvSpPr>
          <p:cNvPr id="38" name="Shape 36"/>
          <p:cNvSpPr/>
          <p:nvPr/>
        </p:nvSpPr>
        <p:spPr>
          <a:xfrm>
            <a:off x="0" y="4892040"/>
            <a:ext cx="9144000" cy="251460"/>
          </a:xfrm>
          <a:prstGeom prst="rect">
            <a:avLst/>
          </a:prstGeom>
          <a:solidFill>
            <a:srgbClr val="F4F6FA"/>
          </a:solidFill>
          <a:ln w="12700">
            <a:solidFill>
              <a:srgbClr val="D0D8E4"/>
            </a:solidFill>
            <a:prstDash val="solid"/>
          </a:ln>
        </p:spPr>
      </p:sp>
      <p:sp>
        <p:nvSpPr>
          <p:cNvPr id="39" name="Text 37"/>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40" name="Text 38"/>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6 / 20</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GOLDMAN SACHS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SECTION III — COMPANY OVERVIEW</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Company Overview</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Purpose-built to be the operating system for sleep health</a:t>
            </a:r>
            <a:endParaRPr lang="en-US" sz="950" dirty="0"/>
          </a:p>
        </p:txBody>
      </p:sp>
      <p:sp>
        <p:nvSpPr>
          <p:cNvPr id="8" name="Shape 6"/>
          <p:cNvSpPr/>
          <p:nvPr/>
        </p:nvSpPr>
        <p:spPr>
          <a:xfrm>
            <a:off x="457200" y="2834640"/>
            <a:ext cx="8229600" cy="0"/>
          </a:xfrm>
          <a:prstGeom prst="line">
            <a:avLst/>
          </a:prstGeom>
          <a:noFill/>
          <a:ln w="25400">
            <a:solidFill>
              <a:srgbClr val="2B5BAE"/>
            </a:solidFill>
            <a:prstDash val="solid"/>
          </a:ln>
        </p:spPr>
      </p:sp>
      <p:sp>
        <p:nvSpPr>
          <p:cNvPr id="9" name="Shape 7"/>
          <p:cNvSpPr/>
          <p:nvPr/>
        </p:nvSpPr>
        <p:spPr>
          <a:xfrm>
            <a:off x="320040" y="2697480"/>
            <a:ext cx="274320" cy="274320"/>
          </a:xfrm>
          <a:prstGeom prst="oval">
            <a:avLst/>
          </a:prstGeom>
          <a:solidFill>
            <a:srgbClr val="2B5BAE"/>
          </a:solidFill>
          <a:ln w="19050">
            <a:solidFill>
              <a:srgbClr val="FFFFFF"/>
            </a:solidFill>
            <a:prstDash val="solid"/>
          </a:ln>
        </p:spPr>
      </p:sp>
      <p:sp>
        <p:nvSpPr>
          <p:cNvPr id="10" name="Text 8"/>
          <p:cNvSpPr/>
          <p:nvPr/>
        </p:nvSpPr>
        <p:spPr>
          <a:xfrm>
            <a:off x="0" y="2331720"/>
            <a:ext cx="914400" cy="228600"/>
          </a:xfrm>
          <a:prstGeom prst="rect">
            <a:avLst/>
          </a:prstGeom>
          <a:noFill/>
          <a:ln/>
        </p:spPr>
        <p:txBody>
          <a:bodyPr wrap="square" lIns="0" tIns="0" rIns="0" bIns="0" rtlCol="0" anchor="ctr"/>
          <a:lstStyle/>
          <a:p>
            <a:pPr algn="ctr" indent="0" marL="0">
              <a:buNone/>
            </a:pPr>
            <a:r>
              <a:rPr lang="en-US" sz="800" b="1" dirty="0">
                <a:solidFill>
                  <a:srgbClr val="2B5BAE"/>
                </a:solidFill>
              </a:rPr>
              <a:t>2014</a:t>
            </a:r>
            <a:endParaRPr lang="en-US" sz="800" dirty="0"/>
          </a:p>
        </p:txBody>
      </p:sp>
      <p:sp>
        <p:nvSpPr>
          <p:cNvPr id="11" name="Text 9"/>
          <p:cNvSpPr/>
          <p:nvPr/>
        </p:nvSpPr>
        <p:spPr>
          <a:xfrm>
            <a:off x="-228600" y="1664208"/>
            <a:ext cx="1371600" cy="640080"/>
          </a:xfrm>
          <a:prstGeom prst="rect">
            <a:avLst/>
          </a:prstGeom>
          <a:noFill/>
          <a:ln/>
        </p:spPr>
        <p:txBody>
          <a:bodyPr wrap="square" lIns="0" tIns="0" rIns="0" bIns="0" rtlCol="0" anchor="t"/>
          <a:lstStyle/>
          <a:p>
            <a:pPr algn="ctr" indent="0" marL="0">
              <a:buNone/>
            </a:pPr>
            <a:r>
              <a:rPr lang="en-US" sz="650" dirty="0">
                <a:solidFill>
                  <a:srgbClr val="4A5568"/>
                </a:solidFill>
              </a:rPr>
              <a:t>Founded in Boulder, CO by Maya Chen. First prototype developed.</a:t>
            </a:r>
            <a:endParaRPr lang="en-US" sz="650" dirty="0"/>
          </a:p>
        </p:txBody>
      </p:sp>
      <p:sp>
        <p:nvSpPr>
          <p:cNvPr id="12" name="Shape 10"/>
          <p:cNvSpPr/>
          <p:nvPr/>
        </p:nvSpPr>
        <p:spPr>
          <a:xfrm>
            <a:off x="1691640" y="2697480"/>
            <a:ext cx="274320" cy="274320"/>
          </a:xfrm>
          <a:prstGeom prst="oval">
            <a:avLst/>
          </a:prstGeom>
          <a:solidFill>
            <a:srgbClr val="2B5BAE"/>
          </a:solidFill>
          <a:ln w="19050">
            <a:solidFill>
              <a:srgbClr val="FFFFFF"/>
            </a:solidFill>
            <a:prstDash val="solid"/>
          </a:ln>
        </p:spPr>
      </p:sp>
      <p:sp>
        <p:nvSpPr>
          <p:cNvPr id="13" name="Text 11"/>
          <p:cNvSpPr/>
          <p:nvPr/>
        </p:nvSpPr>
        <p:spPr>
          <a:xfrm>
            <a:off x="1371600" y="3035808"/>
            <a:ext cx="914400" cy="228600"/>
          </a:xfrm>
          <a:prstGeom prst="rect">
            <a:avLst/>
          </a:prstGeom>
          <a:noFill/>
          <a:ln/>
        </p:spPr>
        <p:txBody>
          <a:bodyPr wrap="square" lIns="0" tIns="0" rIns="0" bIns="0" rtlCol="0" anchor="ctr"/>
          <a:lstStyle/>
          <a:p>
            <a:pPr algn="ctr" indent="0" marL="0">
              <a:buNone/>
            </a:pPr>
            <a:r>
              <a:rPr lang="en-US" sz="800" b="1" dirty="0">
                <a:solidFill>
                  <a:srgbClr val="2B5BAE"/>
                </a:solidFill>
              </a:rPr>
              <a:t>2016</a:t>
            </a:r>
            <a:endParaRPr lang="en-US" sz="800" dirty="0"/>
          </a:p>
        </p:txBody>
      </p:sp>
      <p:sp>
        <p:nvSpPr>
          <p:cNvPr id="14" name="Text 12"/>
          <p:cNvSpPr/>
          <p:nvPr/>
        </p:nvSpPr>
        <p:spPr>
          <a:xfrm>
            <a:off x="1143000" y="3273552"/>
            <a:ext cx="1371600" cy="640080"/>
          </a:xfrm>
          <a:prstGeom prst="rect">
            <a:avLst/>
          </a:prstGeom>
          <a:noFill/>
          <a:ln/>
        </p:spPr>
        <p:txBody>
          <a:bodyPr wrap="square" lIns="0" tIns="0" rIns="0" bIns="0" rtlCol="0" anchor="t"/>
          <a:lstStyle/>
          <a:p>
            <a:pPr algn="ctr" indent="0" marL="0">
              <a:buNone/>
            </a:pPr>
            <a:r>
              <a:rPr lang="en-US" sz="650" dirty="0">
                <a:solidFill>
                  <a:srgbClr val="4A5568"/>
                </a:solidFill>
              </a:rPr>
              <a:t>SlumberPod Gen 1 launched. Series A ($12M) led by Breakthrough Ventures.</a:t>
            </a:r>
            <a:endParaRPr lang="en-US" sz="650" dirty="0"/>
          </a:p>
        </p:txBody>
      </p:sp>
      <p:sp>
        <p:nvSpPr>
          <p:cNvPr id="15" name="Shape 13"/>
          <p:cNvSpPr/>
          <p:nvPr/>
        </p:nvSpPr>
        <p:spPr>
          <a:xfrm>
            <a:off x="3063240" y="2697480"/>
            <a:ext cx="274320" cy="274320"/>
          </a:xfrm>
          <a:prstGeom prst="oval">
            <a:avLst/>
          </a:prstGeom>
          <a:solidFill>
            <a:srgbClr val="2B5BAE"/>
          </a:solidFill>
          <a:ln w="19050">
            <a:solidFill>
              <a:srgbClr val="FFFFFF"/>
            </a:solidFill>
            <a:prstDash val="solid"/>
          </a:ln>
        </p:spPr>
      </p:sp>
      <p:sp>
        <p:nvSpPr>
          <p:cNvPr id="16" name="Text 14"/>
          <p:cNvSpPr/>
          <p:nvPr/>
        </p:nvSpPr>
        <p:spPr>
          <a:xfrm>
            <a:off x="2743200" y="2331720"/>
            <a:ext cx="914400" cy="228600"/>
          </a:xfrm>
          <a:prstGeom prst="rect">
            <a:avLst/>
          </a:prstGeom>
          <a:noFill/>
          <a:ln/>
        </p:spPr>
        <p:txBody>
          <a:bodyPr wrap="square" lIns="0" tIns="0" rIns="0" bIns="0" rtlCol="0" anchor="ctr"/>
          <a:lstStyle/>
          <a:p>
            <a:pPr algn="ctr" indent="0" marL="0">
              <a:buNone/>
            </a:pPr>
            <a:r>
              <a:rPr lang="en-US" sz="800" b="1" dirty="0">
                <a:solidFill>
                  <a:srgbClr val="2B5BAE"/>
                </a:solidFill>
              </a:rPr>
              <a:t>2018</a:t>
            </a:r>
            <a:endParaRPr lang="en-US" sz="800" dirty="0"/>
          </a:p>
        </p:txBody>
      </p:sp>
      <p:sp>
        <p:nvSpPr>
          <p:cNvPr id="17" name="Text 15"/>
          <p:cNvSpPr/>
          <p:nvPr/>
        </p:nvSpPr>
        <p:spPr>
          <a:xfrm>
            <a:off x="2514600" y="1664208"/>
            <a:ext cx="1371600" cy="640080"/>
          </a:xfrm>
          <a:prstGeom prst="rect">
            <a:avLst/>
          </a:prstGeom>
          <a:noFill/>
          <a:ln/>
        </p:spPr>
        <p:txBody>
          <a:bodyPr wrap="square" lIns="0" tIns="0" rIns="0" bIns="0" rtlCol="0" anchor="t"/>
          <a:lstStyle/>
          <a:p>
            <a:pPr algn="ctr" indent="0" marL="0">
              <a:buNone/>
            </a:pPr>
            <a:r>
              <a:rPr lang="en-US" sz="650" dirty="0">
                <a:solidFill>
                  <a:srgbClr val="4A5568"/>
                </a:solidFill>
              </a:rPr>
              <a:t>SlumberOS app launched. 25K units sold. Series B ($28M) closes.</a:t>
            </a:r>
            <a:endParaRPr lang="en-US" sz="650" dirty="0"/>
          </a:p>
        </p:txBody>
      </p:sp>
      <p:sp>
        <p:nvSpPr>
          <p:cNvPr id="18" name="Shape 16"/>
          <p:cNvSpPr/>
          <p:nvPr/>
        </p:nvSpPr>
        <p:spPr>
          <a:xfrm>
            <a:off x="4434840" y="2697480"/>
            <a:ext cx="274320" cy="274320"/>
          </a:xfrm>
          <a:prstGeom prst="oval">
            <a:avLst/>
          </a:prstGeom>
          <a:solidFill>
            <a:srgbClr val="2B5BAE"/>
          </a:solidFill>
          <a:ln w="19050">
            <a:solidFill>
              <a:srgbClr val="FFFFFF"/>
            </a:solidFill>
            <a:prstDash val="solid"/>
          </a:ln>
        </p:spPr>
      </p:sp>
      <p:sp>
        <p:nvSpPr>
          <p:cNvPr id="19" name="Text 17"/>
          <p:cNvSpPr/>
          <p:nvPr/>
        </p:nvSpPr>
        <p:spPr>
          <a:xfrm>
            <a:off x="4114800" y="3035808"/>
            <a:ext cx="914400" cy="228600"/>
          </a:xfrm>
          <a:prstGeom prst="rect">
            <a:avLst/>
          </a:prstGeom>
          <a:noFill/>
          <a:ln/>
        </p:spPr>
        <p:txBody>
          <a:bodyPr wrap="square" lIns="0" tIns="0" rIns="0" bIns="0" rtlCol="0" anchor="ctr"/>
          <a:lstStyle/>
          <a:p>
            <a:pPr algn="ctr" indent="0" marL="0">
              <a:buNone/>
            </a:pPr>
            <a:r>
              <a:rPr lang="en-US" sz="800" b="1" dirty="0">
                <a:solidFill>
                  <a:srgbClr val="2B5BAE"/>
                </a:solidFill>
              </a:rPr>
              <a:t>2019</a:t>
            </a:r>
            <a:endParaRPr lang="en-US" sz="800" dirty="0"/>
          </a:p>
        </p:txBody>
      </p:sp>
      <p:sp>
        <p:nvSpPr>
          <p:cNvPr id="20" name="Text 18"/>
          <p:cNvSpPr/>
          <p:nvPr/>
        </p:nvSpPr>
        <p:spPr>
          <a:xfrm>
            <a:off x="3886200" y="3273552"/>
            <a:ext cx="1371600" cy="640080"/>
          </a:xfrm>
          <a:prstGeom prst="rect">
            <a:avLst/>
          </a:prstGeom>
          <a:noFill/>
          <a:ln/>
        </p:spPr>
        <p:txBody>
          <a:bodyPr wrap="square" lIns="0" tIns="0" rIns="0" bIns="0" rtlCol="0" anchor="t"/>
          <a:lstStyle/>
          <a:p>
            <a:pPr algn="ctr" indent="0" marL="0">
              <a:buNone/>
            </a:pPr>
            <a:r>
              <a:rPr lang="en-US" sz="650" dirty="0">
                <a:solidFill>
                  <a:srgbClr val="4A5568"/>
                </a:solidFill>
              </a:rPr>
              <a:t>Revenue reaches $72M. First profitable quarter. Series C ($45M).</a:t>
            </a:r>
            <a:endParaRPr lang="en-US" sz="650" dirty="0"/>
          </a:p>
        </p:txBody>
      </p:sp>
      <p:sp>
        <p:nvSpPr>
          <p:cNvPr id="21" name="Shape 19"/>
          <p:cNvSpPr/>
          <p:nvPr/>
        </p:nvSpPr>
        <p:spPr>
          <a:xfrm>
            <a:off x="5806440" y="2697480"/>
            <a:ext cx="274320" cy="274320"/>
          </a:xfrm>
          <a:prstGeom prst="oval">
            <a:avLst/>
          </a:prstGeom>
          <a:solidFill>
            <a:srgbClr val="2B5BAE"/>
          </a:solidFill>
          <a:ln w="19050">
            <a:solidFill>
              <a:srgbClr val="FFFFFF"/>
            </a:solidFill>
            <a:prstDash val="solid"/>
          </a:ln>
        </p:spPr>
      </p:sp>
      <p:sp>
        <p:nvSpPr>
          <p:cNvPr id="22" name="Text 20"/>
          <p:cNvSpPr/>
          <p:nvPr/>
        </p:nvSpPr>
        <p:spPr>
          <a:xfrm>
            <a:off x="5486400" y="2331720"/>
            <a:ext cx="914400" cy="228600"/>
          </a:xfrm>
          <a:prstGeom prst="rect">
            <a:avLst/>
          </a:prstGeom>
          <a:noFill/>
          <a:ln/>
        </p:spPr>
        <p:txBody>
          <a:bodyPr wrap="square" lIns="0" tIns="0" rIns="0" bIns="0" rtlCol="0" anchor="ctr"/>
          <a:lstStyle/>
          <a:p>
            <a:pPr algn="ctr" indent="0" marL="0">
              <a:buNone/>
            </a:pPr>
            <a:r>
              <a:rPr lang="en-US" sz="800" b="1" dirty="0">
                <a:solidFill>
                  <a:srgbClr val="2B5BAE"/>
                </a:solidFill>
              </a:rPr>
              <a:t>2020</a:t>
            </a:r>
            <a:endParaRPr lang="en-US" sz="800" dirty="0"/>
          </a:p>
        </p:txBody>
      </p:sp>
      <p:sp>
        <p:nvSpPr>
          <p:cNvPr id="23" name="Text 21"/>
          <p:cNvSpPr/>
          <p:nvPr/>
        </p:nvSpPr>
        <p:spPr>
          <a:xfrm>
            <a:off x="5257800" y="1664208"/>
            <a:ext cx="1371600" cy="640080"/>
          </a:xfrm>
          <a:prstGeom prst="rect">
            <a:avLst/>
          </a:prstGeom>
          <a:noFill/>
          <a:ln/>
        </p:spPr>
        <p:txBody>
          <a:bodyPr wrap="square" lIns="0" tIns="0" rIns="0" bIns="0" rtlCol="0" anchor="t"/>
          <a:lstStyle/>
          <a:p>
            <a:pPr algn="ctr" indent="0" marL="0">
              <a:buNone/>
            </a:pPr>
            <a:r>
              <a:rPr lang="en-US" sz="650" dirty="0">
                <a:solidFill>
                  <a:srgbClr val="4A5568"/>
                </a:solidFill>
              </a:rPr>
              <a:t>Nordstrom partnership. COVID-driven DTC surge. Revenue $91M (+26%).</a:t>
            </a:r>
            <a:endParaRPr lang="en-US" sz="650" dirty="0"/>
          </a:p>
        </p:txBody>
      </p:sp>
      <p:sp>
        <p:nvSpPr>
          <p:cNvPr id="24" name="Shape 22"/>
          <p:cNvSpPr/>
          <p:nvPr/>
        </p:nvSpPr>
        <p:spPr>
          <a:xfrm>
            <a:off x="7178040" y="2697480"/>
            <a:ext cx="274320" cy="274320"/>
          </a:xfrm>
          <a:prstGeom prst="oval">
            <a:avLst/>
          </a:prstGeom>
          <a:solidFill>
            <a:srgbClr val="2B5BAE"/>
          </a:solidFill>
          <a:ln w="19050">
            <a:solidFill>
              <a:srgbClr val="FFFFFF"/>
            </a:solidFill>
            <a:prstDash val="solid"/>
          </a:ln>
        </p:spPr>
      </p:sp>
      <p:sp>
        <p:nvSpPr>
          <p:cNvPr id="25" name="Text 23"/>
          <p:cNvSpPr/>
          <p:nvPr/>
        </p:nvSpPr>
        <p:spPr>
          <a:xfrm>
            <a:off x="6858000" y="3035808"/>
            <a:ext cx="914400" cy="228600"/>
          </a:xfrm>
          <a:prstGeom prst="rect">
            <a:avLst/>
          </a:prstGeom>
          <a:noFill/>
          <a:ln/>
        </p:spPr>
        <p:txBody>
          <a:bodyPr wrap="square" lIns="0" tIns="0" rIns="0" bIns="0" rtlCol="0" anchor="ctr"/>
          <a:lstStyle/>
          <a:p>
            <a:pPr algn="ctr" indent="0" marL="0">
              <a:buNone/>
            </a:pPr>
            <a:r>
              <a:rPr lang="en-US" sz="800" b="1" dirty="0">
                <a:solidFill>
                  <a:srgbClr val="2B5BAE"/>
                </a:solidFill>
              </a:rPr>
              <a:t>2021</a:t>
            </a:r>
            <a:endParaRPr lang="en-US" sz="800" dirty="0"/>
          </a:p>
        </p:txBody>
      </p:sp>
      <p:sp>
        <p:nvSpPr>
          <p:cNvPr id="26" name="Text 24"/>
          <p:cNvSpPr/>
          <p:nvPr/>
        </p:nvSpPr>
        <p:spPr>
          <a:xfrm>
            <a:off x="6629400" y="3273552"/>
            <a:ext cx="1371600" cy="640080"/>
          </a:xfrm>
          <a:prstGeom prst="rect">
            <a:avLst/>
          </a:prstGeom>
          <a:noFill/>
          <a:ln/>
        </p:spPr>
        <p:txBody>
          <a:bodyPr wrap="square" lIns="0" tIns="0" rIns="0" bIns="0" rtlCol="0" anchor="t"/>
          <a:lstStyle/>
          <a:p>
            <a:pPr algn="ctr" indent="0" marL="0">
              <a:buNone/>
            </a:pPr>
            <a:r>
              <a:rPr lang="en-US" sz="650" dirty="0">
                <a:solidFill>
                  <a:srgbClr val="4A5568"/>
                </a:solidFill>
              </a:rPr>
              <a:t>International launch (UK/AU). SlumberPod Gen 3. Revenue $115M (+26%).</a:t>
            </a:r>
            <a:endParaRPr lang="en-US" sz="650" dirty="0"/>
          </a:p>
        </p:txBody>
      </p:sp>
      <p:sp>
        <p:nvSpPr>
          <p:cNvPr id="27" name="Shape 25"/>
          <p:cNvSpPr/>
          <p:nvPr/>
        </p:nvSpPr>
        <p:spPr>
          <a:xfrm>
            <a:off x="8549640" y="2697480"/>
            <a:ext cx="274320" cy="274320"/>
          </a:xfrm>
          <a:prstGeom prst="oval">
            <a:avLst/>
          </a:prstGeom>
          <a:solidFill>
            <a:srgbClr val="C8A83C"/>
          </a:solidFill>
          <a:ln w="19050">
            <a:solidFill>
              <a:srgbClr val="FFFFFF"/>
            </a:solidFill>
            <a:prstDash val="solid"/>
          </a:ln>
        </p:spPr>
      </p:sp>
      <p:sp>
        <p:nvSpPr>
          <p:cNvPr id="28" name="Text 26"/>
          <p:cNvSpPr/>
          <p:nvPr/>
        </p:nvSpPr>
        <p:spPr>
          <a:xfrm>
            <a:off x="8229600" y="2331720"/>
            <a:ext cx="914400" cy="228600"/>
          </a:xfrm>
          <a:prstGeom prst="rect">
            <a:avLst/>
          </a:prstGeom>
          <a:noFill/>
          <a:ln/>
        </p:spPr>
        <p:txBody>
          <a:bodyPr wrap="square" lIns="0" tIns="0" rIns="0" bIns="0" rtlCol="0" anchor="ctr"/>
          <a:lstStyle/>
          <a:p>
            <a:pPr algn="ctr" indent="0" marL="0">
              <a:buNone/>
            </a:pPr>
            <a:r>
              <a:rPr lang="en-US" sz="800" b="1" dirty="0">
                <a:solidFill>
                  <a:srgbClr val="2B5BAE"/>
                </a:solidFill>
              </a:rPr>
              <a:t>2022</a:t>
            </a:r>
            <a:endParaRPr lang="en-US" sz="800" dirty="0"/>
          </a:p>
        </p:txBody>
      </p:sp>
      <p:sp>
        <p:nvSpPr>
          <p:cNvPr id="29" name="Text 27"/>
          <p:cNvSpPr/>
          <p:nvPr/>
        </p:nvSpPr>
        <p:spPr>
          <a:xfrm>
            <a:off x="8001000" y="1664208"/>
            <a:ext cx="1371600" cy="640080"/>
          </a:xfrm>
          <a:prstGeom prst="rect">
            <a:avLst/>
          </a:prstGeom>
          <a:noFill/>
          <a:ln/>
        </p:spPr>
        <p:txBody>
          <a:bodyPr wrap="square" lIns="0" tIns="0" rIns="0" bIns="0" rtlCol="0" anchor="t"/>
          <a:lstStyle/>
          <a:p>
            <a:pPr algn="ctr" indent="0" marL="0">
              <a:buNone/>
            </a:pPr>
            <a:r>
              <a:rPr lang="en-US" sz="650" dirty="0">
                <a:solidFill>
                  <a:srgbClr val="4A5568"/>
                </a:solidFill>
              </a:rPr>
              <a:t>Best Buy partnership. $29M ARR. Initiating sale process via Goldman Sachs.</a:t>
            </a:r>
            <a:endParaRPr lang="en-US" sz="650" dirty="0"/>
          </a:p>
        </p:txBody>
      </p:sp>
      <p:sp>
        <p:nvSpPr>
          <p:cNvPr id="30" name="Shape 28"/>
          <p:cNvSpPr/>
          <p:nvPr/>
        </p:nvSpPr>
        <p:spPr>
          <a:xfrm>
            <a:off x="457200" y="3840480"/>
            <a:ext cx="1371600" cy="822960"/>
          </a:xfrm>
          <a:prstGeom prst="rect">
            <a:avLst/>
          </a:prstGeom>
          <a:solidFill>
            <a:srgbClr val="1B2D55"/>
          </a:solidFill>
          <a:ln w="12700">
            <a:solidFill>
              <a:srgbClr val="1B2D55"/>
            </a:solidFill>
            <a:prstDash val="solid"/>
          </a:ln>
        </p:spPr>
      </p:sp>
      <p:sp>
        <p:nvSpPr>
          <p:cNvPr id="31" name="Text 29"/>
          <p:cNvSpPr/>
          <p:nvPr/>
        </p:nvSpPr>
        <p:spPr>
          <a:xfrm>
            <a:off x="457200" y="3913632"/>
            <a:ext cx="1371600" cy="320040"/>
          </a:xfrm>
          <a:prstGeom prst="rect">
            <a:avLst/>
          </a:prstGeom>
          <a:noFill/>
          <a:ln/>
        </p:spPr>
        <p:txBody>
          <a:bodyPr wrap="square" lIns="0" tIns="0" rIns="0" bIns="0" rtlCol="0" anchor="ctr"/>
          <a:lstStyle/>
          <a:p>
            <a:pPr algn="ctr" indent="0" marL="0">
              <a:buNone/>
            </a:pPr>
            <a:r>
              <a:rPr lang="en-US" sz="1100" b="1" dirty="0">
                <a:solidFill>
                  <a:srgbClr val="C8A83C"/>
                </a:solidFill>
              </a:rPr>
              <a:t>2014</a:t>
            </a:r>
            <a:endParaRPr lang="en-US" sz="1100" dirty="0"/>
          </a:p>
        </p:txBody>
      </p:sp>
      <p:sp>
        <p:nvSpPr>
          <p:cNvPr id="32" name="Text 30"/>
          <p:cNvSpPr/>
          <p:nvPr/>
        </p:nvSpPr>
        <p:spPr>
          <a:xfrm>
            <a:off x="457200" y="4251960"/>
            <a:ext cx="1371600" cy="274320"/>
          </a:xfrm>
          <a:prstGeom prst="rect">
            <a:avLst/>
          </a:prstGeom>
          <a:noFill/>
          <a:ln/>
        </p:spPr>
        <p:txBody>
          <a:bodyPr wrap="square" lIns="0" tIns="0" rIns="0" bIns="0" rtlCol="0" anchor="ctr"/>
          <a:lstStyle/>
          <a:p>
            <a:pPr algn="ctr" indent="0" marL="0">
              <a:buNone/>
            </a:pPr>
            <a:r>
              <a:rPr lang="en-US" sz="750" dirty="0">
                <a:solidFill>
                  <a:srgbClr val="FFFFFF"/>
                </a:solidFill>
              </a:rPr>
              <a:t>Founded</a:t>
            </a:r>
            <a:endParaRPr lang="en-US" sz="750" dirty="0"/>
          </a:p>
        </p:txBody>
      </p:sp>
      <p:sp>
        <p:nvSpPr>
          <p:cNvPr id="33" name="Shape 31"/>
          <p:cNvSpPr/>
          <p:nvPr/>
        </p:nvSpPr>
        <p:spPr>
          <a:xfrm>
            <a:off x="1901952" y="3840480"/>
            <a:ext cx="1371600" cy="822960"/>
          </a:xfrm>
          <a:prstGeom prst="rect">
            <a:avLst/>
          </a:prstGeom>
          <a:solidFill>
            <a:srgbClr val="2B5BAE"/>
          </a:solidFill>
          <a:ln w="12700">
            <a:solidFill>
              <a:srgbClr val="2B5BAE"/>
            </a:solidFill>
            <a:prstDash val="solid"/>
          </a:ln>
        </p:spPr>
      </p:sp>
      <p:sp>
        <p:nvSpPr>
          <p:cNvPr id="34" name="Text 32"/>
          <p:cNvSpPr/>
          <p:nvPr/>
        </p:nvSpPr>
        <p:spPr>
          <a:xfrm>
            <a:off x="1901952" y="3913632"/>
            <a:ext cx="1371600" cy="320040"/>
          </a:xfrm>
          <a:prstGeom prst="rect">
            <a:avLst/>
          </a:prstGeom>
          <a:noFill/>
          <a:ln/>
        </p:spPr>
        <p:txBody>
          <a:bodyPr wrap="square" lIns="0" tIns="0" rIns="0" bIns="0" rtlCol="0" anchor="ctr"/>
          <a:lstStyle/>
          <a:p>
            <a:pPr algn="ctr" indent="0" marL="0">
              <a:buNone/>
            </a:pPr>
            <a:r>
              <a:rPr lang="en-US" sz="1100" b="1" dirty="0">
                <a:solidFill>
                  <a:srgbClr val="C8A83C"/>
                </a:solidFill>
              </a:rPr>
              <a:t>Boulder, CO</a:t>
            </a:r>
            <a:endParaRPr lang="en-US" sz="1100" dirty="0"/>
          </a:p>
        </p:txBody>
      </p:sp>
      <p:sp>
        <p:nvSpPr>
          <p:cNvPr id="35" name="Text 33"/>
          <p:cNvSpPr/>
          <p:nvPr/>
        </p:nvSpPr>
        <p:spPr>
          <a:xfrm>
            <a:off x="1901952" y="4251960"/>
            <a:ext cx="1371600" cy="274320"/>
          </a:xfrm>
          <a:prstGeom prst="rect">
            <a:avLst/>
          </a:prstGeom>
          <a:noFill/>
          <a:ln/>
        </p:spPr>
        <p:txBody>
          <a:bodyPr wrap="square" lIns="0" tIns="0" rIns="0" bIns="0" rtlCol="0" anchor="ctr"/>
          <a:lstStyle/>
          <a:p>
            <a:pPr algn="ctr" indent="0" marL="0">
              <a:buNone/>
            </a:pPr>
            <a:r>
              <a:rPr lang="en-US" sz="750" dirty="0">
                <a:solidFill>
                  <a:srgbClr val="FFFFFF"/>
                </a:solidFill>
              </a:rPr>
              <a:t>HQ</a:t>
            </a:r>
            <a:endParaRPr lang="en-US" sz="750" dirty="0"/>
          </a:p>
        </p:txBody>
      </p:sp>
      <p:sp>
        <p:nvSpPr>
          <p:cNvPr id="36" name="Shape 34"/>
          <p:cNvSpPr/>
          <p:nvPr/>
        </p:nvSpPr>
        <p:spPr>
          <a:xfrm>
            <a:off x="3346704" y="3840480"/>
            <a:ext cx="1371600" cy="822960"/>
          </a:xfrm>
          <a:prstGeom prst="rect">
            <a:avLst/>
          </a:prstGeom>
          <a:solidFill>
            <a:srgbClr val="1B2D55"/>
          </a:solidFill>
          <a:ln w="12700">
            <a:solidFill>
              <a:srgbClr val="1B2D55"/>
            </a:solidFill>
            <a:prstDash val="solid"/>
          </a:ln>
        </p:spPr>
      </p:sp>
      <p:sp>
        <p:nvSpPr>
          <p:cNvPr id="37" name="Text 35"/>
          <p:cNvSpPr/>
          <p:nvPr/>
        </p:nvSpPr>
        <p:spPr>
          <a:xfrm>
            <a:off x="3346704" y="3913632"/>
            <a:ext cx="1371600" cy="320040"/>
          </a:xfrm>
          <a:prstGeom prst="rect">
            <a:avLst/>
          </a:prstGeom>
          <a:noFill/>
          <a:ln/>
        </p:spPr>
        <p:txBody>
          <a:bodyPr wrap="square" lIns="0" tIns="0" rIns="0" bIns="0" rtlCol="0" anchor="ctr"/>
          <a:lstStyle/>
          <a:p>
            <a:pPr algn="ctr" indent="0" marL="0">
              <a:buNone/>
            </a:pPr>
            <a:r>
              <a:rPr lang="en-US" sz="1100" b="1" dirty="0">
                <a:solidFill>
                  <a:srgbClr val="C8A83C"/>
                </a:solidFill>
              </a:rPr>
              <a:t>~380 FTEs</a:t>
            </a:r>
            <a:endParaRPr lang="en-US" sz="1100" dirty="0"/>
          </a:p>
        </p:txBody>
      </p:sp>
      <p:sp>
        <p:nvSpPr>
          <p:cNvPr id="38" name="Text 36"/>
          <p:cNvSpPr/>
          <p:nvPr/>
        </p:nvSpPr>
        <p:spPr>
          <a:xfrm>
            <a:off x="3346704" y="4251960"/>
            <a:ext cx="1371600" cy="274320"/>
          </a:xfrm>
          <a:prstGeom prst="rect">
            <a:avLst/>
          </a:prstGeom>
          <a:noFill/>
          <a:ln/>
        </p:spPr>
        <p:txBody>
          <a:bodyPr wrap="square" lIns="0" tIns="0" rIns="0" bIns="0" rtlCol="0" anchor="ctr"/>
          <a:lstStyle/>
          <a:p>
            <a:pPr algn="ctr" indent="0" marL="0">
              <a:buNone/>
            </a:pPr>
            <a:r>
              <a:rPr lang="en-US" sz="750" dirty="0">
                <a:solidFill>
                  <a:srgbClr val="FFFFFF"/>
                </a:solidFill>
              </a:rPr>
              <a:t>Employees</a:t>
            </a:r>
            <a:endParaRPr lang="en-US" sz="750" dirty="0"/>
          </a:p>
        </p:txBody>
      </p:sp>
      <p:sp>
        <p:nvSpPr>
          <p:cNvPr id="39" name="Shape 37"/>
          <p:cNvSpPr/>
          <p:nvPr/>
        </p:nvSpPr>
        <p:spPr>
          <a:xfrm>
            <a:off x="4791456" y="3840480"/>
            <a:ext cx="1371600" cy="822960"/>
          </a:xfrm>
          <a:prstGeom prst="rect">
            <a:avLst/>
          </a:prstGeom>
          <a:solidFill>
            <a:srgbClr val="2B5BAE"/>
          </a:solidFill>
          <a:ln w="12700">
            <a:solidFill>
              <a:srgbClr val="2B5BAE"/>
            </a:solidFill>
            <a:prstDash val="solid"/>
          </a:ln>
        </p:spPr>
      </p:sp>
      <p:sp>
        <p:nvSpPr>
          <p:cNvPr id="40" name="Text 38"/>
          <p:cNvSpPr/>
          <p:nvPr/>
        </p:nvSpPr>
        <p:spPr>
          <a:xfrm>
            <a:off x="4791456" y="3913632"/>
            <a:ext cx="1371600" cy="320040"/>
          </a:xfrm>
          <a:prstGeom prst="rect">
            <a:avLst/>
          </a:prstGeom>
          <a:noFill/>
          <a:ln/>
        </p:spPr>
        <p:txBody>
          <a:bodyPr wrap="square" lIns="0" tIns="0" rIns="0" bIns="0" rtlCol="0" anchor="ctr"/>
          <a:lstStyle/>
          <a:p>
            <a:pPr algn="ctr" indent="0" marL="0">
              <a:buNone/>
            </a:pPr>
            <a:r>
              <a:rPr lang="en-US" sz="1100" b="1" dirty="0">
                <a:solidFill>
                  <a:srgbClr val="C8A83C"/>
                </a:solidFill>
              </a:rPr>
              <a:t>Taiwan (OEM)</a:t>
            </a:r>
            <a:endParaRPr lang="en-US" sz="1100" dirty="0"/>
          </a:p>
        </p:txBody>
      </p:sp>
      <p:sp>
        <p:nvSpPr>
          <p:cNvPr id="41" name="Text 39"/>
          <p:cNvSpPr/>
          <p:nvPr/>
        </p:nvSpPr>
        <p:spPr>
          <a:xfrm>
            <a:off x="4791456" y="4251960"/>
            <a:ext cx="1371600" cy="274320"/>
          </a:xfrm>
          <a:prstGeom prst="rect">
            <a:avLst/>
          </a:prstGeom>
          <a:noFill/>
          <a:ln/>
        </p:spPr>
        <p:txBody>
          <a:bodyPr wrap="square" lIns="0" tIns="0" rIns="0" bIns="0" rtlCol="0" anchor="ctr"/>
          <a:lstStyle/>
          <a:p>
            <a:pPr algn="ctr" indent="0" marL="0">
              <a:buNone/>
            </a:pPr>
            <a:r>
              <a:rPr lang="en-US" sz="750" dirty="0">
                <a:solidFill>
                  <a:srgbClr val="FFFFFF"/>
                </a:solidFill>
              </a:rPr>
              <a:t>Manufacturing</a:t>
            </a:r>
            <a:endParaRPr lang="en-US" sz="750" dirty="0"/>
          </a:p>
        </p:txBody>
      </p:sp>
      <p:sp>
        <p:nvSpPr>
          <p:cNvPr id="42" name="Shape 40"/>
          <p:cNvSpPr/>
          <p:nvPr/>
        </p:nvSpPr>
        <p:spPr>
          <a:xfrm>
            <a:off x="6236208" y="3840480"/>
            <a:ext cx="1371600" cy="822960"/>
          </a:xfrm>
          <a:prstGeom prst="rect">
            <a:avLst/>
          </a:prstGeom>
          <a:solidFill>
            <a:srgbClr val="1B2D55"/>
          </a:solidFill>
          <a:ln w="12700">
            <a:solidFill>
              <a:srgbClr val="1B2D55"/>
            </a:solidFill>
            <a:prstDash val="solid"/>
          </a:ln>
        </p:spPr>
      </p:sp>
      <p:sp>
        <p:nvSpPr>
          <p:cNvPr id="43" name="Text 41"/>
          <p:cNvSpPr/>
          <p:nvPr/>
        </p:nvSpPr>
        <p:spPr>
          <a:xfrm>
            <a:off x="6236208" y="3913632"/>
            <a:ext cx="1371600" cy="320040"/>
          </a:xfrm>
          <a:prstGeom prst="rect">
            <a:avLst/>
          </a:prstGeom>
          <a:noFill/>
          <a:ln/>
        </p:spPr>
        <p:txBody>
          <a:bodyPr wrap="square" lIns="0" tIns="0" rIns="0" bIns="0" rtlCol="0" anchor="ctr"/>
          <a:lstStyle/>
          <a:p>
            <a:pPr algn="ctr" indent="0" marL="0">
              <a:buNone/>
            </a:pPr>
            <a:r>
              <a:rPr lang="en-US" sz="1100" b="1" dirty="0">
                <a:solidFill>
                  <a:srgbClr val="C8A83C"/>
                </a:solidFill>
              </a:rPr>
              <a:t>15 (10 granted)</a:t>
            </a:r>
            <a:endParaRPr lang="en-US" sz="1100" dirty="0"/>
          </a:p>
        </p:txBody>
      </p:sp>
      <p:sp>
        <p:nvSpPr>
          <p:cNvPr id="44" name="Text 42"/>
          <p:cNvSpPr/>
          <p:nvPr/>
        </p:nvSpPr>
        <p:spPr>
          <a:xfrm>
            <a:off x="6236208" y="4251960"/>
            <a:ext cx="1371600" cy="274320"/>
          </a:xfrm>
          <a:prstGeom prst="rect">
            <a:avLst/>
          </a:prstGeom>
          <a:noFill/>
          <a:ln/>
        </p:spPr>
        <p:txBody>
          <a:bodyPr wrap="square" lIns="0" tIns="0" rIns="0" bIns="0" rtlCol="0" anchor="ctr"/>
          <a:lstStyle/>
          <a:p>
            <a:pPr algn="ctr" indent="0" marL="0">
              <a:buNone/>
            </a:pPr>
            <a:r>
              <a:rPr lang="en-US" sz="750" dirty="0">
                <a:solidFill>
                  <a:srgbClr val="FFFFFF"/>
                </a:solidFill>
              </a:rPr>
              <a:t>Patents</a:t>
            </a:r>
            <a:endParaRPr lang="en-US" sz="750" dirty="0"/>
          </a:p>
        </p:txBody>
      </p:sp>
      <p:sp>
        <p:nvSpPr>
          <p:cNvPr id="45" name="Shape 43"/>
          <p:cNvSpPr/>
          <p:nvPr/>
        </p:nvSpPr>
        <p:spPr>
          <a:xfrm>
            <a:off x="7680960" y="3840480"/>
            <a:ext cx="1371600" cy="822960"/>
          </a:xfrm>
          <a:prstGeom prst="rect">
            <a:avLst/>
          </a:prstGeom>
          <a:solidFill>
            <a:srgbClr val="2B5BAE"/>
          </a:solidFill>
          <a:ln w="12700">
            <a:solidFill>
              <a:srgbClr val="2B5BAE"/>
            </a:solidFill>
            <a:prstDash val="solid"/>
          </a:ln>
        </p:spPr>
      </p:sp>
      <p:sp>
        <p:nvSpPr>
          <p:cNvPr id="46" name="Text 44"/>
          <p:cNvSpPr/>
          <p:nvPr/>
        </p:nvSpPr>
        <p:spPr>
          <a:xfrm>
            <a:off x="7680960" y="3913632"/>
            <a:ext cx="1371600" cy="320040"/>
          </a:xfrm>
          <a:prstGeom prst="rect">
            <a:avLst/>
          </a:prstGeom>
          <a:noFill/>
          <a:ln/>
        </p:spPr>
        <p:txBody>
          <a:bodyPr wrap="square" lIns="0" tIns="0" rIns="0" bIns="0" rtlCol="0" anchor="ctr"/>
          <a:lstStyle/>
          <a:p>
            <a:pPr algn="ctr" indent="0" marL="0">
              <a:buNone/>
            </a:pPr>
            <a:r>
              <a:rPr lang="en-US" sz="1100" b="1" dirty="0">
                <a:solidFill>
                  <a:srgbClr val="C8A83C"/>
                </a:solidFill>
              </a:rPr>
              <a:t>US, CA, UK, AU</a:t>
            </a:r>
            <a:endParaRPr lang="en-US" sz="1100" dirty="0"/>
          </a:p>
        </p:txBody>
      </p:sp>
      <p:sp>
        <p:nvSpPr>
          <p:cNvPr id="47" name="Text 45"/>
          <p:cNvSpPr/>
          <p:nvPr/>
        </p:nvSpPr>
        <p:spPr>
          <a:xfrm>
            <a:off x="7680960" y="4251960"/>
            <a:ext cx="1371600" cy="274320"/>
          </a:xfrm>
          <a:prstGeom prst="rect">
            <a:avLst/>
          </a:prstGeom>
          <a:noFill/>
          <a:ln/>
        </p:spPr>
        <p:txBody>
          <a:bodyPr wrap="square" lIns="0" tIns="0" rIns="0" bIns="0" rtlCol="0" anchor="ctr"/>
          <a:lstStyle/>
          <a:p>
            <a:pPr algn="ctr" indent="0" marL="0">
              <a:buNone/>
            </a:pPr>
            <a:r>
              <a:rPr lang="en-US" sz="750" dirty="0">
                <a:solidFill>
                  <a:srgbClr val="FFFFFF"/>
                </a:solidFill>
              </a:rPr>
              <a:t>Markets</a:t>
            </a:r>
            <a:endParaRPr lang="en-US" sz="750" dirty="0"/>
          </a:p>
        </p:txBody>
      </p:sp>
      <p:sp>
        <p:nvSpPr>
          <p:cNvPr id="48" name="Shape 46"/>
          <p:cNvSpPr/>
          <p:nvPr/>
        </p:nvSpPr>
        <p:spPr>
          <a:xfrm>
            <a:off x="0" y="4892040"/>
            <a:ext cx="9144000" cy="251460"/>
          </a:xfrm>
          <a:prstGeom prst="rect">
            <a:avLst/>
          </a:prstGeom>
          <a:solidFill>
            <a:srgbClr val="F4F6FA"/>
          </a:solidFill>
          <a:ln w="12700">
            <a:solidFill>
              <a:srgbClr val="D0D8E4"/>
            </a:solidFill>
            <a:prstDash val="solid"/>
          </a:ln>
        </p:spPr>
      </p:sp>
      <p:sp>
        <p:nvSpPr>
          <p:cNvPr id="49" name="Text 47"/>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50" name="Text 48"/>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7 / 20</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GOLDMAN SACHS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SECTION IV — PRODUCTS &amp; TECHNOLOGY</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Products &amp; Technology</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An integrated hardware-software ecosystem for precision sleep</a:t>
            </a:r>
            <a:endParaRPr lang="en-US" sz="950" dirty="0"/>
          </a:p>
        </p:txBody>
      </p:sp>
      <p:sp>
        <p:nvSpPr>
          <p:cNvPr id="8" name="Shape 6"/>
          <p:cNvSpPr/>
          <p:nvPr/>
        </p:nvSpPr>
        <p:spPr>
          <a:xfrm>
            <a:off x="457200" y="1234440"/>
            <a:ext cx="4251960" cy="1664208"/>
          </a:xfrm>
          <a:prstGeom prst="rect">
            <a:avLst/>
          </a:prstGeom>
          <a:solidFill>
            <a:srgbClr val="FFFFFF"/>
          </a:solidFill>
          <a:ln w="12700">
            <a:solidFill>
              <a:srgbClr val="D0D8E4"/>
            </a:solidFill>
            <a:prstDash val="solid"/>
          </a:ln>
          <a:effectLst>
            <a:outerShdw sx="100000" sy="100000" kx="0" ky="0" algn="bl" rotWithShape="0" blurRad="50800" dist="25400" dir="8100000">
              <a:srgbClr val="000000">
                <a:alpha val="7000"/>
              </a:srgbClr>
            </a:outerShdw>
          </a:effectLst>
        </p:spPr>
      </p:sp>
      <p:sp>
        <p:nvSpPr>
          <p:cNvPr id="9" name="Shape 7"/>
          <p:cNvSpPr/>
          <p:nvPr/>
        </p:nvSpPr>
        <p:spPr>
          <a:xfrm>
            <a:off x="457200" y="1234440"/>
            <a:ext cx="4251960" cy="320040"/>
          </a:xfrm>
          <a:prstGeom prst="rect">
            <a:avLst/>
          </a:prstGeom>
          <a:solidFill>
            <a:srgbClr val="1B2D55"/>
          </a:solidFill>
          <a:ln w="12700">
            <a:solidFill>
              <a:srgbClr val="1B2D55"/>
            </a:solidFill>
            <a:prstDash val="solid"/>
          </a:ln>
        </p:spPr>
      </p:sp>
      <p:sp>
        <p:nvSpPr>
          <p:cNvPr id="10" name="Text 8"/>
          <p:cNvSpPr/>
          <p:nvPr/>
        </p:nvSpPr>
        <p:spPr>
          <a:xfrm>
            <a:off x="566928" y="1289304"/>
            <a:ext cx="2286000" cy="210312"/>
          </a:xfrm>
          <a:prstGeom prst="rect">
            <a:avLst/>
          </a:prstGeom>
          <a:noFill/>
          <a:ln/>
        </p:spPr>
        <p:txBody>
          <a:bodyPr wrap="square" lIns="0" tIns="0" rIns="0" bIns="0" rtlCol="0" anchor="ctr"/>
          <a:lstStyle/>
          <a:p>
            <a:pPr indent="0" marL="0">
              <a:buNone/>
            </a:pPr>
            <a:r>
              <a:rPr lang="en-US" sz="650" b="1" dirty="0">
                <a:solidFill>
                  <a:srgbClr val="FFFFFF"/>
                </a:solidFill>
              </a:rPr>
              <a:t>FLAGSHIP HARDWARE</a:t>
            </a:r>
            <a:endParaRPr lang="en-US" sz="650" dirty="0"/>
          </a:p>
        </p:txBody>
      </p:sp>
      <p:sp>
        <p:nvSpPr>
          <p:cNvPr id="11" name="Text 9"/>
          <p:cNvSpPr/>
          <p:nvPr/>
        </p:nvSpPr>
        <p:spPr>
          <a:xfrm>
            <a:off x="3017520" y="1289304"/>
            <a:ext cx="1554480" cy="210312"/>
          </a:xfrm>
          <a:prstGeom prst="rect">
            <a:avLst/>
          </a:prstGeom>
          <a:noFill/>
          <a:ln/>
        </p:spPr>
        <p:txBody>
          <a:bodyPr wrap="square" lIns="0" tIns="0" rIns="0" bIns="0" rtlCol="0" anchor="ctr"/>
          <a:lstStyle/>
          <a:p>
            <a:pPr algn="r" indent="0" marL="0">
              <a:buNone/>
            </a:pPr>
            <a:r>
              <a:rPr lang="en-US" sz="900" b="1" dirty="0">
                <a:solidFill>
                  <a:srgbClr val="FFFFFF"/>
                </a:solidFill>
              </a:rPr>
              <a:t>$1,799</a:t>
            </a:r>
            <a:endParaRPr lang="en-US" sz="900" dirty="0"/>
          </a:p>
        </p:txBody>
      </p:sp>
      <p:sp>
        <p:nvSpPr>
          <p:cNvPr id="12" name="Text 10"/>
          <p:cNvSpPr/>
          <p:nvPr/>
        </p:nvSpPr>
        <p:spPr>
          <a:xfrm>
            <a:off x="566928" y="1618488"/>
            <a:ext cx="4023360" cy="274320"/>
          </a:xfrm>
          <a:prstGeom prst="rect">
            <a:avLst/>
          </a:prstGeom>
          <a:noFill/>
          <a:ln/>
        </p:spPr>
        <p:txBody>
          <a:bodyPr wrap="square" lIns="0" tIns="0" rIns="0" bIns="0" rtlCol="0" anchor="ctr"/>
          <a:lstStyle/>
          <a:p>
            <a:pPr indent="0" marL="0">
              <a:buNone/>
            </a:pPr>
            <a:r>
              <a:rPr lang="en-US" sz="1100" b="1" dirty="0">
                <a:solidFill>
                  <a:srgbClr val="1B2D55"/>
                </a:solidFill>
              </a:rPr>
              <a:t>SlumberPod™ Pro</a:t>
            </a:r>
            <a:endParaRPr lang="en-US" sz="1100" dirty="0"/>
          </a:p>
        </p:txBody>
      </p:sp>
      <p:sp>
        <p:nvSpPr>
          <p:cNvPr id="13" name="Shape 11"/>
          <p:cNvSpPr/>
          <p:nvPr/>
        </p:nvSpPr>
        <p:spPr>
          <a:xfrm>
            <a:off x="594360" y="1984248"/>
            <a:ext cx="73152" cy="73152"/>
          </a:xfrm>
          <a:prstGeom prst="oval">
            <a:avLst/>
          </a:prstGeom>
          <a:solidFill>
            <a:srgbClr val="1B2D55"/>
          </a:solidFill>
          <a:ln w="12700">
            <a:solidFill>
              <a:srgbClr val="1B2D55"/>
            </a:solidFill>
            <a:prstDash val="solid"/>
          </a:ln>
        </p:spPr>
      </p:sp>
      <p:sp>
        <p:nvSpPr>
          <p:cNvPr id="14" name="Text 12"/>
          <p:cNvSpPr/>
          <p:nvPr/>
        </p:nvSpPr>
        <p:spPr>
          <a:xfrm>
            <a:off x="731520" y="1938528"/>
            <a:ext cx="3840480" cy="237744"/>
          </a:xfrm>
          <a:prstGeom prst="rect">
            <a:avLst/>
          </a:prstGeom>
          <a:noFill/>
          <a:ln/>
        </p:spPr>
        <p:txBody>
          <a:bodyPr wrap="square" lIns="0" tIns="0" rIns="0" bIns="0" rtlCol="0" anchor="ctr"/>
          <a:lstStyle/>
          <a:p>
            <a:pPr indent="0" marL="0">
              <a:buNone/>
            </a:pPr>
            <a:r>
              <a:rPr lang="en-US" sz="750" dirty="0">
                <a:solidFill>
                  <a:srgbClr val="4A5568"/>
                </a:solidFill>
              </a:rPr>
              <a:t>Dual-zone thermal regulation mattress pad (-5°C to +10°C)</a:t>
            </a:r>
            <a:endParaRPr lang="en-US" sz="750" dirty="0"/>
          </a:p>
        </p:txBody>
      </p:sp>
      <p:sp>
        <p:nvSpPr>
          <p:cNvPr id="15" name="Shape 13"/>
          <p:cNvSpPr/>
          <p:nvPr/>
        </p:nvSpPr>
        <p:spPr>
          <a:xfrm>
            <a:off x="594360" y="2258568"/>
            <a:ext cx="73152" cy="73152"/>
          </a:xfrm>
          <a:prstGeom prst="oval">
            <a:avLst/>
          </a:prstGeom>
          <a:solidFill>
            <a:srgbClr val="1B2D55"/>
          </a:solidFill>
          <a:ln w="12700">
            <a:solidFill>
              <a:srgbClr val="1B2D55"/>
            </a:solidFill>
            <a:prstDash val="solid"/>
          </a:ln>
        </p:spPr>
      </p:sp>
      <p:sp>
        <p:nvSpPr>
          <p:cNvPr id="16" name="Text 14"/>
          <p:cNvSpPr/>
          <p:nvPr/>
        </p:nvSpPr>
        <p:spPr>
          <a:xfrm>
            <a:off x="731520" y="2212848"/>
            <a:ext cx="3840480" cy="237744"/>
          </a:xfrm>
          <a:prstGeom prst="rect">
            <a:avLst/>
          </a:prstGeom>
          <a:noFill/>
          <a:ln/>
        </p:spPr>
        <p:txBody>
          <a:bodyPr wrap="square" lIns="0" tIns="0" rIns="0" bIns="0" rtlCol="0" anchor="ctr"/>
          <a:lstStyle/>
          <a:p>
            <a:pPr indent="0" marL="0">
              <a:buNone/>
            </a:pPr>
            <a:r>
              <a:rPr lang="en-US" sz="750" dirty="0">
                <a:solidFill>
                  <a:srgbClr val="4A5568"/>
                </a:solidFill>
              </a:rPr>
              <a:t>Integrated heart rate, HRV, and respiratory monitoring</a:t>
            </a:r>
            <a:endParaRPr lang="en-US" sz="750" dirty="0"/>
          </a:p>
        </p:txBody>
      </p:sp>
      <p:sp>
        <p:nvSpPr>
          <p:cNvPr id="17" name="Shape 15"/>
          <p:cNvSpPr/>
          <p:nvPr/>
        </p:nvSpPr>
        <p:spPr>
          <a:xfrm>
            <a:off x="594360" y="2532888"/>
            <a:ext cx="73152" cy="73152"/>
          </a:xfrm>
          <a:prstGeom prst="oval">
            <a:avLst/>
          </a:prstGeom>
          <a:solidFill>
            <a:srgbClr val="1B2D55"/>
          </a:solidFill>
          <a:ln w="12700">
            <a:solidFill>
              <a:srgbClr val="1B2D55"/>
            </a:solidFill>
            <a:prstDash val="solid"/>
          </a:ln>
        </p:spPr>
      </p:sp>
      <p:sp>
        <p:nvSpPr>
          <p:cNvPr id="18" name="Text 16"/>
          <p:cNvSpPr/>
          <p:nvPr/>
        </p:nvSpPr>
        <p:spPr>
          <a:xfrm>
            <a:off x="731520" y="2487168"/>
            <a:ext cx="3840480" cy="237744"/>
          </a:xfrm>
          <a:prstGeom prst="rect">
            <a:avLst/>
          </a:prstGeom>
          <a:noFill/>
          <a:ln/>
        </p:spPr>
        <p:txBody>
          <a:bodyPr wrap="square" lIns="0" tIns="0" rIns="0" bIns="0" rtlCol="0" anchor="ctr"/>
          <a:lstStyle/>
          <a:p>
            <a:pPr indent="0" marL="0">
              <a:buNone/>
            </a:pPr>
            <a:r>
              <a:rPr lang="en-US" sz="750" dirty="0">
                <a:solidFill>
                  <a:srgbClr val="4A5568"/>
                </a:solidFill>
              </a:rPr>
              <a:t>Whisper-quiet Active Noise Module (&lt;22 dB at 1m)</a:t>
            </a:r>
            <a:endParaRPr lang="en-US" sz="750" dirty="0"/>
          </a:p>
        </p:txBody>
      </p:sp>
      <p:sp>
        <p:nvSpPr>
          <p:cNvPr id="19" name="Shape 17"/>
          <p:cNvSpPr/>
          <p:nvPr/>
        </p:nvSpPr>
        <p:spPr>
          <a:xfrm>
            <a:off x="4864608" y="1234440"/>
            <a:ext cx="4251960" cy="1664208"/>
          </a:xfrm>
          <a:prstGeom prst="rect">
            <a:avLst/>
          </a:prstGeom>
          <a:solidFill>
            <a:srgbClr val="FFFFFF"/>
          </a:solidFill>
          <a:ln w="12700">
            <a:solidFill>
              <a:srgbClr val="D0D8E4"/>
            </a:solidFill>
            <a:prstDash val="solid"/>
          </a:ln>
          <a:effectLst>
            <a:outerShdw sx="100000" sy="100000" kx="0" ky="0" algn="bl" rotWithShape="0" blurRad="50800" dist="25400" dir="8100000">
              <a:srgbClr val="000000">
                <a:alpha val="7000"/>
              </a:srgbClr>
            </a:outerShdw>
          </a:effectLst>
        </p:spPr>
      </p:sp>
      <p:sp>
        <p:nvSpPr>
          <p:cNvPr id="20" name="Shape 18"/>
          <p:cNvSpPr/>
          <p:nvPr/>
        </p:nvSpPr>
        <p:spPr>
          <a:xfrm>
            <a:off x="4864608" y="1234440"/>
            <a:ext cx="4251960" cy="320040"/>
          </a:xfrm>
          <a:prstGeom prst="rect">
            <a:avLst/>
          </a:prstGeom>
          <a:solidFill>
            <a:srgbClr val="2B5BAE"/>
          </a:solidFill>
          <a:ln w="12700">
            <a:solidFill>
              <a:srgbClr val="2B5BAE"/>
            </a:solidFill>
            <a:prstDash val="solid"/>
          </a:ln>
        </p:spPr>
      </p:sp>
      <p:sp>
        <p:nvSpPr>
          <p:cNvPr id="21" name="Text 19"/>
          <p:cNvSpPr/>
          <p:nvPr/>
        </p:nvSpPr>
        <p:spPr>
          <a:xfrm>
            <a:off x="4974336" y="1289304"/>
            <a:ext cx="2286000" cy="210312"/>
          </a:xfrm>
          <a:prstGeom prst="rect">
            <a:avLst/>
          </a:prstGeom>
          <a:noFill/>
          <a:ln/>
        </p:spPr>
        <p:txBody>
          <a:bodyPr wrap="square" lIns="0" tIns="0" rIns="0" bIns="0" rtlCol="0" anchor="ctr"/>
          <a:lstStyle/>
          <a:p>
            <a:pPr indent="0" marL="0">
              <a:buNone/>
            </a:pPr>
            <a:r>
              <a:rPr lang="en-US" sz="650" b="1" dirty="0">
                <a:solidFill>
                  <a:srgbClr val="FFFFFF"/>
                </a:solidFill>
              </a:rPr>
              <a:t>ENTRY HARDWARE</a:t>
            </a:r>
            <a:endParaRPr lang="en-US" sz="650" dirty="0"/>
          </a:p>
        </p:txBody>
      </p:sp>
      <p:sp>
        <p:nvSpPr>
          <p:cNvPr id="22" name="Text 20"/>
          <p:cNvSpPr/>
          <p:nvPr/>
        </p:nvSpPr>
        <p:spPr>
          <a:xfrm>
            <a:off x="7424928" y="1289304"/>
            <a:ext cx="1554480" cy="210312"/>
          </a:xfrm>
          <a:prstGeom prst="rect">
            <a:avLst/>
          </a:prstGeom>
          <a:noFill/>
          <a:ln/>
        </p:spPr>
        <p:txBody>
          <a:bodyPr wrap="square" lIns="0" tIns="0" rIns="0" bIns="0" rtlCol="0" anchor="ctr"/>
          <a:lstStyle/>
          <a:p>
            <a:pPr algn="r" indent="0" marL="0">
              <a:buNone/>
            </a:pPr>
            <a:r>
              <a:rPr lang="en-US" sz="900" b="1" dirty="0">
                <a:solidFill>
                  <a:srgbClr val="FFFFFF"/>
                </a:solidFill>
              </a:rPr>
              <a:t>$999</a:t>
            </a:r>
            <a:endParaRPr lang="en-US" sz="900" dirty="0"/>
          </a:p>
        </p:txBody>
      </p:sp>
      <p:sp>
        <p:nvSpPr>
          <p:cNvPr id="23" name="Text 21"/>
          <p:cNvSpPr/>
          <p:nvPr/>
        </p:nvSpPr>
        <p:spPr>
          <a:xfrm>
            <a:off x="4974336" y="1618488"/>
            <a:ext cx="4023360" cy="274320"/>
          </a:xfrm>
          <a:prstGeom prst="rect">
            <a:avLst/>
          </a:prstGeom>
          <a:noFill/>
          <a:ln/>
        </p:spPr>
        <p:txBody>
          <a:bodyPr wrap="square" lIns="0" tIns="0" rIns="0" bIns="0" rtlCol="0" anchor="ctr"/>
          <a:lstStyle/>
          <a:p>
            <a:pPr indent="0" marL="0">
              <a:buNone/>
            </a:pPr>
            <a:r>
              <a:rPr lang="en-US" sz="1100" b="1" dirty="0">
                <a:solidFill>
                  <a:srgbClr val="1B2D55"/>
                </a:solidFill>
              </a:rPr>
              <a:t>SlumberPod™ Base</a:t>
            </a:r>
            <a:endParaRPr lang="en-US" sz="1100" dirty="0"/>
          </a:p>
        </p:txBody>
      </p:sp>
      <p:sp>
        <p:nvSpPr>
          <p:cNvPr id="24" name="Shape 22"/>
          <p:cNvSpPr/>
          <p:nvPr/>
        </p:nvSpPr>
        <p:spPr>
          <a:xfrm>
            <a:off x="5001768" y="1984248"/>
            <a:ext cx="73152" cy="73152"/>
          </a:xfrm>
          <a:prstGeom prst="oval">
            <a:avLst/>
          </a:prstGeom>
          <a:solidFill>
            <a:srgbClr val="2B5BAE"/>
          </a:solidFill>
          <a:ln w="12700">
            <a:solidFill>
              <a:srgbClr val="2B5BAE"/>
            </a:solidFill>
            <a:prstDash val="solid"/>
          </a:ln>
        </p:spPr>
      </p:sp>
      <p:sp>
        <p:nvSpPr>
          <p:cNvPr id="25" name="Text 23"/>
          <p:cNvSpPr/>
          <p:nvPr/>
        </p:nvSpPr>
        <p:spPr>
          <a:xfrm>
            <a:off x="5138928" y="1938528"/>
            <a:ext cx="3840480" cy="237744"/>
          </a:xfrm>
          <a:prstGeom prst="rect">
            <a:avLst/>
          </a:prstGeom>
          <a:noFill/>
          <a:ln/>
        </p:spPr>
        <p:txBody>
          <a:bodyPr wrap="square" lIns="0" tIns="0" rIns="0" bIns="0" rtlCol="0" anchor="ctr"/>
          <a:lstStyle/>
          <a:p>
            <a:pPr indent="0" marL="0">
              <a:buNone/>
            </a:pPr>
            <a:r>
              <a:rPr lang="en-US" sz="750" dirty="0">
                <a:solidFill>
                  <a:srgbClr val="4A5568"/>
                </a:solidFill>
              </a:rPr>
              <a:t>Single-zone thermal regulation</a:t>
            </a:r>
            <a:endParaRPr lang="en-US" sz="750" dirty="0"/>
          </a:p>
        </p:txBody>
      </p:sp>
      <p:sp>
        <p:nvSpPr>
          <p:cNvPr id="26" name="Shape 24"/>
          <p:cNvSpPr/>
          <p:nvPr/>
        </p:nvSpPr>
        <p:spPr>
          <a:xfrm>
            <a:off x="5001768" y="2258568"/>
            <a:ext cx="73152" cy="73152"/>
          </a:xfrm>
          <a:prstGeom prst="oval">
            <a:avLst/>
          </a:prstGeom>
          <a:solidFill>
            <a:srgbClr val="2B5BAE"/>
          </a:solidFill>
          <a:ln w="12700">
            <a:solidFill>
              <a:srgbClr val="2B5BAE"/>
            </a:solidFill>
            <a:prstDash val="solid"/>
          </a:ln>
        </p:spPr>
      </p:sp>
      <p:sp>
        <p:nvSpPr>
          <p:cNvPr id="27" name="Text 25"/>
          <p:cNvSpPr/>
          <p:nvPr/>
        </p:nvSpPr>
        <p:spPr>
          <a:xfrm>
            <a:off x="5138928" y="2212848"/>
            <a:ext cx="3840480" cy="237744"/>
          </a:xfrm>
          <a:prstGeom prst="rect">
            <a:avLst/>
          </a:prstGeom>
          <a:noFill/>
          <a:ln/>
        </p:spPr>
        <p:txBody>
          <a:bodyPr wrap="square" lIns="0" tIns="0" rIns="0" bIns="0" rtlCol="0" anchor="ctr"/>
          <a:lstStyle/>
          <a:p>
            <a:pPr indent="0" marL="0">
              <a:buNone/>
            </a:pPr>
            <a:r>
              <a:rPr lang="en-US" sz="750" dirty="0">
                <a:solidFill>
                  <a:srgbClr val="4A5568"/>
                </a:solidFill>
              </a:rPr>
              <a:t>Basic sleep stage tracking via accelerometer</a:t>
            </a:r>
            <a:endParaRPr lang="en-US" sz="750" dirty="0"/>
          </a:p>
        </p:txBody>
      </p:sp>
      <p:sp>
        <p:nvSpPr>
          <p:cNvPr id="28" name="Shape 26"/>
          <p:cNvSpPr/>
          <p:nvPr/>
        </p:nvSpPr>
        <p:spPr>
          <a:xfrm>
            <a:off x="5001768" y="2532888"/>
            <a:ext cx="73152" cy="73152"/>
          </a:xfrm>
          <a:prstGeom prst="oval">
            <a:avLst/>
          </a:prstGeom>
          <a:solidFill>
            <a:srgbClr val="2B5BAE"/>
          </a:solidFill>
          <a:ln w="12700">
            <a:solidFill>
              <a:srgbClr val="2B5BAE"/>
            </a:solidFill>
            <a:prstDash val="solid"/>
          </a:ln>
        </p:spPr>
      </p:sp>
      <p:sp>
        <p:nvSpPr>
          <p:cNvPr id="29" name="Text 27"/>
          <p:cNvSpPr/>
          <p:nvPr/>
        </p:nvSpPr>
        <p:spPr>
          <a:xfrm>
            <a:off x="5138928" y="2487168"/>
            <a:ext cx="3840480" cy="237744"/>
          </a:xfrm>
          <a:prstGeom prst="rect">
            <a:avLst/>
          </a:prstGeom>
          <a:noFill/>
          <a:ln/>
        </p:spPr>
        <p:txBody>
          <a:bodyPr wrap="square" lIns="0" tIns="0" rIns="0" bIns="0" rtlCol="0" anchor="ctr"/>
          <a:lstStyle/>
          <a:p>
            <a:pPr indent="0" marL="0">
              <a:buNone/>
            </a:pPr>
            <a:r>
              <a:rPr lang="en-US" sz="750" dirty="0">
                <a:solidFill>
                  <a:srgbClr val="4A5568"/>
                </a:solidFill>
              </a:rPr>
              <a:t>Full SlumberOS compatibility</a:t>
            </a:r>
            <a:endParaRPr lang="en-US" sz="750" dirty="0"/>
          </a:p>
        </p:txBody>
      </p:sp>
      <p:sp>
        <p:nvSpPr>
          <p:cNvPr id="30" name="Shape 28"/>
          <p:cNvSpPr/>
          <p:nvPr/>
        </p:nvSpPr>
        <p:spPr>
          <a:xfrm>
            <a:off x="457200" y="2971800"/>
            <a:ext cx="4251960" cy="1664208"/>
          </a:xfrm>
          <a:prstGeom prst="rect">
            <a:avLst/>
          </a:prstGeom>
          <a:solidFill>
            <a:srgbClr val="FFFFFF"/>
          </a:solidFill>
          <a:ln w="12700">
            <a:solidFill>
              <a:srgbClr val="D0D8E4"/>
            </a:solidFill>
            <a:prstDash val="solid"/>
          </a:ln>
          <a:effectLst>
            <a:outerShdw sx="100000" sy="100000" kx="0" ky="0" algn="bl" rotWithShape="0" blurRad="50800" dist="25400" dir="8100000">
              <a:srgbClr val="000000">
                <a:alpha val="7000"/>
              </a:srgbClr>
            </a:outerShdw>
          </a:effectLst>
        </p:spPr>
      </p:sp>
      <p:sp>
        <p:nvSpPr>
          <p:cNvPr id="31" name="Shape 29"/>
          <p:cNvSpPr/>
          <p:nvPr/>
        </p:nvSpPr>
        <p:spPr>
          <a:xfrm>
            <a:off x="457200" y="2971800"/>
            <a:ext cx="4251960" cy="320040"/>
          </a:xfrm>
          <a:prstGeom prst="rect">
            <a:avLst/>
          </a:prstGeom>
          <a:solidFill>
            <a:srgbClr val="2E7D32"/>
          </a:solidFill>
          <a:ln w="12700">
            <a:solidFill>
              <a:srgbClr val="2E7D32"/>
            </a:solidFill>
            <a:prstDash val="solid"/>
          </a:ln>
        </p:spPr>
      </p:sp>
      <p:sp>
        <p:nvSpPr>
          <p:cNvPr id="32" name="Text 30"/>
          <p:cNvSpPr/>
          <p:nvPr/>
        </p:nvSpPr>
        <p:spPr>
          <a:xfrm>
            <a:off x="566928" y="3026664"/>
            <a:ext cx="2286000" cy="210312"/>
          </a:xfrm>
          <a:prstGeom prst="rect">
            <a:avLst/>
          </a:prstGeom>
          <a:noFill/>
          <a:ln/>
        </p:spPr>
        <p:txBody>
          <a:bodyPr wrap="square" lIns="0" tIns="0" rIns="0" bIns="0" rtlCol="0" anchor="ctr"/>
          <a:lstStyle/>
          <a:p>
            <a:pPr indent="0" marL="0">
              <a:buNone/>
            </a:pPr>
            <a:r>
              <a:rPr lang="en-US" sz="650" b="1" dirty="0">
                <a:solidFill>
                  <a:srgbClr val="FFFFFF"/>
                </a:solidFill>
              </a:rPr>
              <a:t>SOFTWARE SUBSCRIPTION</a:t>
            </a:r>
            <a:endParaRPr lang="en-US" sz="650" dirty="0"/>
          </a:p>
        </p:txBody>
      </p:sp>
      <p:sp>
        <p:nvSpPr>
          <p:cNvPr id="33" name="Text 31"/>
          <p:cNvSpPr/>
          <p:nvPr/>
        </p:nvSpPr>
        <p:spPr>
          <a:xfrm>
            <a:off x="3017520" y="3026664"/>
            <a:ext cx="1554480" cy="210312"/>
          </a:xfrm>
          <a:prstGeom prst="rect">
            <a:avLst/>
          </a:prstGeom>
          <a:noFill/>
          <a:ln/>
        </p:spPr>
        <p:txBody>
          <a:bodyPr wrap="square" lIns="0" tIns="0" rIns="0" bIns="0" rtlCol="0" anchor="ctr"/>
          <a:lstStyle/>
          <a:p>
            <a:pPr algn="r" indent="0" marL="0">
              <a:buNone/>
            </a:pPr>
            <a:r>
              <a:rPr lang="en-US" sz="900" b="1" dirty="0">
                <a:solidFill>
                  <a:srgbClr val="FFFFFF"/>
                </a:solidFill>
              </a:rPr>
              <a:t>$24.99/mo</a:t>
            </a:r>
            <a:endParaRPr lang="en-US" sz="900" dirty="0"/>
          </a:p>
        </p:txBody>
      </p:sp>
      <p:sp>
        <p:nvSpPr>
          <p:cNvPr id="34" name="Text 32"/>
          <p:cNvSpPr/>
          <p:nvPr/>
        </p:nvSpPr>
        <p:spPr>
          <a:xfrm>
            <a:off x="566928" y="3355848"/>
            <a:ext cx="4023360" cy="274320"/>
          </a:xfrm>
          <a:prstGeom prst="rect">
            <a:avLst/>
          </a:prstGeom>
          <a:noFill/>
          <a:ln/>
        </p:spPr>
        <p:txBody>
          <a:bodyPr wrap="square" lIns="0" tIns="0" rIns="0" bIns="0" rtlCol="0" anchor="ctr"/>
          <a:lstStyle/>
          <a:p>
            <a:pPr indent="0" marL="0">
              <a:buNone/>
            </a:pPr>
            <a:r>
              <a:rPr lang="en-US" sz="1100" b="1" dirty="0">
                <a:solidFill>
                  <a:srgbClr val="1B2D55"/>
                </a:solidFill>
              </a:rPr>
              <a:t>SlumberOS™ Premium</a:t>
            </a:r>
            <a:endParaRPr lang="en-US" sz="1100" dirty="0"/>
          </a:p>
        </p:txBody>
      </p:sp>
      <p:sp>
        <p:nvSpPr>
          <p:cNvPr id="35" name="Shape 33"/>
          <p:cNvSpPr/>
          <p:nvPr/>
        </p:nvSpPr>
        <p:spPr>
          <a:xfrm>
            <a:off x="594360" y="3721608"/>
            <a:ext cx="73152" cy="73152"/>
          </a:xfrm>
          <a:prstGeom prst="oval">
            <a:avLst/>
          </a:prstGeom>
          <a:solidFill>
            <a:srgbClr val="2E7D32"/>
          </a:solidFill>
          <a:ln w="12700">
            <a:solidFill>
              <a:srgbClr val="2E7D32"/>
            </a:solidFill>
            <a:prstDash val="solid"/>
          </a:ln>
        </p:spPr>
      </p:sp>
      <p:sp>
        <p:nvSpPr>
          <p:cNvPr id="36" name="Text 34"/>
          <p:cNvSpPr/>
          <p:nvPr/>
        </p:nvSpPr>
        <p:spPr>
          <a:xfrm>
            <a:off x="731520" y="3675888"/>
            <a:ext cx="3840480" cy="237744"/>
          </a:xfrm>
          <a:prstGeom prst="rect">
            <a:avLst/>
          </a:prstGeom>
          <a:noFill/>
          <a:ln/>
        </p:spPr>
        <p:txBody>
          <a:bodyPr wrap="square" lIns="0" tIns="0" rIns="0" bIns="0" rtlCol="0" anchor="ctr"/>
          <a:lstStyle/>
          <a:p>
            <a:pPr indent="0" marL="0">
              <a:buNone/>
            </a:pPr>
            <a:r>
              <a:rPr lang="en-US" sz="750" dirty="0">
                <a:solidFill>
                  <a:srgbClr val="4A5568"/>
                </a:solidFill>
              </a:rPr>
              <a:t>AI-powered nightly sleep report + coaching</a:t>
            </a:r>
            <a:endParaRPr lang="en-US" sz="750" dirty="0"/>
          </a:p>
        </p:txBody>
      </p:sp>
      <p:sp>
        <p:nvSpPr>
          <p:cNvPr id="37" name="Shape 35"/>
          <p:cNvSpPr/>
          <p:nvPr/>
        </p:nvSpPr>
        <p:spPr>
          <a:xfrm>
            <a:off x="594360" y="3995928"/>
            <a:ext cx="73152" cy="73152"/>
          </a:xfrm>
          <a:prstGeom prst="oval">
            <a:avLst/>
          </a:prstGeom>
          <a:solidFill>
            <a:srgbClr val="2E7D32"/>
          </a:solidFill>
          <a:ln w="12700">
            <a:solidFill>
              <a:srgbClr val="2E7D32"/>
            </a:solidFill>
            <a:prstDash val="solid"/>
          </a:ln>
        </p:spPr>
      </p:sp>
      <p:sp>
        <p:nvSpPr>
          <p:cNvPr id="38" name="Text 36"/>
          <p:cNvSpPr/>
          <p:nvPr/>
        </p:nvSpPr>
        <p:spPr>
          <a:xfrm>
            <a:off x="731520" y="3950208"/>
            <a:ext cx="3840480" cy="237744"/>
          </a:xfrm>
          <a:prstGeom prst="rect">
            <a:avLst/>
          </a:prstGeom>
          <a:noFill/>
          <a:ln/>
        </p:spPr>
        <p:txBody>
          <a:bodyPr wrap="square" lIns="0" tIns="0" rIns="0" bIns="0" rtlCol="0" anchor="ctr"/>
          <a:lstStyle/>
          <a:p>
            <a:pPr indent="0" marL="0">
              <a:buNone/>
            </a:pPr>
            <a:r>
              <a:rPr lang="en-US" sz="750" dirty="0">
                <a:solidFill>
                  <a:srgbClr val="4A5568"/>
                </a:solidFill>
              </a:rPr>
              <a:t>Chronotype optimization &amp; circadian scheduling</a:t>
            </a:r>
            <a:endParaRPr lang="en-US" sz="750" dirty="0"/>
          </a:p>
        </p:txBody>
      </p:sp>
      <p:sp>
        <p:nvSpPr>
          <p:cNvPr id="39" name="Shape 37"/>
          <p:cNvSpPr/>
          <p:nvPr/>
        </p:nvSpPr>
        <p:spPr>
          <a:xfrm>
            <a:off x="594360" y="4270248"/>
            <a:ext cx="73152" cy="73152"/>
          </a:xfrm>
          <a:prstGeom prst="oval">
            <a:avLst/>
          </a:prstGeom>
          <a:solidFill>
            <a:srgbClr val="2E7D32"/>
          </a:solidFill>
          <a:ln w="12700">
            <a:solidFill>
              <a:srgbClr val="2E7D32"/>
            </a:solidFill>
            <a:prstDash val="solid"/>
          </a:ln>
        </p:spPr>
      </p:sp>
      <p:sp>
        <p:nvSpPr>
          <p:cNvPr id="40" name="Text 38"/>
          <p:cNvSpPr/>
          <p:nvPr/>
        </p:nvSpPr>
        <p:spPr>
          <a:xfrm>
            <a:off x="731520" y="4224528"/>
            <a:ext cx="3840480" cy="237744"/>
          </a:xfrm>
          <a:prstGeom prst="rect">
            <a:avLst/>
          </a:prstGeom>
          <a:noFill/>
          <a:ln/>
        </p:spPr>
        <p:txBody>
          <a:bodyPr wrap="square" lIns="0" tIns="0" rIns="0" bIns="0" rtlCol="0" anchor="ctr"/>
          <a:lstStyle/>
          <a:p>
            <a:pPr indent="0" marL="0">
              <a:buNone/>
            </a:pPr>
            <a:r>
              <a:rPr lang="en-US" sz="750" dirty="0">
                <a:solidFill>
                  <a:srgbClr val="4A5568"/>
                </a:solidFill>
              </a:rPr>
              <a:t>Integration with Oura, Apple Health, Whoop</a:t>
            </a:r>
            <a:endParaRPr lang="en-US" sz="750" dirty="0"/>
          </a:p>
        </p:txBody>
      </p:sp>
      <p:sp>
        <p:nvSpPr>
          <p:cNvPr id="41" name="Shape 39"/>
          <p:cNvSpPr/>
          <p:nvPr/>
        </p:nvSpPr>
        <p:spPr>
          <a:xfrm>
            <a:off x="4864608" y="2971800"/>
            <a:ext cx="4251960" cy="1664208"/>
          </a:xfrm>
          <a:prstGeom prst="rect">
            <a:avLst/>
          </a:prstGeom>
          <a:solidFill>
            <a:srgbClr val="FFFFFF"/>
          </a:solidFill>
          <a:ln w="12700">
            <a:solidFill>
              <a:srgbClr val="D0D8E4"/>
            </a:solidFill>
            <a:prstDash val="solid"/>
          </a:ln>
          <a:effectLst>
            <a:outerShdw sx="100000" sy="100000" kx="0" ky="0" algn="bl" rotWithShape="0" blurRad="50800" dist="25400" dir="8100000">
              <a:srgbClr val="000000">
                <a:alpha val="7000"/>
              </a:srgbClr>
            </a:outerShdw>
          </a:effectLst>
        </p:spPr>
      </p:sp>
      <p:sp>
        <p:nvSpPr>
          <p:cNvPr id="42" name="Shape 40"/>
          <p:cNvSpPr/>
          <p:nvPr/>
        </p:nvSpPr>
        <p:spPr>
          <a:xfrm>
            <a:off x="4864608" y="2971800"/>
            <a:ext cx="4251960" cy="320040"/>
          </a:xfrm>
          <a:prstGeom prst="rect">
            <a:avLst/>
          </a:prstGeom>
          <a:solidFill>
            <a:srgbClr val="C8A83C"/>
          </a:solidFill>
          <a:ln w="12700">
            <a:solidFill>
              <a:srgbClr val="C8A83C"/>
            </a:solidFill>
            <a:prstDash val="solid"/>
          </a:ln>
        </p:spPr>
      </p:sp>
      <p:sp>
        <p:nvSpPr>
          <p:cNvPr id="43" name="Text 41"/>
          <p:cNvSpPr/>
          <p:nvPr/>
        </p:nvSpPr>
        <p:spPr>
          <a:xfrm>
            <a:off x="4974336" y="3026664"/>
            <a:ext cx="2286000" cy="210312"/>
          </a:xfrm>
          <a:prstGeom prst="rect">
            <a:avLst/>
          </a:prstGeom>
          <a:noFill/>
          <a:ln/>
        </p:spPr>
        <p:txBody>
          <a:bodyPr wrap="square" lIns="0" tIns="0" rIns="0" bIns="0" rtlCol="0" anchor="ctr"/>
          <a:lstStyle/>
          <a:p>
            <a:pPr indent="0" marL="0">
              <a:buNone/>
            </a:pPr>
            <a:r>
              <a:rPr lang="en-US" sz="650" b="1" dirty="0">
                <a:solidFill>
                  <a:srgbClr val="FFFFFF"/>
                </a:solidFill>
              </a:rPr>
              <a:t>ENTERPRISE (PILOT)</a:t>
            </a:r>
            <a:endParaRPr lang="en-US" sz="650" dirty="0"/>
          </a:p>
        </p:txBody>
      </p:sp>
      <p:sp>
        <p:nvSpPr>
          <p:cNvPr id="44" name="Text 42"/>
          <p:cNvSpPr/>
          <p:nvPr/>
        </p:nvSpPr>
        <p:spPr>
          <a:xfrm>
            <a:off x="7424928" y="3026664"/>
            <a:ext cx="1554480" cy="210312"/>
          </a:xfrm>
          <a:prstGeom prst="rect">
            <a:avLst/>
          </a:prstGeom>
          <a:noFill/>
          <a:ln/>
        </p:spPr>
        <p:txBody>
          <a:bodyPr wrap="square" lIns="0" tIns="0" rIns="0" bIns="0" rtlCol="0" anchor="ctr"/>
          <a:lstStyle/>
          <a:p>
            <a:pPr algn="r" indent="0" marL="0">
              <a:buNone/>
            </a:pPr>
            <a:r>
              <a:rPr lang="en-US" sz="900" b="1" dirty="0">
                <a:solidFill>
                  <a:srgbClr val="FFFFFF"/>
                </a:solidFill>
              </a:rPr>
              <a:t>Custom</a:t>
            </a:r>
            <a:endParaRPr lang="en-US" sz="900" dirty="0"/>
          </a:p>
        </p:txBody>
      </p:sp>
      <p:sp>
        <p:nvSpPr>
          <p:cNvPr id="45" name="Text 43"/>
          <p:cNvSpPr/>
          <p:nvPr/>
        </p:nvSpPr>
        <p:spPr>
          <a:xfrm>
            <a:off x="4974336" y="3355848"/>
            <a:ext cx="4023360" cy="274320"/>
          </a:xfrm>
          <a:prstGeom prst="rect">
            <a:avLst/>
          </a:prstGeom>
          <a:noFill/>
          <a:ln/>
        </p:spPr>
        <p:txBody>
          <a:bodyPr wrap="square" lIns="0" tIns="0" rIns="0" bIns="0" rtlCol="0" anchor="ctr"/>
          <a:lstStyle/>
          <a:p>
            <a:pPr indent="0" marL="0">
              <a:buNone/>
            </a:pPr>
            <a:r>
              <a:rPr lang="en-US" sz="1100" b="1" dirty="0">
                <a:solidFill>
                  <a:srgbClr val="1B2D55"/>
                </a:solidFill>
              </a:rPr>
              <a:t>SlumberPro™ B2B</a:t>
            </a:r>
            <a:endParaRPr lang="en-US" sz="1100" dirty="0"/>
          </a:p>
        </p:txBody>
      </p:sp>
      <p:sp>
        <p:nvSpPr>
          <p:cNvPr id="46" name="Shape 44"/>
          <p:cNvSpPr/>
          <p:nvPr/>
        </p:nvSpPr>
        <p:spPr>
          <a:xfrm>
            <a:off x="5001768" y="3721608"/>
            <a:ext cx="73152" cy="73152"/>
          </a:xfrm>
          <a:prstGeom prst="oval">
            <a:avLst/>
          </a:prstGeom>
          <a:solidFill>
            <a:srgbClr val="C8A83C"/>
          </a:solidFill>
          <a:ln w="12700">
            <a:solidFill>
              <a:srgbClr val="C8A83C"/>
            </a:solidFill>
            <a:prstDash val="solid"/>
          </a:ln>
        </p:spPr>
      </p:sp>
      <p:sp>
        <p:nvSpPr>
          <p:cNvPr id="47" name="Text 45"/>
          <p:cNvSpPr/>
          <p:nvPr/>
        </p:nvSpPr>
        <p:spPr>
          <a:xfrm>
            <a:off x="5138928" y="3675888"/>
            <a:ext cx="3840480" cy="237744"/>
          </a:xfrm>
          <a:prstGeom prst="rect">
            <a:avLst/>
          </a:prstGeom>
          <a:noFill/>
          <a:ln/>
        </p:spPr>
        <p:txBody>
          <a:bodyPr wrap="square" lIns="0" tIns="0" rIns="0" bIns="0" rtlCol="0" anchor="ctr"/>
          <a:lstStyle/>
          <a:p>
            <a:pPr indent="0" marL="0">
              <a:buNone/>
            </a:pPr>
            <a:r>
              <a:rPr lang="en-US" sz="750" dirty="0">
                <a:solidFill>
                  <a:srgbClr val="4A5568"/>
                </a:solidFill>
              </a:rPr>
              <a:t>White-label hardware + data dashboard</a:t>
            </a:r>
            <a:endParaRPr lang="en-US" sz="750" dirty="0"/>
          </a:p>
        </p:txBody>
      </p:sp>
      <p:sp>
        <p:nvSpPr>
          <p:cNvPr id="48" name="Shape 46"/>
          <p:cNvSpPr/>
          <p:nvPr/>
        </p:nvSpPr>
        <p:spPr>
          <a:xfrm>
            <a:off x="5001768" y="3995928"/>
            <a:ext cx="73152" cy="73152"/>
          </a:xfrm>
          <a:prstGeom prst="oval">
            <a:avLst/>
          </a:prstGeom>
          <a:solidFill>
            <a:srgbClr val="C8A83C"/>
          </a:solidFill>
          <a:ln w="12700">
            <a:solidFill>
              <a:srgbClr val="C8A83C"/>
            </a:solidFill>
            <a:prstDash val="solid"/>
          </a:ln>
        </p:spPr>
      </p:sp>
      <p:sp>
        <p:nvSpPr>
          <p:cNvPr id="49" name="Text 47"/>
          <p:cNvSpPr/>
          <p:nvPr/>
        </p:nvSpPr>
        <p:spPr>
          <a:xfrm>
            <a:off x="5138928" y="3950208"/>
            <a:ext cx="3840480" cy="237744"/>
          </a:xfrm>
          <a:prstGeom prst="rect">
            <a:avLst/>
          </a:prstGeom>
          <a:noFill/>
          <a:ln/>
        </p:spPr>
        <p:txBody>
          <a:bodyPr wrap="square" lIns="0" tIns="0" rIns="0" bIns="0" rtlCol="0" anchor="ctr"/>
          <a:lstStyle/>
          <a:p>
            <a:pPr indent="0" marL="0">
              <a:buNone/>
            </a:pPr>
            <a:r>
              <a:rPr lang="en-US" sz="750" dirty="0">
                <a:solidFill>
                  <a:srgbClr val="4A5568"/>
                </a:solidFill>
              </a:rPr>
              <a:t>Marriott Bonvoy pilot (120 rooms, Q4 2021)</a:t>
            </a:r>
            <a:endParaRPr lang="en-US" sz="750" dirty="0"/>
          </a:p>
        </p:txBody>
      </p:sp>
      <p:sp>
        <p:nvSpPr>
          <p:cNvPr id="50" name="Shape 48"/>
          <p:cNvSpPr/>
          <p:nvPr/>
        </p:nvSpPr>
        <p:spPr>
          <a:xfrm>
            <a:off x="5001768" y="4270248"/>
            <a:ext cx="73152" cy="73152"/>
          </a:xfrm>
          <a:prstGeom prst="oval">
            <a:avLst/>
          </a:prstGeom>
          <a:solidFill>
            <a:srgbClr val="C8A83C"/>
          </a:solidFill>
          <a:ln w="12700">
            <a:solidFill>
              <a:srgbClr val="C8A83C"/>
            </a:solidFill>
            <a:prstDash val="solid"/>
          </a:ln>
        </p:spPr>
      </p:sp>
      <p:sp>
        <p:nvSpPr>
          <p:cNvPr id="51" name="Text 49"/>
          <p:cNvSpPr/>
          <p:nvPr/>
        </p:nvSpPr>
        <p:spPr>
          <a:xfrm>
            <a:off x="5138928" y="4224528"/>
            <a:ext cx="3840480" cy="237744"/>
          </a:xfrm>
          <a:prstGeom prst="rect">
            <a:avLst/>
          </a:prstGeom>
          <a:noFill/>
          <a:ln/>
        </p:spPr>
        <p:txBody>
          <a:bodyPr wrap="square" lIns="0" tIns="0" rIns="0" bIns="0" rtlCol="0" anchor="ctr"/>
          <a:lstStyle/>
          <a:p>
            <a:pPr indent="0" marL="0">
              <a:buNone/>
            </a:pPr>
            <a:r>
              <a:rPr lang="en-US" sz="750" dirty="0">
                <a:solidFill>
                  <a:srgbClr val="4A5568"/>
                </a:solidFill>
              </a:rPr>
              <a:t>Corporate wellness programs — 3 contracts active</a:t>
            </a:r>
            <a:endParaRPr lang="en-US" sz="750" dirty="0"/>
          </a:p>
        </p:txBody>
      </p:sp>
      <p:sp>
        <p:nvSpPr>
          <p:cNvPr id="52" name="Shape 50"/>
          <p:cNvSpPr/>
          <p:nvPr/>
        </p:nvSpPr>
        <p:spPr>
          <a:xfrm>
            <a:off x="0" y="4892040"/>
            <a:ext cx="9144000" cy="251460"/>
          </a:xfrm>
          <a:prstGeom prst="rect">
            <a:avLst/>
          </a:prstGeom>
          <a:solidFill>
            <a:srgbClr val="F4F6FA"/>
          </a:solidFill>
          <a:ln w="12700">
            <a:solidFill>
              <a:srgbClr val="D0D8E4"/>
            </a:solidFill>
            <a:prstDash val="solid"/>
          </a:ln>
        </p:spPr>
      </p:sp>
      <p:sp>
        <p:nvSpPr>
          <p:cNvPr id="53" name="Text 51"/>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54" name="Text 52"/>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8 / 20</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GOLDMAN SACHS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SECTION V — MARKET OPPORTUNITY</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Market Opportunity</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Large and growing sleep economy with premium tech underpenetrated</a:t>
            </a:r>
            <a:endParaRPr lang="en-US" sz="950" dirty="0"/>
          </a:p>
        </p:txBody>
      </p:sp>
      <p:sp>
        <p:nvSpPr>
          <p:cNvPr id="8" name="Shape 6"/>
          <p:cNvSpPr/>
          <p:nvPr/>
        </p:nvSpPr>
        <p:spPr>
          <a:xfrm>
            <a:off x="457200" y="1280160"/>
            <a:ext cx="8229600" cy="621792"/>
          </a:xfrm>
          <a:prstGeom prst="rect">
            <a:avLst/>
          </a:prstGeom>
          <a:solidFill>
            <a:srgbClr val="1B2D55"/>
          </a:solidFill>
          <a:ln w="12700">
            <a:solidFill>
              <a:srgbClr val="1B2D55"/>
            </a:solidFill>
            <a:prstDash val="solid"/>
          </a:ln>
        </p:spPr>
      </p:sp>
      <p:sp>
        <p:nvSpPr>
          <p:cNvPr id="9" name="Text 7"/>
          <p:cNvSpPr/>
          <p:nvPr/>
        </p:nvSpPr>
        <p:spPr>
          <a:xfrm>
            <a:off x="594360" y="1353312"/>
            <a:ext cx="6858000" cy="219456"/>
          </a:xfrm>
          <a:prstGeom prst="rect">
            <a:avLst/>
          </a:prstGeom>
          <a:noFill/>
          <a:ln/>
        </p:spPr>
        <p:txBody>
          <a:bodyPr wrap="square" lIns="0" tIns="0" rIns="0" bIns="0" rtlCol="0" anchor="ctr"/>
          <a:lstStyle/>
          <a:p>
            <a:pPr indent="0" marL="0">
              <a:buNone/>
            </a:pPr>
            <a:r>
              <a:rPr lang="en-US" sz="950" b="1" dirty="0">
                <a:solidFill>
                  <a:srgbClr val="FFFFFF"/>
                </a:solidFill>
              </a:rPr>
              <a:t>Global Sleep Economy</a:t>
            </a:r>
            <a:endParaRPr lang="en-US" sz="950" dirty="0"/>
          </a:p>
        </p:txBody>
      </p:sp>
      <p:sp>
        <p:nvSpPr>
          <p:cNvPr id="10" name="Text 8"/>
          <p:cNvSpPr/>
          <p:nvPr/>
        </p:nvSpPr>
        <p:spPr>
          <a:xfrm>
            <a:off x="594360" y="1591056"/>
            <a:ext cx="6858000" cy="256032"/>
          </a:xfrm>
          <a:prstGeom prst="rect">
            <a:avLst/>
          </a:prstGeom>
          <a:noFill/>
          <a:ln/>
        </p:spPr>
        <p:txBody>
          <a:bodyPr wrap="square" lIns="0" tIns="0" rIns="0" bIns="0" rtlCol="0" anchor="ctr"/>
          <a:lstStyle/>
          <a:p>
            <a:pPr indent="0" marL="0">
              <a:buNone/>
            </a:pPr>
            <a:r>
              <a:rPr lang="en-US" sz="750" dirty="0">
                <a:solidFill>
                  <a:srgbClr val="CCDDEE"/>
                </a:solidFill>
              </a:rPr>
              <a:t>Includes mattresses, supplements, tracking, therapy (2022E)</a:t>
            </a:r>
            <a:endParaRPr lang="en-US" sz="750" dirty="0"/>
          </a:p>
        </p:txBody>
      </p:sp>
      <p:sp>
        <p:nvSpPr>
          <p:cNvPr id="11" name="Text 9"/>
          <p:cNvSpPr/>
          <p:nvPr/>
        </p:nvSpPr>
        <p:spPr>
          <a:xfrm>
            <a:off x="7498080" y="1371600"/>
            <a:ext cx="1051560" cy="438912"/>
          </a:xfrm>
          <a:prstGeom prst="rect">
            <a:avLst/>
          </a:prstGeom>
          <a:noFill/>
          <a:ln/>
        </p:spPr>
        <p:txBody>
          <a:bodyPr wrap="square" lIns="0" tIns="0" rIns="0" bIns="0" rtlCol="0" anchor="ctr"/>
          <a:lstStyle/>
          <a:p>
            <a:pPr algn="r" indent="0" marL="0">
              <a:buNone/>
            </a:pPr>
            <a:r>
              <a:rPr lang="en-US" sz="1800" b="1" dirty="0">
                <a:solidFill>
                  <a:srgbClr val="C8A83C"/>
                </a:solidFill>
              </a:rPr>
              <a:t>$80B+</a:t>
            </a:r>
            <a:endParaRPr lang="en-US" sz="1800" dirty="0"/>
          </a:p>
        </p:txBody>
      </p:sp>
      <p:sp>
        <p:nvSpPr>
          <p:cNvPr id="12" name="Shape 10"/>
          <p:cNvSpPr/>
          <p:nvPr/>
        </p:nvSpPr>
        <p:spPr>
          <a:xfrm>
            <a:off x="1143000" y="1993392"/>
            <a:ext cx="6858000" cy="621792"/>
          </a:xfrm>
          <a:prstGeom prst="rect">
            <a:avLst/>
          </a:prstGeom>
          <a:solidFill>
            <a:srgbClr val="2B5BAE"/>
          </a:solidFill>
          <a:ln w="12700">
            <a:solidFill>
              <a:srgbClr val="2B5BAE"/>
            </a:solidFill>
            <a:prstDash val="solid"/>
          </a:ln>
        </p:spPr>
      </p:sp>
      <p:sp>
        <p:nvSpPr>
          <p:cNvPr id="13" name="Text 11"/>
          <p:cNvSpPr/>
          <p:nvPr/>
        </p:nvSpPr>
        <p:spPr>
          <a:xfrm>
            <a:off x="1280160" y="2066544"/>
            <a:ext cx="5486400" cy="219456"/>
          </a:xfrm>
          <a:prstGeom prst="rect">
            <a:avLst/>
          </a:prstGeom>
          <a:noFill/>
          <a:ln/>
        </p:spPr>
        <p:txBody>
          <a:bodyPr wrap="square" lIns="0" tIns="0" rIns="0" bIns="0" rtlCol="0" anchor="ctr"/>
          <a:lstStyle/>
          <a:p>
            <a:pPr indent="0" marL="0">
              <a:buNone/>
            </a:pPr>
            <a:r>
              <a:rPr lang="en-US" sz="950" b="1" dirty="0">
                <a:solidFill>
                  <a:srgbClr val="FFFFFF"/>
                </a:solidFill>
              </a:rPr>
              <a:t>Smart Sleep Device Market</a:t>
            </a:r>
            <a:endParaRPr lang="en-US" sz="950" dirty="0"/>
          </a:p>
        </p:txBody>
      </p:sp>
      <p:sp>
        <p:nvSpPr>
          <p:cNvPr id="14" name="Text 12"/>
          <p:cNvSpPr/>
          <p:nvPr/>
        </p:nvSpPr>
        <p:spPr>
          <a:xfrm>
            <a:off x="1280160" y="2304288"/>
            <a:ext cx="5486400" cy="256032"/>
          </a:xfrm>
          <a:prstGeom prst="rect">
            <a:avLst/>
          </a:prstGeom>
          <a:noFill/>
          <a:ln/>
        </p:spPr>
        <p:txBody>
          <a:bodyPr wrap="square" lIns="0" tIns="0" rIns="0" bIns="0" rtlCol="0" anchor="ctr"/>
          <a:lstStyle/>
          <a:p>
            <a:pPr indent="0" marL="0">
              <a:buNone/>
            </a:pPr>
            <a:r>
              <a:rPr lang="en-US" sz="750" dirty="0">
                <a:solidFill>
                  <a:srgbClr val="CCDDEE"/>
                </a:solidFill>
              </a:rPr>
              <a:t>Connected hardware + software; 18% CAGR to 2026</a:t>
            </a:r>
            <a:endParaRPr lang="en-US" sz="750" dirty="0"/>
          </a:p>
        </p:txBody>
      </p:sp>
      <p:sp>
        <p:nvSpPr>
          <p:cNvPr id="15" name="Text 13"/>
          <p:cNvSpPr/>
          <p:nvPr/>
        </p:nvSpPr>
        <p:spPr>
          <a:xfrm>
            <a:off x="6812280" y="2084832"/>
            <a:ext cx="1051560" cy="438912"/>
          </a:xfrm>
          <a:prstGeom prst="rect">
            <a:avLst/>
          </a:prstGeom>
          <a:noFill/>
          <a:ln/>
        </p:spPr>
        <p:txBody>
          <a:bodyPr wrap="square" lIns="0" tIns="0" rIns="0" bIns="0" rtlCol="0" anchor="ctr"/>
          <a:lstStyle/>
          <a:p>
            <a:pPr algn="r" indent="0" marL="0">
              <a:buNone/>
            </a:pPr>
            <a:r>
              <a:rPr lang="en-US" sz="1800" b="1" dirty="0">
                <a:solidFill>
                  <a:srgbClr val="C8A83C"/>
                </a:solidFill>
              </a:rPr>
              <a:t>$8B</a:t>
            </a:r>
            <a:endParaRPr lang="en-US" sz="1800" dirty="0"/>
          </a:p>
        </p:txBody>
      </p:sp>
      <p:sp>
        <p:nvSpPr>
          <p:cNvPr id="16" name="Shape 14"/>
          <p:cNvSpPr/>
          <p:nvPr/>
        </p:nvSpPr>
        <p:spPr>
          <a:xfrm>
            <a:off x="1828800" y="2706624"/>
            <a:ext cx="5486400" cy="621792"/>
          </a:xfrm>
          <a:prstGeom prst="rect">
            <a:avLst/>
          </a:prstGeom>
          <a:solidFill>
            <a:srgbClr val="2E5FA0"/>
          </a:solidFill>
          <a:ln w="12700">
            <a:solidFill>
              <a:srgbClr val="2E5FA0"/>
            </a:solidFill>
            <a:prstDash val="solid"/>
          </a:ln>
        </p:spPr>
      </p:sp>
      <p:sp>
        <p:nvSpPr>
          <p:cNvPr id="17" name="Text 15"/>
          <p:cNvSpPr/>
          <p:nvPr/>
        </p:nvSpPr>
        <p:spPr>
          <a:xfrm>
            <a:off x="1965960" y="2779776"/>
            <a:ext cx="4114800" cy="219456"/>
          </a:xfrm>
          <a:prstGeom prst="rect">
            <a:avLst/>
          </a:prstGeom>
          <a:noFill/>
          <a:ln/>
        </p:spPr>
        <p:txBody>
          <a:bodyPr wrap="square" lIns="0" tIns="0" rIns="0" bIns="0" rtlCol="0" anchor="ctr"/>
          <a:lstStyle/>
          <a:p>
            <a:pPr indent="0" marL="0">
              <a:buNone/>
            </a:pPr>
            <a:r>
              <a:rPr lang="en-US" sz="950" b="1" dirty="0">
                <a:solidFill>
                  <a:srgbClr val="FFFFFF"/>
                </a:solidFill>
              </a:rPr>
              <a:t>Premium Sleep-Tech (&gt;$500 ASP)</a:t>
            </a:r>
            <a:endParaRPr lang="en-US" sz="950" dirty="0"/>
          </a:p>
        </p:txBody>
      </p:sp>
      <p:sp>
        <p:nvSpPr>
          <p:cNvPr id="18" name="Text 16"/>
          <p:cNvSpPr/>
          <p:nvPr/>
        </p:nvSpPr>
        <p:spPr>
          <a:xfrm>
            <a:off x="1965960" y="3017520"/>
            <a:ext cx="4114800" cy="256032"/>
          </a:xfrm>
          <a:prstGeom prst="rect">
            <a:avLst/>
          </a:prstGeom>
          <a:noFill/>
          <a:ln/>
        </p:spPr>
        <p:txBody>
          <a:bodyPr wrap="square" lIns="0" tIns="0" rIns="0" bIns="0" rtlCol="0" anchor="ctr"/>
          <a:lstStyle/>
          <a:p>
            <a:pPr indent="0" marL="0">
              <a:buNone/>
            </a:pPr>
            <a:r>
              <a:rPr lang="en-US" sz="750" dirty="0">
                <a:solidFill>
                  <a:srgbClr val="CCDDEE"/>
                </a:solidFill>
              </a:rPr>
              <a:t>Slumber Smart's core TAM; 22% CAGR to 2026</a:t>
            </a:r>
            <a:endParaRPr lang="en-US" sz="750" dirty="0"/>
          </a:p>
        </p:txBody>
      </p:sp>
      <p:sp>
        <p:nvSpPr>
          <p:cNvPr id="19" name="Text 17"/>
          <p:cNvSpPr/>
          <p:nvPr/>
        </p:nvSpPr>
        <p:spPr>
          <a:xfrm>
            <a:off x="6126480" y="2798064"/>
            <a:ext cx="1051560" cy="438912"/>
          </a:xfrm>
          <a:prstGeom prst="rect">
            <a:avLst/>
          </a:prstGeom>
          <a:noFill/>
          <a:ln/>
        </p:spPr>
        <p:txBody>
          <a:bodyPr wrap="square" lIns="0" tIns="0" rIns="0" bIns="0" rtlCol="0" anchor="ctr"/>
          <a:lstStyle/>
          <a:p>
            <a:pPr algn="r" indent="0" marL="0">
              <a:buNone/>
            </a:pPr>
            <a:r>
              <a:rPr lang="en-US" sz="1800" b="1" dirty="0">
                <a:solidFill>
                  <a:srgbClr val="C8A83C"/>
                </a:solidFill>
              </a:rPr>
              <a:t>$2.5B</a:t>
            </a:r>
            <a:endParaRPr lang="en-US" sz="1800" dirty="0"/>
          </a:p>
        </p:txBody>
      </p:sp>
      <p:sp>
        <p:nvSpPr>
          <p:cNvPr id="20" name="Shape 18"/>
          <p:cNvSpPr/>
          <p:nvPr/>
        </p:nvSpPr>
        <p:spPr>
          <a:xfrm>
            <a:off x="2514600" y="3419856"/>
            <a:ext cx="4114800" cy="621792"/>
          </a:xfrm>
          <a:prstGeom prst="rect">
            <a:avLst/>
          </a:prstGeom>
          <a:solidFill>
            <a:srgbClr val="C8A83C"/>
          </a:solidFill>
          <a:ln w="12700">
            <a:solidFill>
              <a:srgbClr val="C8A83C"/>
            </a:solidFill>
            <a:prstDash val="solid"/>
          </a:ln>
        </p:spPr>
      </p:sp>
      <p:sp>
        <p:nvSpPr>
          <p:cNvPr id="21" name="Text 19"/>
          <p:cNvSpPr/>
          <p:nvPr/>
        </p:nvSpPr>
        <p:spPr>
          <a:xfrm>
            <a:off x="2651760" y="3493008"/>
            <a:ext cx="2743200" cy="219456"/>
          </a:xfrm>
          <a:prstGeom prst="rect">
            <a:avLst/>
          </a:prstGeom>
          <a:noFill/>
          <a:ln/>
        </p:spPr>
        <p:txBody>
          <a:bodyPr wrap="square" lIns="0" tIns="0" rIns="0" bIns="0" rtlCol="0" anchor="ctr"/>
          <a:lstStyle/>
          <a:p>
            <a:pPr indent="0" marL="0">
              <a:buNone/>
            </a:pPr>
            <a:r>
              <a:rPr lang="en-US" sz="950" b="1" dirty="0">
                <a:solidFill>
                  <a:srgbClr val="FFFFFF"/>
                </a:solidFill>
              </a:rPr>
              <a:t>US Addressable Market Today</a:t>
            </a:r>
            <a:endParaRPr lang="en-US" sz="950" dirty="0"/>
          </a:p>
        </p:txBody>
      </p:sp>
      <p:sp>
        <p:nvSpPr>
          <p:cNvPr id="22" name="Text 20"/>
          <p:cNvSpPr/>
          <p:nvPr/>
        </p:nvSpPr>
        <p:spPr>
          <a:xfrm>
            <a:off x="2651760" y="3730752"/>
            <a:ext cx="2743200" cy="256032"/>
          </a:xfrm>
          <a:prstGeom prst="rect">
            <a:avLst/>
          </a:prstGeom>
          <a:noFill/>
          <a:ln/>
        </p:spPr>
        <p:txBody>
          <a:bodyPr wrap="square" lIns="0" tIns="0" rIns="0" bIns="0" rtlCol="0" anchor="ctr"/>
          <a:lstStyle/>
          <a:p>
            <a:pPr indent="0" marL="0">
              <a:buNone/>
            </a:pPr>
            <a:r>
              <a:rPr lang="en-US" sz="750" dirty="0">
                <a:solidFill>
                  <a:srgbClr val="CCDDEE"/>
                </a:solidFill>
              </a:rPr>
              <a:t>~14M premium-eligible households; current 4% penetration</a:t>
            </a:r>
            <a:endParaRPr lang="en-US" sz="750" dirty="0"/>
          </a:p>
        </p:txBody>
      </p:sp>
      <p:sp>
        <p:nvSpPr>
          <p:cNvPr id="23" name="Text 21"/>
          <p:cNvSpPr/>
          <p:nvPr/>
        </p:nvSpPr>
        <p:spPr>
          <a:xfrm>
            <a:off x="5440680" y="3511296"/>
            <a:ext cx="1051560" cy="438912"/>
          </a:xfrm>
          <a:prstGeom prst="rect">
            <a:avLst/>
          </a:prstGeom>
          <a:noFill/>
          <a:ln/>
        </p:spPr>
        <p:txBody>
          <a:bodyPr wrap="square" lIns="0" tIns="0" rIns="0" bIns="0" rtlCol="0" anchor="ctr"/>
          <a:lstStyle/>
          <a:p>
            <a:pPr algn="r" indent="0" marL="0">
              <a:buNone/>
            </a:pPr>
            <a:r>
              <a:rPr lang="en-US" sz="1800" b="1" dirty="0">
                <a:solidFill>
                  <a:srgbClr val="C8A83C"/>
                </a:solidFill>
              </a:rPr>
              <a:t>$1.1B</a:t>
            </a:r>
            <a:endParaRPr lang="en-US" sz="1800" dirty="0"/>
          </a:p>
        </p:txBody>
      </p:sp>
      <p:sp>
        <p:nvSpPr>
          <p:cNvPr id="24" name="Text 22"/>
          <p:cNvSpPr/>
          <p:nvPr/>
        </p:nvSpPr>
        <p:spPr>
          <a:xfrm>
            <a:off x="457200" y="4251960"/>
            <a:ext cx="8229600" cy="457200"/>
          </a:xfrm>
          <a:prstGeom prst="rect">
            <a:avLst/>
          </a:prstGeom>
          <a:noFill/>
          <a:ln/>
        </p:spPr>
        <p:txBody>
          <a:bodyPr wrap="square" lIns="0" tIns="0" rIns="0" bIns="0" rtlCol="0" anchor="ctr"/>
          <a:lstStyle/>
          <a:p>
            <a:pPr indent="0" marL="0">
              <a:buNone/>
            </a:pPr>
            <a:r>
              <a:rPr lang="en-US" sz="800" dirty="0">
                <a:solidFill>
                  <a:srgbClr val="4A5568"/>
                </a:solidFill>
              </a:rPr>
              <a:t>Key Market Tailwinds: (1) Post-COVID elevation of sleep as a health priority; (2) Wearable biometric adoption normalizing across age groups; (3) Employer wellness programs incorporating sleep optimization; (4) Premium mattress replacement cycle creating hardware upgrade opportunity.</a:t>
            </a:r>
            <a:endParaRPr lang="en-US" sz="800" dirty="0"/>
          </a:p>
        </p:txBody>
      </p:sp>
      <p:sp>
        <p:nvSpPr>
          <p:cNvPr id="25" name="Text 23"/>
          <p:cNvSpPr/>
          <p:nvPr/>
        </p:nvSpPr>
        <p:spPr>
          <a:xfrm>
            <a:off x="457200" y="4645152"/>
            <a:ext cx="8229600" cy="182880"/>
          </a:xfrm>
          <a:prstGeom prst="rect">
            <a:avLst/>
          </a:prstGeom>
          <a:noFill/>
          <a:ln/>
        </p:spPr>
        <p:txBody>
          <a:bodyPr wrap="square" lIns="0" tIns="0" rIns="0" bIns="0" rtlCol="0" anchor="ctr"/>
          <a:lstStyle/>
          <a:p>
            <a:pPr indent="0" marL="0">
              <a:buNone/>
            </a:pPr>
            <a:r>
              <a:rPr lang="en-US" sz="650" dirty="0">
                <a:solidFill>
                  <a:srgbClr val="8898AA"/>
                </a:solidFill>
              </a:rPr>
              <a:t>Source: Frost &amp; Sullivan Global Sleep Economy Report 2022; Goldman Sachs equity research; Slumber Smart management estimates.</a:t>
            </a:r>
            <a:endParaRPr lang="en-US" sz="650" dirty="0"/>
          </a:p>
        </p:txBody>
      </p:sp>
      <p:sp>
        <p:nvSpPr>
          <p:cNvPr id="26" name="Shape 24"/>
          <p:cNvSpPr/>
          <p:nvPr/>
        </p:nvSpPr>
        <p:spPr>
          <a:xfrm>
            <a:off x="0" y="4892040"/>
            <a:ext cx="9144000" cy="251460"/>
          </a:xfrm>
          <a:prstGeom prst="rect">
            <a:avLst/>
          </a:prstGeom>
          <a:solidFill>
            <a:srgbClr val="F4F6FA"/>
          </a:solidFill>
          <a:ln w="12700">
            <a:solidFill>
              <a:srgbClr val="D0D8E4"/>
            </a:solidFill>
            <a:prstDash val="solid"/>
          </a:ln>
        </p:spPr>
      </p:sp>
      <p:sp>
        <p:nvSpPr>
          <p:cNvPr id="27" name="Text 25"/>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28" name="Text 26"/>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9 / 20</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GOLDMAN SACHS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SECTION VI — COMPETITIVE LANDSCAPE</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Competitive Landscape</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Slumber Smart is the only fully-integrated hardware + AI software platform</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61872"/>
          <a:ext cx="8229600" cy="914400"/>
        </p:xfrm>
        <a:graphic>
          <a:graphicData uri="http://schemas.openxmlformats.org/drawingml/2006/table">
            <a:tbl>
              <a:tblPr/>
              <a:tblGrid>
                <a:gridCol w="1463040"/>
                <a:gridCol w="868680"/>
                <a:gridCol w="1234440"/>
                <a:gridCol w="1005840"/>
                <a:gridCol w="914400"/>
                <a:gridCol w="640080"/>
                <a:gridCol w="2103120"/>
              </a:tblGrid>
              <a:tr h="420624">
                <a:tc>
                  <a:txBody>
                    <a:bodyPr/>
                    <a:lstStyle/>
                    <a:p>
                      <a:pPr algn="l" indent="0" marL="0">
                        <a:buNone/>
                      </a:pPr>
                      <a:r>
                        <a:rPr lang="en-US" sz="800" b="1" dirty="0">
                          <a:solidFill>
                            <a:srgbClr val="FFFFFF"/>
                          </a:solidFill>
                        </a:rPr>
                        <a:t>Company</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ASP &gt; $999</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Integrated HW/SW</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Subscription</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International</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B2B</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Positioning</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r>
              <a:tr h="420624">
                <a:tc>
                  <a:txBody>
                    <a:bodyPr/>
                    <a:lstStyle/>
                    <a:p>
                      <a:pPr indent="0" marL="0">
                        <a:buNone/>
                      </a:pPr>
                      <a:r>
                        <a:rPr lang="en-US" sz="850" b="1" dirty="0">
                          <a:solidFill>
                            <a:srgbClr val="1B2D55"/>
                          </a:solidFill>
                        </a:rPr>
                        <a:t>Slumber Smart</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C8A83C"/>
                    </a:solidFill>
                  </a:tcPr>
                </a:tc>
                <a:tc>
                  <a:txBody>
                    <a:bodyPr/>
                    <a:lstStyle/>
                    <a:p>
                      <a:pPr algn="ctr" indent="0" marL="0">
                        <a:buNone/>
                      </a:pPr>
                      <a:r>
                        <a:rPr lang="en-US" sz="900" dirty="0">
                          <a:solidFill>
                            <a:srgbClr val="2E7D32"/>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900" dirty="0">
                          <a:solidFill>
                            <a:srgbClr val="2E7D32"/>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900" dirty="0">
                          <a:solidFill>
                            <a:srgbClr val="2E7D32"/>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900" dirty="0">
                          <a:solidFill>
                            <a:srgbClr val="2E7D32"/>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900" dirty="0">
                          <a:solidFill>
                            <a:srgbClr val="2E7D32"/>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indent="0" marL="0">
                        <a:buNone/>
                      </a:pPr>
                      <a:r>
                        <a:rPr lang="en-US" sz="750" dirty="0">
                          <a:solidFill>
                            <a:srgbClr val="4A5568"/>
                          </a:solidFill>
                        </a:rPr>
                        <a:t>Only fully integrated platform</a:t>
                      </a:r>
                      <a:endParaRPr lang="en-US" sz="7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420624">
                <a:tc>
                  <a:txBody>
                    <a:bodyPr/>
                    <a:lstStyle/>
                    <a:p>
                      <a:pPr indent="0" marL="0">
                        <a:buNone/>
                      </a:pPr>
                      <a:r>
                        <a:rPr lang="en-US" sz="850" dirty="0">
                          <a:solidFill>
                            <a:srgbClr val="FFFFFF"/>
                          </a:solidFill>
                        </a:rPr>
                        <a:t>Eight Sleep</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2B5BAE"/>
                    </a:solidFill>
                  </a:tcPr>
                </a:tc>
                <a:tc>
                  <a:txBody>
                    <a:bodyPr/>
                    <a:lstStyle/>
                    <a:p>
                      <a:pPr algn="ctr" indent="0" marL="0">
                        <a:buNone/>
                      </a:pPr>
                      <a:r>
                        <a:rPr lang="en-US" sz="900" dirty="0">
                          <a:solidFill>
                            <a:srgbClr val="2E7D32"/>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C8A83C"/>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E7D32"/>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C00000"/>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C00000"/>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750" dirty="0">
                          <a:solidFill>
                            <a:srgbClr val="4A5568"/>
                          </a:solidFill>
                        </a:rPr>
                        <a:t>Thermal regulation, no AI coaching</a:t>
                      </a:r>
                      <a:endParaRPr lang="en-US" sz="7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420624">
                <a:tc>
                  <a:txBody>
                    <a:bodyPr/>
                    <a:lstStyle/>
                    <a:p>
                      <a:pPr indent="0" marL="0">
                        <a:buNone/>
                      </a:pPr>
                      <a:r>
                        <a:rPr lang="en-US" sz="850" dirty="0">
                          <a:solidFill>
                            <a:srgbClr val="FFFFFF"/>
                          </a:solidFill>
                        </a:rPr>
                        <a:t>Whoop</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4A5568"/>
                    </a:solidFill>
                  </a:tcPr>
                </a:tc>
                <a:tc>
                  <a:txBody>
                    <a:bodyPr/>
                    <a:lstStyle/>
                    <a:p>
                      <a:pPr algn="ctr" indent="0" marL="0">
                        <a:buNone/>
                      </a:pPr>
                      <a:r>
                        <a:rPr lang="en-US" sz="900" dirty="0">
                          <a:solidFill>
                            <a:srgbClr val="C00000"/>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C00000"/>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E7D32"/>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E7D32"/>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C8A83C"/>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750" dirty="0">
                          <a:solidFill>
                            <a:srgbClr val="4A5568"/>
                          </a:solidFill>
                        </a:rPr>
                        <a:t>Wearable only; no sleep environment control</a:t>
                      </a:r>
                      <a:endParaRPr lang="en-US" sz="7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420624">
                <a:tc>
                  <a:txBody>
                    <a:bodyPr/>
                    <a:lstStyle/>
                    <a:p>
                      <a:pPr indent="0" marL="0">
                        <a:buNone/>
                      </a:pPr>
                      <a:r>
                        <a:rPr lang="en-US" sz="850" dirty="0">
                          <a:solidFill>
                            <a:srgbClr val="FFFFFF"/>
                          </a:solidFill>
                        </a:rPr>
                        <a:t>Oura Ring</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4A5568"/>
                    </a:solidFill>
                  </a:tcPr>
                </a:tc>
                <a:tc>
                  <a:txBody>
                    <a:bodyPr/>
                    <a:lstStyle/>
                    <a:p>
                      <a:pPr algn="ctr" indent="0" marL="0">
                        <a:buNone/>
                      </a:pPr>
                      <a:r>
                        <a:rPr lang="en-US" sz="900" dirty="0">
                          <a:solidFill>
                            <a:srgbClr val="C00000"/>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C00000"/>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E7D32"/>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E7D32"/>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C00000"/>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750" dirty="0">
                          <a:solidFill>
                            <a:srgbClr val="4A5568"/>
                          </a:solidFill>
                        </a:rPr>
                        <a:t>Biometric ring only; no intervention</a:t>
                      </a:r>
                      <a:endParaRPr lang="en-US" sz="7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420624">
                <a:tc>
                  <a:txBody>
                    <a:bodyPr/>
                    <a:lstStyle/>
                    <a:p>
                      <a:pPr indent="0" marL="0">
                        <a:buNone/>
                      </a:pPr>
                      <a:r>
                        <a:rPr lang="en-US" sz="850" dirty="0">
                          <a:solidFill>
                            <a:srgbClr val="FFFFFF"/>
                          </a:solidFill>
                        </a:rPr>
                        <a:t>Sleep Number</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8898AA"/>
                    </a:solidFill>
                  </a:tcPr>
                </a:tc>
                <a:tc>
                  <a:txBody>
                    <a:bodyPr/>
                    <a:lstStyle/>
                    <a:p>
                      <a:pPr algn="ctr" indent="0" marL="0">
                        <a:buNone/>
                      </a:pPr>
                      <a:r>
                        <a:rPr lang="en-US" sz="900" dirty="0">
                          <a:solidFill>
                            <a:srgbClr val="2E7D32"/>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C8A83C"/>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C00000"/>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C00000"/>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C00000"/>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750" dirty="0">
                          <a:solidFill>
                            <a:srgbClr val="4A5568"/>
                          </a:solidFill>
                        </a:rPr>
                        <a:t>Legacy mattress co.; weak software layer</a:t>
                      </a:r>
                      <a:endParaRPr lang="en-US" sz="7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420624">
                <a:tc>
                  <a:txBody>
                    <a:bodyPr/>
                    <a:lstStyle/>
                    <a:p>
                      <a:pPr indent="0" marL="0">
                        <a:buNone/>
                      </a:pPr>
                      <a:r>
                        <a:rPr lang="en-US" sz="850" dirty="0">
                          <a:solidFill>
                            <a:srgbClr val="FFFFFF"/>
                          </a:solidFill>
                        </a:rPr>
                        <a:t>Casper</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8898AA"/>
                    </a:solidFill>
                  </a:tcPr>
                </a:tc>
                <a:tc>
                  <a:txBody>
                    <a:bodyPr/>
                    <a:lstStyle/>
                    <a:p>
                      <a:pPr algn="ctr" indent="0" marL="0">
                        <a:buNone/>
                      </a:pPr>
                      <a:r>
                        <a:rPr lang="en-US" sz="900" dirty="0">
                          <a:solidFill>
                            <a:srgbClr val="C00000"/>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C00000"/>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C00000"/>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C00000"/>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C00000"/>
                          </a:solidFill>
                        </a:rPr>
                        <a:t>✗</a:t>
                      </a:r>
                      <a:endParaRPr lang="en-US" sz="9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indent="0" marL="0">
                        <a:buNone/>
                      </a:pPr>
                      <a:r>
                        <a:rPr lang="en-US" sz="750" dirty="0">
                          <a:solidFill>
                            <a:srgbClr val="4A5568"/>
                          </a:solidFill>
                        </a:rPr>
                        <a:t>Foam mattress; no technology integration</a:t>
                      </a:r>
                      <a:endParaRPr lang="en-US" sz="7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bl>
          </a:graphicData>
        </a:graphic>
      </p:graphicFrame>
      <p:sp>
        <p:nvSpPr>
          <p:cNvPr id="9" name="Text 6"/>
          <p:cNvSpPr/>
          <p:nvPr/>
        </p:nvSpPr>
        <p:spPr>
          <a:xfrm>
            <a:off x="457200" y="4645152"/>
            <a:ext cx="8229600" cy="182880"/>
          </a:xfrm>
          <a:prstGeom prst="rect">
            <a:avLst/>
          </a:prstGeom>
          <a:noFill/>
          <a:ln/>
        </p:spPr>
        <p:txBody>
          <a:bodyPr wrap="square" lIns="0" tIns="0" rIns="0" bIns="0" rtlCol="0" anchor="ctr"/>
          <a:lstStyle/>
          <a:p>
            <a:pPr indent="0" marL="0">
              <a:buNone/>
            </a:pPr>
            <a:r>
              <a:rPr lang="en-US" sz="650" dirty="0">
                <a:solidFill>
                  <a:srgbClr val="8898AA"/>
                </a:solidFill>
              </a:rPr>
              <a:t>✓ = Full capability  ~ = Partial capability  ✗ = Not present  |  Source: Goldman Sachs analysis, company websites, industry reports.</a:t>
            </a:r>
            <a:endParaRPr lang="en-US" sz="650" dirty="0"/>
          </a:p>
        </p:txBody>
      </p:sp>
      <p:sp>
        <p:nvSpPr>
          <p:cNvPr id="10" name="Shape 7"/>
          <p:cNvSpPr/>
          <p:nvPr/>
        </p:nvSpPr>
        <p:spPr>
          <a:xfrm>
            <a:off x="0" y="4892040"/>
            <a:ext cx="9144000" cy="251460"/>
          </a:xfrm>
          <a:prstGeom prst="rect">
            <a:avLst/>
          </a:prstGeom>
          <a:solidFill>
            <a:srgbClr val="F4F6FA"/>
          </a:solidFill>
          <a:ln w="12700">
            <a:solidFill>
              <a:srgbClr val="D0D8E4"/>
            </a:solidFill>
            <a:prstDash val="solid"/>
          </a:ln>
        </p:spPr>
      </p:sp>
      <p:sp>
        <p:nvSpPr>
          <p:cNvPr id="11" name="Text 8"/>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12" name="Text 9"/>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10 / 20</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GOLDMAN SACHS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SECTION VII — BUSINESS MODEL &amp; REVENUE MIX</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Business Model</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Recurring software layer driving margin expansion on durable hardware base</a:t>
            </a:r>
            <a:endParaRPr lang="en-US" sz="950" dirty="0"/>
          </a:p>
        </p:txBody>
      </p:sp>
      <p:graphicFrame>
        <p:nvGraphicFramePr>
          <p:cNvPr id="8" name="Chart 0" descr=""/>
          <p:cNvGraphicFramePr/>
          <p:nvPr/>
        </p:nvGraphicFramePr>
        <p:xfrm>
          <a:off x="457200" y="1261872"/>
          <a:ext cx="4754880" cy="274320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5394960" y="1261872"/>
            <a:ext cx="3383280" cy="402336"/>
          </a:xfrm>
          <a:prstGeom prst="rect">
            <a:avLst/>
          </a:prstGeom>
          <a:solidFill>
            <a:srgbClr val="F4F6FA"/>
          </a:solidFill>
          <a:ln w="12700">
            <a:solidFill>
              <a:srgbClr val="D0D8E4"/>
            </a:solidFill>
            <a:prstDash val="solid"/>
          </a:ln>
        </p:spPr>
      </p:sp>
      <p:sp>
        <p:nvSpPr>
          <p:cNvPr id="10" name="Text 7"/>
          <p:cNvSpPr/>
          <p:nvPr/>
        </p:nvSpPr>
        <p:spPr>
          <a:xfrm>
            <a:off x="5486400" y="1335024"/>
            <a:ext cx="1828800" cy="256032"/>
          </a:xfrm>
          <a:prstGeom prst="rect">
            <a:avLst/>
          </a:prstGeom>
          <a:noFill/>
          <a:ln/>
        </p:spPr>
        <p:txBody>
          <a:bodyPr wrap="square" lIns="0" tIns="0" rIns="0" bIns="0" rtlCol="0" anchor="ctr"/>
          <a:lstStyle/>
          <a:p>
            <a:pPr indent="0" marL="0">
              <a:buNone/>
            </a:pPr>
            <a:r>
              <a:rPr lang="en-US" sz="800" dirty="0">
                <a:solidFill>
                  <a:srgbClr val="4A5568"/>
                </a:solidFill>
              </a:rPr>
              <a:t>Hardware Gross Margin</a:t>
            </a:r>
            <a:endParaRPr lang="en-US" sz="800" dirty="0"/>
          </a:p>
        </p:txBody>
      </p:sp>
      <p:sp>
        <p:nvSpPr>
          <p:cNvPr id="11" name="Text 8"/>
          <p:cNvSpPr/>
          <p:nvPr/>
        </p:nvSpPr>
        <p:spPr>
          <a:xfrm>
            <a:off x="7178040" y="1316736"/>
            <a:ext cx="1005840" cy="292608"/>
          </a:xfrm>
          <a:prstGeom prst="rect">
            <a:avLst/>
          </a:prstGeom>
          <a:noFill/>
          <a:ln/>
        </p:spPr>
        <p:txBody>
          <a:bodyPr wrap="square" lIns="0" tIns="0" rIns="0" bIns="0" rtlCol="0" anchor="ctr"/>
          <a:lstStyle/>
          <a:p>
            <a:pPr algn="r" indent="0" marL="0">
              <a:buNone/>
            </a:pPr>
            <a:r>
              <a:rPr lang="en-US" sz="1100" b="1" dirty="0">
                <a:solidFill>
                  <a:srgbClr val="1B2D55"/>
                </a:solidFill>
              </a:rPr>
              <a:t>44.2%</a:t>
            </a:r>
            <a:endParaRPr lang="en-US" sz="1100" dirty="0"/>
          </a:p>
        </p:txBody>
      </p:sp>
      <p:sp>
        <p:nvSpPr>
          <p:cNvPr id="12" name="Text 9"/>
          <p:cNvSpPr/>
          <p:nvPr/>
        </p:nvSpPr>
        <p:spPr>
          <a:xfrm>
            <a:off x="5486400" y="1517904"/>
            <a:ext cx="3200400" cy="146304"/>
          </a:xfrm>
          <a:prstGeom prst="rect">
            <a:avLst/>
          </a:prstGeom>
          <a:noFill/>
          <a:ln/>
        </p:spPr>
        <p:txBody>
          <a:bodyPr wrap="square" lIns="0" tIns="0" rIns="0" bIns="0" rtlCol="0" anchor="ctr"/>
          <a:lstStyle/>
          <a:p>
            <a:pPr indent="0" marL="0">
              <a:buNone/>
            </a:pPr>
            <a:r>
              <a:rPr lang="en-US" sz="650" dirty="0">
                <a:solidFill>
                  <a:srgbClr val="2E7D32"/>
                </a:solidFill>
              </a:rPr>
              <a:t>↑ +8pp vs. FY2019</a:t>
            </a:r>
            <a:endParaRPr lang="en-US" sz="650" dirty="0"/>
          </a:p>
        </p:txBody>
      </p:sp>
      <p:sp>
        <p:nvSpPr>
          <p:cNvPr id="13" name="Shape 10"/>
          <p:cNvSpPr/>
          <p:nvPr/>
        </p:nvSpPr>
        <p:spPr>
          <a:xfrm>
            <a:off x="5394960" y="1682496"/>
            <a:ext cx="3383280" cy="402336"/>
          </a:xfrm>
          <a:prstGeom prst="rect">
            <a:avLst/>
          </a:prstGeom>
          <a:solidFill>
            <a:srgbClr val="FFFFFF"/>
          </a:solidFill>
          <a:ln w="12700">
            <a:solidFill>
              <a:srgbClr val="D0D8E4"/>
            </a:solidFill>
            <a:prstDash val="solid"/>
          </a:ln>
        </p:spPr>
      </p:sp>
      <p:sp>
        <p:nvSpPr>
          <p:cNvPr id="14" name="Text 11"/>
          <p:cNvSpPr/>
          <p:nvPr/>
        </p:nvSpPr>
        <p:spPr>
          <a:xfrm>
            <a:off x="5486400" y="1755648"/>
            <a:ext cx="1828800" cy="256032"/>
          </a:xfrm>
          <a:prstGeom prst="rect">
            <a:avLst/>
          </a:prstGeom>
          <a:noFill/>
          <a:ln/>
        </p:spPr>
        <p:txBody>
          <a:bodyPr wrap="square" lIns="0" tIns="0" rIns="0" bIns="0" rtlCol="0" anchor="ctr"/>
          <a:lstStyle/>
          <a:p>
            <a:pPr indent="0" marL="0">
              <a:buNone/>
            </a:pPr>
            <a:r>
              <a:rPr lang="en-US" sz="800" dirty="0">
                <a:solidFill>
                  <a:srgbClr val="4A5568"/>
                </a:solidFill>
              </a:rPr>
              <a:t>Software Gross Margin</a:t>
            </a:r>
            <a:endParaRPr lang="en-US" sz="800" dirty="0"/>
          </a:p>
        </p:txBody>
      </p:sp>
      <p:sp>
        <p:nvSpPr>
          <p:cNvPr id="15" name="Text 12"/>
          <p:cNvSpPr/>
          <p:nvPr/>
        </p:nvSpPr>
        <p:spPr>
          <a:xfrm>
            <a:off x="7178040" y="1737360"/>
            <a:ext cx="1005840" cy="292608"/>
          </a:xfrm>
          <a:prstGeom prst="rect">
            <a:avLst/>
          </a:prstGeom>
          <a:noFill/>
          <a:ln/>
        </p:spPr>
        <p:txBody>
          <a:bodyPr wrap="square" lIns="0" tIns="0" rIns="0" bIns="0" rtlCol="0" anchor="ctr"/>
          <a:lstStyle/>
          <a:p>
            <a:pPr algn="r" indent="0" marL="0">
              <a:buNone/>
            </a:pPr>
            <a:r>
              <a:rPr lang="en-US" sz="1100" b="1" dirty="0">
                <a:solidFill>
                  <a:srgbClr val="1B2D55"/>
                </a:solidFill>
              </a:rPr>
              <a:t>71.5%</a:t>
            </a:r>
            <a:endParaRPr lang="en-US" sz="1100" dirty="0"/>
          </a:p>
        </p:txBody>
      </p:sp>
      <p:sp>
        <p:nvSpPr>
          <p:cNvPr id="16" name="Text 13"/>
          <p:cNvSpPr/>
          <p:nvPr/>
        </p:nvSpPr>
        <p:spPr>
          <a:xfrm>
            <a:off x="5486400" y="1938528"/>
            <a:ext cx="3200400" cy="146304"/>
          </a:xfrm>
          <a:prstGeom prst="rect">
            <a:avLst/>
          </a:prstGeom>
          <a:noFill/>
          <a:ln/>
        </p:spPr>
        <p:txBody>
          <a:bodyPr wrap="square" lIns="0" tIns="0" rIns="0" bIns="0" rtlCol="0" anchor="ctr"/>
          <a:lstStyle/>
          <a:p>
            <a:pPr indent="0" marL="0">
              <a:buNone/>
            </a:pPr>
            <a:r>
              <a:rPr lang="en-US" sz="650" dirty="0">
                <a:solidFill>
                  <a:srgbClr val="2E7D32"/>
                </a:solidFill>
              </a:rPr>
              <a:t>Stable; scale benefits ahead</a:t>
            </a:r>
            <a:endParaRPr lang="en-US" sz="650" dirty="0"/>
          </a:p>
        </p:txBody>
      </p:sp>
      <p:sp>
        <p:nvSpPr>
          <p:cNvPr id="17" name="Shape 14"/>
          <p:cNvSpPr/>
          <p:nvPr/>
        </p:nvSpPr>
        <p:spPr>
          <a:xfrm>
            <a:off x="5394960" y="2103120"/>
            <a:ext cx="3383280" cy="402336"/>
          </a:xfrm>
          <a:prstGeom prst="rect">
            <a:avLst/>
          </a:prstGeom>
          <a:solidFill>
            <a:srgbClr val="F4F6FA"/>
          </a:solidFill>
          <a:ln w="12700">
            <a:solidFill>
              <a:srgbClr val="D0D8E4"/>
            </a:solidFill>
            <a:prstDash val="solid"/>
          </a:ln>
        </p:spPr>
      </p:sp>
      <p:sp>
        <p:nvSpPr>
          <p:cNvPr id="18" name="Text 15"/>
          <p:cNvSpPr/>
          <p:nvPr/>
        </p:nvSpPr>
        <p:spPr>
          <a:xfrm>
            <a:off x="5486400" y="2176272"/>
            <a:ext cx="1828800" cy="256032"/>
          </a:xfrm>
          <a:prstGeom prst="rect">
            <a:avLst/>
          </a:prstGeom>
          <a:noFill/>
          <a:ln/>
        </p:spPr>
        <p:txBody>
          <a:bodyPr wrap="square" lIns="0" tIns="0" rIns="0" bIns="0" rtlCol="0" anchor="ctr"/>
          <a:lstStyle/>
          <a:p>
            <a:pPr indent="0" marL="0">
              <a:buNone/>
            </a:pPr>
            <a:r>
              <a:rPr lang="en-US" sz="800" dirty="0">
                <a:solidFill>
                  <a:srgbClr val="4A5568"/>
                </a:solidFill>
              </a:rPr>
              <a:t>Blended Gross Margin</a:t>
            </a:r>
            <a:endParaRPr lang="en-US" sz="800" dirty="0"/>
          </a:p>
        </p:txBody>
      </p:sp>
      <p:sp>
        <p:nvSpPr>
          <p:cNvPr id="19" name="Text 16"/>
          <p:cNvSpPr/>
          <p:nvPr/>
        </p:nvSpPr>
        <p:spPr>
          <a:xfrm>
            <a:off x="7178040" y="2157984"/>
            <a:ext cx="1005840" cy="292608"/>
          </a:xfrm>
          <a:prstGeom prst="rect">
            <a:avLst/>
          </a:prstGeom>
          <a:noFill/>
          <a:ln/>
        </p:spPr>
        <p:txBody>
          <a:bodyPr wrap="square" lIns="0" tIns="0" rIns="0" bIns="0" rtlCol="0" anchor="ctr"/>
          <a:lstStyle/>
          <a:p>
            <a:pPr algn="r" indent="0" marL="0">
              <a:buNone/>
            </a:pPr>
            <a:r>
              <a:rPr lang="en-US" sz="1100" b="1" dirty="0">
                <a:solidFill>
                  <a:srgbClr val="1B2D55"/>
                </a:solidFill>
              </a:rPr>
              <a:t>45.5%</a:t>
            </a:r>
            <a:endParaRPr lang="en-US" sz="1100" dirty="0"/>
          </a:p>
        </p:txBody>
      </p:sp>
      <p:sp>
        <p:nvSpPr>
          <p:cNvPr id="20" name="Text 17"/>
          <p:cNvSpPr/>
          <p:nvPr/>
        </p:nvSpPr>
        <p:spPr>
          <a:xfrm>
            <a:off x="5486400" y="2359152"/>
            <a:ext cx="3200400" cy="146304"/>
          </a:xfrm>
          <a:prstGeom prst="rect">
            <a:avLst/>
          </a:prstGeom>
          <a:noFill/>
          <a:ln/>
        </p:spPr>
        <p:txBody>
          <a:bodyPr wrap="square" lIns="0" tIns="0" rIns="0" bIns="0" rtlCol="0" anchor="ctr"/>
          <a:lstStyle/>
          <a:p>
            <a:pPr indent="0" marL="0">
              <a:buNone/>
            </a:pPr>
            <a:r>
              <a:rPr lang="en-US" sz="650" dirty="0">
                <a:solidFill>
                  <a:srgbClr val="2E7D32"/>
                </a:solidFill>
              </a:rPr>
              <a:t>↑ as software mix increases</a:t>
            </a:r>
            <a:endParaRPr lang="en-US" sz="650" dirty="0"/>
          </a:p>
        </p:txBody>
      </p:sp>
      <p:sp>
        <p:nvSpPr>
          <p:cNvPr id="21" name="Shape 18"/>
          <p:cNvSpPr/>
          <p:nvPr/>
        </p:nvSpPr>
        <p:spPr>
          <a:xfrm>
            <a:off x="5394960" y="2523744"/>
            <a:ext cx="3383280" cy="402336"/>
          </a:xfrm>
          <a:prstGeom prst="rect">
            <a:avLst/>
          </a:prstGeom>
          <a:solidFill>
            <a:srgbClr val="FFFFFF"/>
          </a:solidFill>
          <a:ln w="12700">
            <a:solidFill>
              <a:srgbClr val="D0D8E4"/>
            </a:solidFill>
            <a:prstDash val="solid"/>
          </a:ln>
        </p:spPr>
      </p:sp>
      <p:sp>
        <p:nvSpPr>
          <p:cNvPr id="22" name="Text 19"/>
          <p:cNvSpPr/>
          <p:nvPr/>
        </p:nvSpPr>
        <p:spPr>
          <a:xfrm>
            <a:off x="5486400" y="2596896"/>
            <a:ext cx="1828800" cy="256032"/>
          </a:xfrm>
          <a:prstGeom prst="rect">
            <a:avLst/>
          </a:prstGeom>
          <a:noFill/>
          <a:ln/>
        </p:spPr>
        <p:txBody>
          <a:bodyPr wrap="square" lIns="0" tIns="0" rIns="0" bIns="0" rtlCol="0" anchor="ctr"/>
          <a:lstStyle/>
          <a:p>
            <a:pPr indent="0" marL="0">
              <a:buNone/>
            </a:pPr>
            <a:r>
              <a:rPr lang="en-US" sz="800" dirty="0">
                <a:solidFill>
                  <a:srgbClr val="4A5568"/>
                </a:solidFill>
              </a:rPr>
              <a:t>Customer Acq. Cost (DTC)</a:t>
            </a:r>
            <a:endParaRPr lang="en-US" sz="800" dirty="0"/>
          </a:p>
        </p:txBody>
      </p:sp>
      <p:sp>
        <p:nvSpPr>
          <p:cNvPr id="23" name="Text 20"/>
          <p:cNvSpPr/>
          <p:nvPr/>
        </p:nvSpPr>
        <p:spPr>
          <a:xfrm>
            <a:off x="7178040" y="2578608"/>
            <a:ext cx="1005840" cy="292608"/>
          </a:xfrm>
          <a:prstGeom prst="rect">
            <a:avLst/>
          </a:prstGeom>
          <a:noFill/>
          <a:ln/>
        </p:spPr>
        <p:txBody>
          <a:bodyPr wrap="square" lIns="0" tIns="0" rIns="0" bIns="0" rtlCol="0" anchor="ctr"/>
          <a:lstStyle/>
          <a:p>
            <a:pPr algn="r" indent="0" marL="0">
              <a:buNone/>
            </a:pPr>
            <a:r>
              <a:rPr lang="en-US" sz="1100" b="1" dirty="0">
                <a:solidFill>
                  <a:srgbClr val="1B2D55"/>
                </a:solidFill>
              </a:rPr>
              <a:t>$180</a:t>
            </a:r>
            <a:endParaRPr lang="en-US" sz="1100" dirty="0"/>
          </a:p>
        </p:txBody>
      </p:sp>
      <p:sp>
        <p:nvSpPr>
          <p:cNvPr id="24" name="Text 21"/>
          <p:cNvSpPr/>
          <p:nvPr/>
        </p:nvSpPr>
        <p:spPr>
          <a:xfrm>
            <a:off x="5486400" y="2779776"/>
            <a:ext cx="3200400" cy="146304"/>
          </a:xfrm>
          <a:prstGeom prst="rect">
            <a:avLst/>
          </a:prstGeom>
          <a:noFill/>
          <a:ln/>
        </p:spPr>
        <p:txBody>
          <a:bodyPr wrap="square" lIns="0" tIns="0" rIns="0" bIns="0" rtlCol="0" anchor="ctr"/>
          <a:lstStyle/>
          <a:p>
            <a:pPr indent="0" marL="0">
              <a:buNone/>
            </a:pPr>
            <a:r>
              <a:rPr lang="en-US" sz="650" dirty="0">
                <a:solidFill>
                  <a:srgbClr val="2E7D32"/>
                </a:solidFill>
              </a:rPr>
              <a:t>↓ 22% vs. FY2019</a:t>
            </a:r>
            <a:endParaRPr lang="en-US" sz="650" dirty="0"/>
          </a:p>
        </p:txBody>
      </p:sp>
      <p:sp>
        <p:nvSpPr>
          <p:cNvPr id="25" name="Shape 22"/>
          <p:cNvSpPr/>
          <p:nvPr/>
        </p:nvSpPr>
        <p:spPr>
          <a:xfrm>
            <a:off x="5394960" y="2944368"/>
            <a:ext cx="3383280" cy="402336"/>
          </a:xfrm>
          <a:prstGeom prst="rect">
            <a:avLst/>
          </a:prstGeom>
          <a:solidFill>
            <a:srgbClr val="F4F6FA"/>
          </a:solidFill>
          <a:ln w="12700">
            <a:solidFill>
              <a:srgbClr val="D0D8E4"/>
            </a:solidFill>
            <a:prstDash val="solid"/>
          </a:ln>
        </p:spPr>
      </p:sp>
      <p:sp>
        <p:nvSpPr>
          <p:cNvPr id="26" name="Text 23"/>
          <p:cNvSpPr/>
          <p:nvPr/>
        </p:nvSpPr>
        <p:spPr>
          <a:xfrm>
            <a:off x="5486400" y="3017520"/>
            <a:ext cx="1828800" cy="256032"/>
          </a:xfrm>
          <a:prstGeom prst="rect">
            <a:avLst/>
          </a:prstGeom>
          <a:noFill/>
          <a:ln/>
        </p:spPr>
        <p:txBody>
          <a:bodyPr wrap="square" lIns="0" tIns="0" rIns="0" bIns="0" rtlCol="0" anchor="ctr"/>
          <a:lstStyle/>
          <a:p>
            <a:pPr indent="0" marL="0">
              <a:buNone/>
            </a:pPr>
            <a:r>
              <a:rPr lang="en-US" sz="800" dirty="0">
                <a:solidFill>
                  <a:srgbClr val="4A5568"/>
                </a:solidFill>
              </a:rPr>
              <a:t>LTV (hardware + 3yr sub)</a:t>
            </a:r>
            <a:endParaRPr lang="en-US" sz="800" dirty="0"/>
          </a:p>
        </p:txBody>
      </p:sp>
      <p:sp>
        <p:nvSpPr>
          <p:cNvPr id="27" name="Text 24"/>
          <p:cNvSpPr/>
          <p:nvPr/>
        </p:nvSpPr>
        <p:spPr>
          <a:xfrm>
            <a:off x="7178040" y="2999232"/>
            <a:ext cx="1005840" cy="292608"/>
          </a:xfrm>
          <a:prstGeom prst="rect">
            <a:avLst/>
          </a:prstGeom>
          <a:noFill/>
          <a:ln/>
        </p:spPr>
        <p:txBody>
          <a:bodyPr wrap="square" lIns="0" tIns="0" rIns="0" bIns="0" rtlCol="0" anchor="ctr"/>
          <a:lstStyle/>
          <a:p>
            <a:pPr algn="r" indent="0" marL="0">
              <a:buNone/>
            </a:pPr>
            <a:r>
              <a:rPr lang="en-US" sz="1100" b="1" dirty="0">
                <a:solidFill>
                  <a:srgbClr val="1B2D55"/>
                </a:solidFill>
              </a:rPr>
              <a:t>$1,900+</a:t>
            </a:r>
            <a:endParaRPr lang="en-US" sz="1100" dirty="0"/>
          </a:p>
        </p:txBody>
      </p:sp>
      <p:sp>
        <p:nvSpPr>
          <p:cNvPr id="28" name="Text 25"/>
          <p:cNvSpPr/>
          <p:nvPr/>
        </p:nvSpPr>
        <p:spPr>
          <a:xfrm>
            <a:off x="5486400" y="3200400"/>
            <a:ext cx="3200400" cy="146304"/>
          </a:xfrm>
          <a:prstGeom prst="rect">
            <a:avLst/>
          </a:prstGeom>
          <a:noFill/>
          <a:ln/>
        </p:spPr>
        <p:txBody>
          <a:bodyPr wrap="square" lIns="0" tIns="0" rIns="0" bIns="0" rtlCol="0" anchor="ctr"/>
          <a:lstStyle/>
          <a:p>
            <a:pPr indent="0" marL="0">
              <a:buNone/>
            </a:pPr>
            <a:r>
              <a:rPr lang="en-US" sz="650" dirty="0">
                <a:solidFill>
                  <a:srgbClr val="2E7D32"/>
                </a:solidFill>
              </a:rPr>
              <a:t>↑ with upsell to Premium tier</a:t>
            </a:r>
            <a:endParaRPr lang="en-US" sz="650" dirty="0"/>
          </a:p>
        </p:txBody>
      </p:sp>
      <p:sp>
        <p:nvSpPr>
          <p:cNvPr id="29" name="Shape 26"/>
          <p:cNvSpPr/>
          <p:nvPr/>
        </p:nvSpPr>
        <p:spPr>
          <a:xfrm>
            <a:off x="5394960" y="3364992"/>
            <a:ext cx="3383280" cy="402336"/>
          </a:xfrm>
          <a:prstGeom prst="rect">
            <a:avLst/>
          </a:prstGeom>
          <a:solidFill>
            <a:srgbClr val="FFFFFF"/>
          </a:solidFill>
          <a:ln w="12700">
            <a:solidFill>
              <a:srgbClr val="D0D8E4"/>
            </a:solidFill>
            <a:prstDash val="solid"/>
          </a:ln>
        </p:spPr>
      </p:sp>
      <p:sp>
        <p:nvSpPr>
          <p:cNvPr id="30" name="Text 27"/>
          <p:cNvSpPr/>
          <p:nvPr/>
        </p:nvSpPr>
        <p:spPr>
          <a:xfrm>
            <a:off x="5486400" y="3438144"/>
            <a:ext cx="1828800" cy="256032"/>
          </a:xfrm>
          <a:prstGeom prst="rect">
            <a:avLst/>
          </a:prstGeom>
          <a:noFill/>
          <a:ln/>
        </p:spPr>
        <p:txBody>
          <a:bodyPr wrap="square" lIns="0" tIns="0" rIns="0" bIns="0" rtlCol="0" anchor="ctr"/>
          <a:lstStyle/>
          <a:p>
            <a:pPr indent="0" marL="0">
              <a:buNone/>
            </a:pPr>
            <a:r>
              <a:rPr lang="en-US" sz="800" dirty="0">
                <a:solidFill>
                  <a:srgbClr val="4A5568"/>
                </a:solidFill>
              </a:rPr>
              <a:t>LTV / CAC</a:t>
            </a:r>
            <a:endParaRPr lang="en-US" sz="800" dirty="0"/>
          </a:p>
        </p:txBody>
      </p:sp>
      <p:sp>
        <p:nvSpPr>
          <p:cNvPr id="31" name="Text 28"/>
          <p:cNvSpPr/>
          <p:nvPr/>
        </p:nvSpPr>
        <p:spPr>
          <a:xfrm>
            <a:off x="7178040" y="3419856"/>
            <a:ext cx="1005840" cy="292608"/>
          </a:xfrm>
          <a:prstGeom prst="rect">
            <a:avLst/>
          </a:prstGeom>
          <a:noFill/>
          <a:ln/>
        </p:spPr>
        <p:txBody>
          <a:bodyPr wrap="square" lIns="0" tIns="0" rIns="0" bIns="0" rtlCol="0" anchor="ctr"/>
          <a:lstStyle/>
          <a:p>
            <a:pPr algn="r" indent="0" marL="0">
              <a:buNone/>
            </a:pPr>
            <a:r>
              <a:rPr lang="en-US" sz="1100" b="1" dirty="0">
                <a:solidFill>
                  <a:srgbClr val="1B2D55"/>
                </a:solidFill>
              </a:rPr>
              <a:t>10.6x</a:t>
            </a:r>
            <a:endParaRPr lang="en-US" sz="1100" dirty="0"/>
          </a:p>
        </p:txBody>
      </p:sp>
      <p:sp>
        <p:nvSpPr>
          <p:cNvPr id="32" name="Text 29"/>
          <p:cNvSpPr/>
          <p:nvPr/>
        </p:nvSpPr>
        <p:spPr>
          <a:xfrm>
            <a:off x="5486400" y="3621024"/>
            <a:ext cx="3200400" cy="146304"/>
          </a:xfrm>
          <a:prstGeom prst="rect">
            <a:avLst/>
          </a:prstGeom>
          <a:noFill/>
          <a:ln/>
        </p:spPr>
        <p:txBody>
          <a:bodyPr wrap="square" lIns="0" tIns="0" rIns="0" bIns="0" rtlCol="0" anchor="ctr"/>
          <a:lstStyle/>
          <a:p>
            <a:pPr indent="0" marL="0">
              <a:buNone/>
            </a:pPr>
            <a:r>
              <a:rPr lang="en-US" sz="650" dirty="0">
                <a:solidFill>
                  <a:srgbClr val="2E7D32"/>
                </a:solidFill>
              </a:rPr>
              <a:t>Best-in-class for consumer HW</a:t>
            </a:r>
            <a:endParaRPr lang="en-US" sz="650" dirty="0"/>
          </a:p>
        </p:txBody>
      </p:sp>
      <p:sp>
        <p:nvSpPr>
          <p:cNvPr id="33" name="Shape 30"/>
          <p:cNvSpPr/>
          <p:nvPr/>
        </p:nvSpPr>
        <p:spPr>
          <a:xfrm>
            <a:off x="5394960" y="3785616"/>
            <a:ext cx="3383280" cy="402336"/>
          </a:xfrm>
          <a:prstGeom prst="rect">
            <a:avLst/>
          </a:prstGeom>
          <a:solidFill>
            <a:srgbClr val="F4F6FA"/>
          </a:solidFill>
          <a:ln w="12700">
            <a:solidFill>
              <a:srgbClr val="D0D8E4"/>
            </a:solidFill>
            <a:prstDash val="solid"/>
          </a:ln>
        </p:spPr>
      </p:sp>
      <p:sp>
        <p:nvSpPr>
          <p:cNvPr id="34" name="Text 31"/>
          <p:cNvSpPr/>
          <p:nvPr/>
        </p:nvSpPr>
        <p:spPr>
          <a:xfrm>
            <a:off x="5486400" y="3858768"/>
            <a:ext cx="1828800" cy="256032"/>
          </a:xfrm>
          <a:prstGeom prst="rect">
            <a:avLst/>
          </a:prstGeom>
          <a:noFill/>
          <a:ln/>
        </p:spPr>
        <p:txBody>
          <a:bodyPr wrap="square" lIns="0" tIns="0" rIns="0" bIns="0" rtlCol="0" anchor="ctr"/>
          <a:lstStyle/>
          <a:p>
            <a:pPr indent="0" marL="0">
              <a:buNone/>
            </a:pPr>
            <a:r>
              <a:rPr lang="en-US" sz="800" dirty="0">
                <a:solidFill>
                  <a:srgbClr val="4A5568"/>
                </a:solidFill>
              </a:rPr>
              <a:t>Payback Period (DTC)</a:t>
            </a:r>
            <a:endParaRPr lang="en-US" sz="800" dirty="0"/>
          </a:p>
        </p:txBody>
      </p:sp>
      <p:sp>
        <p:nvSpPr>
          <p:cNvPr id="35" name="Text 32"/>
          <p:cNvSpPr/>
          <p:nvPr/>
        </p:nvSpPr>
        <p:spPr>
          <a:xfrm>
            <a:off x="7178040" y="3840480"/>
            <a:ext cx="1005840" cy="292608"/>
          </a:xfrm>
          <a:prstGeom prst="rect">
            <a:avLst/>
          </a:prstGeom>
          <a:noFill/>
          <a:ln/>
        </p:spPr>
        <p:txBody>
          <a:bodyPr wrap="square" lIns="0" tIns="0" rIns="0" bIns="0" rtlCol="0" anchor="ctr"/>
          <a:lstStyle/>
          <a:p>
            <a:pPr algn="r" indent="0" marL="0">
              <a:buNone/>
            </a:pPr>
            <a:r>
              <a:rPr lang="en-US" sz="1100" b="1" dirty="0">
                <a:solidFill>
                  <a:srgbClr val="1B2D55"/>
                </a:solidFill>
              </a:rPr>
              <a:t>&lt;6 months</a:t>
            </a:r>
            <a:endParaRPr lang="en-US" sz="1100" dirty="0"/>
          </a:p>
        </p:txBody>
      </p:sp>
      <p:sp>
        <p:nvSpPr>
          <p:cNvPr id="36" name="Text 33"/>
          <p:cNvSpPr/>
          <p:nvPr/>
        </p:nvSpPr>
        <p:spPr>
          <a:xfrm>
            <a:off x="5486400" y="4041648"/>
            <a:ext cx="3200400" cy="146304"/>
          </a:xfrm>
          <a:prstGeom prst="rect">
            <a:avLst/>
          </a:prstGeom>
          <a:noFill/>
          <a:ln/>
        </p:spPr>
        <p:txBody>
          <a:bodyPr wrap="square" lIns="0" tIns="0" rIns="0" bIns="0" rtlCol="0" anchor="ctr"/>
          <a:lstStyle/>
          <a:p>
            <a:pPr indent="0" marL="0">
              <a:buNone/>
            </a:pPr>
            <a:r>
              <a:rPr lang="en-US" sz="650" dirty="0">
                <a:solidFill>
                  <a:srgbClr val="2E7D32"/>
                </a:solidFill>
              </a:rPr>
              <a:t>↓ from 9 months in FY2019</a:t>
            </a:r>
            <a:endParaRPr lang="en-US" sz="650" dirty="0"/>
          </a:p>
        </p:txBody>
      </p:sp>
      <p:sp>
        <p:nvSpPr>
          <p:cNvPr id="37" name="Shape 34"/>
          <p:cNvSpPr/>
          <p:nvPr/>
        </p:nvSpPr>
        <p:spPr>
          <a:xfrm>
            <a:off x="0" y="4892040"/>
            <a:ext cx="9144000" cy="251460"/>
          </a:xfrm>
          <a:prstGeom prst="rect">
            <a:avLst/>
          </a:prstGeom>
          <a:solidFill>
            <a:srgbClr val="F4F6FA"/>
          </a:solidFill>
          <a:ln w="12700">
            <a:solidFill>
              <a:srgbClr val="D0D8E4"/>
            </a:solidFill>
            <a:prstDash val="solid"/>
          </a:ln>
        </p:spPr>
      </p:sp>
      <p:sp>
        <p:nvSpPr>
          <p:cNvPr id="38" name="Text 35"/>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39" name="Text 36"/>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11 / 20</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GOLDMAN SACHS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SECTION VIII — CUSTOMER &amp; CHANNEL STRATEGY</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Customer &amp; Channel Strategy</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DTC-first model with deliberate retail expansion</a:t>
            </a:r>
            <a:endParaRPr lang="en-US" sz="950" dirty="0"/>
          </a:p>
        </p:txBody>
      </p:sp>
      <p:sp>
        <p:nvSpPr>
          <p:cNvPr id="8" name="Shape 6"/>
          <p:cNvSpPr/>
          <p:nvPr/>
        </p:nvSpPr>
        <p:spPr>
          <a:xfrm>
            <a:off x="457200" y="1261872"/>
            <a:ext cx="2743200" cy="3291840"/>
          </a:xfrm>
          <a:prstGeom prst="rect">
            <a:avLst/>
          </a:prstGeom>
          <a:solidFill>
            <a:srgbClr val="FFFFFF"/>
          </a:solidFill>
          <a:ln w="12700">
            <a:solidFill>
              <a:srgbClr val="D0D8E4"/>
            </a:solidFill>
            <a:prstDash val="solid"/>
          </a:ln>
          <a:effectLst>
            <a:outerShdw sx="100000" sy="100000" kx="0" ky="0" algn="bl" rotWithShape="0" blurRad="50800" dist="25400" dir="8100000">
              <a:srgbClr val="000000">
                <a:alpha val="7000"/>
              </a:srgbClr>
            </a:outerShdw>
          </a:effectLst>
        </p:spPr>
      </p:sp>
      <p:sp>
        <p:nvSpPr>
          <p:cNvPr id="9" name="Shape 7"/>
          <p:cNvSpPr/>
          <p:nvPr/>
        </p:nvSpPr>
        <p:spPr>
          <a:xfrm>
            <a:off x="457200" y="1261872"/>
            <a:ext cx="2743200" cy="457200"/>
          </a:xfrm>
          <a:prstGeom prst="rect">
            <a:avLst/>
          </a:prstGeom>
          <a:solidFill>
            <a:srgbClr val="1B2D55"/>
          </a:solidFill>
          <a:ln w="12700">
            <a:solidFill>
              <a:srgbClr val="1B2D55"/>
            </a:solidFill>
            <a:prstDash val="solid"/>
          </a:ln>
        </p:spPr>
      </p:sp>
      <p:sp>
        <p:nvSpPr>
          <p:cNvPr id="10" name="Text 8"/>
          <p:cNvSpPr/>
          <p:nvPr/>
        </p:nvSpPr>
        <p:spPr>
          <a:xfrm>
            <a:off x="594360" y="1280160"/>
            <a:ext cx="1828800" cy="420624"/>
          </a:xfrm>
          <a:prstGeom prst="rect">
            <a:avLst/>
          </a:prstGeom>
          <a:noFill/>
          <a:ln/>
        </p:spPr>
        <p:txBody>
          <a:bodyPr wrap="square" lIns="0" tIns="0" rIns="0" bIns="0" rtlCol="0" anchor="ctr"/>
          <a:lstStyle/>
          <a:p>
            <a:pPr indent="0" marL="0">
              <a:buNone/>
            </a:pPr>
            <a:r>
              <a:rPr lang="en-US" sz="850" b="1" dirty="0">
                <a:solidFill>
                  <a:srgbClr val="FFFFFF"/>
                </a:solidFill>
              </a:rPr>
              <a:t>Direct-to-Consumer</a:t>
            </a:r>
            <a:endParaRPr lang="en-US" sz="850" dirty="0"/>
          </a:p>
          <a:p>
            <a:pPr indent="0" marL="0">
              <a:buNone/>
            </a:pPr>
            <a:r>
              <a:rPr lang="en-US" sz="850" b="1" dirty="0">
                <a:solidFill>
                  <a:srgbClr val="FFFFFF"/>
                </a:solidFill>
              </a:rPr>
              <a:t>(slumbersmart.com)</a:t>
            </a:r>
            <a:endParaRPr lang="en-US" sz="850" dirty="0"/>
          </a:p>
        </p:txBody>
      </p:sp>
      <p:sp>
        <p:nvSpPr>
          <p:cNvPr id="11" name="Text 9"/>
          <p:cNvSpPr/>
          <p:nvPr/>
        </p:nvSpPr>
        <p:spPr>
          <a:xfrm>
            <a:off x="2286000" y="1280160"/>
            <a:ext cx="777240" cy="420624"/>
          </a:xfrm>
          <a:prstGeom prst="rect">
            <a:avLst/>
          </a:prstGeom>
          <a:noFill/>
          <a:ln/>
        </p:spPr>
        <p:txBody>
          <a:bodyPr wrap="square" lIns="0" tIns="0" rIns="0" bIns="0" rtlCol="0" anchor="ctr"/>
          <a:lstStyle/>
          <a:p>
            <a:pPr algn="r" indent="0" marL="0">
              <a:buNone/>
            </a:pPr>
            <a:r>
              <a:rPr lang="en-US" sz="2000" b="1" dirty="0">
                <a:solidFill>
                  <a:srgbClr val="C8A83C"/>
                </a:solidFill>
              </a:rPr>
              <a:t>78%</a:t>
            </a:r>
            <a:endParaRPr lang="en-US" sz="2000" dirty="0"/>
          </a:p>
        </p:txBody>
      </p:sp>
      <p:sp>
        <p:nvSpPr>
          <p:cNvPr id="12" name="Text 10"/>
          <p:cNvSpPr/>
          <p:nvPr/>
        </p:nvSpPr>
        <p:spPr>
          <a:xfrm>
            <a:off x="594360" y="1810512"/>
            <a:ext cx="2468880" cy="256032"/>
          </a:xfrm>
          <a:prstGeom prst="rect">
            <a:avLst/>
          </a:prstGeom>
          <a:noFill/>
          <a:ln/>
        </p:spPr>
        <p:txBody>
          <a:bodyPr wrap="square" lIns="0" tIns="0" rIns="0" bIns="0" rtlCol="0" anchor="ctr"/>
          <a:lstStyle/>
          <a:p>
            <a:pPr indent="0" marL="0">
              <a:buNone/>
            </a:pPr>
            <a:r>
              <a:rPr lang="en-US" sz="850" b="1" dirty="0">
                <a:solidFill>
                  <a:srgbClr val="2B5BAE"/>
                </a:solidFill>
              </a:rPr>
              <a:t>~$113M LTM</a:t>
            </a:r>
            <a:endParaRPr lang="en-US" sz="850" dirty="0"/>
          </a:p>
        </p:txBody>
      </p:sp>
      <p:sp>
        <p:nvSpPr>
          <p:cNvPr id="13" name="Shape 11"/>
          <p:cNvSpPr/>
          <p:nvPr/>
        </p:nvSpPr>
        <p:spPr>
          <a:xfrm>
            <a:off x="457200" y="2121408"/>
            <a:ext cx="8229600" cy="0"/>
          </a:xfrm>
          <a:prstGeom prst="line">
            <a:avLst/>
          </a:prstGeom>
          <a:noFill/>
          <a:ln w="9525">
            <a:solidFill>
              <a:srgbClr val="D0D8E4"/>
            </a:solidFill>
            <a:prstDash val="solid"/>
          </a:ln>
        </p:spPr>
      </p:sp>
      <p:sp>
        <p:nvSpPr>
          <p:cNvPr id="14" name="Shape 12"/>
          <p:cNvSpPr/>
          <p:nvPr/>
        </p:nvSpPr>
        <p:spPr>
          <a:xfrm>
            <a:off x="594360" y="2212848"/>
            <a:ext cx="73152" cy="73152"/>
          </a:xfrm>
          <a:prstGeom prst="oval">
            <a:avLst/>
          </a:prstGeom>
          <a:solidFill>
            <a:srgbClr val="1B2D55"/>
          </a:solidFill>
          <a:ln w="12700">
            <a:solidFill>
              <a:srgbClr val="1B2D55"/>
            </a:solidFill>
            <a:prstDash val="solid"/>
          </a:ln>
        </p:spPr>
      </p:sp>
      <p:sp>
        <p:nvSpPr>
          <p:cNvPr id="15" name="Text 13"/>
          <p:cNvSpPr/>
          <p:nvPr/>
        </p:nvSpPr>
        <p:spPr>
          <a:xfrm>
            <a:off x="731520" y="2157984"/>
            <a:ext cx="2377440" cy="438912"/>
          </a:xfrm>
          <a:prstGeom prst="rect">
            <a:avLst/>
          </a:prstGeom>
          <a:noFill/>
          <a:ln/>
        </p:spPr>
        <p:txBody>
          <a:bodyPr wrap="square" lIns="0" tIns="0" rIns="0" bIns="0" rtlCol="0" anchor="t"/>
          <a:lstStyle/>
          <a:p>
            <a:pPr indent="0" marL="0">
              <a:buNone/>
            </a:pPr>
            <a:r>
              <a:rPr lang="en-US" sz="750" dirty="0">
                <a:solidFill>
                  <a:srgbClr val="4A5568"/>
                </a:solidFill>
              </a:rPr>
              <a:t>Own the customer relationship and data</a:t>
            </a:r>
            <a:endParaRPr lang="en-US" sz="750" dirty="0"/>
          </a:p>
        </p:txBody>
      </p:sp>
      <p:sp>
        <p:nvSpPr>
          <p:cNvPr id="16" name="Shape 14"/>
          <p:cNvSpPr/>
          <p:nvPr/>
        </p:nvSpPr>
        <p:spPr>
          <a:xfrm>
            <a:off x="594360" y="2688336"/>
            <a:ext cx="73152" cy="73152"/>
          </a:xfrm>
          <a:prstGeom prst="oval">
            <a:avLst/>
          </a:prstGeom>
          <a:solidFill>
            <a:srgbClr val="1B2D55"/>
          </a:solidFill>
          <a:ln w="12700">
            <a:solidFill>
              <a:srgbClr val="1B2D55"/>
            </a:solidFill>
            <a:prstDash val="solid"/>
          </a:ln>
        </p:spPr>
      </p:sp>
      <p:sp>
        <p:nvSpPr>
          <p:cNvPr id="17" name="Text 15"/>
          <p:cNvSpPr/>
          <p:nvPr/>
        </p:nvSpPr>
        <p:spPr>
          <a:xfrm>
            <a:off x="731520" y="2633472"/>
            <a:ext cx="2377440" cy="438912"/>
          </a:xfrm>
          <a:prstGeom prst="rect">
            <a:avLst/>
          </a:prstGeom>
          <a:noFill/>
          <a:ln/>
        </p:spPr>
        <p:txBody>
          <a:bodyPr wrap="square" lIns="0" tIns="0" rIns="0" bIns="0" rtlCol="0" anchor="t"/>
          <a:lstStyle/>
          <a:p>
            <a:pPr indent="0" marL="0">
              <a:buNone/>
            </a:pPr>
            <a:r>
              <a:rPr lang="en-US" sz="750" dirty="0">
                <a:solidFill>
                  <a:srgbClr val="4A5568"/>
                </a:solidFill>
              </a:rPr>
              <a:t>45%+ gross margin on DTC sales</a:t>
            </a:r>
            <a:endParaRPr lang="en-US" sz="750" dirty="0"/>
          </a:p>
        </p:txBody>
      </p:sp>
      <p:sp>
        <p:nvSpPr>
          <p:cNvPr id="18" name="Shape 16"/>
          <p:cNvSpPr/>
          <p:nvPr/>
        </p:nvSpPr>
        <p:spPr>
          <a:xfrm>
            <a:off x="594360" y="3163824"/>
            <a:ext cx="73152" cy="73152"/>
          </a:xfrm>
          <a:prstGeom prst="oval">
            <a:avLst/>
          </a:prstGeom>
          <a:solidFill>
            <a:srgbClr val="1B2D55"/>
          </a:solidFill>
          <a:ln w="12700">
            <a:solidFill>
              <a:srgbClr val="1B2D55"/>
            </a:solidFill>
            <a:prstDash val="solid"/>
          </a:ln>
        </p:spPr>
      </p:sp>
      <p:sp>
        <p:nvSpPr>
          <p:cNvPr id="19" name="Text 17"/>
          <p:cNvSpPr/>
          <p:nvPr/>
        </p:nvSpPr>
        <p:spPr>
          <a:xfrm>
            <a:off x="731520" y="3108960"/>
            <a:ext cx="2377440" cy="438912"/>
          </a:xfrm>
          <a:prstGeom prst="rect">
            <a:avLst/>
          </a:prstGeom>
          <a:noFill/>
          <a:ln/>
        </p:spPr>
        <p:txBody>
          <a:bodyPr wrap="square" lIns="0" tIns="0" rIns="0" bIns="0" rtlCol="0" anchor="t"/>
          <a:lstStyle/>
          <a:p>
            <a:pPr indent="0" marL="0">
              <a:buNone/>
            </a:pPr>
            <a:r>
              <a:rPr lang="en-US" sz="750" dirty="0">
                <a:solidFill>
                  <a:srgbClr val="4A5568"/>
                </a:solidFill>
              </a:rPr>
              <a:t>Email/SMS CRM drives upsell to Premium subscription</a:t>
            </a:r>
            <a:endParaRPr lang="en-US" sz="750" dirty="0"/>
          </a:p>
        </p:txBody>
      </p:sp>
      <p:sp>
        <p:nvSpPr>
          <p:cNvPr id="20" name="Shape 18"/>
          <p:cNvSpPr/>
          <p:nvPr/>
        </p:nvSpPr>
        <p:spPr>
          <a:xfrm>
            <a:off x="3355848" y="1261872"/>
            <a:ext cx="2743200" cy="3291840"/>
          </a:xfrm>
          <a:prstGeom prst="rect">
            <a:avLst/>
          </a:prstGeom>
          <a:solidFill>
            <a:srgbClr val="FFFFFF"/>
          </a:solidFill>
          <a:ln w="12700">
            <a:solidFill>
              <a:srgbClr val="D0D8E4"/>
            </a:solidFill>
            <a:prstDash val="solid"/>
          </a:ln>
          <a:effectLst>
            <a:outerShdw sx="100000" sy="100000" kx="0" ky="0" algn="bl" rotWithShape="0" blurRad="50800" dist="25400" dir="8100000">
              <a:srgbClr val="000000">
                <a:alpha val="7000"/>
              </a:srgbClr>
            </a:outerShdw>
          </a:effectLst>
        </p:spPr>
      </p:sp>
      <p:sp>
        <p:nvSpPr>
          <p:cNvPr id="21" name="Shape 19"/>
          <p:cNvSpPr/>
          <p:nvPr/>
        </p:nvSpPr>
        <p:spPr>
          <a:xfrm>
            <a:off x="3355848" y="1261872"/>
            <a:ext cx="2743200" cy="457200"/>
          </a:xfrm>
          <a:prstGeom prst="rect">
            <a:avLst/>
          </a:prstGeom>
          <a:solidFill>
            <a:srgbClr val="2B5BAE"/>
          </a:solidFill>
          <a:ln w="12700">
            <a:solidFill>
              <a:srgbClr val="2B5BAE"/>
            </a:solidFill>
            <a:prstDash val="solid"/>
          </a:ln>
        </p:spPr>
      </p:sp>
      <p:sp>
        <p:nvSpPr>
          <p:cNvPr id="22" name="Text 20"/>
          <p:cNvSpPr/>
          <p:nvPr/>
        </p:nvSpPr>
        <p:spPr>
          <a:xfrm>
            <a:off x="3493008" y="1280160"/>
            <a:ext cx="1828800" cy="420624"/>
          </a:xfrm>
          <a:prstGeom prst="rect">
            <a:avLst/>
          </a:prstGeom>
          <a:noFill/>
          <a:ln/>
        </p:spPr>
        <p:txBody>
          <a:bodyPr wrap="square" lIns="0" tIns="0" rIns="0" bIns="0" rtlCol="0" anchor="ctr"/>
          <a:lstStyle/>
          <a:p>
            <a:pPr indent="0" marL="0">
              <a:buNone/>
            </a:pPr>
            <a:r>
              <a:rPr lang="en-US" sz="850" b="1" dirty="0">
                <a:solidFill>
                  <a:srgbClr val="FFFFFF"/>
                </a:solidFill>
              </a:rPr>
              <a:t>Retail Partners</a:t>
            </a:r>
            <a:endParaRPr lang="en-US" sz="850" dirty="0"/>
          </a:p>
        </p:txBody>
      </p:sp>
      <p:sp>
        <p:nvSpPr>
          <p:cNvPr id="23" name="Text 21"/>
          <p:cNvSpPr/>
          <p:nvPr/>
        </p:nvSpPr>
        <p:spPr>
          <a:xfrm>
            <a:off x="5184648" y="1280160"/>
            <a:ext cx="777240" cy="420624"/>
          </a:xfrm>
          <a:prstGeom prst="rect">
            <a:avLst/>
          </a:prstGeom>
          <a:noFill/>
          <a:ln/>
        </p:spPr>
        <p:txBody>
          <a:bodyPr wrap="square" lIns="0" tIns="0" rIns="0" bIns="0" rtlCol="0" anchor="ctr"/>
          <a:lstStyle/>
          <a:p>
            <a:pPr algn="r" indent="0" marL="0">
              <a:buNone/>
            </a:pPr>
            <a:r>
              <a:rPr lang="en-US" sz="2000" b="1" dirty="0">
                <a:solidFill>
                  <a:srgbClr val="C8A83C"/>
                </a:solidFill>
              </a:rPr>
              <a:t>16%</a:t>
            </a:r>
            <a:endParaRPr lang="en-US" sz="2000" dirty="0"/>
          </a:p>
        </p:txBody>
      </p:sp>
      <p:sp>
        <p:nvSpPr>
          <p:cNvPr id="24" name="Text 22"/>
          <p:cNvSpPr/>
          <p:nvPr/>
        </p:nvSpPr>
        <p:spPr>
          <a:xfrm>
            <a:off x="3493008" y="1810512"/>
            <a:ext cx="2468880" cy="256032"/>
          </a:xfrm>
          <a:prstGeom prst="rect">
            <a:avLst/>
          </a:prstGeom>
          <a:noFill/>
          <a:ln/>
        </p:spPr>
        <p:txBody>
          <a:bodyPr wrap="square" lIns="0" tIns="0" rIns="0" bIns="0" rtlCol="0" anchor="ctr"/>
          <a:lstStyle/>
          <a:p>
            <a:pPr indent="0" marL="0">
              <a:buNone/>
            </a:pPr>
            <a:r>
              <a:rPr lang="en-US" sz="850" b="1" dirty="0">
                <a:solidFill>
                  <a:srgbClr val="2B5BAE"/>
                </a:solidFill>
              </a:rPr>
              <a:t>~$23M LTM</a:t>
            </a:r>
            <a:endParaRPr lang="en-US" sz="850" dirty="0"/>
          </a:p>
        </p:txBody>
      </p:sp>
      <p:sp>
        <p:nvSpPr>
          <p:cNvPr id="25" name="Shape 23"/>
          <p:cNvSpPr/>
          <p:nvPr/>
        </p:nvSpPr>
        <p:spPr>
          <a:xfrm>
            <a:off x="457200" y="2121408"/>
            <a:ext cx="8229600" cy="0"/>
          </a:xfrm>
          <a:prstGeom prst="line">
            <a:avLst/>
          </a:prstGeom>
          <a:noFill/>
          <a:ln w="9525">
            <a:solidFill>
              <a:srgbClr val="D0D8E4"/>
            </a:solidFill>
            <a:prstDash val="solid"/>
          </a:ln>
        </p:spPr>
      </p:sp>
      <p:sp>
        <p:nvSpPr>
          <p:cNvPr id="26" name="Shape 24"/>
          <p:cNvSpPr/>
          <p:nvPr/>
        </p:nvSpPr>
        <p:spPr>
          <a:xfrm>
            <a:off x="3493008" y="2212848"/>
            <a:ext cx="73152" cy="73152"/>
          </a:xfrm>
          <a:prstGeom prst="oval">
            <a:avLst/>
          </a:prstGeom>
          <a:solidFill>
            <a:srgbClr val="2B5BAE"/>
          </a:solidFill>
          <a:ln w="12700">
            <a:solidFill>
              <a:srgbClr val="2B5BAE"/>
            </a:solidFill>
            <a:prstDash val="solid"/>
          </a:ln>
        </p:spPr>
      </p:sp>
      <p:sp>
        <p:nvSpPr>
          <p:cNvPr id="27" name="Text 25"/>
          <p:cNvSpPr/>
          <p:nvPr/>
        </p:nvSpPr>
        <p:spPr>
          <a:xfrm>
            <a:off x="3630168" y="2157984"/>
            <a:ext cx="2377440" cy="438912"/>
          </a:xfrm>
          <a:prstGeom prst="rect">
            <a:avLst/>
          </a:prstGeom>
          <a:noFill/>
          <a:ln/>
        </p:spPr>
        <p:txBody>
          <a:bodyPr wrap="square" lIns="0" tIns="0" rIns="0" bIns="0" rtlCol="0" anchor="t"/>
          <a:lstStyle/>
          <a:p>
            <a:pPr indent="0" marL="0">
              <a:buNone/>
            </a:pPr>
            <a:r>
              <a:rPr lang="en-US" sz="750" dirty="0">
                <a:solidFill>
                  <a:srgbClr val="4A5568"/>
                </a:solidFill>
              </a:rPr>
              <a:t>Nordstrom, Crate &amp; Barrel, Best Buy (2022)</a:t>
            </a:r>
            <a:endParaRPr lang="en-US" sz="750" dirty="0"/>
          </a:p>
        </p:txBody>
      </p:sp>
      <p:sp>
        <p:nvSpPr>
          <p:cNvPr id="28" name="Shape 26"/>
          <p:cNvSpPr/>
          <p:nvPr/>
        </p:nvSpPr>
        <p:spPr>
          <a:xfrm>
            <a:off x="3493008" y="2688336"/>
            <a:ext cx="73152" cy="73152"/>
          </a:xfrm>
          <a:prstGeom prst="oval">
            <a:avLst/>
          </a:prstGeom>
          <a:solidFill>
            <a:srgbClr val="2B5BAE"/>
          </a:solidFill>
          <a:ln w="12700">
            <a:solidFill>
              <a:srgbClr val="2B5BAE"/>
            </a:solidFill>
            <a:prstDash val="solid"/>
          </a:ln>
        </p:spPr>
      </p:sp>
      <p:sp>
        <p:nvSpPr>
          <p:cNvPr id="29" name="Text 27"/>
          <p:cNvSpPr/>
          <p:nvPr/>
        </p:nvSpPr>
        <p:spPr>
          <a:xfrm>
            <a:off x="3630168" y="2633472"/>
            <a:ext cx="2377440" cy="438912"/>
          </a:xfrm>
          <a:prstGeom prst="rect">
            <a:avLst/>
          </a:prstGeom>
          <a:noFill/>
          <a:ln/>
        </p:spPr>
        <p:txBody>
          <a:bodyPr wrap="square" lIns="0" tIns="0" rIns="0" bIns="0" rtlCol="0" anchor="t"/>
          <a:lstStyle/>
          <a:p>
            <a:pPr indent="0" marL="0">
              <a:buNone/>
            </a:pPr>
            <a:r>
              <a:rPr lang="en-US" sz="750" dirty="0">
                <a:solidFill>
                  <a:srgbClr val="4A5568"/>
                </a:solidFill>
              </a:rPr>
              <a:t>Showroom environment drives $1,799 Pro model</a:t>
            </a:r>
            <a:endParaRPr lang="en-US" sz="750" dirty="0"/>
          </a:p>
        </p:txBody>
      </p:sp>
      <p:sp>
        <p:nvSpPr>
          <p:cNvPr id="30" name="Shape 28"/>
          <p:cNvSpPr/>
          <p:nvPr/>
        </p:nvSpPr>
        <p:spPr>
          <a:xfrm>
            <a:off x="3493008" y="3163824"/>
            <a:ext cx="73152" cy="73152"/>
          </a:xfrm>
          <a:prstGeom prst="oval">
            <a:avLst/>
          </a:prstGeom>
          <a:solidFill>
            <a:srgbClr val="2B5BAE"/>
          </a:solidFill>
          <a:ln w="12700">
            <a:solidFill>
              <a:srgbClr val="2B5BAE"/>
            </a:solidFill>
            <a:prstDash val="solid"/>
          </a:ln>
        </p:spPr>
      </p:sp>
      <p:sp>
        <p:nvSpPr>
          <p:cNvPr id="31" name="Text 29"/>
          <p:cNvSpPr/>
          <p:nvPr/>
        </p:nvSpPr>
        <p:spPr>
          <a:xfrm>
            <a:off x="3630168" y="3108960"/>
            <a:ext cx="2377440" cy="438912"/>
          </a:xfrm>
          <a:prstGeom prst="rect">
            <a:avLst/>
          </a:prstGeom>
          <a:noFill/>
          <a:ln/>
        </p:spPr>
        <p:txBody>
          <a:bodyPr wrap="square" lIns="0" tIns="0" rIns="0" bIns="0" rtlCol="0" anchor="t"/>
          <a:lstStyle/>
          <a:p>
            <a:pPr indent="0" marL="0">
              <a:buNone/>
            </a:pPr>
            <a:r>
              <a:rPr lang="en-US" sz="750" dirty="0">
                <a:solidFill>
                  <a:srgbClr val="4A5568"/>
                </a:solidFill>
              </a:rPr>
              <a:t>Retail gross margin ~31% — offset by brand halo</a:t>
            </a:r>
            <a:endParaRPr lang="en-US" sz="750" dirty="0"/>
          </a:p>
        </p:txBody>
      </p:sp>
      <p:sp>
        <p:nvSpPr>
          <p:cNvPr id="32" name="Shape 30"/>
          <p:cNvSpPr/>
          <p:nvPr/>
        </p:nvSpPr>
        <p:spPr>
          <a:xfrm>
            <a:off x="6254496" y="1261872"/>
            <a:ext cx="2743200" cy="3291840"/>
          </a:xfrm>
          <a:prstGeom prst="rect">
            <a:avLst/>
          </a:prstGeom>
          <a:solidFill>
            <a:srgbClr val="FFFFFF"/>
          </a:solidFill>
          <a:ln w="12700">
            <a:solidFill>
              <a:srgbClr val="D0D8E4"/>
            </a:solidFill>
            <a:prstDash val="solid"/>
          </a:ln>
          <a:effectLst>
            <a:outerShdw sx="100000" sy="100000" kx="0" ky="0" algn="bl" rotWithShape="0" blurRad="50800" dist="25400" dir="8100000">
              <a:srgbClr val="000000">
                <a:alpha val="7000"/>
              </a:srgbClr>
            </a:outerShdw>
          </a:effectLst>
        </p:spPr>
      </p:sp>
      <p:sp>
        <p:nvSpPr>
          <p:cNvPr id="33" name="Shape 31"/>
          <p:cNvSpPr/>
          <p:nvPr/>
        </p:nvSpPr>
        <p:spPr>
          <a:xfrm>
            <a:off x="6254496" y="1261872"/>
            <a:ext cx="2743200" cy="457200"/>
          </a:xfrm>
          <a:prstGeom prst="rect">
            <a:avLst/>
          </a:prstGeom>
          <a:solidFill>
            <a:srgbClr val="C8A83C"/>
          </a:solidFill>
          <a:ln w="12700">
            <a:solidFill>
              <a:srgbClr val="C8A83C"/>
            </a:solidFill>
            <a:prstDash val="solid"/>
          </a:ln>
        </p:spPr>
      </p:sp>
      <p:sp>
        <p:nvSpPr>
          <p:cNvPr id="34" name="Text 32"/>
          <p:cNvSpPr/>
          <p:nvPr/>
        </p:nvSpPr>
        <p:spPr>
          <a:xfrm>
            <a:off x="6391656" y="1280160"/>
            <a:ext cx="1828800" cy="420624"/>
          </a:xfrm>
          <a:prstGeom prst="rect">
            <a:avLst/>
          </a:prstGeom>
          <a:noFill/>
          <a:ln/>
        </p:spPr>
        <p:txBody>
          <a:bodyPr wrap="square" lIns="0" tIns="0" rIns="0" bIns="0" rtlCol="0" anchor="ctr"/>
          <a:lstStyle/>
          <a:p>
            <a:pPr indent="0" marL="0">
              <a:buNone/>
            </a:pPr>
            <a:r>
              <a:rPr lang="en-US" sz="850" b="1" dirty="0">
                <a:solidFill>
                  <a:srgbClr val="FFFFFF"/>
                </a:solidFill>
              </a:rPr>
              <a:t>International</a:t>
            </a:r>
            <a:endParaRPr lang="en-US" sz="850" dirty="0"/>
          </a:p>
        </p:txBody>
      </p:sp>
      <p:sp>
        <p:nvSpPr>
          <p:cNvPr id="35" name="Text 33"/>
          <p:cNvSpPr/>
          <p:nvPr/>
        </p:nvSpPr>
        <p:spPr>
          <a:xfrm>
            <a:off x="8083296" y="1280160"/>
            <a:ext cx="777240" cy="420624"/>
          </a:xfrm>
          <a:prstGeom prst="rect">
            <a:avLst/>
          </a:prstGeom>
          <a:noFill/>
          <a:ln/>
        </p:spPr>
        <p:txBody>
          <a:bodyPr wrap="square" lIns="0" tIns="0" rIns="0" bIns="0" rtlCol="0" anchor="ctr"/>
          <a:lstStyle/>
          <a:p>
            <a:pPr algn="r" indent="0" marL="0">
              <a:buNone/>
            </a:pPr>
            <a:r>
              <a:rPr lang="en-US" sz="2000" b="1" dirty="0">
                <a:solidFill>
                  <a:srgbClr val="C8A83C"/>
                </a:solidFill>
              </a:rPr>
              <a:t>6%</a:t>
            </a:r>
            <a:endParaRPr lang="en-US" sz="2000" dirty="0"/>
          </a:p>
        </p:txBody>
      </p:sp>
      <p:sp>
        <p:nvSpPr>
          <p:cNvPr id="36" name="Text 34"/>
          <p:cNvSpPr/>
          <p:nvPr/>
        </p:nvSpPr>
        <p:spPr>
          <a:xfrm>
            <a:off x="6391656" y="1810512"/>
            <a:ext cx="2468880" cy="256032"/>
          </a:xfrm>
          <a:prstGeom prst="rect">
            <a:avLst/>
          </a:prstGeom>
          <a:noFill/>
          <a:ln/>
        </p:spPr>
        <p:txBody>
          <a:bodyPr wrap="square" lIns="0" tIns="0" rIns="0" bIns="0" rtlCol="0" anchor="ctr"/>
          <a:lstStyle/>
          <a:p>
            <a:pPr indent="0" marL="0">
              <a:buNone/>
            </a:pPr>
            <a:r>
              <a:rPr lang="en-US" sz="850" b="1" dirty="0">
                <a:solidFill>
                  <a:srgbClr val="2B5BAE"/>
                </a:solidFill>
              </a:rPr>
              <a:t>~$9M LTM</a:t>
            </a:r>
            <a:endParaRPr lang="en-US" sz="850" dirty="0"/>
          </a:p>
        </p:txBody>
      </p:sp>
      <p:sp>
        <p:nvSpPr>
          <p:cNvPr id="37" name="Shape 35"/>
          <p:cNvSpPr/>
          <p:nvPr/>
        </p:nvSpPr>
        <p:spPr>
          <a:xfrm>
            <a:off x="457200" y="2121408"/>
            <a:ext cx="8229600" cy="0"/>
          </a:xfrm>
          <a:prstGeom prst="line">
            <a:avLst/>
          </a:prstGeom>
          <a:noFill/>
          <a:ln w="9525">
            <a:solidFill>
              <a:srgbClr val="D0D8E4"/>
            </a:solidFill>
            <a:prstDash val="solid"/>
          </a:ln>
        </p:spPr>
      </p:sp>
      <p:sp>
        <p:nvSpPr>
          <p:cNvPr id="38" name="Shape 36"/>
          <p:cNvSpPr/>
          <p:nvPr/>
        </p:nvSpPr>
        <p:spPr>
          <a:xfrm>
            <a:off x="6391656" y="2212848"/>
            <a:ext cx="73152" cy="73152"/>
          </a:xfrm>
          <a:prstGeom prst="oval">
            <a:avLst/>
          </a:prstGeom>
          <a:solidFill>
            <a:srgbClr val="C8A83C"/>
          </a:solidFill>
          <a:ln w="12700">
            <a:solidFill>
              <a:srgbClr val="C8A83C"/>
            </a:solidFill>
            <a:prstDash val="solid"/>
          </a:ln>
        </p:spPr>
      </p:sp>
      <p:sp>
        <p:nvSpPr>
          <p:cNvPr id="39" name="Text 37"/>
          <p:cNvSpPr/>
          <p:nvPr/>
        </p:nvSpPr>
        <p:spPr>
          <a:xfrm>
            <a:off x="6528816" y="2157984"/>
            <a:ext cx="2377440" cy="438912"/>
          </a:xfrm>
          <a:prstGeom prst="rect">
            <a:avLst/>
          </a:prstGeom>
          <a:noFill/>
          <a:ln/>
        </p:spPr>
        <p:txBody>
          <a:bodyPr wrap="square" lIns="0" tIns="0" rIns="0" bIns="0" rtlCol="0" anchor="t"/>
          <a:lstStyle/>
          <a:p>
            <a:pPr indent="0" marL="0">
              <a:buNone/>
            </a:pPr>
            <a:r>
              <a:rPr lang="en-US" sz="750" dirty="0">
                <a:solidFill>
                  <a:srgbClr val="4A5568"/>
                </a:solidFill>
              </a:rPr>
              <a:t>UK (slumbersmart.co.uk) + Australia launched Q3 2021</a:t>
            </a:r>
            <a:endParaRPr lang="en-US" sz="750" dirty="0"/>
          </a:p>
        </p:txBody>
      </p:sp>
      <p:sp>
        <p:nvSpPr>
          <p:cNvPr id="40" name="Shape 38"/>
          <p:cNvSpPr/>
          <p:nvPr/>
        </p:nvSpPr>
        <p:spPr>
          <a:xfrm>
            <a:off x="6391656" y="2688336"/>
            <a:ext cx="73152" cy="73152"/>
          </a:xfrm>
          <a:prstGeom prst="oval">
            <a:avLst/>
          </a:prstGeom>
          <a:solidFill>
            <a:srgbClr val="C8A83C"/>
          </a:solidFill>
          <a:ln w="12700">
            <a:solidFill>
              <a:srgbClr val="C8A83C"/>
            </a:solidFill>
            <a:prstDash val="solid"/>
          </a:ln>
        </p:spPr>
      </p:sp>
      <p:sp>
        <p:nvSpPr>
          <p:cNvPr id="41" name="Text 39"/>
          <p:cNvSpPr/>
          <p:nvPr/>
        </p:nvSpPr>
        <p:spPr>
          <a:xfrm>
            <a:off x="6528816" y="2633472"/>
            <a:ext cx="2377440" cy="438912"/>
          </a:xfrm>
          <a:prstGeom prst="rect">
            <a:avLst/>
          </a:prstGeom>
          <a:noFill/>
          <a:ln/>
        </p:spPr>
        <p:txBody>
          <a:bodyPr wrap="square" lIns="0" tIns="0" rIns="0" bIns="0" rtlCol="0" anchor="t"/>
          <a:lstStyle/>
          <a:p>
            <a:pPr indent="0" marL="0">
              <a:buNone/>
            </a:pPr>
            <a:r>
              <a:rPr lang="en-US" sz="750" dirty="0">
                <a:solidFill>
                  <a:srgbClr val="4A5568"/>
                </a:solidFill>
              </a:rPr>
              <a:t>DTC-only internationally; retail TBD 2023</a:t>
            </a:r>
            <a:endParaRPr lang="en-US" sz="750" dirty="0"/>
          </a:p>
        </p:txBody>
      </p:sp>
      <p:sp>
        <p:nvSpPr>
          <p:cNvPr id="42" name="Shape 40"/>
          <p:cNvSpPr/>
          <p:nvPr/>
        </p:nvSpPr>
        <p:spPr>
          <a:xfrm>
            <a:off x="6391656" y="3163824"/>
            <a:ext cx="73152" cy="73152"/>
          </a:xfrm>
          <a:prstGeom prst="oval">
            <a:avLst/>
          </a:prstGeom>
          <a:solidFill>
            <a:srgbClr val="C8A83C"/>
          </a:solidFill>
          <a:ln w="12700">
            <a:solidFill>
              <a:srgbClr val="C8A83C"/>
            </a:solidFill>
            <a:prstDash val="solid"/>
          </a:ln>
        </p:spPr>
      </p:sp>
      <p:sp>
        <p:nvSpPr>
          <p:cNvPr id="43" name="Text 41"/>
          <p:cNvSpPr/>
          <p:nvPr/>
        </p:nvSpPr>
        <p:spPr>
          <a:xfrm>
            <a:off x="6528816" y="3108960"/>
            <a:ext cx="2377440" cy="438912"/>
          </a:xfrm>
          <a:prstGeom prst="rect">
            <a:avLst/>
          </a:prstGeom>
          <a:noFill/>
          <a:ln/>
        </p:spPr>
        <p:txBody>
          <a:bodyPr wrap="square" lIns="0" tIns="0" rIns="0" bIns="0" rtlCol="0" anchor="t"/>
          <a:lstStyle/>
          <a:p>
            <a:pPr indent="0" marL="0">
              <a:buNone/>
            </a:pPr>
            <a:r>
              <a:rPr lang="en-US" sz="750" dirty="0">
                <a:solidFill>
                  <a:srgbClr val="4A5568"/>
                </a:solidFill>
              </a:rPr>
              <a:t>Europe (DE/FR/NL) in market-entry planning</a:t>
            </a:r>
            <a:endParaRPr lang="en-US" sz="750" dirty="0"/>
          </a:p>
        </p:txBody>
      </p:sp>
      <p:sp>
        <p:nvSpPr>
          <p:cNvPr id="44" name="Shape 42"/>
          <p:cNvSpPr/>
          <p:nvPr/>
        </p:nvSpPr>
        <p:spPr>
          <a:xfrm>
            <a:off x="0" y="4892040"/>
            <a:ext cx="9144000" cy="251460"/>
          </a:xfrm>
          <a:prstGeom prst="rect">
            <a:avLst/>
          </a:prstGeom>
          <a:solidFill>
            <a:srgbClr val="F4F6FA"/>
          </a:solidFill>
          <a:ln w="12700">
            <a:solidFill>
              <a:srgbClr val="D0D8E4"/>
            </a:solidFill>
            <a:prstDash val="solid"/>
          </a:ln>
        </p:spPr>
      </p:sp>
      <p:sp>
        <p:nvSpPr>
          <p:cNvPr id="45" name="Text 43"/>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46" name="Text 44"/>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12 / 20</a:t>
            </a:r>
            <a:endParaRPr lang="en-US" sz="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GOLDMAN SACHS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SECTION IX — HISTORICAL FINANCIALS</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Historical Financial Performance</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 in millions; FY ends December 31</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261872"/>
          <a:ext cx="8229600" cy="914400"/>
        </p:xfrm>
        <a:graphic>
          <a:graphicData uri="http://schemas.openxmlformats.org/drawingml/2006/table">
            <a:tbl>
              <a:tblPr/>
              <a:tblGrid>
                <a:gridCol w="2926080"/>
                <a:gridCol w="1325880"/>
                <a:gridCol w="1325880"/>
                <a:gridCol w="1325880"/>
                <a:gridCol w="1325880"/>
              </a:tblGrid>
              <a:tr h="260604">
                <a:tc>
                  <a:txBody>
                    <a:bodyPr/>
                    <a:lstStyle/>
                    <a:p>
                      <a:pPr indent="0" marL="0">
                        <a:buNone/>
                      </a:pPr>
                      <a:r>
                        <a:rPr lang="en-US" sz="800" b="1" dirty="0">
                          <a:solidFill>
                            <a:srgbClr val="FFFFFF"/>
                          </a:solidFill>
                        </a:rPr>
                        <a:t>($M unless noted)</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FY2019</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FY2020</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FY2021</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LTM Q1'22</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r>
              <a:tr h="260604">
                <a:tc>
                  <a:txBody>
                    <a:bodyPr/>
                    <a:lstStyle/>
                    <a:p>
                      <a:pPr algn="l" indent="0" marL="0">
                        <a:buNone/>
                      </a:pPr>
                      <a:r>
                        <a:rPr lang="en-US" sz="850" b="1" dirty="0">
                          <a:solidFill>
                            <a:srgbClr val="1A1A2E"/>
                          </a:solidFill>
                        </a:rPr>
                        <a:t>Revenue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72.0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91.2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115.0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145.1</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260604">
                <a:tc>
                  <a:txBody>
                    <a:bodyPr/>
                    <a:lstStyle/>
                    <a:p>
                      <a:pPr algn="l" indent="0" marL="0">
                        <a:buNone/>
                      </a:pPr>
                      <a:r>
                        <a:rPr lang="en-US" sz="850" dirty="0">
                          <a:solidFill>
                            <a:srgbClr val="1A1A2E"/>
                          </a:solidFill>
                        </a:rPr>
                        <a:t>YoY Growth</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+26.7%</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+26.1%</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+28.3%</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60604">
                <a:tc>
                  <a:txBody>
                    <a:bodyPr/>
                    <a:lstStyle/>
                    <a:p>
                      <a:pPr algn="l" indent="0" marL="0">
                        <a:buNone/>
                      </a:pPr>
                      <a:r>
                        <a:rPr lang="en-US" sz="850" dirty="0">
                          <a:solidFill>
                            <a:srgbClr val="1A1A2E"/>
                          </a:solidFill>
                        </a:rPr>
                        <a:t>Gross Profit</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28.0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37.1</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50.0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66.0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260604">
                <a:tc>
                  <a:txBody>
                    <a:bodyPr/>
                    <a:lstStyle/>
                    <a:p>
                      <a:pPr algn="l" indent="0" marL="0">
                        <a:buNone/>
                      </a:pPr>
                      <a:r>
                        <a:rPr lang="en-US" sz="850" dirty="0">
                          <a:solidFill>
                            <a:srgbClr val="1A1A2E"/>
                          </a:solidFill>
                        </a:rPr>
                        <a:t>Gross Margin %</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38.9%</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40.7%</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43.5%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45.5%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60604">
                <a:tc>
                  <a:txBody>
                    <a:bodyPr/>
                    <a:lstStyle/>
                    <a:p>
                      <a:pPr algn="l" indent="0" marL="0">
                        <a:buNone/>
                      </a:pPr>
                      <a:r>
                        <a:rPr lang="en-US" sz="850" dirty="0">
                          <a:solidFill>
                            <a:srgbClr val="1A1A2E"/>
                          </a:solidFill>
                        </a:rPr>
                        <a:t>Sales &amp; Marketing</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16.8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19.4</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23.0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29.0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260604">
                <a:tc>
                  <a:txBody>
                    <a:bodyPr/>
                    <a:lstStyle/>
                    <a:p>
                      <a:pPr algn="l" indent="0" marL="0">
                        <a:buNone/>
                      </a:pPr>
                      <a:r>
                        <a:rPr lang="en-US" sz="850" dirty="0">
                          <a:solidFill>
                            <a:srgbClr val="1A1A2E"/>
                          </a:solidFill>
                        </a:rPr>
                        <a:t>Research &amp; Development</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8.6</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9.8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12.0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14.5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60604">
                <a:tc>
                  <a:txBody>
                    <a:bodyPr/>
                    <a:lstStyle/>
                    <a:p>
                      <a:pPr algn="l" indent="0" marL="0">
                        <a:buNone/>
                      </a:pPr>
                      <a:r>
                        <a:rPr lang="en-US" sz="850" dirty="0">
                          <a:solidFill>
                            <a:srgbClr val="1A1A2E"/>
                          </a:solidFill>
                        </a:rPr>
                        <a:t>General &amp; Administrative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5.6</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6.6</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8.2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9.8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260604">
                <a:tc>
                  <a:txBody>
                    <a:bodyPr/>
                    <a:lstStyle/>
                    <a:p>
                      <a:pPr algn="l" indent="0" marL="0">
                        <a:buNone/>
                      </a:pPr>
                      <a:r>
                        <a:rPr lang="en-US" sz="850" b="1" dirty="0">
                          <a:solidFill>
                            <a:srgbClr val="1A1A2E"/>
                          </a:solidFill>
                        </a:rPr>
                        <a:t>Adj. EBITDA</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7.5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9.8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14.2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18.0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60604">
                <a:tc>
                  <a:txBody>
                    <a:bodyPr/>
                    <a:lstStyle/>
                    <a:p>
                      <a:pPr algn="l" indent="0" marL="0">
                        <a:buNone/>
                      </a:pPr>
                      <a:r>
                        <a:rPr lang="en-US" sz="850" b="1" dirty="0">
                          <a:solidFill>
                            <a:srgbClr val="1A1A2E"/>
                          </a:solidFill>
                        </a:rPr>
                        <a:t>EBITDA Margin %</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2B5BAE"/>
                          </a:solidFill>
                        </a:rPr>
                        <a:t>10.4%</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2B5BAE"/>
                          </a:solidFill>
                        </a:rPr>
                        <a:t>10.8%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2B5BAE"/>
                          </a:solidFill>
                        </a:rPr>
                        <a:t>12.3%</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2B5BAE"/>
                          </a:solidFill>
                        </a:rPr>
                        <a:t>12.4%</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260604">
                <a:tc>
                  <a:txBody>
                    <a:bodyPr/>
                    <a:lstStyle/>
                    <a:p>
                      <a:pPr algn="l" indent="0" marL="0">
                        <a:buNone/>
                      </a:pPr>
                      <a:r>
                        <a:rPr lang="en-US" sz="850" dirty="0">
                          <a:solidFill>
                            <a:srgbClr val="1A1A2E"/>
                          </a:solidFill>
                        </a:rPr>
                        <a:t>D&amp;A</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(4.1)</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(5.0)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(6.2)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(7.8)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60604">
                <a:tc>
                  <a:txBody>
                    <a:bodyPr/>
                    <a:lstStyle/>
                    <a:p>
                      <a:pPr algn="l" indent="0" marL="0">
                        <a:buNone/>
                      </a:pPr>
                      <a:r>
                        <a:rPr lang="en-US" sz="850" dirty="0">
                          <a:solidFill>
                            <a:srgbClr val="1A1A2E"/>
                          </a:solidFill>
                        </a:rPr>
                        <a:t>EBIT</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3.4</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4.8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8.0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10.2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260604">
                <a:tc>
                  <a:txBody>
                    <a:bodyPr/>
                    <a:lstStyle/>
                    <a:p>
                      <a:pPr algn="l" indent="0" marL="0">
                        <a:buNone/>
                      </a:pPr>
                      <a:r>
                        <a:rPr lang="en-US" sz="850" dirty="0">
                          <a:solidFill>
                            <a:srgbClr val="1A1A2E"/>
                          </a:solidFill>
                        </a:rPr>
                        <a:t>Interest Expense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(2.8)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(2.6)</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(2.4)</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(2.2)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60604">
                <a:tc>
                  <a:txBody>
                    <a:bodyPr/>
                    <a:lstStyle/>
                    <a:p>
                      <a:pPr algn="l" indent="0" marL="0">
                        <a:buNone/>
                      </a:pPr>
                      <a:r>
                        <a:rPr lang="en-US" sz="850" dirty="0">
                          <a:solidFill>
                            <a:srgbClr val="1A1A2E"/>
                          </a:solidFill>
                        </a:rPr>
                        <a:t>Pre-tax Income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0.6</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2.2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5.6</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8.0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260604">
                <a:tc>
                  <a:txBody>
                    <a:bodyPr/>
                    <a:lstStyle/>
                    <a:p>
                      <a:pPr algn="l" indent="0" marL="0">
                        <a:buNone/>
                      </a:pPr>
                      <a:r>
                        <a:rPr lang="en-US" sz="850" dirty="0">
                          <a:solidFill>
                            <a:srgbClr val="1A1A2E"/>
                          </a:solidFill>
                        </a:rPr>
                        <a:t>Capex</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(5.5)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(6.2)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(7.8)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(9.0)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bl>
          </a:graphicData>
        </a:graphic>
      </p:graphicFrame>
      <p:sp>
        <p:nvSpPr>
          <p:cNvPr id="9" name="Text 6"/>
          <p:cNvSpPr/>
          <p:nvPr/>
        </p:nvSpPr>
        <p:spPr>
          <a:xfrm>
            <a:off x="457200" y="4663440"/>
            <a:ext cx="8229600" cy="164592"/>
          </a:xfrm>
          <a:prstGeom prst="rect">
            <a:avLst/>
          </a:prstGeom>
          <a:noFill/>
          <a:ln/>
        </p:spPr>
        <p:txBody>
          <a:bodyPr wrap="square" lIns="0" tIns="0" rIns="0" bIns="0" rtlCol="0" anchor="ctr"/>
          <a:lstStyle/>
          <a:p>
            <a:pPr indent="0" marL="0">
              <a:buNone/>
            </a:pPr>
            <a:r>
              <a:rPr lang="en-US" sz="650" dirty="0">
                <a:solidFill>
                  <a:srgbClr val="8898AA"/>
                </a:solidFill>
              </a:rPr>
              <a:t>Note: Adj. EBITDA excludes stock-based compensation, one-time restructuring charges, and acquisition-related expenses. D&amp;A includes software amortization.</a:t>
            </a:r>
            <a:endParaRPr lang="en-US" sz="650" dirty="0"/>
          </a:p>
        </p:txBody>
      </p:sp>
      <p:sp>
        <p:nvSpPr>
          <p:cNvPr id="10" name="Shape 7"/>
          <p:cNvSpPr/>
          <p:nvPr/>
        </p:nvSpPr>
        <p:spPr>
          <a:xfrm>
            <a:off x="0" y="4892040"/>
            <a:ext cx="9144000" cy="251460"/>
          </a:xfrm>
          <a:prstGeom prst="rect">
            <a:avLst/>
          </a:prstGeom>
          <a:solidFill>
            <a:srgbClr val="F4F6FA"/>
          </a:solidFill>
          <a:ln w="12700">
            <a:solidFill>
              <a:srgbClr val="D0D8E4"/>
            </a:solidFill>
            <a:prstDash val="solid"/>
          </a:ln>
        </p:spPr>
      </p:sp>
      <p:sp>
        <p:nvSpPr>
          <p:cNvPr id="11" name="Text 8"/>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12" name="Text 9"/>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13 / 20</a:t>
            </a:r>
            <a:endParaRPr lang="en-US" sz="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GOLDMAN SACHS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SECTION IX — HISTORICAL FINANCIALS (CONT.)</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Balance Sheet &amp; Capital Structure</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As of Q1 2022 (March 31, 2022); $ in millions</a:t>
            </a:r>
            <a:endParaRPr lang="en-US" sz="9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261872"/>
          <a:ext cx="3931920" cy="914400"/>
        </p:xfrm>
        <a:graphic>
          <a:graphicData uri="http://schemas.openxmlformats.org/drawingml/2006/table">
            <a:tbl>
              <a:tblPr/>
              <a:tblGrid>
                <a:gridCol w="2194560"/>
                <a:gridCol w="868680"/>
                <a:gridCol w="868680"/>
              </a:tblGrid>
              <a:tr h="242316">
                <a:tc>
                  <a:txBody>
                    <a:bodyPr/>
                    <a:lstStyle/>
                    <a:p>
                      <a:pPr indent="0" marL="0">
                        <a:buNone/>
                      </a:pPr>
                      <a:r>
                        <a:rPr lang="en-US" sz="800" b="1" dirty="0">
                          <a:solidFill>
                            <a:srgbClr val="FFFFFF"/>
                          </a:solidFill>
                        </a:rPr>
                        <a:t>($M)</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Q1 2022</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FY2021</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r>
              <a:tr h="242316">
                <a:tc>
                  <a:txBody>
                    <a:bodyPr/>
                    <a:lstStyle/>
                    <a:p>
                      <a:pPr indent="0" marL="0">
                        <a:buNone/>
                      </a:pPr>
                      <a:r>
                        <a:rPr lang="en-US" sz="800" b="1" dirty="0">
                          <a:solidFill>
                            <a:srgbClr val="FFFFFF"/>
                          </a:solidFill>
                        </a:rPr>
                        <a:t>ASSETS</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r>
              <a:tr h="242316">
                <a:tc>
                  <a:txBody>
                    <a:bodyPr/>
                    <a:lstStyle/>
                    <a:p>
                      <a:pPr indent="0" marL="0">
                        <a:buNone/>
                      </a:pPr>
                      <a:r>
                        <a:rPr lang="en-US" sz="800" dirty="0">
                          <a:solidFill>
                            <a:srgbClr val="1A1A2E"/>
                          </a:solidFill>
                        </a:rPr>
                        <a:t>Cash &amp; equivalents</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2E"/>
                          </a:solidFill>
                        </a:rPr>
                        <a:t>18.2</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898AA"/>
                          </a:solidFill>
                        </a:rPr>
                        <a:t>—</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42316">
                <a:tc>
                  <a:txBody>
                    <a:bodyPr/>
                    <a:lstStyle/>
                    <a:p>
                      <a:pPr indent="0" marL="0">
                        <a:buNone/>
                      </a:pPr>
                      <a:r>
                        <a:rPr lang="en-US" sz="800" dirty="0">
                          <a:solidFill>
                            <a:srgbClr val="1A1A2E"/>
                          </a:solidFill>
                        </a:rPr>
                        <a:t>Accounts receivable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1A1A2E"/>
                          </a:solidFill>
                        </a:rPr>
                        <a:t>22.4</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8898AA"/>
                          </a:solidFill>
                        </a:rPr>
                        <a:t>—</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242316">
                <a:tc>
                  <a:txBody>
                    <a:bodyPr/>
                    <a:lstStyle/>
                    <a:p>
                      <a:pPr indent="0" marL="0">
                        <a:buNone/>
                      </a:pPr>
                      <a:r>
                        <a:rPr lang="en-US" sz="800" dirty="0">
                          <a:solidFill>
                            <a:srgbClr val="1A1A2E"/>
                          </a:solidFill>
                        </a:rPr>
                        <a:t>Inventory</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2E"/>
                          </a:solidFill>
                        </a:rPr>
                        <a:t>31.5</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898AA"/>
                          </a:solidFill>
                        </a:rPr>
                        <a:t>—</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42316">
                <a:tc>
                  <a:txBody>
                    <a:bodyPr/>
                    <a:lstStyle/>
                    <a:p>
                      <a:pPr indent="0" marL="0">
                        <a:buNone/>
                      </a:pPr>
                      <a:r>
                        <a:rPr lang="en-US" sz="800" dirty="0">
                          <a:solidFill>
                            <a:srgbClr val="1A1A2E"/>
                          </a:solidFill>
                        </a:rPr>
                        <a:t>Total Current Assets</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1A1A2E"/>
                          </a:solidFill>
                        </a:rPr>
                        <a:t>72.1</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8898AA"/>
                          </a:solidFill>
                        </a:rPr>
                        <a:t>—</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242316">
                <a:tc>
                  <a:txBody>
                    <a:bodyPr/>
                    <a:lstStyle/>
                    <a:p>
                      <a:pPr indent="0" marL="0">
                        <a:buNone/>
                      </a:pPr>
                      <a:r>
                        <a:rPr lang="en-US" sz="800" dirty="0">
                          <a:solidFill>
                            <a:srgbClr val="1A1A2E"/>
                          </a:solidFill>
                        </a:rPr>
                        <a:t>PP&amp;E, net</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2E"/>
                          </a:solidFill>
                        </a:rPr>
                        <a:t>28.6</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898AA"/>
                          </a:solidFill>
                        </a:rPr>
                        <a:t>—</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42316">
                <a:tc>
                  <a:txBody>
                    <a:bodyPr/>
                    <a:lstStyle/>
                    <a:p>
                      <a:pPr indent="0" marL="0">
                        <a:buNone/>
                      </a:pPr>
                      <a:r>
                        <a:rPr lang="en-US" sz="800" dirty="0">
                          <a:solidFill>
                            <a:srgbClr val="1A1A2E"/>
                          </a:solidFill>
                        </a:rPr>
                        <a:t>Intangibles &amp; IP</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1A1A2E"/>
                          </a:solidFill>
                        </a:rPr>
                        <a:t>12.4</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8898AA"/>
                          </a:solidFill>
                        </a:rPr>
                        <a:t>—</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242316">
                <a:tc>
                  <a:txBody>
                    <a:bodyPr/>
                    <a:lstStyle/>
                    <a:p>
                      <a:pPr indent="0" marL="0">
                        <a:buNone/>
                      </a:pPr>
                      <a:r>
                        <a:rPr lang="en-US" sz="800" dirty="0">
                          <a:solidFill>
                            <a:srgbClr val="1A1A2E"/>
                          </a:solidFill>
                        </a:rPr>
                        <a:t>Total Assets</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2E"/>
                          </a:solidFill>
                        </a:rPr>
                        <a:t>113.1</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898AA"/>
                          </a:solidFill>
                        </a:rPr>
                        <a:t>—</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42316">
                <a:tc>
                  <a:txBody>
                    <a:bodyPr/>
                    <a:lstStyle/>
                    <a:p>
                      <a:pPr indent="0" marL="0">
                        <a:buNone/>
                      </a:pPr>
                      <a:r>
                        <a:rPr lang="en-US" sz="800" b="1" dirty="0">
                          <a:solidFill>
                            <a:srgbClr val="FFFFFF"/>
                          </a:solidFill>
                        </a:rPr>
                        <a:t>LIABILITIES</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r>
              <a:tr h="242316">
                <a:tc>
                  <a:txBody>
                    <a:bodyPr/>
                    <a:lstStyle/>
                    <a:p>
                      <a:pPr indent="0" marL="0">
                        <a:buNone/>
                      </a:pPr>
                      <a:r>
                        <a:rPr lang="en-US" sz="800" dirty="0">
                          <a:solidFill>
                            <a:srgbClr val="1A1A2E"/>
                          </a:solidFill>
                        </a:rPr>
                        <a:t>Accounts payable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2E"/>
                          </a:solidFill>
                        </a:rPr>
                        <a:t>18.5</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898AA"/>
                          </a:solidFill>
                        </a:rPr>
                        <a:t>—</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42316">
                <a:tc>
                  <a:txBody>
                    <a:bodyPr/>
                    <a:lstStyle/>
                    <a:p>
                      <a:pPr indent="0" marL="0">
                        <a:buNone/>
                      </a:pPr>
                      <a:r>
                        <a:rPr lang="en-US" sz="800" dirty="0">
                          <a:solidFill>
                            <a:srgbClr val="1A1A2E"/>
                          </a:solidFill>
                        </a:rPr>
                        <a:t>Accrued liabilities</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1A1A2E"/>
                          </a:solidFill>
                        </a:rPr>
                        <a:t>9.2</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8898AA"/>
                          </a:solidFill>
                        </a:rPr>
                        <a:t>—</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242316">
                <a:tc>
                  <a:txBody>
                    <a:bodyPr/>
                    <a:lstStyle/>
                    <a:p>
                      <a:pPr indent="0" marL="0">
                        <a:buNone/>
                      </a:pPr>
                      <a:r>
                        <a:rPr lang="en-US" sz="800" dirty="0">
                          <a:solidFill>
                            <a:srgbClr val="1A1A2E"/>
                          </a:solidFill>
                        </a:rPr>
                        <a:t>Total Debt</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2E"/>
                          </a:solidFill>
                        </a:rPr>
                        <a:t>65.0</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898AA"/>
                          </a:solidFill>
                        </a:rPr>
                        <a:t>—</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242316">
                <a:tc>
                  <a:txBody>
                    <a:bodyPr/>
                    <a:lstStyle/>
                    <a:p>
                      <a:pPr indent="0" marL="0">
                        <a:buNone/>
                      </a:pPr>
                      <a:r>
                        <a:rPr lang="en-US" sz="800" dirty="0">
                          <a:solidFill>
                            <a:srgbClr val="1A1A2E"/>
                          </a:solidFill>
                        </a:rPr>
                        <a:t>Total Liabilities</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1A1A2E"/>
                          </a:solidFill>
                        </a:rPr>
                        <a:t>92.7</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8898AA"/>
                          </a:solidFill>
                        </a:rPr>
                        <a:t>—</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242316">
                <a:tc>
                  <a:txBody>
                    <a:bodyPr/>
                    <a:lstStyle/>
                    <a:p>
                      <a:pPr indent="0" marL="0">
                        <a:buNone/>
                      </a:pPr>
                      <a:r>
                        <a:rPr lang="en-US" sz="800" b="1" dirty="0">
                          <a:solidFill>
                            <a:srgbClr val="FFFFFF"/>
                          </a:solidFill>
                        </a:rPr>
                        <a:t>Total Equity</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dirty="0">
                          <a:solidFill>
                            <a:srgbClr val="FFFFFF"/>
                          </a:solidFill>
                        </a:rPr>
                        <a:t>20.4</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dirty="0">
                          <a:solidFill>
                            <a:srgbClr val="FFFFFF"/>
                          </a:solidFill>
                        </a:rPr>
                        <a:t>—</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r>
            </a:tbl>
          </a:graphicData>
        </a:graphic>
      </p:graphicFrame>
      <p:sp>
        <p:nvSpPr>
          <p:cNvPr id="9" name="Text 6"/>
          <p:cNvSpPr/>
          <p:nvPr/>
        </p:nvSpPr>
        <p:spPr>
          <a:xfrm>
            <a:off x="4663440" y="1261872"/>
            <a:ext cx="4023360" cy="320040"/>
          </a:xfrm>
          <a:prstGeom prst="rect">
            <a:avLst/>
          </a:prstGeom>
          <a:noFill/>
          <a:ln/>
        </p:spPr>
        <p:txBody>
          <a:bodyPr wrap="square" lIns="0" tIns="0" rIns="0" bIns="0" rtlCol="0" anchor="ctr"/>
          <a:lstStyle/>
          <a:p>
            <a:pPr indent="0" marL="0">
              <a:buNone/>
            </a:pPr>
            <a:r>
              <a:rPr lang="en-US" sz="1100" b="1" dirty="0">
                <a:solidFill>
                  <a:srgbClr val="1B2D55"/>
                </a:solidFill>
              </a:rPr>
              <a:t>Capital Structure</a:t>
            </a:r>
            <a:endParaRPr lang="en-US" sz="110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4663440" y="1627632"/>
          <a:ext cx="4023360" cy="914400"/>
        </p:xfrm>
        <a:graphic>
          <a:graphicData uri="http://schemas.openxmlformats.org/drawingml/2006/table">
            <a:tbl>
              <a:tblPr/>
              <a:tblGrid>
                <a:gridCol w="1828800"/>
                <a:gridCol w="640080"/>
                <a:gridCol w="731520"/>
                <a:gridCol w="822960"/>
              </a:tblGrid>
              <a:tr h="347472">
                <a:tc>
                  <a:txBody>
                    <a:bodyPr/>
                    <a:lstStyle/>
                    <a:p>
                      <a:pPr indent="0" marL="0">
                        <a:buNone/>
                      </a:pPr>
                      <a:r>
                        <a:rPr lang="en-US" sz="800" b="1" dirty="0">
                          <a:solidFill>
                            <a:srgbClr val="FFFFFF"/>
                          </a:solidFill>
                        </a:rPr>
                        <a:t>Instrument</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Maturity</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Balance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Leverage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r>
              <a:tr h="347472">
                <a:tc>
                  <a:txBody>
                    <a:bodyPr/>
                    <a:lstStyle/>
                    <a:p>
                      <a:pPr algn="l" indent="0" marL="0">
                        <a:buNone/>
                      </a:pPr>
                      <a:r>
                        <a:rPr lang="en-US" sz="800" dirty="0">
                          <a:solidFill>
                            <a:srgbClr val="000000"/>
                          </a:solidFill>
                        </a:rPr>
                        <a:t>Senior Secured TL (LIBOR+350)</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2026</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$45.0M</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000000"/>
                          </a:solidFill>
                        </a:rPr>
                        <a:t>2.9x LTM EBITDA</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47472">
                <a:tc>
                  <a:txBody>
                    <a:bodyPr/>
                    <a:lstStyle/>
                    <a:p>
                      <a:pPr algn="l" indent="0" marL="0">
                        <a:buNone/>
                      </a:pPr>
                      <a:r>
                        <a:rPr lang="en-US" sz="800" dirty="0">
                          <a:solidFill>
                            <a:srgbClr val="000000"/>
                          </a:solidFill>
                        </a:rPr>
                        <a:t>2nd Lien Term Loan</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000000"/>
                          </a:solidFill>
                        </a:rPr>
                        <a:t>2027</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000000"/>
                          </a:solidFill>
                        </a:rPr>
                        <a:t>$20.0M</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000000"/>
                          </a:solidFill>
                        </a:rPr>
                        <a:t>4.2x total</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47472">
                <a:tc>
                  <a:txBody>
                    <a:bodyPr/>
                    <a:lstStyle/>
                    <a:p>
                      <a:pPr algn="l" indent="0" marL="0">
                        <a:buNone/>
                      </a:pPr>
                      <a:r>
                        <a:rPr lang="en-US" sz="800" b="1" dirty="0">
                          <a:solidFill>
                            <a:srgbClr val="000000"/>
                          </a:solidFill>
                        </a:rPr>
                        <a:t>Total Debt</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b="1" dirty="0">
                          <a:solidFill>
                            <a:srgbClr val="000000"/>
                          </a:solidFill>
                        </a:rPr>
                        <a:t>$65.0M</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47472">
                <a:tc>
                  <a:txBody>
                    <a:bodyPr/>
                    <a:lstStyle/>
                    <a:p>
                      <a:pPr algn="l" indent="0" marL="0">
                        <a:buNone/>
                      </a:pPr>
                      <a:r>
                        <a:rPr lang="en-US" sz="800" b="1" dirty="0">
                          <a:solidFill>
                            <a:srgbClr val="000000"/>
                          </a:solidFill>
                        </a:rPr>
                        <a:t>(-) Cash</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b="1" dirty="0">
                          <a:solidFill>
                            <a:srgbClr val="000000"/>
                          </a:solidFill>
                        </a:rPr>
                        <a:t>($18.2M)</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47472">
                <a:tc>
                  <a:txBody>
                    <a:bodyPr/>
                    <a:lstStyle/>
                    <a:p>
                      <a:pPr algn="l" indent="0" marL="0">
                        <a:buNone/>
                      </a:pPr>
                      <a:r>
                        <a:rPr lang="en-US" sz="800" b="1" dirty="0">
                          <a:solidFill>
                            <a:srgbClr val="000000"/>
                          </a:solidFill>
                        </a:rPr>
                        <a:t>Net Debt</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b="1" dirty="0">
                          <a:solidFill>
                            <a:srgbClr val="000000"/>
                          </a:solidFill>
                        </a:rPr>
                        <a:t>$46.8M</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b="1" dirty="0">
                          <a:solidFill>
                            <a:srgbClr val="000000"/>
                          </a:solidFill>
                        </a:rPr>
                        <a:t>3.0x net leverage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bl>
          </a:graphicData>
        </a:graphic>
      </p:graphicFrame>
      <p:sp>
        <p:nvSpPr>
          <p:cNvPr id="11" name="Text 7"/>
          <p:cNvSpPr/>
          <p:nvPr/>
        </p:nvSpPr>
        <p:spPr>
          <a:xfrm>
            <a:off x="4663440" y="3337560"/>
            <a:ext cx="4023360" cy="274320"/>
          </a:xfrm>
          <a:prstGeom prst="rect">
            <a:avLst/>
          </a:prstGeom>
          <a:noFill/>
          <a:ln/>
        </p:spPr>
        <p:txBody>
          <a:bodyPr wrap="square" lIns="0" tIns="0" rIns="0" bIns="0" rtlCol="0" anchor="ctr"/>
          <a:lstStyle/>
          <a:p>
            <a:pPr indent="0" marL="0">
              <a:buNone/>
            </a:pPr>
            <a:r>
              <a:rPr lang="en-US" sz="1100" b="1" dirty="0">
                <a:solidFill>
                  <a:srgbClr val="1B2D55"/>
                </a:solidFill>
              </a:rPr>
              <a:t>Transaction Consideration</a:t>
            </a:r>
            <a:endParaRPr lang="en-US" sz="1100" dirty="0"/>
          </a:p>
        </p:txBody>
      </p:sp>
      <p:sp>
        <p:nvSpPr>
          <p:cNvPr id="12" name="Shape 8"/>
          <p:cNvSpPr/>
          <p:nvPr/>
        </p:nvSpPr>
        <p:spPr>
          <a:xfrm>
            <a:off x="4663440" y="3657600"/>
            <a:ext cx="4023360" cy="329184"/>
          </a:xfrm>
          <a:prstGeom prst="rect">
            <a:avLst/>
          </a:prstGeom>
          <a:solidFill>
            <a:srgbClr val="F4F6FA"/>
          </a:solidFill>
          <a:ln w="12700">
            <a:solidFill>
              <a:srgbClr val="D0D8E4"/>
            </a:solidFill>
            <a:prstDash val="solid"/>
          </a:ln>
        </p:spPr>
      </p:sp>
      <p:sp>
        <p:nvSpPr>
          <p:cNvPr id="13" name="Text 9"/>
          <p:cNvSpPr/>
          <p:nvPr/>
        </p:nvSpPr>
        <p:spPr>
          <a:xfrm>
            <a:off x="4800600" y="3721608"/>
            <a:ext cx="2560320" cy="201168"/>
          </a:xfrm>
          <a:prstGeom prst="rect">
            <a:avLst/>
          </a:prstGeom>
          <a:noFill/>
          <a:ln/>
        </p:spPr>
        <p:txBody>
          <a:bodyPr wrap="square" lIns="0" tIns="0" rIns="0" bIns="0" rtlCol="0" anchor="ctr"/>
          <a:lstStyle/>
          <a:p>
            <a:pPr indent="0" marL="0">
              <a:buNone/>
            </a:pPr>
            <a:r>
              <a:rPr lang="en-US" sz="850" dirty="0">
                <a:solidFill>
                  <a:srgbClr val="4A5568"/>
                </a:solidFill>
              </a:rPr>
              <a:t>Enterprise Value (guidance)</a:t>
            </a:r>
            <a:endParaRPr lang="en-US" sz="850" dirty="0"/>
          </a:p>
        </p:txBody>
      </p:sp>
      <p:sp>
        <p:nvSpPr>
          <p:cNvPr id="14" name="Text 10"/>
          <p:cNvSpPr/>
          <p:nvPr/>
        </p:nvSpPr>
        <p:spPr>
          <a:xfrm>
            <a:off x="7315200" y="3721608"/>
            <a:ext cx="1234440" cy="201168"/>
          </a:xfrm>
          <a:prstGeom prst="rect">
            <a:avLst/>
          </a:prstGeom>
          <a:noFill/>
          <a:ln/>
        </p:spPr>
        <p:txBody>
          <a:bodyPr wrap="square" lIns="0" tIns="0" rIns="0" bIns="0" rtlCol="0" anchor="ctr"/>
          <a:lstStyle/>
          <a:p>
            <a:pPr algn="r" indent="0" marL="0">
              <a:buNone/>
            </a:pPr>
            <a:r>
              <a:rPr lang="en-US" sz="900" b="1" dirty="0">
                <a:solidFill>
                  <a:srgbClr val="1B2D55"/>
                </a:solidFill>
              </a:rPr>
              <a:t>~$200M</a:t>
            </a:r>
            <a:endParaRPr lang="en-US" sz="900" dirty="0"/>
          </a:p>
        </p:txBody>
      </p:sp>
      <p:sp>
        <p:nvSpPr>
          <p:cNvPr id="15" name="Shape 11"/>
          <p:cNvSpPr/>
          <p:nvPr/>
        </p:nvSpPr>
        <p:spPr>
          <a:xfrm>
            <a:off x="4663440" y="4005072"/>
            <a:ext cx="4023360" cy="329184"/>
          </a:xfrm>
          <a:prstGeom prst="rect">
            <a:avLst/>
          </a:prstGeom>
          <a:solidFill>
            <a:srgbClr val="FFFFFF"/>
          </a:solidFill>
          <a:ln w="12700">
            <a:solidFill>
              <a:srgbClr val="D0D8E4"/>
            </a:solidFill>
            <a:prstDash val="solid"/>
          </a:ln>
        </p:spPr>
      </p:sp>
      <p:sp>
        <p:nvSpPr>
          <p:cNvPr id="16" name="Text 12"/>
          <p:cNvSpPr/>
          <p:nvPr/>
        </p:nvSpPr>
        <p:spPr>
          <a:xfrm>
            <a:off x="4800600" y="4069080"/>
            <a:ext cx="2560320" cy="201168"/>
          </a:xfrm>
          <a:prstGeom prst="rect">
            <a:avLst/>
          </a:prstGeom>
          <a:noFill/>
          <a:ln/>
        </p:spPr>
        <p:txBody>
          <a:bodyPr wrap="square" lIns="0" tIns="0" rIns="0" bIns="0" rtlCol="0" anchor="ctr"/>
          <a:lstStyle/>
          <a:p>
            <a:pPr indent="0" marL="0">
              <a:buNone/>
            </a:pPr>
            <a:r>
              <a:rPr lang="en-US" sz="850" dirty="0">
                <a:solidFill>
                  <a:srgbClr val="4A5568"/>
                </a:solidFill>
              </a:rPr>
              <a:t>Revenue Multiple (LTM)</a:t>
            </a:r>
            <a:endParaRPr lang="en-US" sz="850" dirty="0"/>
          </a:p>
        </p:txBody>
      </p:sp>
      <p:sp>
        <p:nvSpPr>
          <p:cNvPr id="17" name="Text 13"/>
          <p:cNvSpPr/>
          <p:nvPr/>
        </p:nvSpPr>
        <p:spPr>
          <a:xfrm>
            <a:off x="7315200" y="4069080"/>
            <a:ext cx="1234440" cy="201168"/>
          </a:xfrm>
          <a:prstGeom prst="rect">
            <a:avLst/>
          </a:prstGeom>
          <a:noFill/>
          <a:ln/>
        </p:spPr>
        <p:txBody>
          <a:bodyPr wrap="square" lIns="0" tIns="0" rIns="0" bIns="0" rtlCol="0" anchor="ctr"/>
          <a:lstStyle/>
          <a:p>
            <a:pPr algn="r" indent="0" marL="0">
              <a:buNone/>
            </a:pPr>
            <a:r>
              <a:rPr lang="en-US" sz="900" b="1" dirty="0">
                <a:solidFill>
                  <a:srgbClr val="1B2D55"/>
                </a:solidFill>
              </a:rPr>
              <a:t>1.4x</a:t>
            </a:r>
            <a:endParaRPr lang="en-US" sz="900" dirty="0"/>
          </a:p>
        </p:txBody>
      </p:sp>
      <p:sp>
        <p:nvSpPr>
          <p:cNvPr id="18" name="Shape 14"/>
          <p:cNvSpPr/>
          <p:nvPr/>
        </p:nvSpPr>
        <p:spPr>
          <a:xfrm>
            <a:off x="4663440" y="4352544"/>
            <a:ext cx="4023360" cy="329184"/>
          </a:xfrm>
          <a:prstGeom prst="rect">
            <a:avLst/>
          </a:prstGeom>
          <a:solidFill>
            <a:srgbClr val="F4F6FA"/>
          </a:solidFill>
          <a:ln w="12700">
            <a:solidFill>
              <a:srgbClr val="D0D8E4"/>
            </a:solidFill>
            <a:prstDash val="solid"/>
          </a:ln>
        </p:spPr>
      </p:sp>
      <p:sp>
        <p:nvSpPr>
          <p:cNvPr id="19" name="Text 15"/>
          <p:cNvSpPr/>
          <p:nvPr/>
        </p:nvSpPr>
        <p:spPr>
          <a:xfrm>
            <a:off x="4800600" y="4416552"/>
            <a:ext cx="2560320" cy="201168"/>
          </a:xfrm>
          <a:prstGeom prst="rect">
            <a:avLst/>
          </a:prstGeom>
          <a:noFill/>
          <a:ln/>
        </p:spPr>
        <p:txBody>
          <a:bodyPr wrap="square" lIns="0" tIns="0" rIns="0" bIns="0" rtlCol="0" anchor="ctr"/>
          <a:lstStyle/>
          <a:p>
            <a:pPr indent="0" marL="0">
              <a:buNone/>
            </a:pPr>
            <a:r>
              <a:rPr lang="en-US" sz="850" dirty="0">
                <a:solidFill>
                  <a:srgbClr val="4A5568"/>
                </a:solidFill>
              </a:rPr>
              <a:t>EBITDA Multiple (LTM)</a:t>
            </a:r>
            <a:endParaRPr lang="en-US" sz="850" dirty="0"/>
          </a:p>
        </p:txBody>
      </p:sp>
      <p:sp>
        <p:nvSpPr>
          <p:cNvPr id="20" name="Text 16"/>
          <p:cNvSpPr/>
          <p:nvPr/>
        </p:nvSpPr>
        <p:spPr>
          <a:xfrm>
            <a:off x="7315200" y="4416552"/>
            <a:ext cx="1234440" cy="201168"/>
          </a:xfrm>
          <a:prstGeom prst="rect">
            <a:avLst/>
          </a:prstGeom>
          <a:noFill/>
          <a:ln/>
        </p:spPr>
        <p:txBody>
          <a:bodyPr wrap="square" lIns="0" tIns="0" rIns="0" bIns="0" rtlCol="0" anchor="ctr"/>
          <a:lstStyle/>
          <a:p>
            <a:pPr algn="r" indent="0" marL="0">
              <a:buNone/>
            </a:pPr>
            <a:r>
              <a:rPr lang="en-US" sz="900" b="1" dirty="0">
                <a:solidFill>
                  <a:srgbClr val="1B2D55"/>
                </a:solidFill>
              </a:rPr>
              <a:t>11.1x</a:t>
            </a:r>
            <a:endParaRPr lang="en-US" sz="900" dirty="0"/>
          </a:p>
        </p:txBody>
      </p:sp>
      <p:sp>
        <p:nvSpPr>
          <p:cNvPr id="21" name="Shape 17"/>
          <p:cNvSpPr/>
          <p:nvPr/>
        </p:nvSpPr>
        <p:spPr>
          <a:xfrm>
            <a:off x="4663440" y="4700016"/>
            <a:ext cx="4023360" cy="329184"/>
          </a:xfrm>
          <a:prstGeom prst="rect">
            <a:avLst/>
          </a:prstGeom>
          <a:solidFill>
            <a:srgbClr val="FFFFFF"/>
          </a:solidFill>
          <a:ln w="12700">
            <a:solidFill>
              <a:srgbClr val="D0D8E4"/>
            </a:solidFill>
            <a:prstDash val="solid"/>
          </a:ln>
        </p:spPr>
      </p:sp>
      <p:sp>
        <p:nvSpPr>
          <p:cNvPr id="22" name="Text 18"/>
          <p:cNvSpPr/>
          <p:nvPr/>
        </p:nvSpPr>
        <p:spPr>
          <a:xfrm>
            <a:off x="4800600" y="4764024"/>
            <a:ext cx="2560320" cy="201168"/>
          </a:xfrm>
          <a:prstGeom prst="rect">
            <a:avLst/>
          </a:prstGeom>
          <a:noFill/>
          <a:ln/>
        </p:spPr>
        <p:txBody>
          <a:bodyPr wrap="square" lIns="0" tIns="0" rIns="0" bIns="0" rtlCol="0" anchor="ctr"/>
          <a:lstStyle/>
          <a:p>
            <a:pPr indent="0" marL="0">
              <a:buNone/>
            </a:pPr>
            <a:r>
              <a:rPr lang="en-US" sz="850" dirty="0">
                <a:solidFill>
                  <a:srgbClr val="4A5568"/>
                </a:solidFill>
              </a:rPr>
              <a:t>Equity Value (est.)</a:t>
            </a:r>
            <a:endParaRPr lang="en-US" sz="850" dirty="0"/>
          </a:p>
        </p:txBody>
      </p:sp>
      <p:sp>
        <p:nvSpPr>
          <p:cNvPr id="23" name="Text 19"/>
          <p:cNvSpPr/>
          <p:nvPr/>
        </p:nvSpPr>
        <p:spPr>
          <a:xfrm>
            <a:off x="7315200" y="4764024"/>
            <a:ext cx="1234440" cy="201168"/>
          </a:xfrm>
          <a:prstGeom prst="rect">
            <a:avLst/>
          </a:prstGeom>
          <a:noFill/>
          <a:ln/>
        </p:spPr>
        <p:txBody>
          <a:bodyPr wrap="square" lIns="0" tIns="0" rIns="0" bIns="0" rtlCol="0" anchor="ctr"/>
          <a:lstStyle/>
          <a:p>
            <a:pPr algn="r" indent="0" marL="0">
              <a:buNone/>
            </a:pPr>
            <a:r>
              <a:rPr lang="en-US" sz="900" b="1" dirty="0">
                <a:solidFill>
                  <a:srgbClr val="1B2D55"/>
                </a:solidFill>
              </a:rPr>
              <a:t>~$135M</a:t>
            </a:r>
            <a:endParaRPr lang="en-US" sz="900" dirty="0"/>
          </a:p>
        </p:txBody>
      </p:sp>
      <p:sp>
        <p:nvSpPr>
          <p:cNvPr id="24" name="Shape 20"/>
          <p:cNvSpPr/>
          <p:nvPr/>
        </p:nvSpPr>
        <p:spPr>
          <a:xfrm>
            <a:off x="0" y="4892040"/>
            <a:ext cx="9144000" cy="251460"/>
          </a:xfrm>
          <a:prstGeom prst="rect">
            <a:avLst/>
          </a:prstGeom>
          <a:solidFill>
            <a:srgbClr val="F4F6FA"/>
          </a:solidFill>
          <a:ln w="12700">
            <a:solidFill>
              <a:srgbClr val="D0D8E4"/>
            </a:solidFill>
            <a:prstDash val="solid"/>
          </a:ln>
        </p:spPr>
      </p:sp>
      <p:sp>
        <p:nvSpPr>
          <p:cNvPr id="25" name="Text 21"/>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26" name="Text 22"/>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14 / 20</a:t>
            </a:r>
            <a:endParaRPr lang="en-US" sz="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GOLDMAN SACHS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SECTION X — MANAGEMENT PROJECTIONS</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Financial Projections</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Management case; $ in millions — FY2022E through FY2026E</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261872"/>
          <a:ext cx="8229600" cy="914400"/>
        </p:xfrm>
        <a:graphic>
          <a:graphicData uri="http://schemas.openxmlformats.org/drawingml/2006/table">
            <a:tbl>
              <a:tblPr/>
              <a:tblGrid>
                <a:gridCol w="2560320"/>
                <a:gridCol w="1133856"/>
                <a:gridCol w="1133856"/>
                <a:gridCol w="1133856"/>
                <a:gridCol w="1133856"/>
                <a:gridCol w="1133856"/>
              </a:tblGrid>
              <a:tr h="310896">
                <a:tc>
                  <a:txBody>
                    <a:bodyPr/>
                    <a:lstStyle/>
                    <a:p>
                      <a:pPr indent="0" marL="0">
                        <a:buNone/>
                      </a:pPr>
                      <a:r>
                        <a:rPr lang="en-US" sz="800" b="1" dirty="0">
                          <a:solidFill>
                            <a:srgbClr val="FFFFFF"/>
                          </a:solidFill>
                        </a:rPr>
                        <a:t>($M unless noted)</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1B2D55"/>
                          </a:solidFill>
                        </a:rPr>
                        <a:t>FY2022E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C8A83C"/>
                    </a:solidFill>
                  </a:tcPr>
                </a:tc>
                <a:tc>
                  <a:txBody>
                    <a:bodyPr/>
                    <a:lstStyle/>
                    <a:p>
                      <a:pPr algn="ctr" indent="0" marL="0">
                        <a:buNone/>
                      </a:pPr>
                      <a:r>
                        <a:rPr lang="en-US" sz="800" b="1" dirty="0">
                          <a:solidFill>
                            <a:srgbClr val="1B2D55"/>
                          </a:solidFill>
                        </a:rPr>
                        <a:t>FY2023E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C8A83C"/>
                    </a:solidFill>
                  </a:tcPr>
                </a:tc>
                <a:tc>
                  <a:txBody>
                    <a:bodyPr/>
                    <a:lstStyle/>
                    <a:p>
                      <a:pPr algn="ctr" indent="0" marL="0">
                        <a:buNone/>
                      </a:pPr>
                      <a:r>
                        <a:rPr lang="en-US" sz="800" b="1" dirty="0">
                          <a:solidFill>
                            <a:srgbClr val="1B2D55"/>
                          </a:solidFill>
                        </a:rPr>
                        <a:t>FY2024E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C8A83C"/>
                    </a:solidFill>
                  </a:tcPr>
                </a:tc>
                <a:tc>
                  <a:txBody>
                    <a:bodyPr/>
                    <a:lstStyle/>
                    <a:p>
                      <a:pPr algn="ctr" indent="0" marL="0">
                        <a:buNone/>
                      </a:pPr>
                      <a:r>
                        <a:rPr lang="en-US" sz="800" b="1" dirty="0">
                          <a:solidFill>
                            <a:srgbClr val="1B2D55"/>
                          </a:solidFill>
                        </a:rPr>
                        <a:t>FY2025E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C8A83C"/>
                    </a:solidFill>
                  </a:tcPr>
                </a:tc>
                <a:tc>
                  <a:txBody>
                    <a:bodyPr/>
                    <a:lstStyle/>
                    <a:p>
                      <a:pPr algn="ctr" indent="0" marL="0">
                        <a:buNone/>
                      </a:pPr>
                      <a:r>
                        <a:rPr lang="en-US" sz="800" b="1" dirty="0">
                          <a:solidFill>
                            <a:srgbClr val="1B2D55"/>
                          </a:solidFill>
                        </a:rPr>
                        <a:t>FY2026E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C8A83C"/>
                    </a:solidFill>
                  </a:tcPr>
                </a:tc>
              </a:tr>
              <a:tr h="310896">
                <a:tc>
                  <a:txBody>
                    <a:bodyPr/>
                    <a:lstStyle/>
                    <a:p>
                      <a:pPr algn="l" indent="0" marL="0">
                        <a:buNone/>
                      </a:pPr>
                      <a:r>
                        <a:rPr lang="en-US" sz="850" b="1" dirty="0">
                          <a:solidFill>
                            <a:srgbClr val="1A1A2E"/>
                          </a:solidFill>
                        </a:rPr>
                        <a:t>Revenue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175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213</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253</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295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340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10896">
                <a:tc>
                  <a:txBody>
                    <a:bodyPr/>
                    <a:lstStyle/>
                    <a:p>
                      <a:pPr algn="l" indent="0" marL="0">
                        <a:buNone/>
                      </a:pPr>
                      <a:r>
                        <a:rPr lang="en-US" sz="850" dirty="0">
                          <a:solidFill>
                            <a:srgbClr val="1A1A2E"/>
                          </a:solidFill>
                        </a:rPr>
                        <a:t>YoY Growth</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+21%E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+22%E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+19%E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+17%E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+15%E</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10896">
                <a:tc>
                  <a:txBody>
                    <a:bodyPr/>
                    <a:lstStyle/>
                    <a:p>
                      <a:pPr algn="l" indent="0" marL="0">
                        <a:buNone/>
                      </a:pPr>
                      <a:r>
                        <a:rPr lang="en-US" sz="850" dirty="0">
                          <a:solidFill>
                            <a:srgbClr val="1A1A2E"/>
                          </a:solidFill>
                        </a:rPr>
                        <a:t>Gross Profit</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81</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101</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124</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148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176</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10896">
                <a:tc>
                  <a:txBody>
                    <a:bodyPr/>
                    <a:lstStyle/>
                    <a:p>
                      <a:pPr algn="l" indent="0" marL="0">
                        <a:buNone/>
                      </a:pPr>
                      <a:r>
                        <a:rPr lang="en-US" sz="850" dirty="0">
                          <a:solidFill>
                            <a:srgbClr val="1A1A2E"/>
                          </a:solidFill>
                        </a:rPr>
                        <a:t>Gross Margin %</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46.3%</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47.4%</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49.0%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50.2%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51.8%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10896">
                <a:tc>
                  <a:txBody>
                    <a:bodyPr/>
                    <a:lstStyle/>
                    <a:p>
                      <a:pPr algn="l" indent="0" marL="0">
                        <a:buNone/>
                      </a:pPr>
                      <a:r>
                        <a:rPr lang="en-US" sz="850" b="1" dirty="0">
                          <a:solidFill>
                            <a:srgbClr val="1A1A2E"/>
                          </a:solidFill>
                        </a:rPr>
                        <a:t>Adj. EBITDA</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22.5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32.0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43.0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57.0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74.0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10896">
                <a:tc>
                  <a:txBody>
                    <a:bodyPr/>
                    <a:lstStyle/>
                    <a:p>
                      <a:pPr algn="l" indent="0" marL="0">
                        <a:buNone/>
                      </a:pPr>
                      <a:r>
                        <a:rPr lang="en-US" sz="850" b="1" dirty="0">
                          <a:solidFill>
                            <a:srgbClr val="1A1A2E"/>
                          </a:solidFill>
                        </a:rPr>
                        <a:t>EBITDA Margin %</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5BAE"/>
                          </a:solidFill>
                        </a:rPr>
                        <a:t>12.9%</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5BAE"/>
                          </a:solidFill>
                        </a:rPr>
                        <a:t>15.0%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5BAE"/>
                          </a:solidFill>
                        </a:rPr>
                        <a:t>17.0%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5BAE"/>
                          </a:solidFill>
                        </a:rPr>
                        <a:t>19.3%</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2B5BAE"/>
                          </a:solidFill>
                        </a:rPr>
                        <a:t>21.8%</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10896">
                <a:tc>
                  <a:txBody>
                    <a:bodyPr/>
                    <a:lstStyle/>
                    <a:p>
                      <a:pPr algn="l" indent="0" marL="0">
                        <a:buNone/>
                      </a:pPr>
                      <a:r>
                        <a:rPr lang="en-US" sz="850" dirty="0">
                          <a:solidFill>
                            <a:srgbClr val="1A1A2E"/>
                          </a:solidFill>
                        </a:rPr>
                        <a:t>Capex</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(10.5)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(11.5)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(12.0)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(12.5)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50" dirty="0">
                          <a:solidFill>
                            <a:srgbClr val="1A1A2E"/>
                          </a:solidFill>
                        </a:rPr>
                        <a:t>(13.0)</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10896">
                <a:tc>
                  <a:txBody>
                    <a:bodyPr/>
                    <a:lstStyle/>
                    <a:p>
                      <a:pPr algn="l" indent="0" marL="0">
                        <a:buNone/>
                      </a:pPr>
                      <a:r>
                        <a:rPr lang="en-US" sz="850" b="1" dirty="0">
                          <a:solidFill>
                            <a:srgbClr val="1A1A2E"/>
                          </a:solidFill>
                        </a:rPr>
                        <a:t>Subscription ARR</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42</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65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95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135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2E"/>
                          </a:solidFill>
                        </a:rPr>
                        <a:t>185</a:t>
                      </a:r>
                      <a:endParaRPr lang="en-US" sz="85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bl>
          </a:graphicData>
        </a:graphic>
      </p:graphicFrame>
      <p:graphicFrame>
        <p:nvGraphicFramePr>
          <p:cNvPr id="9" name="Chart 0" descr=""/>
          <p:cNvGraphicFramePr/>
          <p:nvPr/>
        </p:nvGraphicFramePr>
        <p:xfrm>
          <a:off x="457200" y="3822192"/>
          <a:ext cx="8229600" cy="86868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p:nvPr/>
        </p:nvSpPr>
        <p:spPr>
          <a:xfrm>
            <a:off x="457200" y="4654296"/>
            <a:ext cx="8229600" cy="164592"/>
          </a:xfrm>
          <a:prstGeom prst="rect">
            <a:avLst/>
          </a:prstGeom>
          <a:noFill/>
          <a:ln/>
        </p:spPr>
        <p:txBody>
          <a:bodyPr wrap="square" lIns="0" tIns="0" rIns="0" bIns="0" rtlCol="0" anchor="ctr"/>
          <a:lstStyle/>
          <a:p>
            <a:pPr indent="0" marL="0">
              <a:buNone/>
            </a:pPr>
            <a:r>
              <a:rPr lang="en-US" sz="650" dirty="0">
                <a:solidFill>
                  <a:srgbClr val="8898AA"/>
                </a:solidFill>
              </a:rPr>
              <a:t>Management projections. Not independently verified by Goldman Sachs. Actual results may differ materially.</a:t>
            </a:r>
            <a:endParaRPr lang="en-US" sz="650" dirty="0"/>
          </a:p>
        </p:txBody>
      </p:sp>
      <p:sp>
        <p:nvSpPr>
          <p:cNvPr id="11" name="Shape 7"/>
          <p:cNvSpPr/>
          <p:nvPr/>
        </p:nvSpPr>
        <p:spPr>
          <a:xfrm>
            <a:off x="0" y="4892040"/>
            <a:ext cx="9144000" cy="251460"/>
          </a:xfrm>
          <a:prstGeom prst="rect">
            <a:avLst/>
          </a:prstGeom>
          <a:solidFill>
            <a:srgbClr val="F4F6FA"/>
          </a:solidFill>
          <a:ln w="12700">
            <a:solidFill>
              <a:srgbClr val="D0D8E4"/>
            </a:solidFill>
            <a:prstDash val="solid"/>
          </a:ln>
        </p:spPr>
      </p:sp>
      <p:sp>
        <p:nvSpPr>
          <p:cNvPr id="12" name="Text 8"/>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13" name="Text 9"/>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15 / 20</a:t>
            </a:r>
            <a:endParaRPr lang="en-US" sz="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GOLDMAN SACHS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SECTION X — MANAGEMENT PROJECTIONS (CONT.)</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Subscription Economics &amp; ARR Bridge</a:t>
            </a:r>
            <a:endParaRPr lang="en-US" sz="1600" dirty="0"/>
          </a:p>
        </p:txBody>
      </p:sp>
      <p:sp>
        <p:nvSpPr>
          <p:cNvPr id="7" name="Text 5"/>
          <p:cNvSpPr/>
          <p:nvPr/>
        </p:nvSpPr>
        <p:spPr>
          <a:xfrm>
            <a:off x="457200" y="1261872"/>
            <a:ext cx="8229600" cy="3291840"/>
          </a:xfrm>
          <a:prstGeom prst="rect">
            <a:avLst/>
          </a:prstGeom>
          <a:noFill/>
          <a:ln/>
        </p:spPr>
        <p:txBody>
          <a:bodyPr wrap="square" lIns="0" tIns="0" rIns="0" bIns="0" rtlCol="0" anchor="t"/>
          <a:lstStyle/>
          <a:p>
            <a:pPr indent="0" marL="0">
              <a:buNone/>
            </a:pPr>
            <a:r>
              <a:rPr lang="en-US" sz="900" dirty="0">
                <a:solidFill>
                  <a:srgbClr val="4A5568"/>
                </a:solidFill>
              </a:rPr>
              <a:t>Subscription ARR grew from $7M (FY2019) to $29M (LTM Q1 2022), a 61% CAGR. Attach rate on new hardware sold increased from 38% (FY2019) to 73% (LTM). Premium tier upsell rate reached 31% of subscriber base. Net Revenue Retention of 115% reflects expansion revenue from Basic→Premium upgrades.</a:t>
            </a:r>
            <a:endParaRPr lang="en-US" sz="900" dirty="0"/>
          </a:p>
          <a:p>
            <a:pPr indent="0" marL="0">
              <a:buNone/>
            </a:pPr>
            <a:endParaRPr lang="en-US" sz="900" dirty="0"/>
          </a:p>
          <a:p>
            <a:pPr indent="0" marL="0">
              <a:buNone/>
            </a:pPr>
            <a:r>
              <a:rPr lang="en-US" sz="900" dirty="0">
                <a:solidFill>
                  <a:srgbClr val="4A5568"/>
                </a:solidFill>
              </a:rPr>
              <a:t>Key assumptions in management projections:</a:t>
            </a:r>
            <a:endParaRPr lang="en-US" sz="900" dirty="0"/>
          </a:p>
          <a:p>
            <a:pPr indent="0" marL="0">
              <a:buNone/>
            </a:pPr>
            <a:r>
              <a:rPr lang="en-US" sz="900" dirty="0">
                <a:solidFill>
                  <a:srgbClr val="4A5568"/>
                </a:solidFill>
              </a:rPr>
              <a:t>• Hardware unit growth: 18–22% annually through FY2024, decelerating to 14–16% FY2025–26</a:t>
            </a:r>
            <a:endParaRPr lang="en-US" sz="900" dirty="0"/>
          </a:p>
          <a:p>
            <a:pPr indent="0" marL="0">
              <a:buNone/>
            </a:pPr>
            <a:r>
              <a:rPr lang="en-US" sz="900" dirty="0">
                <a:solidFill>
                  <a:srgbClr val="4A5568"/>
                </a:solidFill>
              </a:rPr>
              <a:t>• ASP: modest price increase of 3–4% in FY2023 with Pro Gen 4 launch</a:t>
            </a:r>
            <a:endParaRPr lang="en-US" sz="900" dirty="0"/>
          </a:p>
          <a:p>
            <a:pPr indent="0" marL="0">
              <a:buNone/>
            </a:pPr>
            <a:r>
              <a:rPr lang="en-US" sz="900" dirty="0">
                <a:solidFill>
                  <a:srgbClr val="4A5568"/>
                </a:solidFill>
              </a:rPr>
              <a:t>• Software attach rate: reaching 85% of new units by FY2024</a:t>
            </a:r>
            <a:endParaRPr lang="en-US" sz="900" dirty="0"/>
          </a:p>
          <a:p>
            <a:pPr indent="0" marL="0">
              <a:buNone/>
            </a:pPr>
            <a:r>
              <a:rPr lang="en-US" sz="900" dirty="0">
                <a:solidFill>
                  <a:srgbClr val="4A5568"/>
                </a:solidFill>
              </a:rPr>
              <a:t>• Gross margin expansion: 45.5% → 51.8% driven by software mix and manufacturing efficiencies</a:t>
            </a:r>
            <a:endParaRPr lang="en-US" sz="900" dirty="0"/>
          </a:p>
          <a:p>
            <a:pPr indent="0" marL="0">
              <a:buNone/>
            </a:pPr>
            <a:r>
              <a:rPr lang="en-US" sz="900" dirty="0">
                <a:solidFill>
                  <a:srgbClr val="4A5568"/>
                </a:solidFill>
              </a:rPr>
              <a:t>• OpEx leverage: S&amp;M declining as % of revenue as brand awareness matures; R&amp;D stable</a:t>
            </a:r>
            <a:endParaRPr lang="en-US" sz="900" dirty="0"/>
          </a:p>
          <a:p>
            <a:pPr indent="0" marL="0">
              <a:buNone/>
            </a:pPr>
            <a:r>
              <a:rPr lang="en-US" sz="900" dirty="0">
                <a:solidFill>
                  <a:srgbClr val="4A5568"/>
                </a:solidFill>
              </a:rPr>
              <a:t>• International contribution: growing from 6% to 18% of revenue by FY2026</a:t>
            </a:r>
            <a:endParaRPr lang="en-US" sz="900" dirty="0"/>
          </a:p>
        </p:txBody>
      </p:sp>
      <p:sp>
        <p:nvSpPr>
          <p:cNvPr id="8" name="Shape 6"/>
          <p:cNvSpPr/>
          <p:nvPr/>
        </p:nvSpPr>
        <p:spPr>
          <a:xfrm>
            <a:off x="0" y="4892040"/>
            <a:ext cx="9144000" cy="251460"/>
          </a:xfrm>
          <a:prstGeom prst="rect">
            <a:avLst/>
          </a:prstGeom>
          <a:solidFill>
            <a:srgbClr val="F4F6FA"/>
          </a:solidFill>
          <a:ln w="12700">
            <a:solidFill>
              <a:srgbClr val="D0D8E4"/>
            </a:solidFill>
            <a:prstDash val="solid"/>
          </a:ln>
        </p:spPr>
      </p:sp>
      <p:sp>
        <p:nvSpPr>
          <p:cNvPr id="9" name="Text 7"/>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10" name="Text 8"/>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16 / 20</a:t>
            </a:r>
            <a:endParaRPr lang="en-US" sz="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GOLDMAN SACHS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SECTION X — MANAGEMENT PROJECTIONS (CONT.)</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Sensitivity Analysis &amp; Scenario Planning</a:t>
            </a:r>
            <a:endParaRPr lang="en-US" sz="1600" dirty="0"/>
          </a:p>
        </p:txBody>
      </p:sp>
      <p:sp>
        <p:nvSpPr>
          <p:cNvPr id="7" name="Text 5"/>
          <p:cNvSpPr/>
          <p:nvPr/>
        </p:nvSpPr>
        <p:spPr>
          <a:xfrm>
            <a:off x="457200" y="1261872"/>
            <a:ext cx="8229600" cy="3291840"/>
          </a:xfrm>
          <a:prstGeom prst="rect">
            <a:avLst/>
          </a:prstGeom>
          <a:noFill/>
          <a:ln/>
        </p:spPr>
        <p:txBody>
          <a:bodyPr wrap="square" lIns="0" tIns="0" rIns="0" bIns="0" rtlCol="0" anchor="t"/>
          <a:lstStyle/>
          <a:p>
            <a:pPr indent="0" marL="0">
              <a:buNone/>
            </a:pPr>
            <a:r>
              <a:rPr lang="en-US" sz="900" dirty="0">
                <a:solidFill>
                  <a:srgbClr val="4A5568"/>
                </a:solidFill>
              </a:rPr>
              <a:t>Three scenarios presented by management for potential acquiror diligence:</a:t>
            </a:r>
            <a:endParaRPr lang="en-US" sz="900" dirty="0"/>
          </a:p>
          <a:p>
            <a:pPr indent="0" marL="0">
              <a:buNone/>
            </a:pPr>
            <a:endParaRPr lang="en-US" sz="900" dirty="0"/>
          </a:p>
          <a:p>
            <a:pPr indent="0" marL="0">
              <a:buNone/>
            </a:pPr>
            <a:r>
              <a:rPr lang="en-US" sz="900" dirty="0">
                <a:solidFill>
                  <a:srgbClr val="4A5568"/>
                </a:solidFill>
              </a:rPr>
              <a:t>Base Case (presented): 21% revenue CAGR, margin expansion to 21.8% EBITDA by FY2026. Assumes successful Gen 4 launch, European market entry, and B2B channel contribution.</a:t>
            </a:r>
            <a:endParaRPr lang="en-US" sz="900" dirty="0"/>
          </a:p>
          <a:p>
            <a:pPr indent="0" marL="0">
              <a:buNone/>
            </a:pPr>
            <a:endParaRPr lang="en-US" sz="900" dirty="0"/>
          </a:p>
          <a:p>
            <a:pPr indent="0" marL="0">
              <a:buNone/>
            </a:pPr>
            <a:r>
              <a:rPr lang="en-US" sz="900" dirty="0">
                <a:solidFill>
                  <a:srgbClr val="4A5568"/>
                </a:solidFill>
              </a:rPr>
              <a:t>Downside Case: 14% revenue CAGR, margins plateau at 16% EBITDA. Assumes delayed Gen 4, competitive pressure from Eight Sleep, and softer consumer spending environment.</a:t>
            </a:r>
            <a:endParaRPr lang="en-US" sz="900" dirty="0"/>
          </a:p>
          <a:p>
            <a:pPr indent="0" marL="0">
              <a:buNone/>
            </a:pPr>
            <a:endParaRPr lang="en-US" sz="900" dirty="0"/>
          </a:p>
          <a:p>
            <a:pPr indent="0" marL="0">
              <a:buNone/>
            </a:pPr>
            <a:r>
              <a:rPr lang="en-US" sz="900" dirty="0">
                <a:solidFill>
                  <a:srgbClr val="4A5568"/>
                </a:solidFill>
              </a:rPr>
              <a:t>Upside Case: 26% revenue CAGR, margins reach 24% EBITDA. Assumes accelerated subscription attach, successful B2B rollout, and earlier-than-expected European profitability.</a:t>
            </a:r>
            <a:endParaRPr lang="en-US" sz="900" dirty="0"/>
          </a:p>
          <a:p>
            <a:pPr indent="0" marL="0">
              <a:buNone/>
            </a:pPr>
            <a:endParaRPr lang="en-US" sz="900" dirty="0"/>
          </a:p>
          <a:p>
            <a:pPr indent="0" marL="0">
              <a:buNone/>
            </a:pPr>
            <a:r>
              <a:rPr lang="en-US" sz="900" dirty="0">
                <a:solidFill>
                  <a:srgbClr val="4A5568"/>
                </a:solidFill>
              </a:rPr>
              <a:t>Note: Goldman Sachs has not independently modeled or validated these scenarios. Prospective purchasers are encouraged to conduct independent financial modeling.</a:t>
            </a:r>
            <a:endParaRPr lang="en-US" sz="900" dirty="0"/>
          </a:p>
        </p:txBody>
      </p:sp>
      <p:sp>
        <p:nvSpPr>
          <p:cNvPr id="8" name="Shape 6"/>
          <p:cNvSpPr/>
          <p:nvPr/>
        </p:nvSpPr>
        <p:spPr>
          <a:xfrm>
            <a:off x="0" y="4892040"/>
            <a:ext cx="9144000" cy="251460"/>
          </a:xfrm>
          <a:prstGeom prst="rect">
            <a:avLst/>
          </a:prstGeom>
          <a:solidFill>
            <a:srgbClr val="F4F6FA"/>
          </a:solidFill>
          <a:ln w="12700">
            <a:solidFill>
              <a:srgbClr val="D0D8E4"/>
            </a:solidFill>
            <a:prstDash val="solid"/>
          </a:ln>
        </p:spPr>
      </p:sp>
      <p:sp>
        <p:nvSpPr>
          <p:cNvPr id="9" name="Text 7"/>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10" name="Text 8"/>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17 / 20</a:t>
            </a:r>
            <a:endParaRPr lang="en-US" sz="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GOLDMAN SACHS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SECTION XI — MANAGEMENT TEAM</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Management Team</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Experienced operators with complementary backgrounds</a:t>
            </a:r>
            <a:endParaRPr lang="en-US" sz="950" dirty="0"/>
          </a:p>
        </p:txBody>
      </p:sp>
      <p:sp>
        <p:nvSpPr>
          <p:cNvPr id="8" name="Shape 6"/>
          <p:cNvSpPr/>
          <p:nvPr/>
        </p:nvSpPr>
        <p:spPr>
          <a:xfrm>
            <a:off x="457200" y="1234440"/>
            <a:ext cx="4251960" cy="1097280"/>
          </a:xfrm>
          <a:prstGeom prst="rect">
            <a:avLst/>
          </a:prstGeom>
          <a:solidFill>
            <a:srgbClr val="FFFFFF"/>
          </a:solidFill>
          <a:ln w="12700">
            <a:solidFill>
              <a:srgbClr val="D0D8E4"/>
            </a:solidFill>
            <a:prstDash val="solid"/>
          </a:ln>
          <a:effectLst>
            <a:outerShdw sx="100000" sy="100000" kx="0" ky="0" algn="bl" rotWithShape="0" blurRad="38100" dist="12700" dir="8100000">
              <a:srgbClr val="000000">
                <a:alpha val="6000"/>
              </a:srgbClr>
            </a:outerShdw>
          </a:effectLst>
        </p:spPr>
      </p:sp>
      <p:sp>
        <p:nvSpPr>
          <p:cNvPr id="9" name="Shape 7"/>
          <p:cNvSpPr/>
          <p:nvPr/>
        </p:nvSpPr>
        <p:spPr>
          <a:xfrm>
            <a:off x="457200" y="1234440"/>
            <a:ext cx="73152" cy="1097280"/>
          </a:xfrm>
          <a:prstGeom prst="rect">
            <a:avLst/>
          </a:prstGeom>
          <a:solidFill>
            <a:srgbClr val="2B5BAE"/>
          </a:solidFill>
          <a:ln w="12700">
            <a:solidFill>
              <a:srgbClr val="2B5BAE"/>
            </a:solidFill>
            <a:prstDash val="solid"/>
          </a:ln>
        </p:spPr>
      </p:sp>
      <p:sp>
        <p:nvSpPr>
          <p:cNvPr id="10" name="Shape 8"/>
          <p:cNvSpPr/>
          <p:nvPr/>
        </p:nvSpPr>
        <p:spPr>
          <a:xfrm>
            <a:off x="621792" y="1490472"/>
            <a:ext cx="502920" cy="502920"/>
          </a:xfrm>
          <a:prstGeom prst="oval">
            <a:avLst/>
          </a:prstGeom>
          <a:solidFill>
            <a:srgbClr val="1B2D55"/>
          </a:solidFill>
          <a:ln w="12700">
            <a:solidFill>
              <a:srgbClr val="1B2D55"/>
            </a:solidFill>
            <a:prstDash val="solid"/>
          </a:ln>
        </p:spPr>
      </p:sp>
      <p:sp>
        <p:nvSpPr>
          <p:cNvPr id="11" name="Text 9"/>
          <p:cNvSpPr/>
          <p:nvPr/>
        </p:nvSpPr>
        <p:spPr>
          <a:xfrm>
            <a:off x="621792" y="1490472"/>
            <a:ext cx="502920" cy="502920"/>
          </a:xfrm>
          <a:prstGeom prst="rect">
            <a:avLst/>
          </a:prstGeom>
          <a:noFill/>
          <a:ln/>
        </p:spPr>
        <p:txBody>
          <a:bodyPr wrap="square" lIns="0" tIns="0" rIns="0" bIns="0" rtlCol="0" anchor="ctr"/>
          <a:lstStyle/>
          <a:p>
            <a:pPr algn="ctr" indent="0" marL="0">
              <a:buNone/>
            </a:pPr>
            <a:r>
              <a:rPr lang="en-US" sz="1400" b="1" dirty="0">
                <a:solidFill>
                  <a:srgbClr val="C8A83C"/>
                </a:solidFill>
              </a:rPr>
              <a:t>M</a:t>
            </a:r>
            <a:endParaRPr lang="en-US" sz="1400" dirty="0"/>
          </a:p>
        </p:txBody>
      </p:sp>
      <p:sp>
        <p:nvSpPr>
          <p:cNvPr id="12" name="Text 10"/>
          <p:cNvSpPr/>
          <p:nvPr/>
        </p:nvSpPr>
        <p:spPr>
          <a:xfrm>
            <a:off x="1234440" y="1325880"/>
            <a:ext cx="3337560" cy="256032"/>
          </a:xfrm>
          <a:prstGeom prst="rect">
            <a:avLst/>
          </a:prstGeom>
          <a:noFill/>
          <a:ln/>
        </p:spPr>
        <p:txBody>
          <a:bodyPr wrap="square" lIns="0" tIns="0" rIns="0" bIns="0" rtlCol="0" anchor="ctr"/>
          <a:lstStyle/>
          <a:p>
            <a:pPr indent="0" marL="0">
              <a:buNone/>
            </a:pPr>
            <a:r>
              <a:rPr lang="en-US" sz="1000" b="1" dirty="0">
                <a:solidFill>
                  <a:srgbClr val="1B2D55"/>
                </a:solidFill>
              </a:rPr>
              <a:t>Maya Chen</a:t>
            </a:r>
            <a:endParaRPr lang="en-US" sz="1000" dirty="0"/>
          </a:p>
        </p:txBody>
      </p:sp>
      <p:sp>
        <p:nvSpPr>
          <p:cNvPr id="13" name="Text 11"/>
          <p:cNvSpPr/>
          <p:nvPr/>
        </p:nvSpPr>
        <p:spPr>
          <a:xfrm>
            <a:off x="1234440" y="1581912"/>
            <a:ext cx="3337560" cy="201168"/>
          </a:xfrm>
          <a:prstGeom prst="rect">
            <a:avLst/>
          </a:prstGeom>
          <a:noFill/>
          <a:ln/>
        </p:spPr>
        <p:txBody>
          <a:bodyPr wrap="square" lIns="0" tIns="0" rIns="0" bIns="0" rtlCol="0" anchor="ctr"/>
          <a:lstStyle/>
          <a:p>
            <a:pPr indent="0" marL="0">
              <a:buNone/>
            </a:pPr>
            <a:r>
              <a:rPr lang="en-US" sz="800" dirty="0">
                <a:solidFill>
                  <a:srgbClr val="2B5BAE"/>
                </a:solidFill>
              </a:rPr>
              <a:t>Chief Executive Officer &amp; Founder</a:t>
            </a:r>
            <a:endParaRPr lang="en-US" sz="800" dirty="0"/>
          </a:p>
        </p:txBody>
      </p:sp>
      <p:sp>
        <p:nvSpPr>
          <p:cNvPr id="14" name="Shape 12"/>
          <p:cNvSpPr/>
          <p:nvPr/>
        </p:nvSpPr>
        <p:spPr>
          <a:xfrm>
            <a:off x="457200" y="1801368"/>
            <a:ext cx="8229600" cy="0"/>
          </a:xfrm>
          <a:prstGeom prst="line">
            <a:avLst/>
          </a:prstGeom>
          <a:noFill/>
          <a:ln w="9525">
            <a:solidFill>
              <a:srgbClr val="D0D8E4"/>
            </a:solidFill>
            <a:prstDash val="solid"/>
          </a:ln>
        </p:spPr>
      </p:sp>
      <p:sp>
        <p:nvSpPr>
          <p:cNvPr id="15" name="Text 13"/>
          <p:cNvSpPr/>
          <p:nvPr/>
        </p:nvSpPr>
        <p:spPr>
          <a:xfrm>
            <a:off x="1234440" y="1856232"/>
            <a:ext cx="3337560" cy="438912"/>
          </a:xfrm>
          <a:prstGeom prst="rect">
            <a:avLst/>
          </a:prstGeom>
          <a:noFill/>
          <a:ln/>
        </p:spPr>
        <p:txBody>
          <a:bodyPr wrap="square" lIns="0" tIns="0" rIns="0" bIns="0" rtlCol="0" anchor="t"/>
          <a:lstStyle/>
          <a:p>
            <a:pPr indent="0" marL="0">
              <a:buNone/>
            </a:pPr>
            <a:r>
              <a:rPr lang="en-US" sz="700" dirty="0">
                <a:solidFill>
                  <a:srgbClr val="4A5568"/>
                </a:solidFill>
              </a:rPr>
              <a:t>Founder of Slumber Smart (2014). Previously VP Product at Fitbit where she led the Fitbit Ionic and Sense product lines. Stanford GSB MBA, BS Computer Science UC Berkeley. Holds 6 of the company's 10 granted patents.</a:t>
            </a:r>
            <a:endParaRPr lang="en-US" sz="700" dirty="0"/>
          </a:p>
        </p:txBody>
      </p:sp>
      <p:sp>
        <p:nvSpPr>
          <p:cNvPr id="16" name="Shape 14"/>
          <p:cNvSpPr/>
          <p:nvPr/>
        </p:nvSpPr>
        <p:spPr>
          <a:xfrm>
            <a:off x="4864608" y="1234440"/>
            <a:ext cx="4251960" cy="1097280"/>
          </a:xfrm>
          <a:prstGeom prst="rect">
            <a:avLst/>
          </a:prstGeom>
          <a:solidFill>
            <a:srgbClr val="FFFFFF"/>
          </a:solidFill>
          <a:ln w="12700">
            <a:solidFill>
              <a:srgbClr val="D0D8E4"/>
            </a:solidFill>
            <a:prstDash val="solid"/>
          </a:ln>
          <a:effectLst>
            <a:outerShdw sx="100000" sy="100000" kx="0" ky="0" algn="bl" rotWithShape="0" blurRad="38100" dist="12700" dir="8100000">
              <a:srgbClr val="000000">
                <a:alpha val="6000"/>
              </a:srgbClr>
            </a:outerShdw>
          </a:effectLst>
        </p:spPr>
      </p:sp>
      <p:sp>
        <p:nvSpPr>
          <p:cNvPr id="17" name="Shape 15"/>
          <p:cNvSpPr/>
          <p:nvPr/>
        </p:nvSpPr>
        <p:spPr>
          <a:xfrm>
            <a:off x="4864608" y="1234440"/>
            <a:ext cx="73152" cy="1097280"/>
          </a:xfrm>
          <a:prstGeom prst="rect">
            <a:avLst/>
          </a:prstGeom>
          <a:solidFill>
            <a:srgbClr val="2B5BAE"/>
          </a:solidFill>
          <a:ln w="12700">
            <a:solidFill>
              <a:srgbClr val="2B5BAE"/>
            </a:solidFill>
            <a:prstDash val="solid"/>
          </a:ln>
        </p:spPr>
      </p:sp>
      <p:sp>
        <p:nvSpPr>
          <p:cNvPr id="18" name="Shape 16"/>
          <p:cNvSpPr/>
          <p:nvPr/>
        </p:nvSpPr>
        <p:spPr>
          <a:xfrm>
            <a:off x="5029200" y="1490472"/>
            <a:ext cx="502920" cy="502920"/>
          </a:xfrm>
          <a:prstGeom prst="oval">
            <a:avLst/>
          </a:prstGeom>
          <a:solidFill>
            <a:srgbClr val="1B2D55"/>
          </a:solidFill>
          <a:ln w="12700">
            <a:solidFill>
              <a:srgbClr val="1B2D55"/>
            </a:solidFill>
            <a:prstDash val="solid"/>
          </a:ln>
        </p:spPr>
      </p:sp>
      <p:sp>
        <p:nvSpPr>
          <p:cNvPr id="19" name="Text 17"/>
          <p:cNvSpPr/>
          <p:nvPr/>
        </p:nvSpPr>
        <p:spPr>
          <a:xfrm>
            <a:off x="5029200" y="1490472"/>
            <a:ext cx="502920" cy="502920"/>
          </a:xfrm>
          <a:prstGeom prst="rect">
            <a:avLst/>
          </a:prstGeom>
          <a:noFill/>
          <a:ln/>
        </p:spPr>
        <p:txBody>
          <a:bodyPr wrap="square" lIns="0" tIns="0" rIns="0" bIns="0" rtlCol="0" anchor="ctr"/>
          <a:lstStyle/>
          <a:p>
            <a:pPr algn="ctr" indent="0" marL="0">
              <a:buNone/>
            </a:pPr>
            <a:r>
              <a:rPr lang="en-US" sz="1400" b="1" dirty="0">
                <a:solidFill>
                  <a:srgbClr val="C8A83C"/>
                </a:solidFill>
              </a:rPr>
              <a:t>R</a:t>
            </a:r>
            <a:endParaRPr lang="en-US" sz="1400" dirty="0"/>
          </a:p>
        </p:txBody>
      </p:sp>
      <p:sp>
        <p:nvSpPr>
          <p:cNvPr id="20" name="Text 18"/>
          <p:cNvSpPr/>
          <p:nvPr/>
        </p:nvSpPr>
        <p:spPr>
          <a:xfrm>
            <a:off x="5641848" y="1325880"/>
            <a:ext cx="3337560" cy="256032"/>
          </a:xfrm>
          <a:prstGeom prst="rect">
            <a:avLst/>
          </a:prstGeom>
          <a:noFill/>
          <a:ln/>
        </p:spPr>
        <p:txBody>
          <a:bodyPr wrap="square" lIns="0" tIns="0" rIns="0" bIns="0" rtlCol="0" anchor="ctr"/>
          <a:lstStyle/>
          <a:p>
            <a:pPr indent="0" marL="0">
              <a:buNone/>
            </a:pPr>
            <a:r>
              <a:rPr lang="en-US" sz="1000" b="1" dirty="0">
                <a:solidFill>
                  <a:srgbClr val="1B2D55"/>
                </a:solidFill>
              </a:rPr>
              <a:t>Rachel Torres</a:t>
            </a:r>
            <a:endParaRPr lang="en-US" sz="1000" dirty="0"/>
          </a:p>
        </p:txBody>
      </p:sp>
      <p:sp>
        <p:nvSpPr>
          <p:cNvPr id="21" name="Text 19"/>
          <p:cNvSpPr/>
          <p:nvPr/>
        </p:nvSpPr>
        <p:spPr>
          <a:xfrm>
            <a:off x="5641848" y="1581912"/>
            <a:ext cx="3337560" cy="201168"/>
          </a:xfrm>
          <a:prstGeom prst="rect">
            <a:avLst/>
          </a:prstGeom>
          <a:noFill/>
          <a:ln/>
        </p:spPr>
        <p:txBody>
          <a:bodyPr wrap="square" lIns="0" tIns="0" rIns="0" bIns="0" rtlCol="0" anchor="ctr"/>
          <a:lstStyle/>
          <a:p>
            <a:pPr indent="0" marL="0">
              <a:buNone/>
            </a:pPr>
            <a:r>
              <a:rPr lang="en-US" sz="800" dirty="0">
                <a:solidFill>
                  <a:srgbClr val="2B5BAE"/>
                </a:solidFill>
              </a:rPr>
              <a:t>Chief Financial Officer</a:t>
            </a:r>
            <a:endParaRPr lang="en-US" sz="800" dirty="0"/>
          </a:p>
        </p:txBody>
      </p:sp>
      <p:sp>
        <p:nvSpPr>
          <p:cNvPr id="22" name="Shape 20"/>
          <p:cNvSpPr/>
          <p:nvPr/>
        </p:nvSpPr>
        <p:spPr>
          <a:xfrm>
            <a:off x="457200" y="1801368"/>
            <a:ext cx="8229600" cy="0"/>
          </a:xfrm>
          <a:prstGeom prst="line">
            <a:avLst/>
          </a:prstGeom>
          <a:noFill/>
          <a:ln w="9525">
            <a:solidFill>
              <a:srgbClr val="D0D8E4"/>
            </a:solidFill>
            <a:prstDash val="solid"/>
          </a:ln>
        </p:spPr>
      </p:sp>
      <p:sp>
        <p:nvSpPr>
          <p:cNvPr id="23" name="Text 21"/>
          <p:cNvSpPr/>
          <p:nvPr/>
        </p:nvSpPr>
        <p:spPr>
          <a:xfrm>
            <a:off x="5641848" y="1856232"/>
            <a:ext cx="3337560" cy="438912"/>
          </a:xfrm>
          <a:prstGeom prst="rect">
            <a:avLst/>
          </a:prstGeom>
          <a:noFill/>
          <a:ln/>
        </p:spPr>
        <p:txBody>
          <a:bodyPr wrap="square" lIns="0" tIns="0" rIns="0" bIns="0" rtlCol="0" anchor="t"/>
          <a:lstStyle/>
          <a:p>
            <a:pPr indent="0" marL="0">
              <a:buNone/>
            </a:pPr>
            <a:r>
              <a:rPr lang="en-US" sz="700" dirty="0">
                <a:solidFill>
                  <a:srgbClr val="4A5568"/>
                </a:solidFill>
              </a:rPr>
              <a:t>Joined Slumber Smart in 2020. Previously CFO at Purple Innovation through its 2018 Nasdaq IPO and subsequent growth. CPA, MBA from Wharton. 15+ years in consumer products finance.</a:t>
            </a:r>
            <a:endParaRPr lang="en-US" sz="700" dirty="0"/>
          </a:p>
        </p:txBody>
      </p:sp>
      <p:sp>
        <p:nvSpPr>
          <p:cNvPr id="24" name="Shape 22"/>
          <p:cNvSpPr/>
          <p:nvPr/>
        </p:nvSpPr>
        <p:spPr>
          <a:xfrm>
            <a:off x="457200" y="2404872"/>
            <a:ext cx="4251960" cy="1097280"/>
          </a:xfrm>
          <a:prstGeom prst="rect">
            <a:avLst/>
          </a:prstGeom>
          <a:solidFill>
            <a:srgbClr val="FFFFFF"/>
          </a:solidFill>
          <a:ln w="12700">
            <a:solidFill>
              <a:srgbClr val="D0D8E4"/>
            </a:solidFill>
            <a:prstDash val="solid"/>
          </a:ln>
          <a:effectLst>
            <a:outerShdw sx="100000" sy="100000" kx="0" ky="0" algn="bl" rotWithShape="0" blurRad="38100" dist="12700" dir="8100000">
              <a:srgbClr val="000000">
                <a:alpha val="6000"/>
              </a:srgbClr>
            </a:outerShdw>
          </a:effectLst>
        </p:spPr>
      </p:sp>
      <p:sp>
        <p:nvSpPr>
          <p:cNvPr id="25" name="Shape 23"/>
          <p:cNvSpPr/>
          <p:nvPr/>
        </p:nvSpPr>
        <p:spPr>
          <a:xfrm>
            <a:off x="457200" y="2404872"/>
            <a:ext cx="73152" cy="1097280"/>
          </a:xfrm>
          <a:prstGeom prst="rect">
            <a:avLst/>
          </a:prstGeom>
          <a:solidFill>
            <a:srgbClr val="2B5BAE"/>
          </a:solidFill>
          <a:ln w="12700">
            <a:solidFill>
              <a:srgbClr val="2B5BAE"/>
            </a:solidFill>
            <a:prstDash val="solid"/>
          </a:ln>
        </p:spPr>
      </p:sp>
      <p:sp>
        <p:nvSpPr>
          <p:cNvPr id="26" name="Shape 24"/>
          <p:cNvSpPr/>
          <p:nvPr/>
        </p:nvSpPr>
        <p:spPr>
          <a:xfrm>
            <a:off x="621792" y="2660904"/>
            <a:ext cx="502920" cy="502920"/>
          </a:xfrm>
          <a:prstGeom prst="oval">
            <a:avLst/>
          </a:prstGeom>
          <a:solidFill>
            <a:srgbClr val="1B2D55"/>
          </a:solidFill>
          <a:ln w="12700">
            <a:solidFill>
              <a:srgbClr val="1B2D55"/>
            </a:solidFill>
            <a:prstDash val="solid"/>
          </a:ln>
        </p:spPr>
      </p:sp>
      <p:sp>
        <p:nvSpPr>
          <p:cNvPr id="27" name="Text 25"/>
          <p:cNvSpPr/>
          <p:nvPr/>
        </p:nvSpPr>
        <p:spPr>
          <a:xfrm>
            <a:off x="621792" y="2660904"/>
            <a:ext cx="502920" cy="502920"/>
          </a:xfrm>
          <a:prstGeom prst="rect">
            <a:avLst/>
          </a:prstGeom>
          <a:noFill/>
          <a:ln/>
        </p:spPr>
        <p:txBody>
          <a:bodyPr wrap="square" lIns="0" tIns="0" rIns="0" bIns="0" rtlCol="0" anchor="ctr"/>
          <a:lstStyle/>
          <a:p>
            <a:pPr algn="ctr" indent="0" marL="0">
              <a:buNone/>
            </a:pPr>
            <a:r>
              <a:rPr lang="en-US" sz="1400" b="1" dirty="0">
                <a:solidFill>
                  <a:srgbClr val="C8A83C"/>
                </a:solidFill>
              </a:rPr>
              <a:t>K</a:t>
            </a:r>
            <a:endParaRPr lang="en-US" sz="1400" dirty="0"/>
          </a:p>
        </p:txBody>
      </p:sp>
      <p:sp>
        <p:nvSpPr>
          <p:cNvPr id="28" name="Text 26"/>
          <p:cNvSpPr/>
          <p:nvPr/>
        </p:nvSpPr>
        <p:spPr>
          <a:xfrm>
            <a:off x="1234440" y="2496312"/>
            <a:ext cx="3337560" cy="256032"/>
          </a:xfrm>
          <a:prstGeom prst="rect">
            <a:avLst/>
          </a:prstGeom>
          <a:noFill/>
          <a:ln/>
        </p:spPr>
        <p:txBody>
          <a:bodyPr wrap="square" lIns="0" tIns="0" rIns="0" bIns="0" rtlCol="0" anchor="ctr"/>
          <a:lstStyle/>
          <a:p>
            <a:pPr indent="0" marL="0">
              <a:buNone/>
            </a:pPr>
            <a:r>
              <a:rPr lang="en-US" sz="1000" b="1" dirty="0">
                <a:solidFill>
                  <a:srgbClr val="1B2D55"/>
                </a:solidFill>
              </a:rPr>
              <a:t>Kevin Park</a:t>
            </a:r>
            <a:endParaRPr lang="en-US" sz="1000" dirty="0"/>
          </a:p>
        </p:txBody>
      </p:sp>
      <p:sp>
        <p:nvSpPr>
          <p:cNvPr id="29" name="Text 27"/>
          <p:cNvSpPr/>
          <p:nvPr/>
        </p:nvSpPr>
        <p:spPr>
          <a:xfrm>
            <a:off x="1234440" y="2752344"/>
            <a:ext cx="3337560" cy="201168"/>
          </a:xfrm>
          <a:prstGeom prst="rect">
            <a:avLst/>
          </a:prstGeom>
          <a:noFill/>
          <a:ln/>
        </p:spPr>
        <p:txBody>
          <a:bodyPr wrap="square" lIns="0" tIns="0" rIns="0" bIns="0" rtlCol="0" anchor="ctr"/>
          <a:lstStyle/>
          <a:p>
            <a:pPr indent="0" marL="0">
              <a:buNone/>
            </a:pPr>
            <a:r>
              <a:rPr lang="en-US" sz="800" dirty="0">
                <a:solidFill>
                  <a:srgbClr val="2B5BAE"/>
                </a:solidFill>
              </a:rPr>
              <a:t>Chief Operating Officer</a:t>
            </a:r>
            <a:endParaRPr lang="en-US" sz="800" dirty="0"/>
          </a:p>
        </p:txBody>
      </p:sp>
      <p:sp>
        <p:nvSpPr>
          <p:cNvPr id="30" name="Shape 28"/>
          <p:cNvSpPr/>
          <p:nvPr/>
        </p:nvSpPr>
        <p:spPr>
          <a:xfrm>
            <a:off x="457200" y="2971800"/>
            <a:ext cx="8229600" cy="0"/>
          </a:xfrm>
          <a:prstGeom prst="line">
            <a:avLst/>
          </a:prstGeom>
          <a:noFill/>
          <a:ln w="9525">
            <a:solidFill>
              <a:srgbClr val="D0D8E4"/>
            </a:solidFill>
            <a:prstDash val="solid"/>
          </a:ln>
        </p:spPr>
      </p:sp>
      <p:sp>
        <p:nvSpPr>
          <p:cNvPr id="31" name="Text 29"/>
          <p:cNvSpPr/>
          <p:nvPr/>
        </p:nvSpPr>
        <p:spPr>
          <a:xfrm>
            <a:off x="1234440" y="3026664"/>
            <a:ext cx="3337560" cy="438912"/>
          </a:xfrm>
          <a:prstGeom prst="rect">
            <a:avLst/>
          </a:prstGeom>
          <a:noFill/>
          <a:ln/>
        </p:spPr>
        <p:txBody>
          <a:bodyPr wrap="square" lIns="0" tIns="0" rIns="0" bIns="0" rtlCol="0" anchor="t"/>
          <a:lstStyle/>
          <a:p>
            <a:pPr indent="0" marL="0">
              <a:buNone/>
            </a:pPr>
            <a:r>
              <a:rPr lang="en-US" sz="700" dirty="0">
                <a:solidFill>
                  <a:srgbClr val="4A5568"/>
                </a:solidFill>
              </a:rPr>
              <a:t>Built and scaled Slumber Smart's supply chain and manufacturing partnerships since 2019. Prior: VP Supply Chain at Casper Sleep for 6 years. Led COGS reduction of 7pp over tenure. BS Industrial Engineering, Georgia Tech.</a:t>
            </a:r>
            <a:endParaRPr lang="en-US" sz="700" dirty="0"/>
          </a:p>
        </p:txBody>
      </p:sp>
      <p:sp>
        <p:nvSpPr>
          <p:cNvPr id="32" name="Shape 30"/>
          <p:cNvSpPr/>
          <p:nvPr/>
        </p:nvSpPr>
        <p:spPr>
          <a:xfrm>
            <a:off x="4864608" y="2404872"/>
            <a:ext cx="4251960" cy="1097280"/>
          </a:xfrm>
          <a:prstGeom prst="rect">
            <a:avLst/>
          </a:prstGeom>
          <a:solidFill>
            <a:srgbClr val="FFFFFF"/>
          </a:solidFill>
          <a:ln w="12700">
            <a:solidFill>
              <a:srgbClr val="D0D8E4"/>
            </a:solidFill>
            <a:prstDash val="solid"/>
          </a:ln>
          <a:effectLst>
            <a:outerShdw sx="100000" sy="100000" kx="0" ky="0" algn="bl" rotWithShape="0" blurRad="38100" dist="12700" dir="8100000">
              <a:srgbClr val="000000">
                <a:alpha val="6000"/>
              </a:srgbClr>
            </a:outerShdw>
          </a:effectLst>
        </p:spPr>
      </p:sp>
      <p:sp>
        <p:nvSpPr>
          <p:cNvPr id="33" name="Shape 31"/>
          <p:cNvSpPr/>
          <p:nvPr/>
        </p:nvSpPr>
        <p:spPr>
          <a:xfrm>
            <a:off x="4864608" y="2404872"/>
            <a:ext cx="73152" cy="1097280"/>
          </a:xfrm>
          <a:prstGeom prst="rect">
            <a:avLst/>
          </a:prstGeom>
          <a:solidFill>
            <a:srgbClr val="2B5BAE"/>
          </a:solidFill>
          <a:ln w="12700">
            <a:solidFill>
              <a:srgbClr val="2B5BAE"/>
            </a:solidFill>
            <a:prstDash val="solid"/>
          </a:ln>
        </p:spPr>
      </p:sp>
      <p:sp>
        <p:nvSpPr>
          <p:cNvPr id="34" name="Shape 32"/>
          <p:cNvSpPr/>
          <p:nvPr/>
        </p:nvSpPr>
        <p:spPr>
          <a:xfrm>
            <a:off x="5029200" y="2660904"/>
            <a:ext cx="502920" cy="502920"/>
          </a:xfrm>
          <a:prstGeom prst="oval">
            <a:avLst/>
          </a:prstGeom>
          <a:solidFill>
            <a:srgbClr val="1B2D55"/>
          </a:solidFill>
          <a:ln w="12700">
            <a:solidFill>
              <a:srgbClr val="1B2D55"/>
            </a:solidFill>
            <a:prstDash val="solid"/>
          </a:ln>
        </p:spPr>
      </p:sp>
      <p:sp>
        <p:nvSpPr>
          <p:cNvPr id="35" name="Text 33"/>
          <p:cNvSpPr/>
          <p:nvPr/>
        </p:nvSpPr>
        <p:spPr>
          <a:xfrm>
            <a:off x="5029200" y="2660904"/>
            <a:ext cx="502920" cy="502920"/>
          </a:xfrm>
          <a:prstGeom prst="rect">
            <a:avLst/>
          </a:prstGeom>
          <a:noFill/>
          <a:ln/>
        </p:spPr>
        <p:txBody>
          <a:bodyPr wrap="square" lIns="0" tIns="0" rIns="0" bIns="0" rtlCol="0" anchor="ctr"/>
          <a:lstStyle/>
          <a:p>
            <a:pPr algn="ctr" indent="0" marL="0">
              <a:buNone/>
            </a:pPr>
            <a:r>
              <a:rPr lang="en-US" sz="1400" b="1" dirty="0">
                <a:solidFill>
                  <a:srgbClr val="C8A83C"/>
                </a:solidFill>
              </a:rPr>
              <a:t>S</a:t>
            </a:r>
            <a:endParaRPr lang="en-US" sz="1400" dirty="0"/>
          </a:p>
        </p:txBody>
      </p:sp>
      <p:sp>
        <p:nvSpPr>
          <p:cNvPr id="36" name="Text 34"/>
          <p:cNvSpPr/>
          <p:nvPr/>
        </p:nvSpPr>
        <p:spPr>
          <a:xfrm>
            <a:off x="5641848" y="2496312"/>
            <a:ext cx="3337560" cy="256032"/>
          </a:xfrm>
          <a:prstGeom prst="rect">
            <a:avLst/>
          </a:prstGeom>
          <a:noFill/>
          <a:ln/>
        </p:spPr>
        <p:txBody>
          <a:bodyPr wrap="square" lIns="0" tIns="0" rIns="0" bIns="0" rtlCol="0" anchor="ctr"/>
          <a:lstStyle/>
          <a:p>
            <a:pPr indent="0" marL="0">
              <a:buNone/>
            </a:pPr>
            <a:r>
              <a:rPr lang="en-US" sz="1000" b="1" dirty="0">
                <a:solidFill>
                  <a:srgbClr val="1B2D55"/>
                </a:solidFill>
              </a:rPr>
              <a:t>Sarah Lindqvist</a:t>
            </a:r>
            <a:endParaRPr lang="en-US" sz="1000" dirty="0"/>
          </a:p>
        </p:txBody>
      </p:sp>
      <p:sp>
        <p:nvSpPr>
          <p:cNvPr id="37" name="Text 35"/>
          <p:cNvSpPr/>
          <p:nvPr/>
        </p:nvSpPr>
        <p:spPr>
          <a:xfrm>
            <a:off x="5641848" y="2752344"/>
            <a:ext cx="3337560" cy="201168"/>
          </a:xfrm>
          <a:prstGeom prst="rect">
            <a:avLst/>
          </a:prstGeom>
          <a:noFill/>
          <a:ln/>
        </p:spPr>
        <p:txBody>
          <a:bodyPr wrap="square" lIns="0" tIns="0" rIns="0" bIns="0" rtlCol="0" anchor="ctr"/>
          <a:lstStyle/>
          <a:p>
            <a:pPr indent="0" marL="0">
              <a:buNone/>
            </a:pPr>
            <a:r>
              <a:rPr lang="en-US" sz="800" dirty="0">
                <a:solidFill>
                  <a:srgbClr val="2B5BAE"/>
                </a:solidFill>
              </a:rPr>
              <a:t>Chief Marketing Officer</a:t>
            </a:r>
            <a:endParaRPr lang="en-US" sz="800" dirty="0"/>
          </a:p>
        </p:txBody>
      </p:sp>
      <p:sp>
        <p:nvSpPr>
          <p:cNvPr id="38" name="Shape 36"/>
          <p:cNvSpPr/>
          <p:nvPr/>
        </p:nvSpPr>
        <p:spPr>
          <a:xfrm>
            <a:off x="457200" y="2971800"/>
            <a:ext cx="8229600" cy="0"/>
          </a:xfrm>
          <a:prstGeom prst="line">
            <a:avLst/>
          </a:prstGeom>
          <a:noFill/>
          <a:ln w="9525">
            <a:solidFill>
              <a:srgbClr val="D0D8E4"/>
            </a:solidFill>
            <a:prstDash val="solid"/>
          </a:ln>
        </p:spPr>
      </p:sp>
      <p:sp>
        <p:nvSpPr>
          <p:cNvPr id="39" name="Text 37"/>
          <p:cNvSpPr/>
          <p:nvPr/>
        </p:nvSpPr>
        <p:spPr>
          <a:xfrm>
            <a:off x="5641848" y="3026664"/>
            <a:ext cx="3337560" cy="438912"/>
          </a:xfrm>
          <a:prstGeom prst="rect">
            <a:avLst/>
          </a:prstGeom>
          <a:noFill/>
          <a:ln/>
        </p:spPr>
        <p:txBody>
          <a:bodyPr wrap="square" lIns="0" tIns="0" rIns="0" bIns="0" rtlCol="0" anchor="t"/>
          <a:lstStyle/>
          <a:p>
            <a:pPr indent="0" marL="0">
              <a:buNone/>
            </a:pPr>
            <a:r>
              <a:rPr lang="en-US" sz="700" dirty="0">
                <a:solidFill>
                  <a:srgbClr val="4A5568"/>
                </a:solidFill>
              </a:rPr>
              <a:t>Joined 2021. Former VP Digital Marketing at Peloton during peak growth (2018–2021). Architected Slumber Smart's DTC acquisition strategy; CAC reduced 22% in first 12 months.</a:t>
            </a:r>
            <a:endParaRPr lang="en-US" sz="700" dirty="0"/>
          </a:p>
        </p:txBody>
      </p:sp>
      <p:sp>
        <p:nvSpPr>
          <p:cNvPr id="40" name="Shape 38"/>
          <p:cNvSpPr/>
          <p:nvPr/>
        </p:nvSpPr>
        <p:spPr>
          <a:xfrm>
            <a:off x="457200" y="3575304"/>
            <a:ext cx="4251960" cy="1097280"/>
          </a:xfrm>
          <a:prstGeom prst="rect">
            <a:avLst/>
          </a:prstGeom>
          <a:solidFill>
            <a:srgbClr val="FFFFFF"/>
          </a:solidFill>
          <a:ln w="12700">
            <a:solidFill>
              <a:srgbClr val="D0D8E4"/>
            </a:solidFill>
            <a:prstDash val="solid"/>
          </a:ln>
          <a:effectLst>
            <a:outerShdw sx="100000" sy="100000" kx="0" ky="0" algn="bl" rotWithShape="0" blurRad="38100" dist="12700" dir="8100000">
              <a:srgbClr val="000000">
                <a:alpha val="6000"/>
              </a:srgbClr>
            </a:outerShdw>
          </a:effectLst>
        </p:spPr>
      </p:sp>
      <p:sp>
        <p:nvSpPr>
          <p:cNvPr id="41" name="Shape 39"/>
          <p:cNvSpPr/>
          <p:nvPr/>
        </p:nvSpPr>
        <p:spPr>
          <a:xfrm>
            <a:off x="457200" y="3575304"/>
            <a:ext cx="73152" cy="1097280"/>
          </a:xfrm>
          <a:prstGeom prst="rect">
            <a:avLst/>
          </a:prstGeom>
          <a:solidFill>
            <a:srgbClr val="2B5BAE"/>
          </a:solidFill>
          <a:ln w="12700">
            <a:solidFill>
              <a:srgbClr val="2B5BAE"/>
            </a:solidFill>
            <a:prstDash val="solid"/>
          </a:ln>
        </p:spPr>
      </p:sp>
      <p:sp>
        <p:nvSpPr>
          <p:cNvPr id="42" name="Shape 40"/>
          <p:cNvSpPr/>
          <p:nvPr/>
        </p:nvSpPr>
        <p:spPr>
          <a:xfrm>
            <a:off x="621792" y="3831336"/>
            <a:ext cx="502920" cy="502920"/>
          </a:xfrm>
          <a:prstGeom prst="oval">
            <a:avLst/>
          </a:prstGeom>
          <a:solidFill>
            <a:srgbClr val="1B2D55"/>
          </a:solidFill>
          <a:ln w="12700">
            <a:solidFill>
              <a:srgbClr val="1B2D55"/>
            </a:solidFill>
            <a:prstDash val="solid"/>
          </a:ln>
        </p:spPr>
      </p:sp>
      <p:sp>
        <p:nvSpPr>
          <p:cNvPr id="43" name="Text 41"/>
          <p:cNvSpPr/>
          <p:nvPr/>
        </p:nvSpPr>
        <p:spPr>
          <a:xfrm>
            <a:off x="621792" y="3831336"/>
            <a:ext cx="502920" cy="502920"/>
          </a:xfrm>
          <a:prstGeom prst="rect">
            <a:avLst/>
          </a:prstGeom>
          <a:noFill/>
          <a:ln/>
        </p:spPr>
        <p:txBody>
          <a:bodyPr wrap="square" lIns="0" tIns="0" rIns="0" bIns="0" rtlCol="0" anchor="ctr"/>
          <a:lstStyle/>
          <a:p>
            <a:pPr algn="ctr" indent="0" marL="0">
              <a:buNone/>
            </a:pPr>
            <a:r>
              <a:rPr lang="en-US" sz="1400" b="1" dirty="0">
                <a:solidFill>
                  <a:srgbClr val="C8A83C"/>
                </a:solidFill>
              </a:rPr>
              <a:t>A</a:t>
            </a:r>
            <a:endParaRPr lang="en-US" sz="1400" dirty="0"/>
          </a:p>
        </p:txBody>
      </p:sp>
      <p:sp>
        <p:nvSpPr>
          <p:cNvPr id="44" name="Text 42"/>
          <p:cNvSpPr/>
          <p:nvPr/>
        </p:nvSpPr>
        <p:spPr>
          <a:xfrm>
            <a:off x="1234440" y="3666744"/>
            <a:ext cx="3337560" cy="256032"/>
          </a:xfrm>
          <a:prstGeom prst="rect">
            <a:avLst/>
          </a:prstGeom>
          <a:noFill/>
          <a:ln/>
        </p:spPr>
        <p:txBody>
          <a:bodyPr wrap="square" lIns="0" tIns="0" rIns="0" bIns="0" rtlCol="0" anchor="ctr"/>
          <a:lstStyle/>
          <a:p>
            <a:pPr indent="0" marL="0">
              <a:buNone/>
            </a:pPr>
            <a:r>
              <a:rPr lang="en-US" sz="1000" b="1" dirty="0">
                <a:solidFill>
                  <a:srgbClr val="1B2D55"/>
                </a:solidFill>
              </a:rPr>
              <a:t>Arjun Mehta</a:t>
            </a:r>
            <a:endParaRPr lang="en-US" sz="1000" dirty="0"/>
          </a:p>
        </p:txBody>
      </p:sp>
      <p:sp>
        <p:nvSpPr>
          <p:cNvPr id="45" name="Text 43"/>
          <p:cNvSpPr/>
          <p:nvPr/>
        </p:nvSpPr>
        <p:spPr>
          <a:xfrm>
            <a:off x="1234440" y="3922776"/>
            <a:ext cx="3337560" cy="201168"/>
          </a:xfrm>
          <a:prstGeom prst="rect">
            <a:avLst/>
          </a:prstGeom>
          <a:noFill/>
          <a:ln/>
        </p:spPr>
        <p:txBody>
          <a:bodyPr wrap="square" lIns="0" tIns="0" rIns="0" bIns="0" rtlCol="0" anchor="ctr"/>
          <a:lstStyle/>
          <a:p>
            <a:pPr indent="0" marL="0">
              <a:buNone/>
            </a:pPr>
            <a:r>
              <a:rPr lang="en-US" sz="800" dirty="0">
                <a:solidFill>
                  <a:srgbClr val="2B5BAE"/>
                </a:solidFill>
              </a:rPr>
              <a:t>Chief Technology Officer</a:t>
            </a:r>
            <a:endParaRPr lang="en-US" sz="800" dirty="0"/>
          </a:p>
        </p:txBody>
      </p:sp>
      <p:sp>
        <p:nvSpPr>
          <p:cNvPr id="46" name="Shape 44"/>
          <p:cNvSpPr/>
          <p:nvPr/>
        </p:nvSpPr>
        <p:spPr>
          <a:xfrm>
            <a:off x="457200" y="4142232"/>
            <a:ext cx="8229600" cy="0"/>
          </a:xfrm>
          <a:prstGeom prst="line">
            <a:avLst/>
          </a:prstGeom>
          <a:noFill/>
          <a:ln w="9525">
            <a:solidFill>
              <a:srgbClr val="D0D8E4"/>
            </a:solidFill>
            <a:prstDash val="solid"/>
          </a:ln>
        </p:spPr>
      </p:sp>
      <p:sp>
        <p:nvSpPr>
          <p:cNvPr id="47" name="Text 45"/>
          <p:cNvSpPr/>
          <p:nvPr/>
        </p:nvSpPr>
        <p:spPr>
          <a:xfrm>
            <a:off x="1234440" y="4197096"/>
            <a:ext cx="3337560" cy="438912"/>
          </a:xfrm>
          <a:prstGeom prst="rect">
            <a:avLst/>
          </a:prstGeom>
          <a:noFill/>
          <a:ln/>
        </p:spPr>
        <p:txBody>
          <a:bodyPr wrap="square" lIns="0" tIns="0" rIns="0" bIns="0" rtlCol="0" anchor="t"/>
          <a:lstStyle/>
          <a:p>
            <a:pPr indent="0" marL="0">
              <a:buNone/>
            </a:pPr>
            <a:r>
              <a:rPr lang="en-US" sz="700" dirty="0">
                <a:solidFill>
                  <a:srgbClr val="4A5568"/>
                </a:solidFill>
              </a:rPr>
              <a:t>Co-founded SlumberAI division. PhD Machine Learning, MIT. Previously research scientist at Apple Health AI. Leads 45-person engineering team; responsible for SlumberOS platform.</a:t>
            </a:r>
            <a:endParaRPr lang="en-US" sz="700" dirty="0"/>
          </a:p>
        </p:txBody>
      </p:sp>
      <p:sp>
        <p:nvSpPr>
          <p:cNvPr id="48" name="Shape 46"/>
          <p:cNvSpPr/>
          <p:nvPr/>
        </p:nvSpPr>
        <p:spPr>
          <a:xfrm>
            <a:off x="4864608" y="3575304"/>
            <a:ext cx="4251960" cy="1097280"/>
          </a:xfrm>
          <a:prstGeom prst="rect">
            <a:avLst/>
          </a:prstGeom>
          <a:solidFill>
            <a:srgbClr val="FFFFFF"/>
          </a:solidFill>
          <a:ln w="12700">
            <a:solidFill>
              <a:srgbClr val="D0D8E4"/>
            </a:solidFill>
            <a:prstDash val="solid"/>
          </a:ln>
          <a:effectLst>
            <a:outerShdw sx="100000" sy="100000" kx="0" ky="0" algn="bl" rotWithShape="0" blurRad="38100" dist="12700" dir="8100000">
              <a:srgbClr val="000000">
                <a:alpha val="6000"/>
              </a:srgbClr>
            </a:outerShdw>
          </a:effectLst>
        </p:spPr>
      </p:sp>
      <p:sp>
        <p:nvSpPr>
          <p:cNvPr id="49" name="Shape 47"/>
          <p:cNvSpPr/>
          <p:nvPr/>
        </p:nvSpPr>
        <p:spPr>
          <a:xfrm>
            <a:off x="4864608" y="3575304"/>
            <a:ext cx="73152" cy="1097280"/>
          </a:xfrm>
          <a:prstGeom prst="rect">
            <a:avLst/>
          </a:prstGeom>
          <a:solidFill>
            <a:srgbClr val="2B5BAE"/>
          </a:solidFill>
          <a:ln w="12700">
            <a:solidFill>
              <a:srgbClr val="2B5BAE"/>
            </a:solidFill>
            <a:prstDash val="solid"/>
          </a:ln>
        </p:spPr>
      </p:sp>
      <p:sp>
        <p:nvSpPr>
          <p:cNvPr id="50" name="Shape 48"/>
          <p:cNvSpPr/>
          <p:nvPr/>
        </p:nvSpPr>
        <p:spPr>
          <a:xfrm>
            <a:off x="5029200" y="3831336"/>
            <a:ext cx="502920" cy="502920"/>
          </a:xfrm>
          <a:prstGeom prst="oval">
            <a:avLst/>
          </a:prstGeom>
          <a:solidFill>
            <a:srgbClr val="1B2D55"/>
          </a:solidFill>
          <a:ln w="12700">
            <a:solidFill>
              <a:srgbClr val="1B2D55"/>
            </a:solidFill>
            <a:prstDash val="solid"/>
          </a:ln>
        </p:spPr>
      </p:sp>
      <p:sp>
        <p:nvSpPr>
          <p:cNvPr id="51" name="Text 49"/>
          <p:cNvSpPr/>
          <p:nvPr/>
        </p:nvSpPr>
        <p:spPr>
          <a:xfrm>
            <a:off x="5029200" y="3831336"/>
            <a:ext cx="502920" cy="502920"/>
          </a:xfrm>
          <a:prstGeom prst="rect">
            <a:avLst/>
          </a:prstGeom>
          <a:noFill/>
          <a:ln/>
        </p:spPr>
        <p:txBody>
          <a:bodyPr wrap="square" lIns="0" tIns="0" rIns="0" bIns="0" rtlCol="0" anchor="ctr"/>
          <a:lstStyle/>
          <a:p>
            <a:pPr algn="ctr" indent="0" marL="0">
              <a:buNone/>
            </a:pPr>
            <a:r>
              <a:rPr lang="en-US" sz="1400" b="1" dirty="0">
                <a:solidFill>
                  <a:srgbClr val="C8A83C"/>
                </a:solidFill>
              </a:rPr>
              <a:t>D</a:t>
            </a:r>
            <a:endParaRPr lang="en-US" sz="1400" dirty="0"/>
          </a:p>
        </p:txBody>
      </p:sp>
      <p:sp>
        <p:nvSpPr>
          <p:cNvPr id="52" name="Text 50"/>
          <p:cNvSpPr/>
          <p:nvPr/>
        </p:nvSpPr>
        <p:spPr>
          <a:xfrm>
            <a:off x="5641848" y="3666744"/>
            <a:ext cx="3337560" cy="256032"/>
          </a:xfrm>
          <a:prstGeom prst="rect">
            <a:avLst/>
          </a:prstGeom>
          <a:noFill/>
          <a:ln/>
        </p:spPr>
        <p:txBody>
          <a:bodyPr wrap="square" lIns="0" tIns="0" rIns="0" bIns="0" rtlCol="0" anchor="ctr"/>
          <a:lstStyle/>
          <a:p>
            <a:pPr indent="0" marL="0">
              <a:buNone/>
            </a:pPr>
            <a:r>
              <a:rPr lang="en-US" sz="1000" b="1" dirty="0">
                <a:solidFill>
                  <a:srgbClr val="1B2D55"/>
                </a:solidFill>
              </a:rPr>
              <a:t>Diana Osei</a:t>
            </a:r>
            <a:endParaRPr lang="en-US" sz="1000" dirty="0"/>
          </a:p>
        </p:txBody>
      </p:sp>
      <p:sp>
        <p:nvSpPr>
          <p:cNvPr id="53" name="Text 51"/>
          <p:cNvSpPr/>
          <p:nvPr/>
        </p:nvSpPr>
        <p:spPr>
          <a:xfrm>
            <a:off x="5641848" y="3922776"/>
            <a:ext cx="3337560" cy="201168"/>
          </a:xfrm>
          <a:prstGeom prst="rect">
            <a:avLst/>
          </a:prstGeom>
          <a:noFill/>
          <a:ln/>
        </p:spPr>
        <p:txBody>
          <a:bodyPr wrap="square" lIns="0" tIns="0" rIns="0" bIns="0" rtlCol="0" anchor="ctr"/>
          <a:lstStyle/>
          <a:p>
            <a:pPr indent="0" marL="0">
              <a:buNone/>
            </a:pPr>
            <a:r>
              <a:rPr lang="en-US" sz="800" dirty="0">
                <a:solidFill>
                  <a:srgbClr val="2B5BAE"/>
                </a:solidFill>
              </a:rPr>
              <a:t>VP Sales &amp; Partnerships</a:t>
            </a:r>
            <a:endParaRPr lang="en-US" sz="800" dirty="0"/>
          </a:p>
        </p:txBody>
      </p:sp>
      <p:sp>
        <p:nvSpPr>
          <p:cNvPr id="54" name="Shape 52"/>
          <p:cNvSpPr/>
          <p:nvPr/>
        </p:nvSpPr>
        <p:spPr>
          <a:xfrm>
            <a:off x="457200" y="4142232"/>
            <a:ext cx="8229600" cy="0"/>
          </a:xfrm>
          <a:prstGeom prst="line">
            <a:avLst/>
          </a:prstGeom>
          <a:noFill/>
          <a:ln w="9525">
            <a:solidFill>
              <a:srgbClr val="D0D8E4"/>
            </a:solidFill>
            <a:prstDash val="solid"/>
          </a:ln>
        </p:spPr>
      </p:sp>
      <p:sp>
        <p:nvSpPr>
          <p:cNvPr id="55" name="Text 53"/>
          <p:cNvSpPr/>
          <p:nvPr/>
        </p:nvSpPr>
        <p:spPr>
          <a:xfrm>
            <a:off x="5641848" y="4197096"/>
            <a:ext cx="3337560" cy="438912"/>
          </a:xfrm>
          <a:prstGeom prst="rect">
            <a:avLst/>
          </a:prstGeom>
          <a:noFill/>
          <a:ln/>
        </p:spPr>
        <p:txBody>
          <a:bodyPr wrap="square" lIns="0" tIns="0" rIns="0" bIns="0" rtlCol="0" anchor="t"/>
          <a:lstStyle/>
          <a:p>
            <a:pPr indent="0" marL="0">
              <a:buNone/>
            </a:pPr>
            <a:r>
              <a:rPr lang="en-US" sz="700" dirty="0">
                <a:solidFill>
                  <a:srgbClr val="4A5568"/>
                </a:solidFill>
              </a:rPr>
              <a:t>Led retail expansion to Nordstrom, Crate &amp; Barrel, and Best Buy. Manages Marriott B2B pilot and corporate wellness pipeline. Previously National Accounts Manager at Purple Innovation.</a:t>
            </a:r>
            <a:endParaRPr lang="en-US" sz="700" dirty="0"/>
          </a:p>
        </p:txBody>
      </p:sp>
      <p:sp>
        <p:nvSpPr>
          <p:cNvPr id="56" name="Shape 54"/>
          <p:cNvSpPr/>
          <p:nvPr/>
        </p:nvSpPr>
        <p:spPr>
          <a:xfrm>
            <a:off x="0" y="4892040"/>
            <a:ext cx="9144000" cy="251460"/>
          </a:xfrm>
          <a:prstGeom prst="rect">
            <a:avLst/>
          </a:prstGeom>
          <a:solidFill>
            <a:srgbClr val="F4F6FA"/>
          </a:solidFill>
          <a:ln w="12700">
            <a:solidFill>
              <a:srgbClr val="D0D8E4"/>
            </a:solidFill>
            <a:prstDash val="solid"/>
          </a:ln>
        </p:spPr>
      </p:sp>
      <p:sp>
        <p:nvSpPr>
          <p:cNvPr id="57" name="Text 55"/>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58" name="Text 56"/>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18 / 20</a:t>
            </a:r>
            <a:endParaRPr lang="en-US" sz="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2D55"/>
          </a:solidFill>
          <a:ln w="12700">
            <a:solidFill>
              <a:srgbClr val="1B2D55"/>
            </a:solidFill>
            <a:prstDash val="solid"/>
          </a:ln>
        </p:spPr>
      </p:sp>
      <p:sp>
        <p:nvSpPr>
          <p:cNvPr id="3" name="Text 1"/>
          <p:cNvSpPr/>
          <p:nvPr/>
        </p:nvSpPr>
        <p:spPr>
          <a:xfrm>
            <a:off x="274320" y="45720"/>
            <a:ext cx="4572000" cy="411480"/>
          </a:xfrm>
          <a:prstGeom prst="rect">
            <a:avLst/>
          </a:prstGeom>
          <a:noFill/>
          <a:ln/>
        </p:spPr>
        <p:txBody>
          <a:bodyPr wrap="square" lIns="0" tIns="0" rIns="0" bIns="0" rtlCol="0" anchor="ctr"/>
          <a:lstStyle/>
          <a:p>
            <a:pPr indent="0" marL="0">
              <a:buNone/>
            </a:pPr>
            <a:r>
              <a:rPr lang="en-US" sz="750" dirty="0">
                <a:solidFill>
                  <a:srgbClr val="AABBD0"/>
                </a:solidFill>
              </a:rPr>
              <a:t>GOLDMAN SACHS  |  CONFIDENTIAL</a:t>
            </a:r>
            <a:endParaRPr lang="en-US" sz="750" dirty="0"/>
          </a:p>
        </p:txBody>
      </p:sp>
      <p:sp>
        <p:nvSpPr>
          <p:cNvPr id="4" name="Text 2"/>
          <p:cNvSpPr/>
          <p:nvPr/>
        </p:nvSpPr>
        <p:spPr>
          <a:xfrm>
            <a:off x="4572000" y="45720"/>
            <a:ext cx="4297680" cy="411480"/>
          </a:xfrm>
          <a:prstGeom prst="rect">
            <a:avLst/>
          </a:prstGeom>
          <a:noFill/>
          <a:ln/>
        </p:spPr>
        <p:txBody>
          <a:bodyPr wrap="square" lIns="0" tIns="0" rIns="0" bIns="0" rtlCol="0" anchor="ctr"/>
          <a:lstStyle/>
          <a:p>
            <a:pPr algn="r" indent="0" marL="0">
              <a:buNone/>
            </a:pPr>
            <a:r>
              <a:rPr lang="en-US" sz="750" dirty="0">
                <a:solidFill>
                  <a:srgbClr val="FFFFFF"/>
                </a:solidFill>
              </a:rPr>
              <a:t>SECTION XII — TRANSACTION OVERVIEW</a:t>
            </a:r>
            <a:endParaRPr lang="en-US" sz="750" dirty="0"/>
          </a:p>
        </p:txBody>
      </p:sp>
      <p:sp>
        <p:nvSpPr>
          <p:cNvPr id="5" name="Shape 3"/>
          <p:cNvSpPr/>
          <p:nvPr/>
        </p:nvSpPr>
        <p:spPr>
          <a:xfrm>
            <a:off x="457200" y="566928"/>
            <a:ext cx="54864" cy="384048"/>
          </a:xfrm>
          <a:prstGeom prst="rect">
            <a:avLst/>
          </a:prstGeom>
          <a:solidFill>
            <a:srgbClr val="C8A83C"/>
          </a:solidFill>
          <a:ln w="12700">
            <a:solidFill>
              <a:srgbClr val="C8A83C"/>
            </a:solidFill>
            <a:prstDash val="solid"/>
          </a:ln>
        </p:spPr>
      </p:sp>
      <p:sp>
        <p:nvSpPr>
          <p:cNvPr id="6" name="Text 4"/>
          <p:cNvSpPr/>
          <p:nvPr/>
        </p:nvSpPr>
        <p:spPr>
          <a:xfrm>
            <a:off x="640080" y="548640"/>
            <a:ext cx="7863840" cy="438912"/>
          </a:xfrm>
          <a:prstGeom prst="rect">
            <a:avLst/>
          </a:prstGeom>
          <a:noFill/>
          <a:ln/>
        </p:spPr>
        <p:txBody>
          <a:bodyPr wrap="square" lIns="0" tIns="0" rIns="0" bIns="0" rtlCol="0" anchor="ctr"/>
          <a:lstStyle/>
          <a:p>
            <a:pPr indent="0" marL="0">
              <a:buNone/>
            </a:pPr>
            <a:r>
              <a:rPr lang="en-US" sz="1600" b="1" dirty="0">
                <a:solidFill>
                  <a:srgbClr val="1B2D55"/>
                </a:solidFill>
              </a:rPr>
              <a:t>Transaction Overview</a:t>
            </a:r>
            <a:endParaRPr lang="en-US" sz="1600" dirty="0"/>
          </a:p>
        </p:txBody>
      </p:sp>
      <p:sp>
        <p:nvSpPr>
          <p:cNvPr id="7" name="Text 5"/>
          <p:cNvSpPr/>
          <p:nvPr/>
        </p:nvSpPr>
        <p:spPr>
          <a:xfrm>
            <a:off x="640080" y="987552"/>
            <a:ext cx="7863840" cy="274320"/>
          </a:xfrm>
          <a:prstGeom prst="rect">
            <a:avLst/>
          </a:prstGeom>
          <a:noFill/>
          <a:ln/>
        </p:spPr>
        <p:txBody>
          <a:bodyPr wrap="square" lIns="0" tIns="0" rIns="0" bIns="0" rtlCol="0" anchor="ctr"/>
          <a:lstStyle/>
          <a:p>
            <a:pPr indent="0" marL="0">
              <a:buNone/>
            </a:pPr>
            <a:r>
              <a:rPr lang="en-US" sz="950" dirty="0">
                <a:solidFill>
                  <a:srgbClr val="4A5568"/>
                </a:solidFill>
              </a:rPr>
              <a:t>Goldman Sachs exclusive sell-side advisory — Spring 2022</a:t>
            </a:r>
            <a:endParaRPr lang="en-US" sz="950" dirty="0"/>
          </a:p>
        </p:txBody>
      </p:sp>
      <p:sp>
        <p:nvSpPr>
          <p:cNvPr id="8" name="Text 6"/>
          <p:cNvSpPr/>
          <p:nvPr/>
        </p:nvSpPr>
        <p:spPr>
          <a:xfrm>
            <a:off x="457200" y="1261872"/>
            <a:ext cx="3931920" cy="274320"/>
          </a:xfrm>
          <a:prstGeom prst="rect">
            <a:avLst/>
          </a:prstGeom>
          <a:noFill/>
          <a:ln/>
        </p:spPr>
        <p:txBody>
          <a:bodyPr wrap="square" lIns="0" tIns="0" rIns="0" bIns="0" rtlCol="0" anchor="ctr"/>
          <a:lstStyle/>
          <a:p>
            <a:pPr indent="0" marL="0">
              <a:buNone/>
            </a:pPr>
            <a:r>
              <a:rPr lang="en-US" sz="1000" b="1" dirty="0">
                <a:solidFill>
                  <a:srgbClr val="1B2D55"/>
                </a:solidFill>
              </a:rPr>
              <a:t>Valuation Context</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572768"/>
          <a:ext cx="4572000" cy="914400"/>
        </p:xfrm>
        <a:graphic>
          <a:graphicData uri="http://schemas.openxmlformats.org/drawingml/2006/table">
            <a:tbl>
              <a:tblPr/>
              <a:tblGrid>
                <a:gridCol w="1828800"/>
                <a:gridCol w="1097280"/>
                <a:gridCol w="1645920"/>
              </a:tblGrid>
              <a:tr h="329184">
                <a:tc>
                  <a:txBody>
                    <a:bodyPr/>
                    <a:lstStyle/>
                    <a:p>
                      <a:pPr algn="l" indent="0" marL="0">
                        <a:buNone/>
                      </a:pPr>
                      <a:r>
                        <a:rPr lang="en-US" sz="800" b="1" dirty="0">
                          <a:solidFill>
                            <a:srgbClr val="FFFFFF"/>
                          </a:solidFill>
                        </a:rPr>
                        <a:t>Metric</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Value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c>
                  <a:txBody>
                    <a:bodyPr/>
                    <a:lstStyle/>
                    <a:p>
                      <a:pPr algn="ctr" indent="0" marL="0">
                        <a:buNone/>
                      </a:pPr>
                      <a:r>
                        <a:rPr lang="en-US" sz="800" b="1" dirty="0">
                          <a:solidFill>
                            <a:srgbClr val="FFFFFF"/>
                          </a:solidFill>
                        </a:rPr>
                        <a:t>Commentary</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1B2D55"/>
                    </a:solidFill>
                  </a:tcPr>
                </a:tc>
              </a:tr>
              <a:tr h="329184">
                <a:tc>
                  <a:txBody>
                    <a:bodyPr/>
                    <a:lstStyle/>
                    <a:p>
                      <a:pPr algn="l" indent="0" marL="0">
                        <a:buNone/>
                      </a:pPr>
                      <a:r>
                        <a:rPr lang="en-US" sz="800" dirty="0">
                          <a:solidFill>
                            <a:srgbClr val="1A1A2E"/>
                          </a:solidFill>
                        </a:rPr>
                        <a:t>Enterprise Value (guide)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4A5568"/>
                          </a:solidFill>
                        </a:rPr>
                        <a:t>~$200M</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4A5568"/>
                          </a:solidFill>
                        </a:rPr>
                        <a:t>11.1x LTM Adj. EBITDA</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29184">
                <a:tc>
                  <a:txBody>
                    <a:bodyPr/>
                    <a:lstStyle/>
                    <a:p>
                      <a:pPr algn="l" indent="0" marL="0">
                        <a:buNone/>
                      </a:pPr>
                      <a:r>
                        <a:rPr lang="en-US" sz="800" dirty="0">
                          <a:solidFill>
                            <a:srgbClr val="1A1A2E"/>
                          </a:solidFill>
                        </a:rPr>
                        <a:t>Revenue Multiple (LTM)</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4A5568"/>
                          </a:solidFill>
                        </a:rPr>
                        <a:t>1.4x</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4A5568"/>
                          </a:solidFill>
                        </a:rPr>
                        <a:t>Reflects hardware-software mix</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29184">
                <a:tc>
                  <a:txBody>
                    <a:bodyPr/>
                    <a:lstStyle/>
                    <a:p>
                      <a:pPr algn="l" indent="0" marL="0">
                        <a:buNone/>
                      </a:pPr>
                      <a:r>
                        <a:rPr lang="en-US" sz="800" dirty="0">
                          <a:solidFill>
                            <a:srgbClr val="1A1A2E"/>
                          </a:solidFill>
                        </a:rPr>
                        <a:t>Revenue Multiple (FY2022E)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4A5568"/>
                          </a:solidFill>
                        </a:rPr>
                        <a:t>1.1x</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4A5568"/>
                          </a:solidFill>
                        </a:rPr>
                        <a:t>Attractive on growth-adjusted basis</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r h="329184">
                <a:tc>
                  <a:txBody>
                    <a:bodyPr/>
                    <a:lstStyle/>
                    <a:p>
                      <a:pPr algn="l" indent="0" marL="0">
                        <a:buNone/>
                      </a:pPr>
                      <a:r>
                        <a:rPr lang="en-US" sz="800" dirty="0">
                          <a:solidFill>
                            <a:srgbClr val="1A1A2E"/>
                          </a:solidFill>
                        </a:rPr>
                        <a:t>EBITDA Multiple (LTM)</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4A5568"/>
                          </a:solidFill>
                        </a:rPr>
                        <a:t>11.1x</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c>
                  <a:txBody>
                    <a:bodyPr/>
                    <a:lstStyle/>
                    <a:p>
                      <a:pPr algn="ctr" indent="0" marL="0">
                        <a:buNone/>
                      </a:pPr>
                      <a:r>
                        <a:rPr lang="en-US" sz="800" dirty="0">
                          <a:solidFill>
                            <a:srgbClr val="4A5568"/>
                          </a:solidFill>
                        </a:rPr>
                        <a:t>Premium for recurring revenue quality</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4F6FA"/>
                    </a:solidFill>
                  </a:tcPr>
                </a:tc>
              </a:tr>
              <a:tr h="329184">
                <a:tc>
                  <a:txBody>
                    <a:bodyPr/>
                    <a:lstStyle/>
                    <a:p>
                      <a:pPr algn="l" indent="0" marL="0">
                        <a:buNone/>
                      </a:pPr>
                      <a:r>
                        <a:rPr lang="en-US" sz="800" dirty="0">
                          <a:solidFill>
                            <a:srgbClr val="1A1A2E"/>
                          </a:solidFill>
                        </a:rPr>
                        <a:t>EBITDA Multiple (FY2023E)</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4A5568"/>
                          </a:solidFill>
                        </a:rPr>
                        <a:t>6.3x</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4A5568"/>
                          </a:solidFill>
                        </a:rPr>
                        <a:t>Reflects rapid margin expansion path</a:t>
                      </a:r>
                      <a:endParaRPr lang="en-US" sz="800" dirty="0"/>
                    </a:p>
                  </a:txBody>
                  <a:tcPr marL="91440" marR="91440" marT="45720" marB="45720">
                    <a:lnL w="6350" cap="flat" cmpd="sng" algn="ctr">
                      <a:solidFill>
                        <a:srgbClr val="D0D8E4"/>
                      </a:solidFill>
                      <a:prstDash val="solid"/>
                      <a:round/>
                      <a:headEnd type="none" w="med" len="med"/>
                      <a:tailEnd type="none" w="med" len="med"/>
                    </a:lnL>
                    <a:lnR w="6350" cap="flat" cmpd="sng" algn="ctr">
                      <a:solidFill>
                        <a:srgbClr val="D0D8E4"/>
                      </a:solidFill>
                      <a:prstDash val="solid"/>
                      <a:round/>
                      <a:headEnd type="none" w="med" len="med"/>
                      <a:tailEnd type="none" w="med" len="med"/>
                    </a:lnR>
                    <a:lnT w="6350" cap="flat" cmpd="sng" algn="ctr">
                      <a:solidFill>
                        <a:srgbClr val="D0D8E4"/>
                      </a:solidFill>
                      <a:prstDash val="solid"/>
                      <a:round/>
                      <a:headEnd type="none" w="med" len="med"/>
                      <a:tailEnd type="none" w="med" len="med"/>
                    </a:lnT>
                    <a:lnB w="6350" cap="flat" cmpd="sng" algn="ctr">
                      <a:solidFill>
                        <a:srgbClr val="D0D8E4"/>
                      </a:solidFill>
                      <a:prstDash val="solid"/>
                      <a:round/>
                      <a:headEnd type="none" w="med" len="med"/>
                      <a:tailEnd type="none" w="med" len="med"/>
                    </a:lnB>
                    <a:solidFill>
                      <a:srgbClr val="FFFFFF"/>
                    </a:solidFill>
                  </a:tcPr>
                </a:tc>
              </a:tr>
            </a:tbl>
          </a:graphicData>
        </a:graphic>
      </p:graphicFrame>
      <p:sp>
        <p:nvSpPr>
          <p:cNvPr id="10" name="Text 7"/>
          <p:cNvSpPr/>
          <p:nvPr/>
        </p:nvSpPr>
        <p:spPr>
          <a:xfrm>
            <a:off x="5212080" y="1261872"/>
            <a:ext cx="3474720" cy="274320"/>
          </a:xfrm>
          <a:prstGeom prst="rect">
            <a:avLst/>
          </a:prstGeom>
          <a:noFill/>
          <a:ln/>
        </p:spPr>
        <p:txBody>
          <a:bodyPr wrap="square" lIns="0" tIns="0" rIns="0" bIns="0" rtlCol="0" anchor="ctr"/>
          <a:lstStyle/>
          <a:p>
            <a:pPr indent="0" marL="0">
              <a:buNone/>
            </a:pPr>
            <a:r>
              <a:rPr lang="en-US" sz="1000" b="1" dirty="0">
                <a:solidFill>
                  <a:srgbClr val="1B2D55"/>
                </a:solidFill>
              </a:rPr>
              <a:t>Process Structure &amp; Contacts</a:t>
            </a:r>
            <a:endParaRPr lang="en-US" sz="1000" dirty="0"/>
          </a:p>
        </p:txBody>
      </p:sp>
      <p:sp>
        <p:nvSpPr>
          <p:cNvPr id="11" name="Shape 8"/>
          <p:cNvSpPr/>
          <p:nvPr/>
        </p:nvSpPr>
        <p:spPr>
          <a:xfrm>
            <a:off x="5212080" y="1572768"/>
            <a:ext cx="3474720" cy="310896"/>
          </a:xfrm>
          <a:prstGeom prst="rect">
            <a:avLst/>
          </a:prstGeom>
          <a:solidFill>
            <a:srgbClr val="F4F6FA"/>
          </a:solidFill>
          <a:ln w="12700">
            <a:solidFill>
              <a:srgbClr val="D0D8E4"/>
            </a:solidFill>
            <a:prstDash val="solid"/>
          </a:ln>
        </p:spPr>
      </p:sp>
      <p:sp>
        <p:nvSpPr>
          <p:cNvPr id="12" name="Text 9"/>
          <p:cNvSpPr/>
          <p:nvPr/>
        </p:nvSpPr>
        <p:spPr>
          <a:xfrm>
            <a:off x="5349240" y="1627632"/>
            <a:ext cx="1188720" cy="201168"/>
          </a:xfrm>
          <a:prstGeom prst="rect">
            <a:avLst/>
          </a:prstGeom>
          <a:noFill/>
          <a:ln/>
        </p:spPr>
        <p:txBody>
          <a:bodyPr wrap="square" lIns="0" tIns="0" rIns="0" bIns="0" rtlCol="0" anchor="ctr"/>
          <a:lstStyle/>
          <a:p>
            <a:pPr indent="0" marL="0">
              <a:buNone/>
            </a:pPr>
            <a:r>
              <a:rPr lang="en-US" sz="800" b="1" dirty="0">
                <a:solidFill>
                  <a:srgbClr val="1B2D55"/>
                </a:solidFill>
              </a:rPr>
              <a:t>Structure</a:t>
            </a:r>
            <a:endParaRPr lang="en-US" sz="800" dirty="0"/>
          </a:p>
        </p:txBody>
      </p:sp>
      <p:sp>
        <p:nvSpPr>
          <p:cNvPr id="13" name="Text 10"/>
          <p:cNvSpPr/>
          <p:nvPr/>
        </p:nvSpPr>
        <p:spPr>
          <a:xfrm>
            <a:off x="6583680" y="1627632"/>
            <a:ext cx="2011680" cy="201168"/>
          </a:xfrm>
          <a:prstGeom prst="rect">
            <a:avLst/>
          </a:prstGeom>
          <a:noFill/>
          <a:ln/>
        </p:spPr>
        <p:txBody>
          <a:bodyPr wrap="square" lIns="0" tIns="0" rIns="0" bIns="0" rtlCol="0" anchor="ctr"/>
          <a:lstStyle/>
          <a:p>
            <a:pPr indent="0" marL="0">
              <a:buNone/>
            </a:pPr>
            <a:r>
              <a:rPr lang="en-US" sz="800" dirty="0">
                <a:solidFill>
                  <a:srgbClr val="4A5568"/>
                </a:solidFill>
              </a:rPr>
              <a:t>Limited auction; 8 invited parties</a:t>
            </a:r>
            <a:endParaRPr lang="en-US" sz="800" dirty="0"/>
          </a:p>
        </p:txBody>
      </p:sp>
      <p:sp>
        <p:nvSpPr>
          <p:cNvPr id="14" name="Shape 11"/>
          <p:cNvSpPr/>
          <p:nvPr/>
        </p:nvSpPr>
        <p:spPr>
          <a:xfrm>
            <a:off x="5212080" y="1901952"/>
            <a:ext cx="3474720" cy="310896"/>
          </a:xfrm>
          <a:prstGeom prst="rect">
            <a:avLst/>
          </a:prstGeom>
          <a:solidFill>
            <a:srgbClr val="FFFFFF"/>
          </a:solidFill>
          <a:ln w="12700">
            <a:solidFill>
              <a:srgbClr val="D0D8E4"/>
            </a:solidFill>
            <a:prstDash val="solid"/>
          </a:ln>
        </p:spPr>
      </p:sp>
      <p:sp>
        <p:nvSpPr>
          <p:cNvPr id="15" name="Text 12"/>
          <p:cNvSpPr/>
          <p:nvPr/>
        </p:nvSpPr>
        <p:spPr>
          <a:xfrm>
            <a:off x="5349240" y="1956816"/>
            <a:ext cx="1188720" cy="201168"/>
          </a:xfrm>
          <a:prstGeom prst="rect">
            <a:avLst/>
          </a:prstGeom>
          <a:noFill/>
          <a:ln/>
        </p:spPr>
        <p:txBody>
          <a:bodyPr wrap="square" lIns="0" tIns="0" rIns="0" bIns="0" rtlCol="0" anchor="ctr"/>
          <a:lstStyle/>
          <a:p>
            <a:pPr indent="0" marL="0">
              <a:buNone/>
            </a:pPr>
            <a:r>
              <a:rPr lang="en-US" sz="800" b="1" dirty="0">
                <a:solidFill>
                  <a:srgbClr val="1B2D55"/>
                </a:solidFill>
              </a:rPr>
              <a:t>Data Room</a:t>
            </a:r>
            <a:endParaRPr lang="en-US" sz="800" dirty="0"/>
          </a:p>
        </p:txBody>
      </p:sp>
      <p:sp>
        <p:nvSpPr>
          <p:cNvPr id="16" name="Text 13"/>
          <p:cNvSpPr/>
          <p:nvPr/>
        </p:nvSpPr>
        <p:spPr>
          <a:xfrm>
            <a:off x="6583680" y="1956816"/>
            <a:ext cx="2011680" cy="201168"/>
          </a:xfrm>
          <a:prstGeom prst="rect">
            <a:avLst/>
          </a:prstGeom>
          <a:noFill/>
          <a:ln/>
        </p:spPr>
        <p:txBody>
          <a:bodyPr wrap="square" lIns="0" tIns="0" rIns="0" bIns="0" rtlCol="0" anchor="ctr"/>
          <a:lstStyle/>
          <a:p>
            <a:pPr indent="0" marL="0">
              <a:buNone/>
            </a:pPr>
            <a:r>
              <a:rPr lang="en-US" sz="800" dirty="0">
                <a:solidFill>
                  <a:srgbClr val="4A5568"/>
                </a:solidFill>
              </a:rPr>
              <a:t>Virtual (Datasite); open to R2 advancers</a:t>
            </a:r>
            <a:endParaRPr lang="en-US" sz="800" dirty="0"/>
          </a:p>
        </p:txBody>
      </p:sp>
      <p:sp>
        <p:nvSpPr>
          <p:cNvPr id="17" name="Shape 14"/>
          <p:cNvSpPr/>
          <p:nvPr/>
        </p:nvSpPr>
        <p:spPr>
          <a:xfrm>
            <a:off x="5212080" y="2231136"/>
            <a:ext cx="3474720" cy="310896"/>
          </a:xfrm>
          <a:prstGeom prst="rect">
            <a:avLst/>
          </a:prstGeom>
          <a:solidFill>
            <a:srgbClr val="F4F6FA"/>
          </a:solidFill>
          <a:ln w="12700">
            <a:solidFill>
              <a:srgbClr val="D0D8E4"/>
            </a:solidFill>
            <a:prstDash val="solid"/>
          </a:ln>
        </p:spPr>
      </p:sp>
      <p:sp>
        <p:nvSpPr>
          <p:cNvPr id="18" name="Text 15"/>
          <p:cNvSpPr/>
          <p:nvPr/>
        </p:nvSpPr>
        <p:spPr>
          <a:xfrm>
            <a:off x="5349240" y="2286000"/>
            <a:ext cx="1188720" cy="201168"/>
          </a:xfrm>
          <a:prstGeom prst="rect">
            <a:avLst/>
          </a:prstGeom>
          <a:noFill/>
          <a:ln/>
        </p:spPr>
        <p:txBody>
          <a:bodyPr wrap="square" lIns="0" tIns="0" rIns="0" bIns="0" rtlCol="0" anchor="ctr"/>
          <a:lstStyle/>
          <a:p>
            <a:pPr indent="0" marL="0">
              <a:buNone/>
            </a:pPr>
            <a:r>
              <a:rPr lang="en-US" sz="800" b="1" dirty="0">
                <a:solidFill>
                  <a:srgbClr val="1B2D55"/>
                </a:solidFill>
              </a:rPr>
              <a:t>Management</a:t>
            </a:r>
            <a:endParaRPr lang="en-US" sz="800" dirty="0"/>
          </a:p>
        </p:txBody>
      </p:sp>
      <p:sp>
        <p:nvSpPr>
          <p:cNvPr id="19" name="Text 16"/>
          <p:cNvSpPr/>
          <p:nvPr/>
        </p:nvSpPr>
        <p:spPr>
          <a:xfrm>
            <a:off x="6583680" y="2286000"/>
            <a:ext cx="2011680" cy="201168"/>
          </a:xfrm>
          <a:prstGeom prst="rect">
            <a:avLst/>
          </a:prstGeom>
          <a:noFill/>
          <a:ln/>
        </p:spPr>
        <p:txBody>
          <a:bodyPr wrap="square" lIns="0" tIns="0" rIns="0" bIns="0" rtlCol="0" anchor="ctr"/>
          <a:lstStyle/>
          <a:p>
            <a:pPr indent="0" marL="0">
              <a:buNone/>
            </a:pPr>
            <a:r>
              <a:rPr lang="en-US" sz="800" dirty="0">
                <a:solidFill>
                  <a:srgbClr val="4A5568"/>
                </a:solidFill>
              </a:rPr>
              <a:t>Full-team MP available; CEO-led</a:t>
            </a:r>
            <a:endParaRPr lang="en-US" sz="800" dirty="0"/>
          </a:p>
        </p:txBody>
      </p:sp>
      <p:sp>
        <p:nvSpPr>
          <p:cNvPr id="20" name="Shape 17"/>
          <p:cNvSpPr/>
          <p:nvPr/>
        </p:nvSpPr>
        <p:spPr>
          <a:xfrm>
            <a:off x="5212080" y="2560320"/>
            <a:ext cx="3474720" cy="310896"/>
          </a:xfrm>
          <a:prstGeom prst="rect">
            <a:avLst/>
          </a:prstGeom>
          <a:solidFill>
            <a:srgbClr val="FFFFFF"/>
          </a:solidFill>
          <a:ln w="12700">
            <a:solidFill>
              <a:srgbClr val="D0D8E4"/>
            </a:solidFill>
            <a:prstDash val="solid"/>
          </a:ln>
        </p:spPr>
      </p:sp>
      <p:sp>
        <p:nvSpPr>
          <p:cNvPr id="21" name="Text 18"/>
          <p:cNvSpPr/>
          <p:nvPr/>
        </p:nvSpPr>
        <p:spPr>
          <a:xfrm>
            <a:off x="5349240" y="2615184"/>
            <a:ext cx="1188720" cy="201168"/>
          </a:xfrm>
          <a:prstGeom prst="rect">
            <a:avLst/>
          </a:prstGeom>
          <a:noFill/>
          <a:ln/>
        </p:spPr>
        <p:txBody>
          <a:bodyPr wrap="square" lIns="0" tIns="0" rIns="0" bIns="0" rtlCol="0" anchor="ctr"/>
          <a:lstStyle/>
          <a:p>
            <a:pPr indent="0" marL="0">
              <a:buNone/>
            </a:pPr>
            <a:r>
              <a:rPr lang="en-US" sz="800" b="1" dirty="0">
                <a:solidFill>
                  <a:srgbClr val="1B2D55"/>
                </a:solidFill>
              </a:rPr>
              <a:t>Exclusivity</a:t>
            </a:r>
            <a:endParaRPr lang="en-US" sz="800" dirty="0"/>
          </a:p>
        </p:txBody>
      </p:sp>
      <p:sp>
        <p:nvSpPr>
          <p:cNvPr id="22" name="Text 19"/>
          <p:cNvSpPr/>
          <p:nvPr/>
        </p:nvSpPr>
        <p:spPr>
          <a:xfrm>
            <a:off x="6583680" y="2615184"/>
            <a:ext cx="2011680" cy="201168"/>
          </a:xfrm>
          <a:prstGeom prst="rect">
            <a:avLst/>
          </a:prstGeom>
          <a:noFill/>
          <a:ln/>
        </p:spPr>
        <p:txBody>
          <a:bodyPr wrap="square" lIns="0" tIns="0" rIns="0" bIns="0" rtlCol="0" anchor="ctr"/>
          <a:lstStyle/>
          <a:p>
            <a:pPr indent="0" marL="0">
              <a:buNone/>
            </a:pPr>
            <a:r>
              <a:rPr lang="en-US" sz="800" dirty="0">
                <a:solidFill>
                  <a:srgbClr val="4A5568"/>
                </a:solidFill>
              </a:rPr>
              <a:t>Subject to process letter terms</a:t>
            </a:r>
            <a:endParaRPr lang="en-US" sz="800" dirty="0"/>
          </a:p>
        </p:txBody>
      </p:sp>
      <p:sp>
        <p:nvSpPr>
          <p:cNvPr id="23" name="Shape 20"/>
          <p:cNvSpPr/>
          <p:nvPr/>
        </p:nvSpPr>
        <p:spPr>
          <a:xfrm>
            <a:off x="5212080" y="2889504"/>
            <a:ext cx="3474720" cy="310896"/>
          </a:xfrm>
          <a:prstGeom prst="rect">
            <a:avLst/>
          </a:prstGeom>
          <a:solidFill>
            <a:srgbClr val="F4F6FA"/>
          </a:solidFill>
          <a:ln w="12700">
            <a:solidFill>
              <a:srgbClr val="D0D8E4"/>
            </a:solidFill>
            <a:prstDash val="solid"/>
          </a:ln>
        </p:spPr>
      </p:sp>
      <p:sp>
        <p:nvSpPr>
          <p:cNvPr id="24" name="Text 21"/>
          <p:cNvSpPr/>
          <p:nvPr/>
        </p:nvSpPr>
        <p:spPr>
          <a:xfrm>
            <a:off x="5349240" y="2944368"/>
            <a:ext cx="1188720" cy="201168"/>
          </a:xfrm>
          <a:prstGeom prst="rect">
            <a:avLst/>
          </a:prstGeom>
          <a:noFill/>
          <a:ln/>
        </p:spPr>
        <p:txBody>
          <a:bodyPr wrap="square" lIns="0" tIns="0" rIns="0" bIns="0" rtlCol="0" anchor="ctr"/>
          <a:lstStyle/>
          <a:p>
            <a:pPr indent="0" marL="0">
              <a:buNone/>
            </a:pPr>
            <a:r>
              <a:rPr lang="en-US" sz="800" b="1" dirty="0">
                <a:solidFill>
                  <a:srgbClr val="1B2D55"/>
                </a:solidFill>
              </a:rPr>
              <a:t>Advisor</a:t>
            </a:r>
            <a:endParaRPr lang="en-US" sz="800" dirty="0"/>
          </a:p>
        </p:txBody>
      </p:sp>
      <p:sp>
        <p:nvSpPr>
          <p:cNvPr id="25" name="Text 22"/>
          <p:cNvSpPr/>
          <p:nvPr/>
        </p:nvSpPr>
        <p:spPr>
          <a:xfrm>
            <a:off x="6583680" y="2944368"/>
            <a:ext cx="2011680" cy="201168"/>
          </a:xfrm>
          <a:prstGeom prst="rect">
            <a:avLst/>
          </a:prstGeom>
          <a:noFill/>
          <a:ln/>
        </p:spPr>
        <p:txBody>
          <a:bodyPr wrap="square" lIns="0" tIns="0" rIns="0" bIns="0" rtlCol="0" anchor="ctr"/>
          <a:lstStyle/>
          <a:p>
            <a:pPr indent="0" marL="0">
              <a:buNone/>
            </a:pPr>
            <a:r>
              <a:rPr lang="en-US" sz="800" dirty="0">
                <a:solidFill>
                  <a:srgbClr val="4A5568"/>
                </a:solidFill>
              </a:rPr>
              <a:t>Goldman Sachs &amp; Co. LLC (exclusive)</a:t>
            </a:r>
            <a:endParaRPr lang="en-US" sz="800" dirty="0"/>
          </a:p>
        </p:txBody>
      </p:sp>
      <p:sp>
        <p:nvSpPr>
          <p:cNvPr id="26" name="Shape 23"/>
          <p:cNvSpPr/>
          <p:nvPr/>
        </p:nvSpPr>
        <p:spPr>
          <a:xfrm>
            <a:off x="457200" y="3657600"/>
            <a:ext cx="8229600" cy="914400"/>
          </a:xfrm>
          <a:prstGeom prst="rect">
            <a:avLst/>
          </a:prstGeom>
          <a:solidFill>
            <a:srgbClr val="1B2D55"/>
          </a:solidFill>
          <a:ln w="12700">
            <a:solidFill>
              <a:srgbClr val="1B2D55"/>
            </a:solidFill>
            <a:prstDash val="solid"/>
          </a:ln>
        </p:spPr>
      </p:sp>
      <p:sp>
        <p:nvSpPr>
          <p:cNvPr id="27" name="Shape 24"/>
          <p:cNvSpPr/>
          <p:nvPr/>
        </p:nvSpPr>
        <p:spPr>
          <a:xfrm>
            <a:off x="457200" y="3657600"/>
            <a:ext cx="109728" cy="914400"/>
          </a:xfrm>
          <a:prstGeom prst="rect">
            <a:avLst/>
          </a:prstGeom>
          <a:solidFill>
            <a:srgbClr val="C8A83C"/>
          </a:solidFill>
          <a:ln w="12700">
            <a:solidFill>
              <a:srgbClr val="C8A83C"/>
            </a:solidFill>
            <a:prstDash val="solid"/>
          </a:ln>
        </p:spPr>
      </p:sp>
      <p:sp>
        <p:nvSpPr>
          <p:cNvPr id="28" name="Text 25"/>
          <p:cNvSpPr/>
          <p:nvPr/>
        </p:nvSpPr>
        <p:spPr>
          <a:xfrm>
            <a:off x="685800" y="3730752"/>
            <a:ext cx="4114800" cy="256032"/>
          </a:xfrm>
          <a:prstGeom prst="rect">
            <a:avLst/>
          </a:prstGeom>
          <a:noFill/>
          <a:ln/>
        </p:spPr>
        <p:txBody>
          <a:bodyPr wrap="square" lIns="0" tIns="0" rIns="0" bIns="0" rtlCol="0" anchor="ctr"/>
          <a:lstStyle/>
          <a:p>
            <a:pPr indent="0" marL="0">
              <a:buNone/>
            </a:pPr>
            <a:r>
              <a:rPr lang="en-US" sz="900" b="1" dirty="0">
                <a:solidFill>
                  <a:srgbClr val="C8A83C"/>
                </a:solidFill>
              </a:rPr>
              <a:t>Goldman Sachs Investment Banking</a:t>
            </a:r>
            <a:endParaRPr lang="en-US" sz="900" dirty="0"/>
          </a:p>
        </p:txBody>
      </p:sp>
      <p:sp>
        <p:nvSpPr>
          <p:cNvPr id="29" name="Text 26"/>
          <p:cNvSpPr/>
          <p:nvPr/>
        </p:nvSpPr>
        <p:spPr>
          <a:xfrm>
            <a:off x="685800" y="4005072"/>
            <a:ext cx="7955280" cy="164592"/>
          </a:xfrm>
          <a:prstGeom prst="rect">
            <a:avLst/>
          </a:prstGeom>
          <a:noFill/>
          <a:ln/>
        </p:spPr>
        <p:txBody>
          <a:bodyPr wrap="square" lIns="0" tIns="0" rIns="0" bIns="0" rtlCol="0" anchor="ctr"/>
          <a:lstStyle/>
          <a:p>
            <a:pPr indent="0" marL="0">
              <a:buNone/>
            </a:pPr>
            <a:r>
              <a:rPr lang="en-US" sz="800" dirty="0">
                <a:solidFill>
                  <a:srgbClr val="AABBD0"/>
                </a:solidFill>
              </a:rPr>
              <a:t>David Reichman, Managing Director   |   david.reichman@gs.com   |   +1 (212) 902-5544</a:t>
            </a:r>
            <a:endParaRPr lang="en-US" sz="800" dirty="0"/>
          </a:p>
        </p:txBody>
      </p:sp>
      <p:sp>
        <p:nvSpPr>
          <p:cNvPr id="30" name="Text 27"/>
          <p:cNvSpPr/>
          <p:nvPr/>
        </p:nvSpPr>
        <p:spPr>
          <a:xfrm>
            <a:off x="685800" y="4178808"/>
            <a:ext cx="7955280" cy="164592"/>
          </a:xfrm>
          <a:prstGeom prst="rect">
            <a:avLst/>
          </a:prstGeom>
          <a:noFill/>
          <a:ln/>
        </p:spPr>
        <p:txBody>
          <a:bodyPr wrap="square" lIns="0" tIns="0" rIns="0" bIns="0" rtlCol="0" anchor="ctr"/>
          <a:lstStyle/>
          <a:p>
            <a:pPr indent="0" marL="0">
              <a:buNone/>
            </a:pPr>
            <a:r>
              <a:rPr lang="en-US" sz="800" dirty="0">
                <a:solidFill>
                  <a:srgbClr val="AABBD0"/>
                </a:solidFill>
              </a:rPr>
              <a:t>Sarah Lin, Vice President   |   sarah.lin@gs.com   |   +1 (212) 902-7821</a:t>
            </a:r>
            <a:endParaRPr lang="en-US" sz="800" dirty="0"/>
          </a:p>
        </p:txBody>
      </p:sp>
      <p:sp>
        <p:nvSpPr>
          <p:cNvPr id="31" name="Text 28"/>
          <p:cNvSpPr/>
          <p:nvPr/>
        </p:nvSpPr>
        <p:spPr>
          <a:xfrm>
            <a:off x="685800" y="4352544"/>
            <a:ext cx="7955280" cy="164592"/>
          </a:xfrm>
          <a:prstGeom prst="rect">
            <a:avLst/>
          </a:prstGeom>
          <a:noFill/>
          <a:ln/>
        </p:spPr>
        <p:txBody>
          <a:bodyPr wrap="square" lIns="0" tIns="0" rIns="0" bIns="0" rtlCol="0" anchor="ctr"/>
          <a:lstStyle/>
          <a:p>
            <a:pPr indent="0" marL="0">
              <a:buNone/>
            </a:pPr>
            <a:r>
              <a:rPr lang="en-US" sz="800" dirty="0">
                <a:solidFill>
                  <a:srgbClr val="AABBD0"/>
                </a:solidFill>
              </a:rPr>
              <a:t>Marcus Webb, Associate   |   marcus.webb@gs.com   |   +1 (212) 902-3901</a:t>
            </a:r>
            <a:endParaRPr lang="en-US" sz="800" dirty="0"/>
          </a:p>
        </p:txBody>
      </p:sp>
      <p:sp>
        <p:nvSpPr>
          <p:cNvPr id="32" name="Shape 29"/>
          <p:cNvSpPr/>
          <p:nvPr/>
        </p:nvSpPr>
        <p:spPr>
          <a:xfrm>
            <a:off x="0" y="4892040"/>
            <a:ext cx="9144000" cy="251460"/>
          </a:xfrm>
          <a:prstGeom prst="rect">
            <a:avLst/>
          </a:prstGeom>
          <a:solidFill>
            <a:srgbClr val="F4F6FA"/>
          </a:solidFill>
          <a:ln w="12700">
            <a:solidFill>
              <a:srgbClr val="D0D8E4"/>
            </a:solidFill>
            <a:prstDash val="solid"/>
          </a:ln>
        </p:spPr>
      </p:sp>
      <p:sp>
        <p:nvSpPr>
          <p:cNvPr id="33" name="Text 30"/>
          <p:cNvSpPr/>
          <p:nvPr/>
        </p:nvSpPr>
        <p:spPr>
          <a:xfrm>
            <a:off x="274320" y="4910328"/>
            <a:ext cx="6400800" cy="201168"/>
          </a:xfrm>
          <a:prstGeom prst="rect">
            <a:avLst/>
          </a:prstGeom>
          <a:noFill/>
          <a:ln/>
        </p:spPr>
        <p:txBody>
          <a:bodyPr wrap="square" lIns="0" tIns="0" rIns="0" bIns="0" rtlCol="0" anchor="ctr"/>
          <a:lstStyle/>
          <a:p>
            <a:pPr indent="0" marL="0">
              <a:buNone/>
            </a:pPr>
            <a:r>
              <a:rPr lang="en-US" sz="650" dirty="0">
                <a:solidFill>
                  <a:srgbClr val="8898AA"/>
                </a:solidFill>
              </a:rPr>
              <a:t>Strictly Private &amp; Confidential — Not for Distribution</a:t>
            </a:r>
            <a:endParaRPr lang="en-US" sz="650" dirty="0"/>
          </a:p>
        </p:txBody>
      </p:sp>
      <p:sp>
        <p:nvSpPr>
          <p:cNvPr id="34" name="Text 31"/>
          <p:cNvSpPr/>
          <p:nvPr/>
        </p:nvSpPr>
        <p:spPr>
          <a:xfrm>
            <a:off x="8046720" y="4910328"/>
            <a:ext cx="822960" cy="201168"/>
          </a:xfrm>
          <a:prstGeom prst="rect">
            <a:avLst/>
          </a:prstGeom>
          <a:noFill/>
          <a:ln/>
        </p:spPr>
        <p:txBody>
          <a:bodyPr wrap="square" lIns="0" tIns="0" rIns="0" bIns="0" rtlCol="0" anchor="ctr"/>
          <a:lstStyle/>
          <a:p>
            <a:pPr algn="r" indent="0" marL="0">
              <a:buNone/>
            </a:pPr>
            <a:r>
              <a:rPr lang="en-US" sz="650" dirty="0">
                <a:solidFill>
                  <a:srgbClr val="8898AA"/>
                </a:solidFill>
              </a:rPr>
              <a:t>19 / 20</a:t>
            </a:r>
            <a:endParaRPr lang="en-US" sz="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D55"/>
          </a:solidFill>
          <a:ln w="12700">
            <a:solidFill>
              <a:srgbClr val="1B2D55"/>
            </a:solidFill>
            <a:prstDash val="solid"/>
          </a:ln>
        </p:spPr>
      </p:sp>
      <p:sp>
        <p:nvSpPr>
          <p:cNvPr id="3" name="Shape 1"/>
          <p:cNvSpPr/>
          <p:nvPr/>
        </p:nvSpPr>
        <p:spPr>
          <a:xfrm>
            <a:off x="0" y="0"/>
            <a:ext cx="73152" cy="5143500"/>
          </a:xfrm>
          <a:prstGeom prst="rect">
            <a:avLst/>
          </a:prstGeom>
          <a:solidFill>
            <a:srgbClr val="C8A83C"/>
          </a:solidFill>
          <a:ln w="12700">
            <a:solidFill>
              <a:srgbClr val="C8A83C"/>
            </a:solidFill>
            <a:prstDash val="solid"/>
          </a:ln>
        </p:spPr>
      </p:sp>
      <p:sp>
        <p:nvSpPr>
          <p:cNvPr id="4" name="Text 2"/>
          <p:cNvSpPr/>
          <p:nvPr/>
        </p:nvSpPr>
        <p:spPr>
          <a:xfrm>
            <a:off x="914400" y="1645920"/>
            <a:ext cx="7315200" cy="914400"/>
          </a:xfrm>
          <a:prstGeom prst="rect">
            <a:avLst/>
          </a:prstGeom>
          <a:noFill/>
          <a:ln/>
        </p:spPr>
        <p:txBody>
          <a:bodyPr wrap="square" lIns="0" tIns="0" rIns="0" bIns="0" rtlCol="0" anchor="ctr"/>
          <a:lstStyle/>
          <a:p>
            <a:pPr algn="ctr" indent="0" marL="0">
              <a:buNone/>
            </a:pPr>
            <a:r>
              <a:rPr lang="en-US" sz="5200" b="1" spc="600" kern="0" dirty="0">
                <a:solidFill>
                  <a:srgbClr val="FFFFFF"/>
                </a:solidFill>
              </a:rPr>
              <a:t>APPENDIX</a:t>
            </a:r>
            <a:endParaRPr lang="en-US" sz="5200" dirty="0"/>
          </a:p>
        </p:txBody>
      </p:sp>
      <p:sp>
        <p:nvSpPr>
          <p:cNvPr id="5" name="Text 3"/>
          <p:cNvSpPr/>
          <p:nvPr/>
        </p:nvSpPr>
        <p:spPr>
          <a:xfrm>
            <a:off x="914400" y="2651760"/>
            <a:ext cx="7315200" cy="457200"/>
          </a:xfrm>
          <a:prstGeom prst="rect">
            <a:avLst/>
          </a:prstGeom>
          <a:noFill/>
          <a:ln/>
        </p:spPr>
        <p:txBody>
          <a:bodyPr wrap="square" lIns="0" tIns="0" rIns="0" bIns="0" rtlCol="0" anchor="ctr"/>
          <a:lstStyle/>
          <a:p>
            <a:pPr algn="ctr" indent="0" marL="0">
              <a:buNone/>
            </a:pPr>
            <a:r>
              <a:rPr lang="en-US" sz="1400" dirty="0">
                <a:solidFill>
                  <a:srgbClr val="C8A83C"/>
                </a:solidFill>
              </a:rPr>
              <a:t>Additional Supporting Materials</a:t>
            </a:r>
            <a:endParaRPr lang="en-US" sz="1400" dirty="0"/>
          </a:p>
        </p:txBody>
      </p:sp>
      <p:sp>
        <p:nvSpPr>
          <p:cNvPr id="6" name="Text 4"/>
          <p:cNvSpPr/>
          <p:nvPr/>
        </p:nvSpPr>
        <p:spPr>
          <a:xfrm>
            <a:off x="914400" y="3200400"/>
            <a:ext cx="7315200" cy="365760"/>
          </a:xfrm>
          <a:prstGeom prst="rect">
            <a:avLst/>
          </a:prstGeom>
          <a:noFill/>
          <a:ln/>
        </p:spPr>
        <p:txBody>
          <a:bodyPr wrap="square" lIns="0" tIns="0" rIns="0" bIns="0" rtlCol="0" anchor="ctr"/>
          <a:lstStyle/>
          <a:p>
            <a:pPr algn="ctr" indent="0" marL="0">
              <a:buNone/>
            </a:pPr>
            <a:r>
              <a:rPr lang="en-US" sz="900" dirty="0">
                <a:solidFill>
                  <a:srgbClr val="8898AA"/>
                </a:solidFill>
              </a:rPr>
              <a:t>Financial detail · Customer cohort analysis · Product roadmap · Reference customers available upon request</a:t>
            </a:r>
            <a:endParaRPr lang="en-US" sz="900" dirty="0"/>
          </a:p>
        </p:txBody>
      </p:sp>
      <p:sp>
        <p:nvSpPr>
          <p:cNvPr id="7" name="Text 5"/>
          <p:cNvSpPr/>
          <p:nvPr/>
        </p:nvSpPr>
        <p:spPr>
          <a:xfrm>
            <a:off x="457200" y="4709160"/>
            <a:ext cx="8229600" cy="274320"/>
          </a:xfrm>
          <a:prstGeom prst="rect">
            <a:avLst/>
          </a:prstGeom>
          <a:noFill/>
          <a:ln/>
        </p:spPr>
        <p:txBody>
          <a:bodyPr wrap="square" lIns="0" tIns="0" rIns="0" bIns="0" rtlCol="0" anchor="ctr"/>
          <a:lstStyle/>
          <a:p>
            <a:pPr algn="ctr" indent="0" marL="0">
              <a:buNone/>
            </a:pPr>
            <a:r>
              <a:rPr lang="en-US" sz="750" dirty="0">
                <a:solidFill>
                  <a:srgbClr val="556677"/>
                </a:solidFill>
              </a:rPr>
              <a:t>Additional materials available in the virtual data room upon execution of NDA and advancement to Round 2.</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Sundial — Confidential Information Memorandum</dc:title>
  <dc:subject>PptxGenJS Presentation</dc:subject>
  <dc:creator>Goldman Sachs</dc:creator>
  <cp:lastModifiedBy>Goldman Sachs</cp:lastModifiedBy>
  <cp:revision>1</cp:revision>
  <dcterms:created xsi:type="dcterms:W3CDTF">2026-05-11T16:27:24Z</dcterms:created>
  <dcterms:modified xsi:type="dcterms:W3CDTF">2026-05-11T16:27:24Z</dcterms:modified>
</cp:coreProperties>
</file>