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2D55"/>
                </a:solidFill>
                <a:latin typeface="Arial"/>
              </a:defRPr>
            </a:pPr>
            <a:r>
              <a:rPr sz="900" b="0" i="0" u="none" strike="noStrike">
                <a:solidFill>
                  <a:srgbClr val="1B2D55"/>
                </a:solidFill>
                <a:latin typeface="Arial"/>
              </a:rPr>
              <a:t>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5B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D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FY2019</c:v>
                  </c:pt>
                  <c:pt idx="1">
                    <c:v>FY2020</c:v>
                  </c:pt>
                  <c:pt idx="2">
                    <c:v>FY2021</c:v>
                  </c:pt>
                  <c:pt idx="3">
                    <c:v>LTM Q1'22</c:v>
                  </c:pt>
                  <c:pt idx="4">
                    <c:v>FY2022E</c:v>
                  </c:pt>
                  <c:pt idx="5">
                    <c:v>FY2023E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91</c:v>
                </c:pt>
                <c:pt idx="2">
                  <c:v>115</c:v>
                </c:pt>
                <c:pt idx="3">
                  <c:v>145</c:v>
                </c:pt>
                <c:pt idx="4">
                  <c:v>175</c:v>
                </c:pt>
                <c:pt idx="5">
                  <c:v>213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2D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4864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8224" y="0"/>
            <a:ext cx="5065776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20040"/>
            <a:ext cx="1097280" cy="320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324612"/>
            <a:ext cx="10789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2D55"/>
                </a:solidFill>
              </a:rPr>
              <a:t>GOLDMAN SACHS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ABBD0"/>
                </a:solidFill>
              </a:rPr>
              <a:t>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</a:rPr>
              <a:t>SUNDIAL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2926080" cy="0"/>
          </a:xfrm>
          <a:prstGeom prst="line">
            <a:avLst/>
          </a:prstGeom>
          <a:noFill/>
          <a:ln w="25400">
            <a:solidFill>
              <a:srgbClr val="C8A8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78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83C"/>
                </a:solidFill>
              </a:rPr>
              <a:t>Executive Teaser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ABBD0"/>
                </a:solidFill>
              </a:rPr>
              <a:t>STRICTLY PRIVATE &amp; CONFIDENTIAL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A"/>
                </a:solidFill>
              </a:rPr>
              <a:t>Not to be distributed without prior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98AA"/>
                </a:solidFill>
              </a:rPr>
              <a:t>written consent of Goldman Sachs.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April 2022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320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Transaction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Overview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1115568"/>
            <a:ext cx="461772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170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Company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8932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Slumber Smart, Inc.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0" y="1508760"/>
            <a:ext cx="4617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563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Founded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89320" y="1563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2014  |  Boulder, CO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06240" y="1901952"/>
            <a:ext cx="461772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1956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Sector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89320" y="1956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Consumer — Sleep-tech Hardware &amp; Software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0" y="2295144"/>
            <a:ext cx="4617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2350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Process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8932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Limited Auction — April 2022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06240" y="2688336"/>
            <a:ext cx="461772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Advisor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893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Goldman Sachs &amp; Co. LLC (Exclusive)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06240" y="3081528"/>
            <a:ext cx="4617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3136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LTM Revenue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89320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$145M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06240" y="3474720"/>
            <a:ext cx="461772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529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LTM Adj. EBITDA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89320" y="3529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$18M  (12.4% margin)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06240" y="3867912"/>
            <a:ext cx="4617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3922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Revenue Growth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89320" y="3922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+28% YoY (LTM)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06240" y="4261104"/>
            <a:ext cx="461772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Asking EV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8932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~$200M (11.1x LTM EBITDA)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GOLDMAN SACHS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COMPANY SNAPSHOT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Slumber Smart at a Glance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Building the leading platform for precision sleep optimization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77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Slumber Smart, Inc. is the category-defining brand in premium sleep optimization. Founded in 2014, the company designs, manufactures and sells smart mattress technology and paired monitoring hardware — with a growing software subscription layer that generates high-margin recurring revenue. Slumber Smart products actively regulate sleep temperature, track biometrics, and deliver AI-powered sleep coaching through the SlumberOS™ app.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Founded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73168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2014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HQ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922008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Boulder, 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892808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Employees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73168" y="2112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~380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892808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Countries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22008" y="2112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US, CA, UK, AU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459736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Distribution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73168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DTC + Retail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12280" y="2459736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NPS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22008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LTM Revenue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6928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BAE"/>
                </a:solidFill>
              </a:rPr>
              <a:t>$145M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66928" y="382219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+28% YoY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33472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0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LTM Adj. EBITDA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743200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$18M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743200" y="382219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12.4% margin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09744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19472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Subscription ARR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19472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$29M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919472" y="382219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~185K subscribers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86016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95744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Hardware ASP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095744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$1,450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095744" y="382219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avg. selling price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2 / 5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GOLDMAN SACHS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INVESTMENT HIGHLIGHTS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Why Slumber Smart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Six reasons this is a compelling platform investment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Category leader in a large, underpenetrated market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87552" y="161848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The global sleep economy exceeds $80B and premium sleep-tech hardware represents a nascent sub-segment with &lt;2% household penetration in the US. Slumber Smart has a 3–5 year head-start on technology and brand.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864608" y="1234440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4608" y="1234440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Durable competitive moat — hardware + software flywheel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94960" y="161848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The SlumberOS platform creates a proprietary data loop: each night of sleep data improves algorithm accuracy, deepening engagement and creating switching costs that generic hardware cannot replicate.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441448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41448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25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High-growth SaaS layer drives NRR and multiple expansion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87552" y="282549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Subscription revenue ($29M ARR) is growing ~60% YoY with 115% NRR. The software layer is on a path to represent 30%+ of revenue by 2025, supporting a richer valuation profile.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64608" y="2441448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2441448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825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Proven DTC playbook with strong unit economics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94960" y="282549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CAC of $180 against LTV of $1,900+ (hardware + 3yr sub). Payback period &lt;6 months on DTC channel. Retail partnerships (Nordstrom, Crate &amp; Barrel) expanding distribution with minimal incremental marketing spend.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3648456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48456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32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739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White-space geographic and product expansion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87552" y="403250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&lt;15% of revenue from international markets today. UK and Australia launched 2021. Europe (DE, FR) targeted for 2023. Adjacent SKUs (smart pillow, crib monitor) in late-stage development.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64608" y="3648456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3648456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4032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3739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Experienced management team with a clear roadmap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94960" y="403250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Founder-led by CEO Maya Chen (ex-Fitbit VP Product). CFO joined from Purple Innovation; COO built operations at Casper. Aligned incentives with meaningful equity rollover proposed.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3 / 5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GOLDMAN SACHS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FINANCIAL SUMMARY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Strong Growth Trajectory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Historical performance and management projections ($ in millions)</a:t>
            </a:r>
            <a:endParaRPr lang="en-US" sz="9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234440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34440"/>
          <a:ext cx="3063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47472"/>
                <a:gridCol w="347472"/>
                <a:gridCol w="347472"/>
                <a:gridCol w="420624"/>
                <a:gridCol w="384048"/>
                <a:gridCol w="384048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($M)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LTM Q1'22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FY2022E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FY2023E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175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213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YoY Growth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+26%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+26%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+28%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+21%E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+22%E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Gross Profit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Gross Margin 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38.9%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40.7%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43.5%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45.5%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46.3%E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47.4%E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Adj. 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14.2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18.0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22.5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32.0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EBITDA Margin 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10.4%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10.8%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12.3%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5BAE"/>
                          </a:solidFill>
                        </a:rPr>
                        <a:t>12.4%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5BAE"/>
                          </a:solidFill>
                        </a:rPr>
                        <a:t>12.9%E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5BAE"/>
                          </a:solidFill>
                        </a:rPr>
                        <a:t>15.0%E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645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E = Goldman Sachs estimate based on management projections. Projections not guaranteed.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4 / 5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GOLDMAN SACHS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PROCESS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Process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Targeted timeline — April through June 2022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572768"/>
            <a:ext cx="329184" cy="329184"/>
          </a:xfrm>
          <a:prstGeom prst="oval">
            <a:avLst/>
          </a:prstGeom>
          <a:solidFill>
            <a:srgbClr val="C8A8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320040" y="320040"/>
            <a:ext cx="1554480" cy="109728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-320040" y="320040"/>
            <a:ext cx="1554480" cy="20116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301752" y="338328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April 4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-301752" y="56692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Teaser Distribution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-301752" y="79552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Teaser distributed to invited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bidder universe (~8 parties)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938528" y="1572768"/>
            <a:ext cx="329184" cy="329184"/>
          </a:xfrm>
          <a:prstGeom prst="oval">
            <a:avLst/>
          </a:prstGeom>
          <a:solidFill>
            <a:srgbClr val="C8A8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1993392"/>
            <a:ext cx="1554480" cy="109728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25880" y="1993392"/>
            <a:ext cx="1554480" cy="20116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201168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April 22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344168" y="22402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Round 1 IOI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44168" y="246888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Indicative offers and preliminary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terms submitted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584448" y="1572768"/>
            <a:ext cx="329184" cy="329184"/>
          </a:xfrm>
          <a:prstGeom prst="oval">
            <a:avLst/>
          </a:prstGeom>
          <a:solidFill>
            <a:srgbClr val="2B5B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32004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71800" y="320040"/>
            <a:ext cx="155448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0088" y="338328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May 2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990088" y="56692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Management Presentations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990088" y="79552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Selected bidders invited to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MP with full team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230368" y="1572768"/>
            <a:ext cx="329184" cy="329184"/>
          </a:xfrm>
          <a:prstGeom prst="oval">
            <a:avLst/>
          </a:prstGeom>
          <a:solidFill>
            <a:srgbClr val="2B5B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993392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1993392"/>
            <a:ext cx="155448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201168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May 20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636008" y="22402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CIM &amp; Data Room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36008" y="246888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Full CIM and virtual data room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opened to advancing parties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76288" y="1572768"/>
            <a:ext cx="329184" cy="329184"/>
          </a:xfrm>
          <a:prstGeom prst="oval">
            <a:avLst/>
          </a:prstGeom>
          <a:solidFill>
            <a:srgbClr val="2B5B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32004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320040"/>
            <a:ext cx="155448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338328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June 3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281928" y="56692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Final Bids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281928" y="79552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Binding offers submitted with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markup to PSA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522208" y="1572768"/>
            <a:ext cx="329184" cy="329184"/>
          </a:xfrm>
          <a:prstGeom prst="oval">
            <a:avLst/>
          </a:prstGeom>
          <a:solidFill>
            <a:srgbClr val="2B5B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9560" y="1993392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909560" y="1993392"/>
            <a:ext cx="155448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27848" y="201168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June 17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7927848" y="22402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Close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927848" y="246888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Transaction signing and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public announcement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3474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Note: Indicative timeline subject to change at Goldman Sachs' sole discretion.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Goldman Sachs Contact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1520" y="404164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David Reichman, Managing Director   |   david.reichman@gs.com   |   +1 (212) 902-5544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" y="4297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Sarah Lin, Vice President   |   sarah.lin@gs.com   |   +1 (212) 902-7821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5 / 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Sundial — Executive Teaser</dc:title>
  <dc:subject>PptxGenJS Presentation</dc:subject>
  <dc:creator>Goldman Sachs</dc:creator>
  <cp:lastModifiedBy>Goldman Sachs</cp:lastModifiedBy>
  <cp:revision>1</cp:revision>
  <dcterms:created xsi:type="dcterms:W3CDTF">2026-05-11T16:27:24Z</dcterms:created>
  <dcterms:modified xsi:type="dcterms:W3CDTF">2026-05-11T16:27:24Z</dcterms:modified>
</cp:coreProperties>
</file>