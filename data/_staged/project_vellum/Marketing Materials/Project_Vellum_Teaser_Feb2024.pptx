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2D55"/>
                </a:solidFill>
                <a:latin typeface="Arial"/>
              </a:defRPr>
            </a:pPr>
            <a:r>
              <a:rPr sz="900" b="0" i="0" u="none" strike="noStrike">
                <a:solidFill>
                  <a:srgbClr val="1B2D55"/>
                </a:solidFill>
                <a:latin typeface="Arial"/>
              </a:rPr>
              <a:t>Revenue ($M) — Actual vs. Projected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2B5BA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B2D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B5BA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B5BA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B5BA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B5BA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8A83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8A83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8A83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8A83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8A83C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FY2021</c:v>
                  </c:pt>
                  <c:pt idx="1">
                    <c:v>FY2022</c:v>
                  </c:pt>
                  <c:pt idx="2">
                    <c:v>FY2023</c:v>
                  </c:pt>
                  <c:pt idx="3">
                    <c:v>LTM Q4'23</c:v>
                  </c:pt>
                  <c:pt idx="4">
                    <c:v>FY2024E</c:v>
                  </c:pt>
                  <c:pt idx="5">
                    <c:v>FY2025E</c:v>
                  </c:pt>
                  <c:pt idx="6">
                    <c:v>FY2026E</c:v>
                  </c:pt>
                  <c:pt idx="7">
                    <c:v>FY2027E</c:v>
                  </c:pt>
                  <c:pt idx="8">
                    <c:v>FY2028E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82</c:v>
                </c:pt>
                <c:pt idx="1">
                  <c:v>89.2</c:v>
                </c:pt>
                <c:pt idx="2">
                  <c:v>91.4</c:v>
                </c:pt>
                <c:pt idx="3">
                  <c:v>95.1</c:v>
                </c:pt>
                <c:pt idx="4">
                  <c:v>102</c:v>
                </c:pt>
                <c:pt idx="5">
                  <c:v>110</c:v>
                </c:pt>
                <c:pt idx="6">
                  <c:v>119</c:v>
                </c:pt>
                <c:pt idx="7">
                  <c:v>128</c:v>
                </c:pt>
                <c:pt idx="8">
                  <c:v>137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1B2D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514350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0" y="0"/>
            <a:ext cx="54864" cy="5143500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78224" y="0"/>
            <a:ext cx="5065776" cy="51435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320040"/>
            <a:ext cx="1371600" cy="320040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" y="324612"/>
            <a:ext cx="1353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2D55"/>
                </a:solidFill>
              </a:rPr>
              <a:t>LINCOLN INTERNATIONAL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AABBD0"/>
                </a:solidFill>
              </a:rPr>
              <a:t>PROJECT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200" kern="0" dirty="0">
                <a:solidFill>
                  <a:srgbClr val="FFFFFF"/>
                </a:solidFill>
              </a:rPr>
              <a:t>VELLUM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2926080" cy="0"/>
          </a:xfrm>
          <a:prstGeom prst="line">
            <a:avLst/>
          </a:prstGeom>
          <a:noFill/>
          <a:ln w="25400">
            <a:solidFill>
              <a:srgbClr val="C8A8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5786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A83C"/>
                </a:solidFill>
              </a:rPr>
              <a:t>Executive Teaser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30632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AABBD0"/>
                </a:solidFill>
              </a:rPr>
              <a:t>STRICTLY PRIVATE &amp; CONFIDENTIAL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365760" y="33375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A"/>
                </a:solidFill>
              </a:rPr>
              <a:t>Not for distribution without prior written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898AA"/>
                </a:solidFill>
              </a:rPr>
              <a:t>consent of Lincoln International.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65760" y="4663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BD0"/>
                </a:solidFill>
              </a:rPr>
              <a:t>February 2024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389120" y="3200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D55"/>
                </a:solidFill>
              </a:rPr>
              <a:t>Transaction Overview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06240" y="713232"/>
            <a:ext cx="4572000" cy="0"/>
          </a:xfrm>
          <a:prstGeom prst="line">
            <a:avLst/>
          </a:prstGeom>
          <a:noFill/>
          <a:ln w="9525">
            <a:solidFill>
              <a:srgbClr val="D0D8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06240" y="786384"/>
            <a:ext cx="4617720" cy="411480"/>
          </a:xfrm>
          <a:prstGeom prst="rect">
            <a:avLst/>
          </a:prstGeom>
          <a:solidFill>
            <a:srgbClr val="F0F4FA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15968" y="859536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Company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016752" y="859536"/>
            <a:ext cx="2697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Ascot Paper Products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206240" y="1216152"/>
            <a:ext cx="46177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15968" y="1289304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Sector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016752" y="1289304"/>
            <a:ext cx="2697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Light Industrial — Specialty Paper &amp; Fine Writing Products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206240" y="1645920"/>
            <a:ext cx="4617720" cy="411480"/>
          </a:xfrm>
          <a:prstGeom prst="rect">
            <a:avLst/>
          </a:prstGeom>
          <a:solidFill>
            <a:srgbClr val="F0F4FA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1719072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HQ / Founded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016752" y="1719072"/>
            <a:ext cx="2697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Portland, OR / 2001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206240" y="2075688"/>
            <a:ext cx="46177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15968" y="2148840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Advisor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016752" y="2148840"/>
            <a:ext cx="2697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Lincoln International (Exclusive)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206240" y="2505456"/>
            <a:ext cx="4617720" cy="411480"/>
          </a:xfrm>
          <a:prstGeom prst="rect">
            <a:avLst/>
          </a:prstGeom>
          <a:solidFill>
            <a:srgbClr val="F0F4FA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15968" y="2578608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LTM Revenue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016752" y="2578608"/>
            <a:ext cx="2697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$95M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206240" y="2935224"/>
            <a:ext cx="46177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15968" y="3008376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LTM Adj. EBITDA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016752" y="3008376"/>
            <a:ext cx="2697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$14M (14.7%)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206240" y="3364992"/>
            <a:ext cx="4617720" cy="411480"/>
          </a:xfrm>
          <a:prstGeom prst="rect">
            <a:avLst/>
          </a:prstGeom>
          <a:solidFill>
            <a:srgbClr val="F0F4FA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15968" y="3438144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Revenue Growth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016752" y="3438144"/>
            <a:ext cx="2697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+7% YoY (LTM)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206240" y="3794760"/>
            <a:ext cx="46177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15968" y="3867912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Asking EV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016752" y="3867912"/>
            <a:ext cx="2697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~$140M (10.0x LTM Adj. EBITDA)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Lincoln International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COMPANY SNAPSHOT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Ascot Paper Products at a Glance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Overview and key operating metrics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3977640" cy="182880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71600"/>
            <a:ext cx="37490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Ascot Paper Products ("Ascot" or the "Company") is a leading North American manufacturer and distributor of premium specialty paper products — including fine writing papers, art &amp; illustration papers, archival document papers, and premium packaging substrates. Founded in 2001, the Company operates one manufacturing facility in Portland, OR and a converting &amp; distribution center in Memphis, TN, serving independent specialty retailers, art supply chains, luxury stationery brands, and institutional archival customers. Ascot's products command a 30–45% price premium to commodity paper through superior surface quality, acid-free archival certification, and exclusive brand partnerships.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1965960" cy="502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3716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8AA"/>
                </a:solidFill>
              </a:rPr>
              <a:t>Founded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773168" y="154533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55"/>
                </a:solidFill>
              </a:rPr>
              <a:t>2001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12280" y="1325880"/>
            <a:ext cx="1965960" cy="502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22008" y="13716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8AA"/>
                </a:solidFill>
              </a:rPr>
              <a:t>HQ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922008" y="154533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55"/>
                </a:solidFill>
              </a:rPr>
              <a:t>Portland, 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892808"/>
            <a:ext cx="1965960" cy="502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19385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8AA"/>
                </a:solidFill>
              </a:rPr>
              <a:t>Employees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773168" y="211226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55"/>
                </a:solidFill>
              </a:rPr>
              <a:t>~290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12280" y="1892808"/>
            <a:ext cx="1965960" cy="502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22008" y="19385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8AA"/>
                </a:solidFill>
              </a:rPr>
              <a:t>Manufacturing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922008" y="211226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55"/>
                </a:solidFill>
              </a:rPr>
              <a:t>Portland, OR (owned)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2459736"/>
            <a:ext cx="1965960" cy="502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25054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8AA"/>
                </a:solidFill>
              </a:rPr>
              <a:t>Distribution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773168" y="26791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55"/>
                </a:solidFill>
              </a:rPr>
              <a:t>Memphis, TN (leased)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12280" y="2459736"/>
            <a:ext cx="1965960" cy="502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22008" y="25054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8AA"/>
                </a:solidFill>
              </a:rPr>
              <a:t>Retail Doors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922008" y="26791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55"/>
                </a:solidFill>
              </a:rPr>
              <a:t>~4,800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200400"/>
            <a:ext cx="199339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66928" y="329184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98AA"/>
                </a:solidFill>
              </a:rPr>
              <a:t>LTM Revenue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66928" y="3493008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5BAE"/>
                </a:solidFill>
              </a:rPr>
              <a:t>$95M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2633472" y="3200400"/>
            <a:ext cx="199339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743200" y="329184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98AA"/>
                </a:solidFill>
              </a:rPr>
              <a:t>LTM Adj. EBITDA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743200" y="3493008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</a:rPr>
              <a:t>$14M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4809744" y="3200400"/>
            <a:ext cx="199339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919472" y="329184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98AA"/>
                </a:solidFill>
              </a:rPr>
              <a:t>YoY Revenue Growth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919472" y="3493008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A83C"/>
                </a:solidFill>
              </a:rPr>
              <a:t>+7%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6986016" y="3200400"/>
            <a:ext cx="199339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095744" y="329184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98AA"/>
                </a:solidFill>
              </a:rPr>
              <a:t>Active SKUs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095744" y="3493008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D55"/>
                </a:solidFill>
              </a:rPr>
              <a:t>3,200+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9162288" y="3200400"/>
            <a:ext cx="199339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272016" y="329184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98AA"/>
                </a:solidFill>
              </a:rPr>
              <a:t>Price Premium vs. Commodity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9272016" y="3493008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D55"/>
                </a:solidFill>
              </a:rPr>
              <a:t>30–45%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11338560" y="3200400"/>
            <a:ext cx="199339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1448288" y="329184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98AA"/>
                </a:solidFill>
              </a:rPr>
              <a:t>EBITDA Margin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1448288" y="3493008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D55"/>
                </a:solidFill>
              </a:rPr>
              <a:t>14.7%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2 / 5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Lincoln International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INVESTMENT HIGHLIGHTS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Why Ascot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Six investment highlights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4251960" cy="1133856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34440"/>
            <a:ext cx="457200" cy="1133856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184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87552" y="13258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Defensible niche in premium specialty paper — structural barriers to competition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87552" y="1636776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Acid-free archival certification requires ISO 9706 compliance — 2–3 year qualification process for new entrants  ·  Custom colorways and surface textures for 6 exclusive luxury stationery brand partners (NDA-protected)  ·  Proprietary coating formulas (4 patents) developed over 20+ years — replicable only with significant R&amp;D investment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864608" y="1234440"/>
            <a:ext cx="425196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64608" y="1234440"/>
            <a:ext cx="457200" cy="1133856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6184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94960" y="13258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Premium pricing power insulated from commodity paper market dynamics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94960" y="1636776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ASP of $4.20–$8.80 per sheet vs. $0.08–0.25/sheet for commodity copy paper — 30–45x premium  ·  Price increases of 4–6% in FY2022 and FY2023 absorbed with minimal volume impact  ·  Premium segment customers are price-insensitive — buying on quality, certification, and brand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57200" y="2441448"/>
            <a:ext cx="4251960" cy="1133856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441448"/>
            <a:ext cx="457200" cy="1133856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8254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7552" y="25328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Durable institutional customer base with high switching costs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87552" y="2843784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Library of Congress, Smithsonian, and 12 major university archives — archival customers on 5-year supply agreements  ·  Artist-grade paper relationships with Blick Art Materials (382 stores) and Michaels — 9-year tenure  ·  Average customer relationship: 11.2 years; top 20 accounts represent 62% of revenue with &lt;3% annual churn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864608" y="2441448"/>
            <a:ext cx="425196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64608" y="2441448"/>
            <a:ext cx="457200" cy="1133856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28254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94960" y="25328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Significant e-commerce and DTC growth vector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394960" y="2843784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Ascot.com DTC channel grew from $1.2M (FY2021) to $8.5M (FY2023) — 65% CAGR  ·  Amazon Seller Central: #1 best-seller in 'Fine Art Paper' category; 4.8-star rating (12,400+ reviews)  ·  DTC gross margin 58% vs. 28% wholesale — channel mix shift to digital structurally accretive to margins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3648456"/>
            <a:ext cx="4251960" cy="1133856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648456"/>
            <a:ext cx="457200" cy="1133856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0325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87552" y="37398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Environmental credentials align with growing institutional and consumer sustainability mandates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87552" y="4050792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100% FSC-certified fiber sourcing since 2019; Portland facility carbon-neutral since 2022  ·  Climate Pledge Friendly designation on Amazon; preferred supplier to 3 university sustainability programs  ·  Recyclable and biodegradable packaging across 95% of SKU count — no single-use plastic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864608" y="3648456"/>
            <a:ext cx="425196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64608" y="3648456"/>
            <a:ext cx="457200" cy="1133856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40325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94960" y="37398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Family-owned business with clean balance sheet and no legacy liabilities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394960" y="4050792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Founded and majority-owned by the Hartley family (68%) — first-generation sale process  ·  Zero funded debt on balance sheet; $11M cash — acquiror gets clean platform with immediate bolt-on capacity  ·  No pension obligations, no environmental remediation liabilities, no customer concentration &gt;15%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3 / 5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Lincoln International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FINANCIAL SUMMARY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Financial Performance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Historical results and management projections ($ in millions)</a:t>
            </a:r>
            <a:endParaRPr lang="en-US" sz="9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261872"/>
          <a:ext cx="51206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261872"/>
          <a:ext cx="3063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93776"/>
                <a:gridCol w="493776"/>
                <a:gridCol w="493776"/>
                <a:gridCol w="493776"/>
                <a:gridCol w="493776"/>
                <a:gridCol w="493776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($M)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FY2021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FY2022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FY2023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LTM Q4'23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B2D55"/>
                          </a:solidFill>
                        </a:rPr>
                        <a:t>FY2024E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B2D55"/>
                          </a:solidFill>
                        </a:rPr>
                        <a:t>FY2025E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3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Revenue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82.0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89.2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91.4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95.1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YoY Growth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+8.8%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+2.5%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+7.2%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Sales &amp; Marketing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7.4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7.9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8.1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8.5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G&amp;A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4.8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5.0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5.2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5.5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Revenue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102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Adj. EBITDA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EBITDA Margin 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15.7%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17.3%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57200" y="464515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E = Management projections; not independently verified by Lincoln International.</a:t>
            </a:r>
            <a:endParaRPr lang="en-US" sz="650" dirty="0"/>
          </a:p>
        </p:txBody>
      </p:sp>
      <p:sp>
        <p:nvSpPr>
          <p:cNvPr id="11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13" name="Text 9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4 / 5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Lincoln International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PROCESS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Process Overview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Targeted timeline — February 2024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229600" cy="0"/>
          </a:xfrm>
          <a:prstGeom prst="line">
            <a:avLst/>
          </a:prstGeom>
          <a:noFill/>
          <a:ln w="25400">
            <a:solidFill>
              <a:srgbClr val="D0D8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600200"/>
            <a:ext cx="274320" cy="274320"/>
          </a:xfrm>
          <a:prstGeom prst="oval">
            <a:avLst/>
          </a:prstGeom>
          <a:solidFill>
            <a:srgbClr val="C8A8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274320" y="502920"/>
            <a:ext cx="1463040" cy="804672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-274320" y="502920"/>
            <a:ext cx="1463040" cy="20116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-256032" y="530352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Step 1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-256032" y="740664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D55"/>
                </a:solidFill>
              </a:rPr>
              <a:t>Teaser Distribution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965960" y="1600200"/>
            <a:ext cx="274320" cy="274320"/>
          </a:xfrm>
          <a:prstGeom prst="oval">
            <a:avLst/>
          </a:prstGeom>
          <a:solidFill>
            <a:srgbClr val="C8A8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1993392"/>
            <a:ext cx="1463040" cy="804672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371600" y="1993392"/>
            <a:ext cx="1463040" cy="20116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89888" y="2020824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Step 2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1389888" y="2231136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D55"/>
                </a:solidFill>
              </a:rPr>
              <a:t>IOI Submission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611880" y="1600200"/>
            <a:ext cx="274320" cy="274320"/>
          </a:xfrm>
          <a:prstGeom prst="oval">
            <a:avLst/>
          </a:prstGeom>
          <a:solidFill>
            <a:srgbClr val="2B5BA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17520" y="502920"/>
            <a:ext cx="1463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017520" y="502920"/>
            <a:ext cx="1463040" cy="201168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35808" y="530352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Step 3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3035808" y="740664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D55"/>
                </a:solidFill>
              </a:rPr>
              <a:t>Management Presentations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257800" y="1600200"/>
            <a:ext cx="274320" cy="274320"/>
          </a:xfrm>
          <a:prstGeom prst="oval">
            <a:avLst/>
          </a:prstGeom>
          <a:solidFill>
            <a:srgbClr val="2B5BA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1993392"/>
            <a:ext cx="1463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993392"/>
            <a:ext cx="1463040" cy="201168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2020824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Step 4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681728" y="2231136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D55"/>
                </a:solidFill>
              </a:rPr>
              <a:t>CIM &amp; Data Room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903720" y="1600200"/>
            <a:ext cx="274320" cy="274320"/>
          </a:xfrm>
          <a:prstGeom prst="oval">
            <a:avLst/>
          </a:prstGeom>
          <a:solidFill>
            <a:srgbClr val="2B5BA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502920"/>
            <a:ext cx="1463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09360" y="502920"/>
            <a:ext cx="1463040" cy="201168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7648" y="530352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Step 5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6327648" y="740664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D55"/>
                </a:solidFill>
              </a:rPr>
              <a:t>Final Bids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8549640" y="1600200"/>
            <a:ext cx="274320" cy="274320"/>
          </a:xfrm>
          <a:prstGeom prst="oval">
            <a:avLst/>
          </a:prstGeom>
          <a:solidFill>
            <a:srgbClr val="2B5BA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55280" y="1993392"/>
            <a:ext cx="1463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55280" y="1993392"/>
            <a:ext cx="1463040" cy="201168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73568" y="2020824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Step 6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7973568" y="2231136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D55"/>
                </a:solidFill>
              </a:rPr>
              <a:t>Signing &amp; Announcement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3630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A83C"/>
                </a:solidFill>
              </a:rPr>
              <a:t>Lincoln International — Contact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31520" y="387705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Thomas Wren, Managing Director   |   t.wren@lincolninternational.com   |   +1 (312) 506-2500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31520" y="4078224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Laura Chen, Vice President   |   l.chen@lincolninternational.com   |   +1 (312) 506-2641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31520" y="42793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Erik Johnson, Associate   |   e.johnson@lincolninternational.com   |   +1 (312) 506-2788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5 / 5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2026-05-12T00:15:01Z</dcterms:created>
  <dcterms:modified xsi:type="dcterms:W3CDTF">2026-05-12T00:15:01Z</dcterms:modified>
</cp:coreProperties>
</file>