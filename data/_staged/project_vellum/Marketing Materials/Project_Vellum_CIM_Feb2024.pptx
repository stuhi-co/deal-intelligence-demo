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B5B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B2D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LTM Q4'23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89.2</c:v>
                </c:pt>
                <c:pt idx="2">
                  <c:v>91.4</c:v>
                </c:pt>
                <c:pt idx="3">
                  <c:v>95.1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B2D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B5BAE"/>
            </a:solidFill>
            <a:ln w="31750" cap="flat">
              <a:solidFill>
                <a:srgbClr val="2B5B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B5BAE"/>
              </a:solidFill>
              <a:ln w="9525" cap="flat">
                <a:solidFill>
                  <a:srgbClr val="2B5B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FY2024E</c:v>
                  </c:pt>
                  <c:pt idx="1">
                    <c:v>FY2025E</c:v>
                  </c:pt>
                  <c:pt idx="2">
                    <c:v>FY2026E</c:v>
                  </c:pt>
                  <c:pt idx="3">
                    <c:v>FY2027E</c:v>
                  </c:pt>
                  <c:pt idx="4">
                    <c:v>FY2028E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102</c:v>
                </c:pt>
                <c:pt idx="1">
                  <c:v>110</c:v>
                </c:pt>
                <c:pt idx="2">
                  <c:v>119</c:v>
                </c:pt>
                <c:pt idx="3">
                  <c:v>128</c:v>
                </c:pt>
                <c:pt idx="4">
                  <c:v>137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Adj. EBITDA ($M)</c:v>
                </c:pt>
              </c:strCache>
            </c:strRef>
          </c:tx>
          <c:spPr>
            <a:solidFill>
              <a:srgbClr val="C8A83C"/>
            </a:solidFill>
            <a:ln w="31750" cap="flat">
              <a:solidFill>
                <a:srgbClr val="C8A8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A83C"/>
              </a:solidFill>
              <a:ln w="9525" cap="flat">
                <a:solidFill>
                  <a:srgbClr val="C8A8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FY2024E</c:v>
                  </c:pt>
                  <c:pt idx="1">
                    <c:v>FY2025E</c:v>
                  </c:pt>
                  <c:pt idx="2">
                    <c:v>FY2026E</c:v>
                  </c:pt>
                  <c:pt idx="3">
                    <c:v>FY2027E</c:v>
                  </c:pt>
                  <c:pt idx="4">
                    <c:v>FY2028E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</c:v>
                </c:pt>
                <c:pt idx="1">
                  <c:v>19</c:v>
                </c:pt>
                <c:pt idx="2">
                  <c:v>22</c:v>
                </c:pt>
                <c:pt idx="3">
                  <c:v>25</c:v>
                </c:pt>
                <c:pt idx="4">
                  <c:v>29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1371600" cy="36576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283464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2D55"/>
                </a:solidFill>
              </a:rPr>
              <a:t>LINCOLN INTERNATIONAL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AABBD0"/>
                </a:solidFill>
              </a:rPr>
              <a:t>CONFIDENTIAL INFORMATION MEMORANDUM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100" kern="0" dirty="0">
                <a:solidFill>
                  <a:srgbClr val="FFFFFF"/>
                </a:solidFill>
              </a:rPr>
              <a:t>PROJECT VELLUM</a:t>
            </a:r>
            <a:endParaRPr lang="en-US" sz="5800" dirty="0"/>
          </a:p>
        </p:txBody>
      </p:sp>
      <p:sp>
        <p:nvSpPr>
          <p:cNvPr id="9" name="Shape 7"/>
          <p:cNvSpPr/>
          <p:nvPr/>
        </p:nvSpPr>
        <p:spPr>
          <a:xfrm>
            <a:off x="2286000" y="2697480"/>
            <a:ext cx="4572000" cy="0"/>
          </a:xfrm>
          <a:prstGeom prst="line">
            <a:avLst/>
          </a:prstGeom>
          <a:noFill/>
          <a:ln w="25400">
            <a:solidFill>
              <a:srgbClr val="C8A8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8A83C"/>
                </a:solidFill>
              </a:rPr>
              <a:t>Ascot Paper Products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310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8AA"/>
                </a:solidFill>
              </a:rPr>
              <a:t>Light Industrial — Specialty Paper &amp; Fine Writing Products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4074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February 2024  |  STRICTLY PRIVATE &amp; CONFIDENTIAL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480974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45566"/>
                </a:solidFill>
              </a:rPr>
              <a:t>This CIM has been prepared by Lincoln International on behalf of Ascot Paper Products. Not for distribution.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Lincoln International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EXECUTIVE SUMMARY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Executive Summary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Ascot Paper Products — Light Industrial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Ascot Paper Products ("Ascot" or the "Company") is a leading North American manufacturer and distributor of premium specialty paper products — including fine writing papers, art &amp; illustration papers, archival document papers, and premium packaging substrates. Founded in 2001, the Company operates one manufacturing facility in Portland, OR and a converting &amp; distribution center in Memphis, TN, serving independent specialty retailers, art supply chains, luxury stationery brands, and institutional archival customers. Ascot's products command a 30–45% price premium to commodity paper through superior surface quality, acid-free archival certification, and exclusive brand partnerships.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Key Financial Metrics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419856"/>
            <a:ext cx="4206240" cy="25603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564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LTM Q4'23 Revenue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97480" y="3456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$95M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685032"/>
            <a:ext cx="4206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216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Adj. EBITDA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97480" y="3721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$14M (14.7%)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950208"/>
            <a:ext cx="4206240" cy="25603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867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Revenue Growth (YoY)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7480" y="3986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+7%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4215384"/>
            <a:ext cx="4206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2519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Asking EV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97480" y="4251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~$140M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4206240" cy="25603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5171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Transaction Multiple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97480" y="4517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10.0x LTM Adj. EBITDA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74920" y="1188720"/>
            <a:ext cx="1828800" cy="1042416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13533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$95M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07492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LTM Revenue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013448" y="1188720"/>
            <a:ext cx="1828800" cy="1042416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3448" y="13533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$14M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13448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LTM Adj. EBITDA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74920" y="2304288"/>
            <a:ext cx="1828800" cy="104241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468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+7%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074920" y="2962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YoY Revenue Growth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013448" y="2304288"/>
            <a:ext cx="1828800" cy="104241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13448" y="2468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3,200+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013448" y="2962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Active SKUs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074920" y="3419856"/>
            <a:ext cx="1828800" cy="10424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3584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30–45%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074920" y="4078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Price Premium vs. Commodity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013448" y="3419856"/>
            <a:ext cx="1828800" cy="10424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13448" y="3584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14.7%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013448" y="4078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EBITDA Margin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2 / 14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Lincoln International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INVESTMENT HIGHLIGHTS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Investment Highlights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Six reasons Ascot Paper Products represents a compelling investment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11480" cy="512064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" y="1307592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Defensible niche in premium specialty paper — structural barriers to competition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78408" y="1554480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Acid-free archival certification requires ISO 9706 compliance — 2–3 year qualification process for new entrants   ·   Custom colorways and surface textures for 6 exclusive luxury stationery brand partners (NDA-protected)   ·   Proprietary coating formulas (4 patents) developed over 20+ years — replicable only with significant R&amp;D investment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1819656"/>
            <a:ext cx="411480" cy="512064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385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3C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8408" y="189280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Premium pricing power insulated from commodity paper market dynamics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78408" y="213969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ASP of $4.20–$8.80 per sheet vs. $0.08–0.25/sheet for commodity copy paper — 30–45x premium   ·   Price increases of 4–6% in FY2022 and FY2023 absorbed with minimal volume impact   ·   Premium segment customers are price-insensitive — buying on quality, certification, and brand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404872"/>
            <a:ext cx="411480" cy="512064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237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78408" y="2478024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Durable institutional customer base with high switching costs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78408" y="272491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Library of Congress, Smithsonian, and 12 major university archives — archival customers on 5-year supply agreements   ·   Artist-grade paper relationships with Blick Art Materials (382 stores) and Michaels — 9-year tenure   ·   Average customer relationship: 11.2 years; top 20 accounts represent 62% of revenue with &lt;3% annual churn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2990088"/>
            <a:ext cx="411480" cy="512064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08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3C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8408" y="3063240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Significant e-commerce and DTC growth vector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8408" y="331012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Ascot.com DTC channel grew from $1.2M (FY2021) to $8.5M (FY2023) — 65% CAGR   ·   Amazon Seller Central: #1 best-seller in 'Fine Art Paper' category; 4.8-star rating (12,400+ reviews)   ·   DTC gross margin 58% vs. 28% wholesale — channel mix shift to digital structurally accretive to margins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3575304"/>
            <a:ext cx="411480" cy="512064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941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8408" y="3648456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Environmental credentials align with growing institutional and consumer sustainability mandates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8408" y="389534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100% FSC-certified fiber sourcing since 2019; Portland facility carbon-neutral since 2022   ·   Climate Pledge Friendly designation on Amazon; preferred supplier to 3 university sustainability programs   ·   Recyclable and biodegradable packaging across 95% of SKU count — no single-use plastic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411480" cy="512064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79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3C"/>
                </a:solidFill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8408" y="4233672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Family-owned business with clean balance sheet and no legacy liabilities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78408" y="4480560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Founded and majority-owned by the Hartley family (68%) — first-generation sale process   ·   Zero funded debt on balance sheet; $11M cash — acquiror gets clean platform with immediate bolt-on capacity   ·   No pension obligations, no environmental remediation liabilities, no customer concentration &gt;15%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3 / 14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Lincoln International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COMPANY OVERVIEW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Company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History, scale, and operating footprint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Ascot Paper Products ("Ascot" or the "Company") is a leading North American manufacturer and distributor of premium specialty paper products — including fine writing papers, art &amp; illustration papers, archival document papers, and premium packaging substrates. Founded in 2001, the Company operates one manufacturing facility in Portland, OR and a converting &amp; distribution center in Memphis, TN, serving independent specialty retailers, art supply chains, luxury stationery brands, and institutional archival customers.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0"/>
          </a:xfrm>
          <a:prstGeom prst="line">
            <a:avLst/>
          </a:prstGeom>
          <a:noFill/>
          <a:ln w="25400">
            <a:solidFill>
              <a:srgbClr val="2B5B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2001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-201168" y="137160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Founded by Richard Hartley in Portland, OR. Initial focus: archival and fine art papers for institutional buyers.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7007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761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2006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70432" y="2999232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Blick Art Materials partnership signed — first national retail distribution. Revenue reaches $28M.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0723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2010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542032" y="137160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Memphis distribution center opened. SKU count expands to 1,400. Revenue $42M.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4439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761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2015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13632" y="2999232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ISO 9706 archival certification achieved. Library of Congress and Smithsonian contracts won.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8155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2019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85232" y="137160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FSC certification secured. E-commerce channel launched on Amazon and ascot.com. Revenue $74M.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71871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2761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2022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656832" y="2999232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Portland facility carbon-neutral. DTC channel reaches $4.2M. Revenue $89M, EBITDA $13M.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8558784" y="2432304"/>
            <a:ext cx="256032" cy="256032"/>
          </a:xfrm>
          <a:prstGeom prst="oval">
            <a:avLst/>
          </a:prstGeom>
          <a:solidFill>
            <a:srgbClr val="C8A8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2024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028432" y="137160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Lincoln International engaged. LTM revenue $95M, EBITDA $14M. Family exploring first-generation liquidity.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57200" y="3858768"/>
            <a:ext cx="1371600" cy="804672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2001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Founded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901952" y="3858768"/>
            <a:ext cx="1371600" cy="804672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01952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Portland, 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901952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HQ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346704" y="3858768"/>
            <a:ext cx="1371600" cy="804672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46704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~290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46704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Employees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91456" y="3858768"/>
            <a:ext cx="1371600" cy="804672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Portland, OR (owned)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91456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Manufacturing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236208" y="3858768"/>
            <a:ext cx="1371600" cy="804672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Memphis, TN (leased)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36208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Distribution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680960" y="3858768"/>
            <a:ext cx="1371600" cy="804672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0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~4,800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680960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Retail Doors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4 / 14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Lincoln International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PRODUCTS &amp; SERVICES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Products &amp; Services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Diversified offering with multiple growth vectors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4251960" cy="32004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28930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CORE — 38% OF REVENUE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108960" y="128930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$4.20–$8.80/sheet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1618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Fine Writing &amp; Stationery Papers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1984248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938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Cotton-content writing papers: 25%, 50%, and 100% cotton grades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4360" y="2258568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212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Exclusive partnerships with 6 luxury stationery brands (Crane &amp; Co. equivalent positioning)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532888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487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Watermarked and custom-dye-lot capabilities; minimum runs from 500 sheets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864608" y="123444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1234440"/>
            <a:ext cx="4251960" cy="320040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128930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GROWTH — 31% OF REVENUE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7516368" y="128930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$3.50–$12.00/sheet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74336" y="1618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Art &amp; Illustration Papers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01768" y="1984248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1938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Watercolor (140lb–300lb), drawing, printmaking, and mixed media papers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001768" y="2258568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2212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#1 Amazon BSR in Fine Art Paper; Blick and Michaels primary retail channels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001768" y="2532888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2487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Artist-grade sizing and surface texture; acid-free, pH-neutral, archival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7200" y="297180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2971800"/>
            <a:ext cx="425196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02666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INSTITUTIONAL — 19% OF REVENUE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108960" y="302666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$5.00–$9.50/sheet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6928" y="3355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Archival &amp; Document Papers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" y="3721608"/>
            <a:ext cx="73152" cy="73152"/>
          </a:xfrm>
          <a:prstGeom prst="oval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675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ISO 9706 certified archival papers for government and museum collections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94360" y="3995928"/>
            <a:ext cx="73152" cy="73152"/>
          </a:xfrm>
          <a:prstGeom prst="oval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39502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Library of Congress, Smithsonian, 12 university archives on 5-yr supply agreements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94360" y="4270248"/>
            <a:ext cx="73152" cy="73152"/>
          </a:xfrm>
          <a:prstGeom prst="oval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224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Highest-margin product line (42% gross margin); sole-source for 8 institutional accounts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64608" y="297180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64608" y="2971800"/>
            <a:ext cx="4251960" cy="32004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74336" y="302666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EMERGING — 12% OF REVENUE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7516368" y="302666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Custom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74336" y="3355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Specialty Packaging Substrates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01768" y="3721608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38928" y="3675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Premium uncoated papers for luxury brand packaging (cosmetics, spirits, gift)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001768" y="3995928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38928" y="39502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Sustainable alternative to plastic-laminated packaging for B-Corp certified brands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001768" y="4270248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38928" y="4224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Fastest-growing segment: +28% in FY2023; pipeline of 4 new luxury brand relationships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5 / 14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Lincoln International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MARKET OPPORTUNITY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Market Opportunity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Large and growing addressable market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Global Specialty Paper Market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60934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DDE8"/>
                </a:solidFill>
              </a:rPr>
              <a:t>Includes fine paper, art paper, technical paper; growing 3–4% CAGR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36092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83C"/>
                </a:solidFill>
              </a:rPr>
              <a:t>$38B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2011680"/>
            <a:ext cx="6858000" cy="640080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1031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North America Premium Specialty Paper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0160" y="234086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DDE8"/>
                </a:solidFill>
              </a:rPr>
              <a:t>Ascot's addressable geography; resilient despite broader paper decline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675120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83C"/>
                </a:solidFill>
              </a:rPr>
              <a:t>$4.2B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828800" y="2743200"/>
            <a:ext cx="5486400" cy="640080"/>
          </a:xfrm>
          <a:prstGeom prst="rect">
            <a:avLst/>
          </a:prstGeom>
          <a:solidFill>
            <a:srgbClr val="2E5FA0"/>
          </a:solidFill>
          <a:ln w="12700">
            <a:solidFill>
              <a:srgbClr val="2E5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28346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Fine Art &amp; Archival Paper Segment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65960" y="30723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DDE8"/>
                </a:solidFill>
              </a:rPr>
              <a:t>Ascot's core niche; 5–6% growth driven by art education and institutional demand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8932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83C"/>
                </a:solidFill>
              </a:rPr>
              <a:t>$680M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514600" y="3474720"/>
            <a:ext cx="4114800" cy="64008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35661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Ascot's Served Market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51760" y="38039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DDE8"/>
                </a:solidFill>
              </a:rPr>
              <a:t>Retail + institutional + DTC; Ascot holds ~45% of addressable premium art paper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03520" y="3566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83C"/>
                </a:solidFill>
              </a:rPr>
              <a:t>$210M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6 / 14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Lincoln International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BUSINESS MODEL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Business Model &amp; Unit Economics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Revenue mix and key operating metrics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61872"/>
            <a:ext cx="2743200" cy="4572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2801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Wholesale &amp;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Retail Distribution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286000" y="128016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A83C"/>
                </a:solidFill>
              </a:rPr>
              <a:t>60%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" y="1783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BAE"/>
                </a:solidFill>
              </a:rPr>
              <a:t>~$57M LTM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066544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157984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1031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Blick Art Materials (382 stores), Michaels, Jerry's Artarama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94360" y="2633472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5786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9-year retail relationships; preferred vendor status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4360" y="3108960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0540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28–32% gross margin; volume and breadth of reach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355848" y="126187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55848" y="1261872"/>
            <a:ext cx="2743200" cy="457200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65576" y="12801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Institutional &amp;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Archival Accounts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84648" y="128016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A83C"/>
                </a:solidFill>
              </a:rPr>
              <a:t>28%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465576" y="1783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BAE"/>
                </a:solidFill>
              </a:rPr>
              <a:t>~$27M LTM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066544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93008" y="2157984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21031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Library of Congress, Smithsonian, 12 university archives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493008" y="2633472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25786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5-year supply agreements; sole-source for 8 accounts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493008" y="3108960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0168" y="30540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42% gross margin — highest in portfolio; low churn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54496" y="126187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54496" y="1261872"/>
            <a:ext cx="2743200" cy="4572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12801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DTC &amp; E-Commerce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(ascot.com + Amazon)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83296" y="128016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A83C"/>
                </a:solidFill>
              </a:rPr>
              <a:t>12%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364224" y="1783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BAE"/>
                </a:solidFill>
              </a:rPr>
              <a:t>~$11M LTM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2066544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91656" y="2157984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28816" y="21031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65% CAGR from FY2021–FY2023; fastest-growing channel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391656" y="2633472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28816" y="25786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58% gross margin vs. 28% wholesale — structurally margin-accretive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391656" y="3108960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28816" y="30540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Amazon #1 BSR Fine Art Paper; 4.8 stars, 12,400+ reviews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7 / 14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Lincoln International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HISTORICAL FINANCIALS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Historical Financial Performance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$ in millions; FY ends December 31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57300"/>
                <a:gridCol w="1257300"/>
                <a:gridCol w="1257300"/>
                <a:gridCol w="12573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($M unless noted)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FY2021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FY2022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FY2023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LTM Q4'23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Revenue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82.0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89.2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91.4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95.1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YoY Growth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+8.8%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+2.5%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+7.2%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Gross Profit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26.2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29.8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31.0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32.8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Gross Margin 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32.0%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33.4%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33.9%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34.5%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Sales &amp; Marketing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7.4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7.9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8.1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8.5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G&amp;A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4.8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5.0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5.2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5.5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R&amp;D / Product Dev.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2.2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2.4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2.5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2.6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Adj. EBITDA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11.0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13.0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13.5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14.0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EBITDA Margin 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13.4%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14.6%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14.8%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14.7%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Interest Expense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457200" y="3822192"/>
          <a:ext cx="8229600" cy="868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8 / 14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Lincoln International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CAPITAL STRUCTURE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Balance Sheet &amp; Capital Structure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As of most recent period; $ in millions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5029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91440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Instrument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Maturity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Balance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Leverage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Funded Debt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Cash &amp; Equivalents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$11.0M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Net Cash Position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$11.0M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Preferred / Equity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Family-owned (Hartley family 68%)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Net Debt (adj.)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$(11.0M)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0.0x — debt-free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577840" y="1261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Valuation Context</a:t>
            </a:r>
            <a:endParaRPr lang="en-US" sz="10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32004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48640"/>
                <a:gridCol w="1234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Commentary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Enterprise Value (guidance)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~$140M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10.0x LTM Adj. EBITDA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Revenue Multiple (LTM)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1.5x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Specialty paper: 1.2–1.8x typical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EBITDA Multiple (LTM)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10.0x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Premium for niche market leadership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EBITDA Multiple (FY2025E)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7.4x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Attractive as DTC mix drives margin expansion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EV excl. Net Cash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~$129M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9.2x adjusted — compelling clean entry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9 / 14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Lincoln International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MANAGEMENT PROJECTIONS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Financial Projections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Management case; $ in millions — not independently verified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1188720"/>
                <a:gridCol w="118872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($M unless noted)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D55"/>
                          </a:solidFill>
                        </a:rPr>
                        <a:t>FY2024E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D55"/>
                          </a:solidFill>
                        </a:rPr>
                        <a:t>FY2025E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D55"/>
                          </a:solidFill>
                        </a:rPr>
                        <a:t>FY2026E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D55"/>
                          </a:solidFill>
                        </a:rPr>
                        <a:t>FY2027E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D55"/>
                          </a:solidFill>
                        </a:rPr>
                        <a:t>FY2028E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Revenue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102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110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119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128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137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YoY Growth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+7%E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+8%E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+8%E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+8%E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+7%E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Gross Profit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40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44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48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52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Gross Margin 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35.3%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36.4%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37.0%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37.5%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38.0%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Adj. EBITDA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EBITDA Margin 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15.7%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17.3%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18.5%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19.5%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21.2%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DTC / E-com Revenue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457200" y="3822192"/>
          <a:ext cx="8229600" cy="8412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465429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Management projections. Actual results may differ materially.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10 / 14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Lincoln International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MANAGEMENT TEAM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Management Team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Experienced leadership with deep sector expertise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50876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3258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Richard Hartley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1600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Chief Executive Officer &amp; Founder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81965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187452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Founded Ascot in 2001 after 12 years as a paper merchant at Sappi Fine Paper. Deep expertise in paper chemistry and customer relationships; personally manages institutional account relationships. Owns 68% of the company with his family.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864608" y="123444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64608" y="123444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50876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41848" y="13258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Margaret Hartley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41848" y="1600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Chief Operating Officer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181965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41848" y="187452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Richard's daughter; joined Ascot full-time in 2015 after Wharton MBA. Oversees manufacturing, supply chain, and quality systems. Led the FSC and ISO 9706 certification programs. Designated successor to CEO upon sale.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42316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269748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J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25146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James Alcott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34440" y="278892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Chief Financial Officer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00837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306324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First professional CFO at Ascot; joined 2020 to prepare company for a potential liquidity event. Previously CFO at Boise Paper Holdings (private). CPA; 18 years in paper and packaging industry finance.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864608" y="242316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64608" y="242316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269748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C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41848" y="25146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Claire Nguyen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41848" y="278892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VP Sales &amp; Marketing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00837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41848" y="306324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Manages Blick Art Materials, Michaels, and independent art retailer relationships. Built Ascot's DTC and Amazon presence from zero to $8.5M in 4 years. Former National Accounts Manager at Fabriano (Italian paper brand, US operations).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7200" y="361188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" y="361188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" y="388620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3886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234440" y="37033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David Park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234440" y="3977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VP Manufacturing &amp; Quality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419709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34440" y="425196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25 years in specialty paper manufacturing. Manages Portland facility (110 employees). Led the carbon-neutral certification project and Portland mill expansion in 2021. Holds expertise in coating chemistry and surface sizing — co-inventor on 2 patents.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864608" y="361188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64608" y="361188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0" y="388620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3886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641848" y="37033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Susan Bell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641848" y="3977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VP Institutional &amp; Archive Sales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419709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41848" y="425196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Manages Library of Congress, Smithsonian, and university archive accounts. Former Archivist at the National Archives; PhD in archival science from Simmons. Ascot's credibility with institutional buyers is built substantially on her relationships.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11 / 14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Lincoln International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TRANSACTION OVERVIEW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Transaction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Lincoln International — February 2024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Valuation Context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4572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2103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Commentary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Enterprise Value (guidance)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~$140M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10.0x LTM Adj. EBITDA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Revenue Multiple (LTM)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1.5x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Specialty paper: 1.2–1.8x typical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EBITDA Multiple (LTM)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10.0x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Premium for niche market leadership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EBITDA Multiple (FY2025E)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7.4x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Attractive as DTC mix drives margin expansion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EV excl. Net Cash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~$129M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9.2x adjusted — compelling clean entry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212080" y="1261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Process Structure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212080" y="1572768"/>
            <a:ext cx="347472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49240" y="1627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Structure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583680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Targeted; select financial sponsors; limited strategic outreach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212080" y="1901952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49240" y="19568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Data Room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583680" y="1956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Virtual (Intralinks); operational post-NDA execution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212080" y="2231136"/>
            <a:ext cx="347472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49240" y="22860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Management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583680" y="2286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CEO/COO/CFO; Portland facility tour available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212080" y="2560320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49240" y="26151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Exclusivity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583680" y="2615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Per process letter; IOIs due March 15, 2024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212080" y="2889504"/>
            <a:ext cx="347472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49240" y="29443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Advisor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583680" y="2944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Lincoln International LLC (exclusive sell-side)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3703320"/>
            <a:ext cx="91440" cy="9144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3767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83C"/>
                </a:solidFill>
              </a:rPr>
              <a:t>Lincoln International — Deal Contact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5800" y="404164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Thomas Wren, Managing Director   |   t.wren@lincolninternational.com   |   +1 (312) 506-2500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5800" y="4215384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Laura Chen, Vice President   |   l.chen@lincolninternational.com   |   +1 (312) 506-2641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85800" y="438912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Erik Johnson, Associate   |   e.johnson@lincolninternational.com   |   +1 (312) 506-2788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12 / 14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Lincoln International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SUPPLEMENTAL — UNIT ECONOMICS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Key Operating Metrics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Detailed unit economics and efficiency metrics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188720"/>
                <a:gridCol w="35661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Trend / Commentary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Archival Paper Gross Margin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42.0%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Highest-margin line; institutional pricing power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DTC / Amazon Gross Margin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58.0%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↑ as DTC grows from 9% to projected 28% of revenue by FY2028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Blended Gross Margin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34.5%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↑ as DTC and institutional mix shifts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Revenue per Employee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$328K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Stable; manufacturing efficiency offset by DTC investment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Top 20 Account Churn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&lt;3%/yr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11.2-year avg. customer relationship; institutional stickiness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Net Debt / Adj. EBITDA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0.0x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Debt-free balance sheet; $11M cash available for bolt-ons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13 / 14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</a:rPr>
              <a:t>APPENDIX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A83C"/>
                </a:solidFill>
              </a:rPr>
              <a:t>Additional materials available in virtual data room upon NDA execution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8AA"/>
                </a:solidFill>
              </a:rPr>
              <a:t>Detailed financial model  ·  Customer list  ·  Site photos  ·  Reference accounts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47091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5566"/>
                </a:solidFill>
              </a:rPr>
              <a:t>Lincoln International — February 2024 — Strictly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2026-05-12T00:15:01Z</dcterms:created>
  <dcterms:modified xsi:type="dcterms:W3CDTF">2026-05-12T00:15:01Z</dcterms:modified>
</cp:coreProperties>
</file>