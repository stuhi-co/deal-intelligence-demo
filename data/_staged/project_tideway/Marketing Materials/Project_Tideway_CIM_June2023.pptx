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5B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B2D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FY2020</c:v>
                  </c:pt>
                  <c:pt idx="1">
                    <c:v>FY2021</c:v>
                  </c:pt>
                  <c:pt idx="2">
                    <c:v>FY2022</c:v>
                  </c:pt>
                  <c:pt idx="3">
                    <c:v>LTM Q1'23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</c:v>
                </c:pt>
                <c:pt idx="1">
                  <c:v>148.5</c:v>
                </c:pt>
                <c:pt idx="2">
                  <c:v>172.2</c:v>
                </c:pt>
                <c:pt idx="3">
                  <c:v>185.4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B2D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B5BAE"/>
            </a:solidFill>
            <a:ln w="31750" cap="flat">
              <a:solidFill>
                <a:srgbClr val="2B5B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5BAE"/>
              </a:solidFill>
              <a:ln w="9525" cap="flat">
                <a:solidFill>
                  <a:srgbClr val="2B5B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FY2023E</c:v>
                  </c:pt>
                  <c:pt idx="1">
                    <c:v>FY2024E</c:v>
                  </c:pt>
                  <c:pt idx="2">
                    <c:v>FY2025E</c:v>
                  </c:pt>
                  <c:pt idx="3">
                    <c:v>FY2026E</c:v>
                  </c:pt>
                  <c:pt idx="4">
                    <c:v>FY2027E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205</c:v>
                </c:pt>
                <c:pt idx="1">
                  <c:v>228</c:v>
                </c:pt>
                <c:pt idx="2">
                  <c:v>248</c:v>
                </c:pt>
                <c:pt idx="3">
                  <c:v>265</c:v>
                </c:pt>
                <c:pt idx="4">
                  <c:v>278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Adj. EBITDA ($M)</c:v>
                </c:pt>
              </c:strCache>
            </c:strRef>
          </c:tx>
          <c:spPr>
            <a:solidFill>
              <a:srgbClr val="C8A83C"/>
            </a:solidFill>
            <a:ln w="31750" cap="flat">
              <a:solidFill>
                <a:srgbClr val="C8A8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A83C"/>
              </a:solidFill>
              <a:ln w="9525" cap="flat">
                <a:solidFill>
                  <a:srgbClr val="C8A8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FY2023E</c:v>
                  </c:pt>
                  <c:pt idx="1">
                    <c:v>FY2024E</c:v>
                  </c:pt>
                  <c:pt idx="2">
                    <c:v>FY2025E</c:v>
                  </c:pt>
                  <c:pt idx="3">
                    <c:v>FY2026E</c:v>
                  </c:pt>
                  <c:pt idx="4">
                    <c:v>FY2027E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</c:v>
                </c:pt>
                <c:pt idx="1">
                  <c:v>46</c:v>
                </c:pt>
                <c:pt idx="2">
                  <c:v>54</c:v>
                </c:pt>
                <c:pt idx="3">
                  <c:v>62</c:v>
                </c:pt>
                <c:pt idx="4">
                  <c:v>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4320"/>
            <a:ext cx="1371600" cy="36576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28346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2D55"/>
                </a:solidFill>
              </a:rPr>
              <a:t>JEFFERIES LLC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50" kern="0" dirty="0">
                <a:solidFill>
                  <a:srgbClr val="AABBD0"/>
                </a:solidFill>
              </a:rPr>
              <a:t>CONFIDENTIAL INFORMATION MEMORANDUM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100" kern="0" dirty="0">
                <a:solidFill>
                  <a:srgbClr val="FFFFFF"/>
                </a:solidFill>
              </a:rPr>
              <a:t>PROJECT TIDEWAY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2286000" y="2697480"/>
            <a:ext cx="4572000" cy="0"/>
          </a:xfrm>
          <a:prstGeom prst="line">
            <a:avLst/>
          </a:prstGeom>
          <a:noFill/>
          <a:ln w="25400">
            <a:solidFill>
              <a:srgbClr val="C8A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A83C"/>
                </a:solidFill>
              </a:rPr>
              <a:t>Meridian Marine Services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</a:rPr>
              <a:t>B2B Services — Offshore Logistics &amp; Marine Services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8AA"/>
                </a:solidFill>
              </a:rPr>
              <a:t>June 2023  |  STRICTLY PRIVATE &amp;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480974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45566"/>
                </a:solidFill>
              </a:rPr>
              <a:t>This CIM has been prepared by Jefferies LLC on behalf of Meridian Marine Services. Not for distribution.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Meridian Marine Services — B2B Services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Meridian Marine Services ("Meridian" or the "Company") is a leading provider of integrated offshore logistics, vessel chartering, and port services to the Gulf of Mexico energy sector. Founded in 2008 by former Tidewater executives, Meridian operates a fleet of 38 owned and chartered vessels — including platform supply vessels (PSVs), fast crew boats, and anchor handling tugs — serving major E&amp;P operators including Shell, BP, Chevron, and Murphy Oil. The Company has grown through a combination of organic contract wins and 3 strategic fleet acquisitions since 2018, establishing a dominant position in the deepwater Gulf of Mexico sub-market.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Key Financial 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419856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56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LTM Q1'23 Revenue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97480" y="3456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$185M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685032"/>
            <a:ext cx="4206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216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Adj. EBITDA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97480" y="3721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$32M (17.3%)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867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Revenue Growth (YoY)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7480" y="3986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+21%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4215384"/>
            <a:ext cx="42062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519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Asking EV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7480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~$280M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206240" cy="256032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5171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Transaction Multiple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97480" y="4517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8.75x LTM Adj. EBITDA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74920" y="1188720"/>
            <a:ext cx="1828800" cy="1042416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353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$185M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7492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LTM Revenue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013448" y="1188720"/>
            <a:ext cx="1828800" cy="1042416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13448" y="1353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$32M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13448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LTM Adj. EBITDA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74920" y="2304288"/>
            <a:ext cx="1828800" cy="104241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+21%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7492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YoY Revenue Growth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13448" y="2304288"/>
            <a:ext cx="1828800" cy="1042416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13448" y="2468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38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13448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Owned / Chartered Vessels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074920" y="3419856"/>
            <a:ext cx="1828800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92%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74920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Average Fleet Utilization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013448" y="3419856"/>
            <a:ext cx="1828800" cy="10424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35844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83C"/>
                </a:solidFill>
              </a:rPr>
              <a:t>17.3%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013448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EBITDA Margin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2 / 14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INVESTMENT HIGHLIGHTS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Investment Highlights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Six reasons Meridian Marine Services represents a compelling investment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130759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Dominant deepwater Gulf of Mexico platform with long-term customer relationships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155448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#2 PSV operator in the Gulf of Mexico by fleet capacity; #1 in shallow-water crew transfer   ·   Average customer relationship of 8.4 years; Shell and BP collectively 41% of LTM revenue   ·   14 contracts with remaining tenor &gt;18 months, providing high revenue visibility through 2025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819656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385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8408" y="1892808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Modern, fuel-efficient fleet at attractive replacement cost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2139696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Average fleet age of 7.2 years vs. Gulf of Mexico industry average of 14.1 years — significant operational advantage   ·   2022 new-build PSVs (2 vessels, $48M invested) operating at premium day rates of $28,500/day   ·   Fleet replacement cost estimated at $520M+ — acquiring Meridian at $280M represents a 54% discount to asset value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8408" y="2478024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Strong energy sector tailwinds driving utilization and day rate recovery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8408" y="2724912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Gulf of Mexico deepwater rig count at 22 active units — highest since 2015; PSV demand directly correlated   ·   Vessel day rates recovering: PSV spot rates up 38% YoY; Meridian's contracted fleet re-pricing at renewal   ·   IEA projects Gulf deepwater production to grow 12% by 2028; operator capex budgets up 18% YoY in 2023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990088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08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78408" y="3063240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Recurring revenue base with contracted backlog providing visibility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8408" y="3310128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$285M contract backlog as of March 2023 — 1.5x LTM revenue; 78% under term contracts (avg. 2.3yr remaining)   ·   Cost-plus structure on 6 major contracts protects against fuel cost inflation   ·   Day rate escalation clauses in 11 contracts tied to CPI — natural inflation hedge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575304"/>
            <a:ext cx="411480" cy="512064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941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" y="3648456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Vertically integrated shore-base and port operations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8408" y="3895344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Owned shore bases in Fourchon (LA) and Ingleside (TX) — prime deepwater staging locations   ·   Shore-base operations generate $18M of stable, asset-light revenue independent of vessel utilization   ·   Port Fourchon base has 22-year lease with 2 renewal options — strategic asset with high replacement cost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411480" cy="512064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79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A83C"/>
                </a:solidFill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" y="4233672"/>
            <a:ext cx="7726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D55"/>
                </a:solidFill>
              </a:rPr>
              <a:t>Proven management team with successful M&amp;A track record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8408" y="4480560"/>
            <a:ext cx="7726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CEO Kirk Dolan: 28 years in offshore marine; former COO at Tidewater Inc. (NYSE: TDW)   ·   3 fleet acquisitions completed 2018–2022 at avg. 5.2x EBITDA (all immediately accretive)   ·   Identified additional bolt-on targets: 2 small Gulf operators, combined ~12 vessels at distressed pricing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3 / 14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COMPANY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Company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History, scale, and operating footprint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Meridian Marine Services ("Meridian" or the "Company") is a leading provider of integrated offshore logistics, vessel chartering, and port services to the Gulf of Mexico energy sector. Founded in 2008 by former Tidewater executives, Meridian operates a fleet of 38 owned and chartered vessels — including platform supply vessels (PSVs), fast crew boats, and anchor handling tugs — serving major E&amp;P operators including Shell, BP, Chevron, and Murphy Oil.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25400">
            <a:solidFill>
              <a:srgbClr val="2B5B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2008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-201168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Founded by Kirk Dolan (ex-Tidewater). Acquired first 4 PSVs at post-financial-crisis distressed pricing.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7007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Shore base established at Port Fourchon, LA — prime deepwater logistics hub. Fleet grows to 14 vessels.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0723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5420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Weathered offshore downturn; reduced fleet to 22 vessels, renegotiated charter agreements.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4439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2018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136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Energy recovery begins. Acquired Gulf Crew Services (8 fast crew boats, $32M) — first M&amp;A.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8155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2020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852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Anchor Marine Assets acquisition (6 AHTs, $41M). Shore base in Ingleside, TX commissioned.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7187184" y="2432304"/>
            <a:ext cx="256032" cy="256032"/>
          </a:xfrm>
          <a:prstGeom prst="oval">
            <a:avLst/>
          </a:prstGeom>
          <a:solidFill>
            <a:srgbClr val="2B5BA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2761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2022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56832" y="2999232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2 new-build PSVs delivered ($48M). Revenue $153M, fleet utilization 89%. Third acquisition closed.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8558784" y="2432304"/>
            <a:ext cx="256032" cy="256032"/>
          </a:xfrm>
          <a:prstGeom prst="oval">
            <a:avLst/>
          </a:prstGeom>
          <a:solidFill>
            <a:srgbClr val="C8A8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5BAE"/>
                </a:solidFill>
              </a:rPr>
              <a:t>2023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028432" y="137160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5568"/>
                </a:solidFill>
              </a:rPr>
              <a:t>LTM revenue $185M, EBITDA $32M, utilization 92%. Jefferies engaged for sale process — June 2023.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57200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2008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Founded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01952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01952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Houston, TX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01952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HQ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46704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46704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~820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46704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Employees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91456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38 vessels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91456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Fleet Size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36208" y="3858768"/>
            <a:ext cx="1371600" cy="804672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2.3 years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6208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Avg. Contract Tenor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680960" y="3858768"/>
            <a:ext cx="1371600" cy="804672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3C"/>
                </a:solidFill>
              </a:rPr>
              <a:t>Shell, BP, Chevron, Murphy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8096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Clients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4 / 14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PRODUCTS &amp; SERVICES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Products &amp; Services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Diversified offering with multiple growth vectors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4251960" cy="32004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CORE — 52% OF REVENUE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108960" y="12893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$22,500–28,500/day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Platform Supply Vessels (PSVs)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98424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18 PSVs ranging 3,000–5,200 DWT; 2 new-builds at premium day rates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94360" y="225856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Supplies drilling rigs and production platforms with bulk cargo, fuel, and chemicals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532888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Contracted 87% utilization; spot capacity at $28,500/day current market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864608" y="123444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234440"/>
            <a:ext cx="4251960" cy="32004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28930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CREW TRANSFER — 24% OF REVENUE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516368" y="128930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$8,200–11,500/day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18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Fast Crew Boats (FCBs)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01768" y="198424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12 crew transfer vessels; 34–48 knot high-speed aluminum hull design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01768" y="225856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2212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Daily crew rotation for platform workers; critical safety and logistics function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01768" y="2532888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4871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98% utilization rate — essential service with near-zero downtime tolerance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2971800"/>
            <a:ext cx="42519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0266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SPECIALTY — 14% OF REVENUE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108960" y="30266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$18,000–24,000/day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Anchor Handling Tugs (AHTs)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372160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6 anchor handling and towing vessels; 8,000–12,000 BHP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94360" y="399592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3950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Rig move and anchor positioning services; high day rates, seasonal demand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94360" y="4270248"/>
            <a:ext cx="73152" cy="73152"/>
          </a:xfrm>
          <a:prstGeom prst="oval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Specialist crew with AHTS certification — significant barrier to entry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64608" y="2971800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2971800"/>
            <a:ext cx="4251960" cy="32004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74336" y="3026664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ASSET-LIGHT — 10% OF REVENUE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7516368" y="30266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Cost-plus / fixed fee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74336" y="3355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D55"/>
                </a:solidFill>
              </a:rPr>
              <a:t>Shore Base &amp; Port Services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01768" y="372160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8928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Port Fourchon (LA) and Ingleside (TX) shore bases; owned facilities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01768" y="399592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39502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Cargo staging, fuel bunkering, warehousing, and crew transfer services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001768" y="4270248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38928" y="4224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22-year lease at Fourchon; $18M stable, high-margin revenue stream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5 / 14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MARKET OPPORTUNITY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Market Opportunity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Large and growing addressable market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Global Offshore Marine Services Market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6093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Growing with offshore E&amp;P capex recovery; IEA projects 14% CAGR to 2027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36092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$28B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011680"/>
            <a:ext cx="6858000" cy="64008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 Gulf of Mexico Offshore Services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0" y="2340864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Deepwater activity at highest since 2015; rig count 22 and rising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$4.8B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solidFill>
            <a:srgbClr val="2E5FA0"/>
          </a:solidFill>
          <a:ln w="12700">
            <a:solidFill>
              <a:srgbClr val="2E5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83464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Gulf PSV &amp; Crew Transfer Sub-market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30723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Meridian's primary TAM; supply-constrained as older vessels retire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$1.6B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14600" y="3474720"/>
            <a:ext cx="4114800" cy="64008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5661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Meridian Served Market (contracted clients)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3803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DDE8"/>
                </a:solidFill>
              </a:rPr>
              <a:t>Meridian's direct bidding universe; est. 44% win rate on competitive tenders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A83C"/>
                </a:solidFill>
              </a:rPr>
              <a:t>$420M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6 / 14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BUSINESS MODEL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Business Model &amp; Unit Economics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Revenue mix and key operating metrics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61872"/>
            <a:ext cx="2743200" cy="4572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E&amp;P Operators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(Major &amp; Independent)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286000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78%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~$145M LTM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157984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Shell, BP, Chevron, Murphy Oil, Talos Energy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94360" y="2633472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Term contracts avg. 2.3yr remaining tenor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4360" y="3108960"/>
            <a:ext cx="73152" cy="73152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Cost-plus and day-rate structures; CPI escalators on 11 contracts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55848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1261872"/>
            <a:ext cx="2743200" cy="457200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Shore Base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Port Services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184648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10%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65576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~$18M LTM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2157984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Asset-light; high-margin cargo and crew staging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93008" y="2633472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Port Fourchon and Ingleside TX facilities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93008" y="3108960"/>
            <a:ext cx="73152" cy="73152"/>
          </a:xfrm>
          <a:prstGeom prst="oval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22-year lease; capacity available for third-party customers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54496" y="1261872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54496" y="1261872"/>
            <a:ext cx="2743200" cy="4572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128016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Spot Market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Contractor Charters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83296" y="128016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8A83C"/>
                </a:solidFill>
              </a:rPr>
              <a:t>12%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64224" y="1783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5BAE"/>
                </a:solidFill>
              </a:rPr>
              <a:t>~$22M LTM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1656" y="2157984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21031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Opportunistic spot vessel charters at premium rates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391656" y="2633472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PSV spot at $28,500/day — highest in 8 years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91656" y="3108960"/>
            <a:ext cx="73152" cy="73152"/>
          </a:xfrm>
          <a:prstGeom prst="oval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30540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Managed to maximize utilization without over-committing to spot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7 / 14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HISTORICAL FINANCIALS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Historical Financial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$ in millions; FY ends December 31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57300"/>
                <a:gridCol w="1257300"/>
                <a:gridCol w="1257300"/>
                <a:gridCol w="12573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 unless noted)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LTM Q1'23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128.0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148.5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172.2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185.4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YoY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+16.0%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+15.9%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+21.1%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Profit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35.8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43.1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51.0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57.5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28.0%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29.0%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29.6%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31.0%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22.0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24.1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28.8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32.1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17.2%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16.2%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16.7%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17.3%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D&amp;A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(18.5)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(19.2)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(20.8)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(22.4)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EBIT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3.5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4.9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8.0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9.7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Interest Expense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(8.2)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(7.8)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(7.2)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(6.8)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Maintenance Capex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(12.0)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(13.5)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(15.2)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(16.8)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3822192"/>
          <a:ext cx="822960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8 / 14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CAPITAL STRUCTURE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Balance Sheet &amp; Capital Structure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As of most recent period; $ in millions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5029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91440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Instrument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Maturity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Balance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Leverage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Senior Secured TL (SOFR+375)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$130.0M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4.1x LTM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Revolving Credit Facility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$20.0M (drawn $8M)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Total Debt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$138.0M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(-) Cash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($12.5M)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Net Debt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$125.5M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3.9x net leverage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57784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Valuation Context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3200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5486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Enterprise Value (guidance)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~$280M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8.75x LTM 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Marine services: 1.2–1.8x typical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/ Vessels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$7.4M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vs. ~$13.7M new-build replacement cost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(FY2024E)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6.1x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Highly attractive on projected recovery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/ Contract Backlog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0.98x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Below 1x backlog — compelling relative 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9 / 14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MANAGEMENT PROJECTIONS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Financial Projections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Management case; $ in millions — not independently verified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($M unless noted)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FY2023E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FY2024E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FY2025E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FY2026E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2D55"/>
                          </a:solidFill>
                        </a:rPr>
                        <a:t>FY2027E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205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228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248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265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278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YoY Growth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+11%E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+11%E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+9%E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+7%E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+5%E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Profit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66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77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87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96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103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Gross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32.2%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33.8%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35.1%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36.2%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37.1%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Adj. 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38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46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54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62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68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A1A2E"/>
                          </a:solidFill>
                        </a:rPr>
                        <a:t>EBITDA Margin 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18.5%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20.2%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21.8%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23.4%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5BAE"/>
                          </a:solidFill>
                        </a:rPr>
                        <a:t>24.5%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Maintenance Capex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(17)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(18)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(19)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(19)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457200" y="3822192"/>
          <a:ext cx="8229600" cy="841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46542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Management projections. Actual results may differ materially.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10 / 14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MANAGEMENT TEAM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Management Team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Experienced leadership with deep sector expertise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50876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Kirk Dolan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Executive Officer &amp; Founder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81965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1874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Founder of Meridian (2008). 28 years in offshore marine services. Previously COO at Tidewater Inc. (NYSE: TDW) overseeing Gulf of Mexico and West Africa operations. BS Marine Engineering, Texas A&amp;M. Owns 58% of company equity.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864608" y="123444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123444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50876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41848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Sandra Reeves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41848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Financial Officer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81965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41848" y="187452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Joined Meridian in 2014. Previously VP Finance at Cal Dive International through its 2015 restructuring; instrumental in recapitalizing Meridian's balance sheet during the 2016 offshore downturn. CPA, MBA from Rice University.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42316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269748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Hector Vargas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34440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Chief Operating Officer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00837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3063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20 years in offshore vessel operations. Manages 38-vessel fleet, 820 personnel, and port facilities across Texas and Louisiana. Former Fleet Superintendent at SEACOR Holdings. US Coast Guard Captain's License; STCW certified.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64608" y="242316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64608" y="242316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0" y="269748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697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41848" y="25146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Donna Tran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41848" y="2788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Commercial &amp; Business Development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300837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41848" y="306324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Manages all major E&amp;P client relationships and competitive tender processes. 12-year relationship with Shell — key account representing 24% of LTM revenue. Previously Regional Sales Director at Hornbeck Offshore Services.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361188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61188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388620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34440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Mike Bassett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234440" y="3977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Fleet &amp; Technical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19709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34440" y="4251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Oversees vessel maintenance, classification society compliance, and new-build projects. Led delivery of 2 new PSVs in 2022 — on schedule, $1.2M under budget. Former Marine Superintendent at Bourbon Offshore. 32 years at sea and ashore.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64608" y="3611880"/>
            <a:ext cx="42519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64608" y="3611880"/>
            <a:ext cx="73152" cy="1115568"/>
          </a:xfrm>
          <a:prstGeom prst="rect">
            <a:avLst/>
          </a:prstGeom>
          <a:solidFill>
            <a:srgbClr val="2B5BAE"/>
          </a:solidFill>
          <a:ln w="12700">
            <a:solidFill>
              <a:srgbClr val="2B5B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3886200"/>
            <a:ext cx="475488" cy="475488"/>
          </a:xfrm>
          <a:prstGeom prst="oval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83C"/>
                </a:solidFill>
              </a:rPr>
              <a:t>C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41848" y="37033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Carla Simmons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641848" y="39776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B5BAE"/>
                </a:solidFill>
              </a:rPr>
              <a:t>VP Human Resources &amp; HSEQ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4197096"/>
            <a:ext cx="8229600" cy="0"/>
          </a:xfrm>
          <a:prstGeom prst="line">
            <a:avLst/>
          </a:prstGeom>
          <a:noFill/>
          <a:ln w="9525">
            <a:solidFill>
              <a:srgbClr val="D0D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41848" y="42519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Manages crewing, training, and health/safety across 820 staff and contractors. Reduced lost-time incident rate from 1.8 to 0.4 per million manhours over 5 years. NEBOSH certified; former HSEQ Director at GulfMark Offshore.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11 / 14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TRANSACTION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Transaction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Jefferies LLC — June 2023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Valuation Context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Enterprise Value (guidance)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~$280M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8.75x LTM Adj. 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Revenue Multiple (LTM)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1.5x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Marine services: 1.2–1.8x typical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/ Vessels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$7.4M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vs. ~$13.7M new-build replacement cost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EBITDA Multiple (FY2024E)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6.1x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Highly attractive on projected recovery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EV / Contract Backlog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0.98x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Below 1x backlog — compelling relative 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21208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D55"/>
                </a:solidFill>
              </a:rPr>
              <a:t>Process Structure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12080" y="1572768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49240" y="1627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Structure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58368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Limited auction; select financial and strategic buyers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212080" y="1901952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1956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Data Room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583680" y="1956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Virtual (Donnelley Financial); available upon NDA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212080" y="2231136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22860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Management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583680" y="2286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CEO/CFO/COO presentations; vessel site visits available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12080" y="2560320"/>
            <a:ext cx="3474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9240" y="2615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Exclusivity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583680" y="2615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Per process letter; IOIs due July 14, 2023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212080" y="2889504"/>
            <a:ext cx="3474720" cy="310896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29443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2D55"/>
                </a:solidFill>
              </a:rPr>
              <a:t>Advisor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8368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Jefferies LLC (exclusive sell-side)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703320"/>
            <a:ext cx="91440" cy="9144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A83C"/>
                </a:solidFill>
              </a:rPr>
              <a:t>Jefferies LLC — Deal Contact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85800" y="4041648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Nathan Pierce, Managing Director   |   n.pierce@jefferies.com   |   +1 (713) 658-1100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5800" y="4215384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Angela Kim, Vice President   |   a.kim@jefferies.com   |   +1 (713) 658-1245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85800" y="438912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BD0"/>
                </a:solidFill>
              </a:rPr>
              <a:t>Robert Estrada, Associate   |   r.estrada@jefferies.com   |   +1 (713) 658-1388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12 / 14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BBD0"/>
                </a:solidFill>
              </a:rPr>
              <a:t>Jefferies  |  CONFIDENTIAL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0" y="45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SUPPLEMENTAL — UNIT ECONOMICS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54864" cy="384048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D55"/>
                </a:solidFill>
              </a:rPr>
              <a:t>Key Operating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Detailed unit economics and efficiency metrics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35661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Trend / Commentary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5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PSV Fleet Utilization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92%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from 74% in 2020; market tightening as older tonnage retires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Crew Boat Utilization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98%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Near-capacity; pricing leverage for contract renewals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Average PSV Day Rate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$24,800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+38% YoY; new-builds contracted at $28,500/day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Revenue per Vessel per Day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$13,400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↑ across all vessel classes; re-pricing at renewal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Maintenance Capex % of 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9.1%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Required given fleet age; new-builds reduce long-term need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</a:rPr>
                        <a:t>Contract Backlog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2D55"/>
                          </a:solidFill>
                        </a:rPr>
                        <a:t>$285M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E7D32"/>
                          </a:solidFill>
                        </a:rPr>
                        <a:t>1.5x LTM revenue; 78% under term (avg. 2.3yr remaining)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Strictly Private &amp; Confidential — Not for Distribution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80467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898AA"/>
                </a:solidFill>
              </a:rPr>
              <a:t>13 / 14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D55"/>
          </a:solidFill>
          <a:ln w="12700">
            <a:solidFill>
              <a:srgbClr val="1B2D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3C"/>
          </a:solidFill>
          <a:ln w="12700">
            <a:solidFill>
              <a:srgbClr val="C8A8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</a:rPr>
              <a:t>APPENDIX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83C"/>
                </a:solidFill>
              </a:rPr>
              <a:t>Additional materials available in virtual data room upon NDA execution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AA"/>
                </a:solidFill>
              </a:rPr>
              <a:t>Detailed financial model  ·  Customer list  ·  Site photos  ·  Reference accounts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5566"/>
                </a:solidFill>
              </a:rPr>
              <a:t>Jefferies LLC — June 2023 — Strictly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2026-05-12T00:15:01Z</dcterms:created>
  <dcterms:modified xsi:type="dcterms:W3CDTF">2026-05-12T00:15:01Z</dcterms:modified>
</cp:coreProperties>
</file>