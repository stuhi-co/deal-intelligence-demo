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2D55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2D55"/>
                </a:solidFill>
                <a:latin typeface="Arial"/>
              </a:rPr>
              <a:t>Revenue ($M) — Actual vs. Projected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5B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A83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FY2020</c:v>
                  </c:pt>
                  <c:pt idx="1">
                    <c:v>FY2021</c:v>
                  </c:pt>
                  <c:pt idx="2">
                    <c:v>FY2022</c:v>
                  </c:pt>
                  <c:pt idx="3">
                    <c:v>LTM Q1'23</c:v>
                  </c:pt>
                  <c:pt idx="4">
                    <c:v>FY2023E</c:v>
                  </c:pt>
                  <c:pt idx="5">
                    <c:v>FY2024E</c:v>
                  </c:pt>
                  <c:pt idx="6">
                    <c:v>FY2025E</c:v>
                  </c:pt>
                  <c:pt idx="7">
                    <c:v>FY2026E</c:v>
                  </c:pt>
                  <c:pt idx="8">
                    <c:v>FY2027E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128</c:v>
                </c:pt>
                <c:pt idx="1">
                  <c:v>148.5</c:v>
                </c:pt>
                <c:pt idx="2">
                  <c:v>172.2</c:v>
                </c:pt>
                <c:pt idx="3">
                  <c:v>185.4</c:v>
                </c:pt>
                <c:pt idx="4">
                  <c:v>205</c:v>
                </c:pt>
                <c:pt idx="5">
                  <c:v>228</c:v>
                </c:pt>
                <c:pt idx="6">
                  <c:v>248</c:v>
                </c:pt>
                <c:pt idx="7">
                  <c:v>265</c:v>
                </c:pt>
                <c:pt idx="8">
                  <c:v>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4864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8224" y="0"/>
            <a:ext cx="5065776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137160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324612"/>
            <a:ext cx="13533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D55"/>
                </a:solidFill>
              </a:rPr>
              <a:t>JEFFERIES LLC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AABBD0"/>
                </a:solidFill>
              </a:rPr>
              <a:t>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</a:rPr>
              <a:t>TIDEWAY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92608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83C"/>
                </a:solidFill>
              </a:rPr>
              <a:t>Executive Teaser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AABBD0"/>
                </a:solidFill>
              </a:rPr>
              <a:t>STRICTLY PRIVATE &amp; CONFIDENTIAL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Not for distribution without prior written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8AA"/>
                </a:solidFill>
              </a:rPr>
              <a:t>consent of Jefferies LLC.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June 2023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320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Transaction Overview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713232"/>
            <a:ext cx="45720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86384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85953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Company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16752" y="85953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Meridian Marine Services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0" y="1216152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128930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16752" y="128930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B2B Services — Offshore Logistics &amp; Marine Services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06240" y="1645920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71907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HQ / Founded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16752" y="171907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Houston, TX / 2008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0" y="2075688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1488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Advisor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16752" y="2148840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Jefferies LLC (Exclusive)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0" y="2505456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2578608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Revenue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16752" y="257860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$185M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06240" y="2935224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3008376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LTM Adj. EBITDA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16752" y="3008376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$32M (17.3%)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06240" y="3364992"/>
            <a:ext cx="4617720" cy="411480"/>
          </a:xfrm>
          <a:prstGeom prst="rect">
            <a:avLst/>
          </a:prstGeom>
          <a:solidFill>
            <a:srgbClr val="F0F4FA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3438144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Revenue Growth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16752" y="343814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+21% YoY (LTM)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4617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867912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Asking EV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16752" y="386791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~$280M (8.75x LTM Adj. EBITDA)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SNAPSHOT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Meridian Marine Services at a Glance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Overview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77640" cy="1828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Meridian Marine Services ("Meridian" or the "Company") is a leading provider of integrated offshore logistics, vessel chartering, and port services to the Gulf of Mexico energy sector. Founded in 2008 by former Tidewater executives, Meridian operates a fleet of 38 owned and chartered vessels — including platform supply vessels (PSVs), fast crew boats, and anchor handling tugs — serving major E&amp;P operators including Shell, BP, Chevron, and Murphy Oil. The Company has grown through a combination of organic contract wins and 3 strategic fleet acquisitions since 2018, establishing a dominant position in the deepwater Gulf of Mexico sub-market.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Founded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7316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2008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1371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HQ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922008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Houston, TX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Employees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7316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~820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92808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Fleet Size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22008" y="21122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38 vessels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Avg. Contract Tenor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7316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2.3 years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2459736"/>
            <a:ext cx="196596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8AA"/>
                </a:solidFill>
              </a:rPr>
              <a:t>Clients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22008" y="26791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5"/>
                </a:solidFill>
              </a:rPr>
              <a:t>Shell, BP, Chevron, Murphy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5BAE"/>
                </a:solidFill>
              </a:rPr>
              <a:t>$185M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633472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0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$32M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09744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19472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9472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+21%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986016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95744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Owned / Chartered Vessels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095744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38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162288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272016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Average Fleet Utilization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272016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92%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1338560" y="3200400"/>
            <a:ext cx="19933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1448288" y="329184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898AA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448288" y="349300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D55"/>
                </a:solidFill>
              </a:rPr>
              <a:t>17.3%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Why Meridian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Six investment highlights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Dominant deepwater Gulf of Mexico platform with long-term customer relationships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87552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#2 PSV operator in the Gulf of Mexico by fleet capacity; #1 in shallow-water crew transfer  ·  Average customer relationship of 8.4 years; Shell and BP collectively 41% of LTM revenue  ·  14 contracts with remaining tenor &gt;18 months, providing high revenue visibility through 2025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64608" y="123444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1234440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Modern, fuel-efficient fleet at attractive replacement cost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94960" y="16367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Average fleet age of 7.2 years vs. Gulf of Mexico industry average of 14.1 years — significant operational advantage  ·  2022 new-build PSVs (2 vessels, $48M invested) operating at premium day rates of $28,500/day  ·  Fleet replacement cost estimated at $520M+ — acquiring Meridian at $280M represents a 54% discount to asset value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441448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Strong energy sector tailwinds driving utilization and day rate recovery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87552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Gulf of Mexico deepwater rig count at 22 active units — highest since 2015; PSV demand directly correlated  ·  Vessel day rates recovering: PSV spot rates up 38% YoY; Meridian's contracted fleet re-pricing at renewal  ·  IEA projects Gulf deepwater production to grow 12% by 2028; operator capex budgets up 18% YoY in 2023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64608" y="244144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2441448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254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Recurring revenue base with contracted backlog providing visibility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2843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$285M contract backlog as of March 2023 — 1.5x LTM revenue; 78% under term contracts (avg. 2.3yr remaining)  ·  Cost-plus structure on 6 major contracts protects against fuel cost inflation  ·  Day rate escalation clauses in 11 contracts tied to CPI — natural inflation hedge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648456"/>
            <a:ext cx="4251960" cy="113385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Vertically integrated shore-base and port operations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87552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Owned shore bases in Fourchon (LA) and Ingleside (TX) — prime deepwater staging locations  ·  Shore-base operations generate $18M of stable, asset-light revenue independent of vessel utilization  ·  Port Fourchon base has 22-year lease with 2 renewal options — strategic asset with high replacement cost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64608" y="3648456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3648456"/>
            <a:ext cx="457200" cy="113385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032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739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55"/>
                </a:solidFill>
              </a:rPr>
              <a:t>Proven management team with successful M&amp;A track record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94960" y="40507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CEO Kirk Dolan: 28 years in offshore marine; former COO at Tidewater Inc. (NYSE: TDW)  ·  3 fleet acquisitions completed 2018–2022 at avg. 5.2x EBITDA (all immediately accretive)  ·  Identified additional bolt-on targets: 2 small Gulf operators, combined ~12 vessels at distressed pricing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5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FINANCIAL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Historical results and management projections ($ in millions)</a:t>
            </a:r>
            <a:endParaRPr lang="en-US" sz="9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61872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61872"/>
          <a:ext cx="3063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"/>
                <a:gridCol w="493776"/>
                <a:gridCol w="493776"/>
                <a:gridCol w="493776"/>
                <a:gridCol w="493776"/>
                <a:gridCol w="49377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LTM Q1'23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FY2023E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B2D55"/>
                          </a:solidFill>
                        </a:rPr>
                        <a:t>FY2024E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128.0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148.5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172.2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185.4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YoY Growth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+16.0%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+15.9%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+21.1%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22.0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24.1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28.8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32.1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EBITDA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17.2%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16.2%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16.7%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Adj. EBITDA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EBITDA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18.5%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20.2%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E = Management projections; not independently verified by Jefferies LLC.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5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PROCESS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Process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Targeted timeline — June 2023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0"/>
          </a:xfrm>
          <a:prstGeom prst="line">
            <a:avLst/>
          </a:prstGeom>
          <a:noFill/>
          <a:ln w="254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274320" y="502920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-274320" y="502920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256032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-256032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Teaser Distribution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65960" y="1600200"/>
            <a:ext cx="274320" cy="274320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993392"/>
            <a:ext cx="146304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1993392"/>
            <a:ext cx="1463040" cy="20116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2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38988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IOI Submission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1188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03580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Management Presentations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5780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4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8172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CIM &amp; Data Room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0372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502920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502920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530352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5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327648" y="740664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Final Bids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549640" y="1600200"/>
            <a:ext cx="274320" cy="274320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993392"/>
            <a:ext cx="1463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55280" y="1993392"/>
            <a:ext cx="1463040" cy="2011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202082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Step 6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973568" y="2231136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D55"/>
                </a:solidFill>
              </a:rPr>
              <a:t>Signing &amp; Announcement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83C"/>
                </a:solidFill>
              </a:rPr>
              <a:t>Jefferies LLC — Contact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" y="387705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Nathan Pierce, Managing Director   |   n.pierce@jefferies.com   |   +1 (713) 658-1100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31520" y="407822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Angela Kim, Vice President   |   a.kim@jefferies.com   |   +1 (713) 658-1245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1520" y="427939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Robert Estrada, Associate   |   r.estrada@jefferies.com   |   +1 (713) 658-1388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2026-05-12T00:15:01Z</dcterms:created>
  <dcterms:modified xsi:type="dcterms:W3CDTF">2026-05-12T00:15:01Z</dcterms:modified>
</cp:coreProperties>
</file>