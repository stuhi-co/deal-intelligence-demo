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2D55"/>
                </a:solidFill>
                <a:latin typeface="Arial"/>
              </a:defRPr>
            </a:pPr>
            <a:r>
              <a:rPr sz="900" b="0" i="0" u="none" strike="noStrike">
                <a:solidFill>
                  <a:srgbClr val="1B2D55"/>
                </a:solidFill>
                <a:latin typeface="Arial"/>
              </a:rPr>
              <a:t>Revenue ($M) — Actual vs. Projected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B5B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B2D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5B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B5BA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FY2018</c:v>
                  </c:pt>
                  <c:pt idx="1">
                    <c:v>FY2019</c:v>
                  </c:pt>
                  <c:pt idx="2">
                    <c:v>FY2020</c:v>
                  </c:pt>
                  <c:pt idx="3">
                    <c:v>LTM Q2'21</c:v>
                  </c:pt>
                  <c:pt idx="4">
                    <c:v>FY2021E</c:v>
                  </c:pt>
                  <c:pt idx="5">
                    <c:v>FY2022E</c:v>
                  </c:pt>
                  <c:pt idx="6">
                    <c:v>FY2023E</c:v>
                  </c:pt>
                  <c:pt idx="7">
                    <c:v>FY2024E</c:v>
                  </c:pt>
                  <c:pt idx="8">
                    <c:v>FY2025E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</c:v>
                </c:pt>
                <c:pt idx="1">
                  <c:v>42.1</c:v>
                </c:pt>
                <c:pt idx="2">
                  <c:v>59.2</c:v>
                </c:pt>
                <c:pt idx="3">
                  <c:v>78.4</c:v>
                </c:pt>
                <c:pt idx="4">
                  <c:v>95</c:v>
                </c:pt>
                <c:pt idx="5">
                  <c:v>122</c:v>
                </c:pt>
                <c:pt idx="6">
                  <c:v>155</c:v>
                </c:pt>
                <c:pt idx="7">
                  <c:v>192</c:v>
                </c:pt>
                <c:pt idx="8">
                  <c:v>235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B2D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54864" cy="51435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78224" y="0"/>
            <a:ext cx="5065776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20040"/>
            <a:ext cx="1371600" cy="320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324612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2D55"/>
                </a:solidFill>
              </a:rPr>
              <a:t>HOULIHAN LOKEY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ABBD0"/>
                </a:solidFill>
              </a:rPr>
              <a:t>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</a:rPr>
              <a:t>PEGASUS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2926080" cy="0"/>
          </a:xfrm>
          <a:prstGeom prst="line">
            <a:avLst/>
          </a:prstGeom>
          <a:noFill/>
          <a:ln w="25400">
            <a:solidFill>
              <a:srgbClr val="C8A8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786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83C"/>
                </a:solidFill>
              </a:rPr>
              <a:t>Executive Teaser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AABBD0"/>
                </a:solidFill>
              </a:rPr>
              <a:t>STRICTLY PRIVATE &amp; CONFIDENTIAL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A"/>
                </a:solidFill>
              </a:rPr>
              <a:t>Not for distribution without prior written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98AA"/>
                </a:solidFill>
              </a:rPr>
              <a:t>consent of Houlihan Lokey.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September 2021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0" y="3200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Transaction Overview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713232"/>
            <a:ext cx="45720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786384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85953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Company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16752" y="859536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Stride &amp; Co.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0" y="1216152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5968" y="128930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Sector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16752" y="1289304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Consumer — Premium DTC Activewear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06240" y="1645920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171907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HQ / Founded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16752" y="1719072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Los Angeles, CA / 2016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0" y="2075688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214884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Advisor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16752" y="2148840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Houlihan Lokey (Exclusive)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06240" y="2505456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15968" y="257860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LTM Revenue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16752" y="2578608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$78M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06240" y="2935224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300837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LTM Adj. EBITDA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16752" y="3008376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$6.5M (8.3% margin)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06240" y="3364992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5968" y="343814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Revenue Growth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16752" y="3438144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+32% YoY (LTM)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06240" y="3794760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15968" y="386791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Asking EV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16752" y="3867912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~$130M (1.7x LTM Revenue / 20x Adj. EBITDA)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Houlihan Lokey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COMPANY SNAPSHOT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Stride &amp; Co. at a Glance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Overview and key operating metrics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7764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37490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Stride &amp; Co. ("Stride" or the "Company") is a purpose-driven premium activewear brand offering performance apparel made from sustainably-sourced and recycled materials. Founded in 2016 by former Lululemon design executives, the Company has built a loyal community of health-conscious consumers through a digital-first brand strategy and an in-app membership program — Stride Studio™ — that combines workout content, style guidance, and early product access. Stride has grown from $8M in FY2017 to $78M LTM with no outside capital beyond its 2019 Series B.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Founded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73168" y="1545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2016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1325880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2008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HQ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922008" y="1545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Los Angeles, 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892808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Employees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73168" y="21122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~210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892808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Avg. Order Value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922008" y="21122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$148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459736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5054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Studio Members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73168" y="2679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~62K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12280" y="2459736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22008" y="25054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Countries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922008" y="2679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US, CA, UK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6928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LTM Revenue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6928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BAE"/>
                </a:solidFill>
              </a:rPr>
              <a:t>$78M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2633472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LTM Adj. EBITDA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0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$6.5M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809744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19472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YoY Revenue Growth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19472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83C"/>
                </a:solidFill>
              </a:rPr>
              <a:t>+32%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986016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95744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NPS Score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095744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82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9162288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272016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Active Customers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272016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~415K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1338560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1448288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NRR (Studio Members)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448288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115%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2 / 5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Houlihan Lokey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INVESTMENT HIGHLIGHTS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Why Stride — Six Investment Highlights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High-velocity DTC brand with best-in-class community engagement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7552" y="163677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415K active customers (purchased in trailing 12 months); 82 NPS — highest in activewear per Qualtrics 2021  ·  Stride Studio membership (62K members, $29/mo) drives 115% NRR; members purchase 3.8x more than non-members  ·  Instagram following of 1.8M with 4.2% engagement rate — 3x industry benchmark for apparel brands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864608" y="1234440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1234440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Differentiated sustainable product platform with pricing power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94960" y="163677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100% recycled or sustainably-sourced materials across core collection since 2020  ·  Legging ASP of $128 — premium to Lululemon ($98) and Athleta ($89) core SKUs  ·  10 product drops per year; avg. sell-through of 94% within 30 days — almost zero end-of-season markdown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2441448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441448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25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2532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Capital-light model with attractive unit economics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87552" y="284378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Asset-light: design and marketing in-house; manufacturing fully outsourced to 3 certified B Corp factories  ·  Blended gross margin 56.2% LTM — expanding from 48.1% in FY2018 as mix shifts to direct DTC  ·  DTC CAC of $38 (organic-heavy strategy); LTV of $680 (avg. 3.5-year relationship, 4.6 orders/yr)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64608" y="2441448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2441448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825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2532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Rapidly growing Studio membership creates durable recurring revenue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94960" y="284378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Stride Studio launched Q1 2020; 62K members growing ~8K/quarter; $21.7M ARR  ·  Members receive exclusive early access, virtual coaching sessions, and personalized styling  ·  Membership churn &lt;12% annually — below benchmarks for consumer subscription products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3648456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648456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32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7552" y="3739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Significant whitespace in international and product adjacencies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87552" y="405079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International (UK/CA) represents &lt;11% of revenue — addressable premium activewear market ex-US is $28B  ·  Men's line launched Q2 2021 tracking to $7M annualized — expected to reach 20% of revenue by FY2023  ·  Footwear (performance sneaker) in development; brand equity research shows 78% purchase intent among existing customers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64608" y="3648456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64608" y="3648456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4032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3739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Proven leadership team — founders with deep activewear DNA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394960" y="405079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CEO Amanda Reyes: former VP Design at Lululemon (8 yrs); COO James Okoro: ex-Patagonia SVP Operations  ·  Head of Brand: 12 years at Nike digital; Head of Tech: built Peloton's e-commerce platform  ·  Management team owns 71% of the business on a fully diluted basis — highly aligned with outcome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3 / 5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Houlihan Lokey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FINANCIAL SUMMARY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Financial Performance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Historical results and management projections ($ in millions)</a:t>
            </a:r>
            <a:endParaRPr lang="en-US" sz="9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261872"/>
          <a:ext cx="5120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61872"/>
          <a:ext cx="3063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93776"/>
                <a:gridCol w="493776"/>
                <a:gridCol w="493776"/>
                <a:gridCol w="493776"/>
                <a:gridCol w="493776"/>
                <a:gridCol w="493776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($M)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FY2018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FY2019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LTM Q2'21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2D55"/>
                          </a:solidFill>
                        </a:rPr>
                        <a:t>FY2021E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2D55"/>
                          </a:solidFill>
                        </a:rPr>
                        <a:t>FY2022E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28.0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42.1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59.2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78.4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YoY Growth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+50.4%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+40.6%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+32.2%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Adj. EBITDA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1.5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3.5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5.2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6.5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EBITDA Margin 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5.4%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8.3%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8.8%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8.3%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95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122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Adj. EBITDA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EBITDA Margin 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10.5%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13.9%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46451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E = Management projections; not independently verified by Houlihan Lokey.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4 / 5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Houlihan Lokey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PROCESS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Process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Targeted timeline — 2021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25400">
            <a:solidFill>
              <a:srgbClr val="D0D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00200"/>
            <a:ext cx="274320" cy="274320"/>
          </a:xfrm>
          <a:prstGeom prst="oval">
            <a:avLst/>
          </a:prstGeom>
          <a:solidFill>
            <a:srgbClr val="C8A8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74320" y="502920"/>
            <a:ext cx="1463040" cy="80467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-274320" y="502920"/>
            <a:ext cx="1463040" cy="20116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256032" y="53035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1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-256032" y="74066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Teaser Distribution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965960" y="1600200"/>
            <a:ext cx="274320" cy="274320"/>
          </a:xfrm>
          <a:prstGeom prst="oval">
            <a:avLst/>
          </a:prstGeom>
          <a:solidFill>
            <a:srgbClr val="C8A8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1993392"/>
            <a:ext cx="1463040" cy="80467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1993392"/>
            <a:ext cx="1463040" cy="20116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20208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2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389888" y="223113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IOI Submission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1188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502920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17520" y="502920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5808" y="53035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3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035808" y="74066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Management Presentations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25780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993392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993392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20208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4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81728" y="223113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CIM &amp; Data Room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90372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502920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502920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53035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5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327648" y="74066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Final Bids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54964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0" y="1993392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55280" y="1993392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20208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6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7973568" y="223113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Signing &amp; Announcement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630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3C"/>
                </a:solidFill>
              </a:rPr>
              <a:t>Houlihan Lokey — Contact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" y="387705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Sarah Mitchell, Managing Director   |   s.mitchell@hl.com   |   +1 (310) 788-5100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31520" y="407822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Daniel Park, Vice President   |   d.park@hl.com   |   +1 (310) 788-5241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31520" y="42793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Priya Sharma, Associate   |   p.sharma@hl.com   |   +1 (310) 788-5388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5 / 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2026-05-11T23:21:29Z</dcterms:created>
  <dcterms:modified xsi:type="dcterms:W3CDTF">2026-05-11T23:21:29Z</dcterms:modified>
</cp:coreProperties>
</file>