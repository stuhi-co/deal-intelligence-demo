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2B5BAE"/>
            </a:solidFill>
            <a:effectLst/>
          </c:spPr>
          <c:invertIfNegative val="0"/>
          <c:dLbls>
            <c:numFmt formatCode="#,##0" sourceLinked="0"/>
            <c:txPr>
              <a:bodyPr/>
              <a:lstStyle/>
              <a:p>
                <a:pPr>
                  <a:defRPr b="0" i="0" strike="noStrike" sz="700" u="none">
                    <a:solidFill>
                      <a:srgbClr val="1B2D55"/>
                    </a:solidFill>
                    <a:latin typeface="Arial"/>
                  </a:defRPr>
                </a:pPr>
              </a:p>
            </c:txPr>
            <c:showLegendKey val="0"/>
            <c:showVal val="1"/>
            <c:showCatName val="0"/>
            <c:showSerName val="0"/>
            <c:showPercent val="0"/>
            <c:showBubbleSize val="0"/>
            <c:showLeaderLines val="0"/>
          </c:dLbls>
          <c:cat>
            <c:multiLvlStrRef>
              <c:f>Sheet1!$A$2:$A$5</c:f>
              <c:multiLvlStrCache>
                <c:ptCount val="4"/>
                <c:lvl>
                  <c:pt idx="0">
                    <c:v>FY2018</c:v>
                  </c:pt>
                  <c:pt idx="1">
                    <c:v>FY2019</c:v>
                  </c:pt>
                  <c:pt idx="2">
                    <c:v>FY2020</c:v>
                  </c:pt>
                  <c:pt idx="3">
                    <c:v>LTM Q2'21</c:v>
                  </c:pt>
                </c:lvl>
              </c:multiLvlStrCache>
            </c:multiLvlStrRef>
          </c:cat>
          <c:val>
            <c:numRef>
              <c:f>Sheet1!$B$2:$B$5</c:f>
              <c:numCache>
                <c:formatCode>General</c:formatCode>
                <c:ptCount val="4"/>
                <c:pt idx="0">
                  <c:v>28</c:v>
                </c:pt>
                <c:pt idx="1">
                  <c:v>42.1</c:v>
                </c:pt>
                <c:pt idx="2">
                  <c:v>59.2</c:v>
                </c:pt>
                <c:pt idx="3">
                  <c:v>78.4</c:v>
                </c:pt>
              </c:numCache>
            </c:numRef>
          </c:val>
        </c:ser>
        <c:dLbls>
          <c:numFmt formatCode="#,##0" sourceLinked="0"/>
          <c:txPr>
            <a:bodyPr/>
            <a:lstStyle/>
            <a:p>
              <a:pPr>
                <a:defRPr b="0" i="0" strike="noStrike" sz="700" u="none">
                  <a:solidFill>
                    <a:srgbClr val="1B2D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98AA"/>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8A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Revenue ($M)</c:v>
                </c:pt>
              </c:strCache>
            </c:strRef>
          </c:tx>
          <c:spPr>
            <a:solidFill>
              <a:srgbClr val="2B5BAE"/>
            </a:solidFill>
            <a:ln w="31750" cap="flat">
              <a:solidFill>
                <a:srgbClr val="2B5BA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B5BAE"/>
              </a:solidFill>
              <a:ln w="9525" cap="flat">
                <a:solidFill>
                  <a:srgbClr val="2B5BAE"/>
                </a:solidFill>
                <a:prstDash val="solid"/>
                <a:round/>
              </a:ln>
              <a:effectLst/>
            </c:spPr>
          </c:marker>
          <c:cat>
            <c:multiLvlStrRef>
              <c:f>Sheet1!$A$2:$A$6</c:f>
              <c:multiLvlStrCache>
                <c:ptCount val="5"/>
                <c:lvl>
                  <c:pt idx="0">
                    <c:v>FY2021E</c:v>
                  </c:pt>
                  <c:pt idx="1">
                    <c:v>FY2022E</c:v>
                  </c:pt>
                  <c:pt idx="2">
                    <c:v>FY2023E</c:v>
                  </c:pt>
                  <c:pt idx="3">
                    <c:v>FY2024E</c:v>
                  </c:pt>
                  <c:pt idx="4">
                    <c:v>FY2025E</c:v>
                  </c:pt>
                </c:lvl>
              </c:multiLvlStrCache>
            </c:multiLvlStrRef>
          </c:cat>
          <c:val>
            <c:numRef>
              <c:f>Sheet1!$B$2:$B$6</c:f>
              <c:numCache>
                <c:formatCode>General</c:formatCode>
                <c:ptCount val="5"/>
                <c:pt idx="0">
                  <c:v>95</c:v>
                </c:pt>
                <c:pt idx="1">
                  <c:v>122</c:v>
                </c:pt>
                <c:pt idx="2">
                  <c:v>155</c:v>
                </c:pt>
                <c:pt idx="3">
                  <c:v>192</c:v>
                </c:pt>
                <c:pt idx="4">
                  <c:v>235</c:v>
                </c:pt>
              </c:numCache>
            </c:numRef>
          </c:val>
          <c:smooth val="1"/>
        </c:ser>
        <c:ser>
          <c:idx val="1"/>
          <c:order val="1"/>
          <c:tx>
            <c:strRef>
              <c:f>Sheet1!$C$1</c:f>
              <c:strCache>
                <c:ptCount val="1"/>
                <c:pt idx="0">
                  <c:v>Adj. EBITDA ($M)</c:v>
                </c:pt>
              </c:strCache>
            </c:strRef>
          </c:tx>
          <c:spPr>
            <a:solidFill>
              <a:srgbClr val="C8A83C"/>
            </a:solidFill>
            <a:ln w="31750" cap="flat">
              <a:solidFill>
                <a:srgbClr val="C8A8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8A83C"/>
              </a:solidFill>
              <a:ln w="9525" cap="flat">
                <a:solidFill>
                  <a:srgbClr val="C8A83C"/>
                </a:solidFill>
                <a:prstDash val="solid"/>
                <a:round/>
              </a:ln>
              <a:effectLst/>
            </c:spPr>
          </c:marker>
          <c:cat>
            <c:multiLvlStrRef>
              <c:f>Sheet1!$A$2:$A$6</c:f>
              <c:multiLvlStrCache>
                <c:ptCount val="5"/>
                <c:lvl>
                  <c:pt idx="0">
                    <c:v>FY2021E</c:v>
                  </c:pt>
                  <c:pt idx="1">
                    <c:v>FY2022E</c:v>
                  </c:pt>
                  <c:pt idx="2">
                    <c:v>FY2023E</c:v>
                  </c:pt>
                  <c:pt idx="3">
                    <c:v>FY2024E</c:v>
                  </c:pt>
                  <c:pt idx="4">
                    <c:v>FY2025E</c:v>
                  </c:pt>
                </c:lvl>
              </c:multiLvlStrCache>
            </c:multiLvlStrRef>
          </c:cat>
          <c:val>
            <c:numRef>
              <c:f>Sheet1!$C$2:$C$6</c:f>
              <c:numCache>
                <c:formatCode>General</c:formatCode>
                <c:ptCount val="5"/>
                <c:pt idx="0">
                  <c:v>10</c:v>
                </c:pt>
                <c:pt idx="1">
                  <c:v>17</c:v>
                </c:pt>
                <c:pt idx="2">
                  <c:v>26</c:v>
                </c:pt>
                <c:pt idx="3">
                  <c:v>38</c:v>
                </c:pt>
                <c:pt idx="4">
                  <c:v>54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98A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8AA"/>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7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D55"/>
          </a:solidFill>
          <a:ln w="12700">
            <a:solidFill>
              <a:srgbClr val="1B2D55"/>
            </a:solidFill>
            <a:prstDash val="solid"/>
          </a:ln>
        </p:spPr>
      </p:sp>
      <p:sp>
        <p:nvSpPr>
          <p:cNvPr id="3" name="Shape 1"/>
          <p:cNvSpPr/>
          <p:nvPr/>
        </p:nvSpPr>
        <p:spPr>
          <a:xfrm>
            <a:off x="0" y="0"/>
            <a:ext cx="73152" cy="5143500"/>
          </a:xfrm>
          <a:prstGeom prst="rect">
            <a:avLst/>
          </a:prstGeom>
          <a:solidFill>
            <a:srgbClr val="C8A83C"/>
          </a:solidFill>
          <a:ln w="12700">
            <a:solidFill>
              <a:srgbClr val="C8A83C"/>
            </a:solidFill>
            <a:prstDash val="solid"/>
          </a:ln>
        </p:spPr>
      </p:sp>
      <p:sp>
        <p:nvSpPr>
          <p:cNvPr id="4" name="Shape 2"/>
          <p:cNvSpPr/>
          <p:nvPr/>
        </p:nvSpPr>
        <p:spPr>
          <a:xfrm>
            <a:off x="9070848" y="0"/>
            <a:ext cx="73152" cy="5143500"/>
          </a:xfrm>
          <a:prstGeom prst="rect">
            <a:avLst/>
          </a:prstGeom>
          <a:solidFill>
            <a:srgbClr val="C8A83C"/>
          </a:solidFill>
          <a:ln w="12700">
            <a:solidFill>
              <a:srgbClr val="C8A83C"/>
            </a:solidFill>
            <a:prstDash val="solid"/>
          </a:ln>
        </p:spPr>
      </p:sp>
      <p:sp>
        <p:nvSpPr>
          <p:cNvPr id="5" name="Shape 3"/>
          <p:cNvSpPr/>
          <p:nvPr/>
        </p:nvSpPr>
        <p:spPr>
          <a:xfrm>
            <a:off x="365760" y="274320"/>
            <a:ext cx="1371600" cy="365760"/>
          </a:xfrm>
          <a:prstGeom prst="rect">
            <a:avLst/>
          </a:prstGeom>
          <a:solidFill>
            <a:srgbClr val="C8A83C"/>
          </a:solidFill>
          <a:ln w="12700">
            <a:solidFill>
              <a:srgbClr val="C8A83C"/>
            </a:solidFill>
            <a:prstDash val="solid"/>
          </a:ln>
        </p:spPr>
      </p:sp>
      <p:sp>
        <p:nvSpPr>
          <p:cNvPr id="6" name="Text 4"/>
          <p:cNvSpPr/>
          <p:nvPr/>
        </p:nvSpPr>
        <p:spPr>
          <a:xfrm>
            <a:off x="374904" y="283464"/>
            <a:ext cx="1353312" cy="347472"/>
          </a:xfrm>
          <a:prstGeom prst="rect">
            <a:avLst/>
          </a:prstGeom>
          <a:noFill/>
          <a:ln/>
        </p:spPr>
        <p:txBody>
          <a:bodyPr wrap="square" lIns="0" tIns="0" rIns="0" bIns="0" rtlCol="0" anchor="ctr"/>
          <a:lstStyle/>
          <a:p>
            <a:pPr algn="ctr" indent="0" marL="0">
              <a:buNone/>
            </a:pPr>
            <a:r>
              <a:rPr lang="en-US" sz="650" b="1" dirty="0">
                <a:solidFill>
                  <a:srgbClr val="1B2D55"/>
                </a:solidFill>
              </a:rPr>
              <a:t>HOULIHAN LOKEY</a:t>
            </a:r>
            <a:endParaRPr lang="en-US" sz="650" dirty="0"/>
          </a:p>
        </p:txBody>
      </p:sp>
      <p:sp>
        <p:nvSpPr>
          <p:cNvPr id="7" name="Text 5"/>
          <p:cNvSpPr/>
          <p:nvPr/>
        </p:nvSpPr>
        <p:spPr>
          <a:xfrm>
            <a:off x="914400" y="1051560"/>
            <a:ext cx="7315200" cy="365760"/>
          </a:xfrm>
          <a:prstGeom prst="rect">
            <a:avLst/>
          </a:prstGeom>
          <a:noFill/>
          <a:ln/>
        </p:spPr>
        <p:txBody>
          <a:bodyPr wrap="square" lIns="0" tIns="0" rIns="0" bIns="0" rtlCol="0" anchor="ctr"/>
          <a:lstStyle/>
          <a:p>
            <a:pPr algn="ctr" indent="0" marL="0">
              <a:buNone/>
            </a:pPr>
            <a:r>
              <a:rPr lang="en-US" sz="850" spc="250" kern="0" dirty="0">
                <a:solidFill>
                  <a:srgbClr val="AABBD0"/>
                </a:solidFill>
              </a:rPr>
              <a:t>CONFIDENTIAL INFORMATION MEMORANDUM</a:t>
            </a:r>
            <a:endParaRPr lang="en-US" sz="850" dirty="0"/>
          </a:p>
        </p:txBody>
      </p:sp>
      <p:sp>
        <p:nvSpPr>
          <p:cNvPr id="8" name="Text 6"/>
          <p:cNvSpPr/>
          <p:nvPr/>
        </p:nvSpPr>
        <p:spPr>
          <a:xfrm>
            <a:off x="457200" y="1508760"/>
            <a:ext cx="8229600" cy="1051560"/>
          </a:xfrm>
          <a:prstGeom prst="rect">
            <a:avLst/>
          </a:prstGeom>
          <a:noFill/>
          <a:ln/>
        </p:spPr>
        <p:txBody>
          <a:bodyPr wrap="square" lIns="0" tIns="0" rIns="0" bIns="0" rtlCol="0" anchor="ctr"/>
          <a:lstStyle/>
          <a:p>
            <a:pPr algn="ctr" indent="0" marL="0">
              <a:buNone/>
            </a:pPr>
            <a:r>
              <a:rPr lang="en-US" sz="5800" b="1" spc="100" kern="0" dirty="0">
                <a:solidFill>
                  <a:srgbClr val="FFFFFF"/>
                </a:solidFill>
              </a:rPr>
              <a:t>PROJECT PEGASUS</a:t>
            </a:r>
            <a:endParaRPr lang="en-US" sz="5800" dirty="0"/>
          </a:p>
        </p:txBody>
      </p:sp>
      <p:sp>
        <p:nvSpPr>
          <p:cNvPr id="9" name="Shape 7"/>
          <p:cNvSpPr/>
          <p:nvPr/>
        </p:nvSpPr>
        <p:spPr>
          <a:xfrm>
            <a:off x="2286000" y="2697480"/>
            <a:ext cx="4572000" cy="0"/>
          </a:xfrm>
          <a:prstGeom prst="line">
            <a:avLst/>
          </a:prstGeom>
          <a:noFill/>
          <a:ln w="25400">
            <a:solidFill>
              <a:srgbClr val="C8A83C"/>
            </a:solidFill>
            <a:prstDash val="solid"/>
          </a:ln>
        </p:spPr>
      </p:sp>
      <p:sp>
        <p:nvSpPr>
          <p:cNvPr id="10" name="Text 8"/>
          <p:cNvSpPr/>
          <p:nvPr/>
        </p:nvSpPr>
        <p:spPr>
          <a:xfrm>
            <a:off x="914400" y="2816352"/>
            <a:ext cx="7315200" cy="457200"/>
          </a:xfrm>
          <a:prstGeom prst="rect">
            <a:avLst/>
          </a:prstGeom>
          <a:noFill/>
          <a:ln/>
        </p:spPr>
        <p:txBody>
          <a:bodyPr wrap="square" lIns="0" tIns="0" rIns="0" bIns="0" rtlCol="0" anchor="ctr"/>
          <a:lstStyle/>
          <a:p>
            <a:pPr algn="ctr" indent="0" marL="0">
              <a:buNone/>
            </a:pPr>
            <a:r>
              <a:rPr lang="en-US" sz="1700" dirty="0">
                <a:solidFill>
                  <a:srgbClr val="C8A83C"/>
                </a:solidFill>
              </a:rPr>
              <a:t>Stride &amp; Co.</a:t>
            </a:r>
            <a:endParaRPr lang="en-US" sz="1700" dirty="0"/>
          </a:p>
        </p:txBody>
      </p:sp>
      <p:sp>
        <p:nvSpPr>
          <p:cNvPr id="11" name="Text 9"/>
          <p:cNvSpPr/>
          <p:nvPr/>
        </p:nvSpPr>
        <p:spPr>
          <a:xfrm>
            <a:off x="914400" y="3310128"/>
            <a:ext cx="7315200" cy="320040"/>
          </a:xfrm>
          <a:prstGeom prst="rect">
            <a:avLst/>
          </a:prstGeom>
          <a:noFill/>
          <a:ln/>
        </p:spPr>
        <p:txBody>
          <a:bodyPr wrap="square" lIns="0" tIns="0" rIns="0" bIns="0" rtlCol="0" anchor="ctr"/>
          <a:lstStyle/>
          <a:p>
            <a:pPr algn="ctr" indent="0" marL="0">
              <a:buNone/>
            </a:pPr>
            <a:r>
              <a:rPr lang="en-US" sz="1100" dirty="0">
                <a:solidFill>
                  <a:srgbClr val="8898AA"/>
                </a:solidFill>
              </a:rPr>
              <a:t>Consumer — Premium DTC Activewear</a:t>
            </a:r>
            <a:endParaRPr lang="en-US" sz="1100" dirty="0"/>
          </a:p>
        </p:txBody>
      </p:sp>
      <p:sp>
        <p:nvSpPr>
          <p:cNvPr id="12" name="Text 10"/>
          <p:cNvSpPr/>
          <p:nvPr/>
        </p:nvSpPr>
        <p:spPr>
          <a:xfrm>
            <a:off x="914400" y="4407408"/>
            <a:ext cx="7315200" cy="228600"/>
          </a:xfrm>
          <a:prstGeom prst="rect">
            <a:avLst/>
          </a:prstGeom>
          <a:noFill/>
          <a:ln/>
        </p:spPr>
        <p:txBody>
          <a:bodyPr wrap="square" lIns="0" tIns="0" rIns="0" bIns="0" rtlCol="0" anchor="ctr"/>
          <a:lstStyle/>
          <a:p>
            <a:pPr algn="ctr" indent="0" marL="0">
              <a:buNone/>
            </a:pPr>
            <a:r>
              <a:rPr lang="en-US" sz="800" dirty="0">
                <a:solidFill>
                  <a:srgbClr val="8898AA"/>
                </a:solidFill>
              </a:rPr>
              <a:t>September 2021  |  STRICTLY PRIVATE &amp; CONFIDENTIAL</a:t>
            </a:r>
            <a:endParaRPr lang="en-US" sz="800" dirty="0"/>
          </a:p>
        </p:txBody>
      </p:sp>
      <p:sp>
        <p:nvSpPr>
          <p:cNvPr id="13" name="Text 11"/>
          <p:cNvSpPr/>
          <p:nvPr/>
        </p:nvSpPr>
        <p:spPr>
          <a:xfrm>
            <a:off x="457200" y="4809744"/>
            <a:ext cx="8229600" cy="228600"/>
          </a:xfrm>
          <a:prstGeom prst="rect">
            <a:avLst/>
          </a:prstGeom>
          <a:noFill/>
          <a:ln/>
        </p:spPr>
        <p:txBody>
          <a:bodyPr wrap="square" lIns="0" tIns="0" rIns="0" bIns="0" rtlCol="0" anchor="ctr"/>
          <a:lstStyle/>
          <a:p>
            <a:pPr algn="ctr" indent="0" marL="0">
              <a:buNone/>
            </a:pPr>
            <a:r>
              <a:rPr lang="en-US" sz="550" dirty="0">
                <a:solidFill>
                  <a:srgbClr val="445566"/>
                </a:solidFill>
              </a:rPr>
              <a:t>This CIM has been prepared by Houlihan Lokey on behalf of Stride &amp; Co.. Not for distribution.</a:t>
            </a:r>
            <a:endParaRPr lang="en-US" sz="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Houlihan Lokey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EXECUTIVE SUMMARY</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Executive Summary</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Stride &amp; Co. — Consumer</a:t>
            </a:r>
            <a:endParaRPr lang="en-US" sz="950" dirty="0"/>
          </a:p>
        </p:txBody>
      </p:sp>
      <p:sp>
        <p:nvSpPr>
          <p:cNvPr id="8" name="Text 6"/>
          <p:cNvSpPr/>
          <p:nvPr/>
        </p:nvSpPr>
        <p:spPr>
          <a:xfrm>
            <a:off x="457200" y="1188720"/>
            <a:ext cx="4663440" cy="1828800"/>
          </a:xfrm>
          <a:prstGeom prst="rect">
            <a:avLst/>
          </a:prstGeom>
          <a:noFill/>
          <a:ln/>
        </p:spPr>
        <p:txBody>
          <a:bodyPr wrap="square" lIns="0" tIns="0" rIns="0" bIns="0" rtlCol="0" anchor="t"/>
          <a:lstStyle/>
          <a:p>
            <a:pPr indent="0" marL="0">
              <a:buNone/>
            </a:pPr>
            <a:r>
              <a:rPr lang="en-US" sz="850" dirty="0">
                <a:solidFill>
                  <a:srgbClr val="4A5568"/>
                </a:solidFill>
              </a:rPr>
              <a:t>Stride &amp; Co. ("Stride" or the "Company") is a purpose-driven premium activewear brand offering performance apparel made from sustainably-sourced and recycled materials. Founded in 2016 by former Lululemon design executives, the Company has built a loyal community of health-conscious consumers through a digital-first brand strategy and an in-app membership program — Stride Studio™ — that combines workout content, style guidance, and early product access. Stride has grown from $8M in FY2017 to $78M LTM with no outside capital beyond its 2019 Series B.</a:t>
            </a:r>
            <a:endParaRPr lang="en-US" sz="850" dirty="0"/>
          </a:p>
        </p:txBody>
      </p:sp>
      <p:sp>
        <p:nvSpPr>
          <p:cNvPr id="9" name="Shape 7"/>
          <p:cNvSpPr/>
          <p:nvPr/>
        </p:nvSpPr>
        <p:spPr>
          <a:xfrm>
            <a:off x="457200" y="3063240"/>
            <a:ext cx="8229600" cy="0"/>
          </a:xfrm>
          <a:prstGeom prst="line">
            <a:avLst/>
          </a:prstGeom>
          <a:noFill/>
          <a:ln w="9525">
            <a:solidFill>
              <a:srgbClr val="D0D8E4"/>
            </a:solidFill>
            <a:prstDash val="solid"/>
          </a:ln>
        </p:spPr>
      </p:sp>
      <p:sp>
        <p:nvSpPr>
          <p:cNvPr id="10" name="Text 8"/>
          <p:cNvSpPr/>
          <p:nvPr/>
        </p:nvSpPr>
        <p:spPr>
          <a:xfrm>
            <a:off x="457200" y="3127248"/>
            <a:ext cx="3657600" cy="256032"/>
          </a:xfrm>
          <a:prstGeom prst="rect">
            <a:avLst/>
          </a:prstGeom>
          <a:noFill/>
          <a:ln/>
        </p:spPr>
        <p:txBody>
          <a:bodyPr wrap="square" lIns="0" tIns="0" rIns="0" bIns="0" rtlCol="0" anchor="ctr"/>
          <a:lstStyle/>
          <a:p>
            <a:pPr indent="0" marL="0">
              <a:buNone/>
            </a:pPr>
            <a:r>
              <a:rPr lang="en-US" sz="900" b="1" dirty="0">
                <a:solidFill>
                  <a:srgbClr val="1B2D55"/>
                </a:solidFill>
              </a:rPr>
              <a:t>Key Financial Metrics</a:t>
            </a:r>
            <a:endParaRPr lang="en-US" sz="900" dirty="0"/>
          </a:p>
        </p:txBody>
      </p:sp>
      <p:sp>
        <p:nvSpPr>
          <p:cNvPr id="11" name="Shape 9"/>
          <p:cNvSpPr/>
          <p:nvPr/>
        </p:nvSpPr>
        <p:spPr>
          <a:xfrm>
            <a:off x="457200" y="3419856"/>
            <a:ext cx="4206240" cy="256032"/>
          </a:xfrm>
          <a:prstGeom prst="rect">
            <a:avLst/>
          </a:prstGeom>
          <a:solidFill>
            <a:srgbClr val="F4F6FA"/>
          </a:solidFill>
          <a:ln w="12700">
            <a:solidFill>
              <a:srgbClr val="D0D8E4"/>
            </a:solidFill>
            <a:prstDash val="solid"/>
          </a:ln>
        </p:spPr>
      </p:sp>
      <p:sp>
        <p:nvSpPr>
          <p:cNvPr id="12" name="Text 10"/>
          <p:cNvSpPr/>
          <p:nvPr/>
        </p:nvSpPr>
        <p:spPr>
          <a:xfrm>
            <a:off x="594360" y="3456432"/>
            <a:ext cx="2103120" cy="182880"/>
          </a:xfrm>
          <a:prstGeom prst="rect">
            <a:avLst/>
          </a:prstGeom>
          <a:noFill/>
          <a:ln/>
        </p:spPr>
        <p:txBody>
          <a:bodyPr wrap="square" lIns="0" tIns="0" rIns="0" bIns="0" rtlCol="0" anchor="ctr"/>
          <a:lstStyle/>
          <a:p>
            <a:pPr indent="0" marL="0">
              <a:buNone/>
            </a:pPr>
            <a:r>
              <a:rPr lang="en-US" sz="800" dirty="0">
                <a:solidFill>
                  <a:srgbClr val="4A5568"/>
                </a:solidFill>
              </a:rPr>
              <a:t>LTM Q2'21 Revenue</a:t>
            </a:r>
            <a:endParaRPr lang="en-US" sz="800" dirty="0"/>
          </a:p>
        </p:txBody>
      </p:sp>
      <p:sp>
        <p:nvSpPr>
          <p:cNvPr id="13" name="Text 11"/>
          <p:cNvSpPr/>
          <p:nvPr/>
        </p:nvSpPr>
        <p:spPr>
          <a:xfrm>
            <a:off x="2697480" y="3456432"/>
            <a:ext cx="1828800" cy="182880"/>
          </a:xfrm>
          <a:prstGeom prst="rect">
            <a:avLst/>
          </a:prstGeom>
          <a:noFill/>
          <a:ln/>
        </p:spPr>
        <p:txBody>
          <a:bodyPr wrap="square" lIns="0" tIns="0" rIns="0" bIns="0" rtlCol="0" anchor="ctr"/>
          <a:lstStyle/>
          <a:p>
            <a:pPr algn="r" indent="0" marL="0">
              <a:buNone/>
            </a:pPr>
            <a:r>
              <a:rPr lang="en-US" sz="800" b="1" dirty="0">
                <a:solidFill>
                  <a:srgbClr val="1B2D55"/>
                </a:solidFill>
              </a:rPr>
              <a:t>$78M</a:t>
            </a:r>
            <a:endParaRPr lang="en-US" sz="800" dirty="0"/>
          </a:p>
        </p:txBody>
      </p:sp>
      <p:sp>
        <p:nvSpPr>
          <p:cNvPr id="14" name="Shape 12"/>
          <p:cNvSpPr/>
          <p:nvPr/>
        </p:nvSpPr>
        <p:spPr>
          <a:xfrm>
            <a:off x="457200" y="3685032"/>
            <a:ext cx="4206240" cy="256032"/>
          </a:xfrm>
          <a:prstGeom prst="rect">
            <a:avLst/>
          </a:prstGeom>
          <a:solidFill>
            <a:srgbClr val="FFFFFF"/>
          </a:solidFill>
          <a:ln w="12700">
            <a:solidFill>
              <a:srgbClr val="D0D8E4"/>
            </a:solidFill>
            <a:prstDash val="solid"/>
          </a:ln>
        </p:spPr>
      </p:sp>
      <p:sp>
        <p:nvSpPr>
          <p:cNvPr id="15" name="Text 13"/>
          <p:cNvSpPr/>
          <p:nvPr/>
        </p:nvSpPr>
        <p:spPr>
          <a:xfrm>
            <a:off x="594360" y="3721608"/>
            <a:ext cx="2103120" cy="182880"/>
          </a:xfrm>
          <a:prstGeom prst="rect">
            <a:avLst/>
          </a:prstGeom>
          <a:noFill/>
          <a:ln/>
        </p:spPr>
        <p:txBody>
          <a:bodyPr wrap="square" lIns="0" tIns="0" rIns="0" bIns="0" rtlCol="0" anchor="ctr"/>
          <a:lstStyle/>
          <a:p>
            <a:pPr indent="0" marL="0">
              <a:buNone/>
            </a:pPr>
            <a:r>
              <a:rPr lang="en-US" sz="800" dirty="0">
                <a:solidFill>
                  <a:srgbClr val="4A5568"/>
                </a:solidFill>
              </a:rPr>
              <a:t>Adj. EBITDA</a:t>
            </a:r>
            <a:endParaRPr lang="en-US" sz="800" dirty="0"/>
          </a:p>
        </p:txBody>
      </p:sp>
      <p:sp>
        <p:nvSpPr>
          <p:cNvPr id="16" name="Text 14"/>
          <p:cNvSpPr/>
          <p:nvPr/>
        </p:nvSpPr>
        <p:spPr>
          <a:xfrm>
            <a:off x="2697480" y="3721608"/>
            <a:ext cx="1828800" cy="182880"/>
          </a:xfrm>
          <a:prstGeom prst="rect">
            <a:avLst/>
          </a:prstGeom>
          <a:noFill/>
          <a:ln/>
        </p:spPr>
        <p:txBody>
          <a:bodyPr wrap="square" lIns="0" tIns="0" rIns="0" bIns="0" rtlCol="0" anchor="ctr"/>
          <a:lstStyle/>
          <a:p>
            <a:pPr algn="r" indent="0" marL="0">
              <a:buNone/>
            </a:pPr>
            <a:r>
              <a:rPr lang="en-US" sz="800" b="1" dirty="0">
                <a:solidFill>
                  <a:srgbClr val="1B2D55"/>
                </a:solidFill>
              </a:rPr>
              <a:t>$6.5M (8.3%)</a:t>
            </a:r>
            <a:endParaRPr lang="en-US" sz="800" dirty="0"/>
          </a:p>
        </p:txBody>
      </p:sp>
      <p:sp>
        <p:nvSpPr>
          <p:cNvPr id="17" name="Shape 15"/>
          <p:cNvSpPr/>
          <p:nvPr/>
        </p:nvSpPr>
        <p:spPr>
          <a:xfrm>
            <a:off x="457200" y="3950208"/>
            <a:ext cx="4206240" cy="256032"/>
          </a:xfrm>
          <a:prstGeom prst="rect">
            <a:avLst/>
          </a:prstGeom>
          <a:solidFill>
            <a:srgbClr val="F4F6FA"/>
          </a:solidFill>
          <a:ln w="12700">
            <a:solidFill>
              <a:srgbClr val="D0D8E4"/>
            </a:solidFill>
            <a:prstDash val="solid"/>
          </a:ln>
        </p:spPr>
      </p:sp>
      <p:sp>
        <p:nvSpPr>
          <p:cNvPr id="18" name="Text 16"/>
          <p:cNvSpPr/>
          <p:nvPr/>
        </p:nvSpPr>
        <p:spPr>
          <a:xfrm>
            <a:off x="594360" y="3986784"/>
            <a:ext cx="2103120" cy="182880"/>
          </a:xfrm>
          <a:prstGeom prst="rect">
            <a:avLst/>
          </a:prstGeom>
          <a:noFill/>
          <a:ln/>
        </p:spPr>
        <p:txBody>
          <a:bodyPr wrap="square" lIns="0" tIns="0" rIns="0" bIns="0" rtlCol="0" anchor="ctr"/>
          <a:lstStyle/>
          <a:p>
            <a:pPr indent="0" marL="0">
              <a:buNone/>
            </a:pPr>
            <a:r>
              <a:rPr lang="en-US" sz="800" dirty="0">
                <a:solidFill>
                  <a:srgbClr val="4A5568"/>
                </a:solidFill>
              </a:rPr>
              <a:t>Revenue Growth (YoY)</a:t>
            </a:r>
            <a:endParaRPr lang="en-US" sz="800" dirty="0"/>
          </a:p>
        </p:txBody>
      </p:sp>
      <p:sp>
        <p:nvSpPr>
          <p:cNvPr id="19" name="Text 17"/>
          <p:cNvSpPr/>
          <p:nvPr/>
        </p:nvSpPr>
        <p:spPr>
          <a:xfrm>
            <a:off x="2697480" y="3986784"/>
            <a:ext cx="1828800" cy="182880"/>
          </a:xfrm>
          <a:prstGeom prst="rect">
            <a:avLst/>
          </a:prstGeom>
          <a:noFill/>
          <a:ln/>
        </p:spPr>
        <p:txBody>
          <a:bodyPr wrap="square" lIns="0" tIns="0" rIns="0" bIns="0" rtlCol="0" anchor="ctr"/>
          <a:lstStyle/>
          <a:p>
            <a:pPr algn="r" indent="0" marL="0">
              <a:buNone/>
            </a:pPr>
            <a:r>
              <a:rPr lang="en-US" sz="800" b="1" dirty="0">
                <a:solidFill>
                  <a:srgbClr val="1B2D55"/>
                </a:solidFill>
              </a:rPr>
              <a:t>+32%</a:t>
            </a:r>
            <a:endParaRPr lang="en-US" sz="800" dirty="0"/>
          </a:p>
        </p:txBody>
      </p:sp>
      <p:sp>
        <p:nvSpPr>
          <p:cNvPr id="20" name="Shape 18"/>
          <p:cNvSpPr/>
          <p:nvPr/>
        </p:nvSpPr>
        <p:spPr>
          <a:xfrm>
            <a:off x="457200" y="4215384"/>
            <a:ext cx="4206240" cy="256032"/>
          </a:xfrm>
          <a:prstGeom prst="rect">
            <a:avLst/>
          </a:prstGeom>
          <a:solidFill>
            <a:srgbClr val="FFFFFF"/>
          </a:solidFill>
          <a:ln w="12700">
            <a:solidFill>
              <a:srgbClr val="D0D8E4"/>
            </a:solidFill>
            <a:prstDash val="solid"/>
          </a:ln>
        </p:spPr>
      </p:sp>
      <p:sp>
        <p:nvSpPr>
          <p:cNvPr id="21" name="Text 19"/>
          <p:cNvSpPr/>
          <p:nvPr/>
        </p:nvSpPr>
        <p:spPr>
          <a:xfrm>
            <a:off x="594360" y="4251960"/>
            <a:ext cx="2103120" cy="182880"/>
          </a:xfrm>
          <a:prstGeom prst="rect">
            <a:avLst/>
          </a:prstGeom>
          <a:noFill/>
          <a:ln/>
        </p:spPr>
        <p:txBody>
          <a:bodyPr wrap="square" lIns="0" tIns="0" rIns="0" bIns="0" rtlCol="0" anchor="ctr"/>
          <a:lstStyle/>
          <a:p>
            <a:pPr indent="0" marL="0">
              <a:buNone/>
            </a:pPr>
            <a:r>
              <a:rPr lang="en-US" sz="800" dirty="0">
                <a:solidFill>
                  <a:srgbClr val="4A5568"/>
                </a:solidFill>
              </a:rPr>
              <a:t>Asking EV</a:t>
            </a:r>
            <a:endParaRPr lang="en-US" sz="800" dirty="0"/>
          </a:p>
        </p:txBody>
      </p:sp>
      <p:sp>
        <p:nvSpPr>
          <p:cNvPr id="22" name="Text 20"/>
          <p:cNvSpPr/>
          <p:nvPr/>
        </p:nvSpPr>
        <p:spPr>
          <a:xfrm>
            <a:off x="2697480" y="4251960"/>
            <a:ext cx="1828800" cy="182880"/>
          </a:xfrm>
          <a:prstGeom prst="rect">
            <a:avLst/>
          </a:prstGeom>
          <a:noFill/>
          <a:ln/>
        </p:spPr>
        <p:txBody>
          <a:bodyPr wrap="square" lIns="0" tIns="0" rIns="0" bIns="0" rtlCol="0" anchor="ctr"/>
          <a:lstStyle/>
          <a:p>
            <a:pPr algn="r" indent="0" marL="0">
              <a:buNone/>
            </a:pPr>
            <a:r>
              <a:rPr lang="en-US" sz="800" b="1" dirty="0">
                <a:solidFill>
                  <a:srgbClr val="1B2D55"/>
                </a:solidFill>
              </a:rPr>
              <a:t>~$130M</a:t>
            </a:r>
            <a:endParaRPr lang="en-US" sz="800" dirty="0"/>
          </a:p>
        </p:txBody>
      </p:sp>
      <p:sp>
        <p:nvSpPr>
          <p:cNvPr id="23" name="Shape 21"/>
          <p:cNvSpPr/>
          <p:nvPr/>
        </p:nvSpPr>
        <p:spPr>
          <a:xfrm>
            <a:off x="457200" y="4480560"/>
            <a:ext cx="4206240" cy="256032"/>
          </a:xfrm>
          <a:prstGeom prst="rect">
            <a:avLst/>
          </a:prstGeom>
          <a:solidFill>
            <a:srgbClr val="F4F6FA"/>
          </a:solidFill>
          <a:ln w="12700">
            <a:solidFill>
              <a:srgbClr val="D0D8E4"/>
            </a:solidFill>
            <a:prstDash val="solid"/>
          </a:ln>
        </p:spPr>
      </p:sp>
      <p:sp>
        <p:nvSpPr>
          <p:cNvPr id="24" name="Text 22"/>
          <p:cNvSpPr/>
          <p:nvPr/>
        </p:nvSpPr>
        <p:spPr>
          <a:xfrm>
            <a:off x="594360" y="4517136"/>
            <a:ext cx="2103120" cy="182880"/>
          </a:xfrm>
          <a:prstGeom prst="rect">
            <a:avLst/>
          </a:prstGeom>
          <a:noFill/>
          <a:ln/>
        </p:spPr>
        <p:txBody>
          <a:bodyPr wrap="square" lIns="0" tIns="0" rIns="0" bIns="0" rtlCol="0" anchor="ctr"/>
          <a:lstStyle/>
          <a:p>
            <a:pPr indent="0" marL="0">
              <a:buNone/>
            </a:pPr>
            <a:r>
              <a:rPr lang="en-US" sz="800" dirty="0">
                <a:solidFill>
                  <a:srgbClr val="4A5568"/>
                </a:solidFill>
              </a:rPr>
              <a:t>Transaction Multiple</a:t>
            </a:r>
            <a:endParaRPr lang="en-US" sz="800" dirty="0"/>
          </a:p>
        </p:txBody>
      </p:sp>
      <p:sp>
        <p:nvSpPr>
          <p:cNvPr id="25" name="Text 23"/>
          <p:cNvSpPr/>
          <p:nvPr/>
        </p:nvSpPr>
        <p:spPr>
          <a:xfrm>
            <a:off x="2697480" y="4517136"/>
            <a:ext cx="1828800" cy="182880"/>
          </a:xfrm>
          <a:prstGeom prst="rect">
            <a:avLst/>
          </a:prstGeom>
          <a:noFill/>
          <a:ln/>
        </p:spPr>
        <p:txBody>
          <a:bodyPr wrap="square" lIns="0" tIns="0" rIns="0" bIns="0" rtlCol="0" anchor="ctr"/>
          <a:lstStyle/>
          <a:p>
            <a:pPr algn="r" indent="0" marL="0">
              <a:buNone/>
            </a:pPr>
            <a:r>
              <a:rPr lang="en-US" sz="800" b="1" dirty="0">
                <a:solidFill>
                  <a:srgbClr val="1B2D55"/>
                </a:solidFill>
              </a:rPr>
              <a:t>1.7x LTM Revenue / 20x Adj. EBITDA</a:t>
            </a:r>
            <a:endParaRPr lang="en-US" sz="800" dirty="0"/>
          </a:p>
        </p:txBody>
      </p:sp>
      <p:sp>
        <p:nvSpPr>
          <p:cNvPr id="26" name="Shape 24"/>
          <p:cNvSpPr/>
          <p:nvPr/>
        </p:nvSpPr>
        <p:spPr>
          <a:xfrm>
            <a:off x="5074920" y="1188720"/>
            <a:ext cx="1828800" cy="1042416"/>
          </a:xfrm>
          <a:prstGeom prst="rect">
            <a:avLst/>
          </a:prstGeom>
          <a:solidFill>
            <a:srgbClr val="1B2D55"/>
          </a:solidFill>
          <a:ln w="12700">
            <a:solidFill>
              <a:srgbClr val="1B2D55"/>
            </a:solidFill>
            <a:prstDash val="solid"/>
          </a:ln>
        </p:spPr>
      </p:sp>
      <p:sp>
        <p:nvSpPr>
          <p:cNvPr id="27" name="Text 25"/>
          <p:cNvSpPr/>
          <p:nvPr/>
        </p:nvSpPr>
        <p:spPr>
          <a:xfrm>
            <a:off x="5074920" y="1353312"/>
            <a:ext cx="1828800" cy="475488"/>
          </a:xfrm>
          <a:prstGeom prst="rect">
            <a:avLst/>
          </a:prstGeom>
          <a:noFill/>
          <a:ln/>
        </p:spPr>
        <p:txBody>
          <a:bodyPr wrap="square" lIns="0" tIns="0" rIns="0" bIns="0" rtlCol="0" anchor="ctr"/>
          <a:lstStyle/>
          <a:p>
            <a:pPr algn="ctr" indent="0" marL="0">
              <a:buNone/>
            </a:pPr>
            <a:r>
              <a:rPr lang="en-US" sz="2200" b="1" dirty="0">
                <a:solidFill>
                  <a:srgbClr val="C8A83C"/>
                </a:solidFill>
              </a:rPr>
              <a:t>$78M</a:t>
            </a:r>
            <a:endParaRPr lang="en-US" sz="2200" dirty="0"/>
          </a:p>
        </p:txBody>
      </p:sp>
      <p:sp>
        <p:nvSpPr>
          <p:cNvPr id="28" name="Text 26"/>
          <p:cNvSpPr/>
          <p:nvPr/>
        </p:nvSpPr>
        <p:spPr>
          <a:xfrm>
            <a:off x="5074920" y="1847088"/>
            <a:ext cx="1828800" cy="274320"/>
          </a:xfrm>
          <a:prstGeom prst="rect">
            <a:avLst/>
          </a:prstGeom>
          <a:noFill/>
          <a:ln/>
        </p:spPr>
        <p:txBody>
          <a:bodyPr wrap="square" lIns="0" tIns="0" rIns="0" bIns="0" rtlCol="0" anchor="ctr"/>
          <a:lstStyle/>
          <a:p>
            <a:pPr algn="ctr" indent="0" marL="0">
              <a:buNone/>
            </a:pPr>
            <a:r>
              <a:rPr lang="en-US" sz="750" dirty="0">
                <a:solidFill>
                  <a:srgbClr val="FFFFFF"/>
                </a:solidFill>
              </a:rPr>
              <a:t>LTM Revenue</a:t>
            </a:r>
            <a:endParaRPr lang="en-US" sz="750" dirty="0"/>
          </a:p>
        </p:txBody>
      </p:sp>
      <p:sp>
        <p:nvSpPr>
          <p:cNvPr id="29" name="Shape 27"/>
          <p:cNvSpPr/>
          <p:nvPr/>
        </p:nvSpPr>
        <p:spPr>
          <a:xfrm>
            <a:off x="7013448" y="1188720"/>
            <a:ext cx="1828800" cy="1042416"/>
          </a:xfrm>
          <a:prstGeom prst="rect">
            <a:avLst/>
          </a:prstGeom>
          <a:solidFill>
            <a:srgbClr val="1B2D55"/>
          </a:solidFill>
          <a:ln w="12700">
            <a:solidFill>
              <a:srgbClr val="1B2D55"/>
            </a:solidFill>
            <a:prstDash val="solid"/>
          </a:ln>
        </p:spPr>
      </p:sp>
      <p:sp>
        <p:nvSpPr>
          <p:cNvPr id="30" name="Text 28"/>
          <p:cNvSpPr/>
          <p:nvPr/>
        </p:nvSpPr>
        <p:spPr>
          <a:xfrm>
            <a:off x="7013448" y="1353312"/>
            <a:ext cx="1828800" cy="475488"/>
          </a:xfrm>
          <a:prstGeom prst="rect">
            <a:avLst/>
          </a:prstGeom>
          <a:noFill/>
          <a:ln/>
        </p:spPr>
        <p:txBody>
          <a:bodyPr wrap="square" lIns="0" tIns="0" rIns="0" bIns="0" rtlCol="0" anchor="ctr"/>
          <a:lstStyle/>
          <a:p>
            <a:pPr algn="ctr" indent="0" marL="0">
              <a:buNone/>
            </a:pPr>
            <a:r>
              <a:rPr lang="en-US" sz="2200" b="1" dirty="0">
                <a:solidFill>
                  <a:srgbClr val="C8A83C"/>
                </a:solidFill>
              </a:rPr>
              <a:t>$6.5M</a:t>
            </a:r>
            <a:endParaRPr lang="en-US" sz="2200" dirty="0"/>
          </a:p>
        </p:txBody>
      </p:sp>
      <p:sp>
        <p:nvSpPr>
          <p:cNvPr id="31" name="Text 29"/>
          <p:cNvSpPr/>
          <p:nvPr/>
        </p:nvSpPr>
        <p:spPr>
          <a:xfrm>
            <a:off x="7013448" y="1847088"/>
            <a:ext cx="1828800" cy="274320"/>
          </a:xfrm>
          <a:prstGeom prst="rect">
            <a:avLst/>
          </a:prstGeom>
          <a:noFill/>
          <a:ln/>
        </p:spPr>
        <p:txBody>
          <a:bodyPr wrap="square" lIns="0" tIns="0" rIns="0" bIns="0" rtlCol="0" anchor="ctr"/>
          <a:lstStyle/>
          <a:p>
            <a:pPr algn="ctr" indent="0" marL="0">
              <a:buNone/>
            </a:pPr>
            <a:r>
              <a:rPr lang="en-US" sz="750" dirty="0">
                <a:solidFill>
                  <a:srgbClr val="FFFFFF"/>
                </a:solidFill>
              </a:rPr>
              <a:t>LTM Adj. EBITDA</a:t>
            </a:r>
            <a:endParaRPr lang="en-US" sz="750" dirty="0"/>
          </a:p>
        </p:txBody>
      </p:sp>
      <p:sp>
        <p:nvSpPr>
          <p:cNvPr id="32" name="Shape 30"/>
          <p:cNvSpPr/>
          <p:nvPr/>
        </p:nvSpPr>
        <p:spPr>
          <a:xfrm>
            <a:off x="5074920" y="2304288"/>
            <a:ext cx="1828800" cy="1042416"/>
          </a:xfrm>
          <a:prstGeom prst="rect">
            <a:avLst/>
          </a:prstGeom>
          <a:solidFill>
            <a:srgbClr val="2B5BAE"/>
          </a:solidFill>
          <a:ln w="12700">
            <a:solidFill>
              <a:srgbClr val="2B5BAE"/>
            </a:solidFill>
            <a:prstDash val="solid"/>
          </a:ln>
        </p:spPr>
      </p:sp>
      <p:sp>
        <p:nvSpPr>
          <p:cNvPr id="33" name="Text 31"/>
          <p:cNvSpPr/>
          <p:nvPr/>
        </p:nvSpPr>
        <p:spPr>
          <a:xfrm>
            <a:off x="5074920" y="2468880"/>
            <a:ext cx="1828800" cy="475488"/>
          </a:xfrm>
          <a:prstGeom prst="rect">
            <a:avLst/>
          </a:prstGeom>
          <a:noFill/>
          <a:ln/>
        </p:spPr>
        <p:txBody>
          <a:bodyPr wrap="square" lIns="0" tIns="0" rIns="0" bIns="0" rtlCol="0" anchor="ctr"/>
          <a:lstStyle/>
          <a:p>
            <a:pPr algn="ctr" indent="0" marL="0">
              <a:buNone/>
            </a:pPr>
            <a:r>
              <a:rPr lang="en-US" sz="2200" b="1" dirty="0">
                <a:solidFill>
                  <a:srgbClr val="C8A83C"/>
                </a:solidFill>
              </a:rPr>
              <a:t>+32%</a:t>
            </a:r>
            <a:endParaRPr lang="en-US" sz="2200" dirty="0"/>
          </a:p>
        </p:txBody>
      </p:sp>
      <p:sp>
        <p:nvSpPr>
          <p:cNvPr id="34" name="Text 32"/>
          <p:cNvSpPr/>
          <p:nvPr/>
        </p:nvSpPr>
        <p:spPr>
          <a:xfrm>
            <a:off x="5074920" y="2962656"/>
            <a:ext cx="1828800" cy="274320"/>
          </a:xfrm>
          <a:prstGeom prst="rect">
            <a:avLst/>
          </a:prstGeom>
          <a:noFill/>
          <a:ln/>
        </p:spPr>
        <p:txBody>
          <a:bodyPr wrap="square" lIns="0" tIns="0" rIns="0" bIns="0" rtlCol="0" anchor="ctr"/>
          <a:lstStyle/>
          <a:p>
            <a:pPr algn="ctr" indent="0" marL="0">
              <a:buNone/>
            </a:pPr>
            <a:r>
              <a:rPr lang="en-US" sz="750" dirty="0">
                <a:solidFill>
                  <a:srgbClr val="FFFFFF"/>
                </a:solidFill>
              </a:rPr>
              <a:t>YoY Revenue Growth</a:t>
            </a:r>
            <a:endParaRPr lang="en-US" sz="750" dirty="0"/>
          </a:p>
        </p:txBody>
      </p:sp>
      <p:sp>
        <p:nvSpPr>
          <p:cNvPr id="35" name="Shape 33"/>
          <p:cNvSpPr/>
          <p:nvPr/>
        </p:nvSpPr>
        <p:spPr>
          <a:xfrm>
            <a:off x="7013448" y="2304288"/>
            <a:ext cx="1828800" cy="1042416"/>
          </a:xfrm>
          <a:prstGeom prst="rect">
            <a:avLst/>
          </a:prstGeom>
          <a:solidFill>
            <a:srgbClr val="2B5BAE"/>
          </a:solidFill>
          <a:ln w="12700">
            <a:solidFill>
              <a:srgbClr val="2B5BAE"/>
            </a:solidFill>
            <a:prstDash val="solid"/>
          </a:ln>
        </p:spPr>
      </p:sp>
      <p:sp>
        <p:nvSpPr>
          <p:cNvPr id="36" name="Text 34"/>
          <p:cNvSpPr/>
          <p:nvPr/>
        </p:nvSpPr>
        <p:spPr>
          <a:xfrm>
            <a:off x="7013448" y="2468880"/>
            <a:ext cx="1828800" cy="475488"/>
          </a:xfrm>
          <a:prstGeom prst="rect">
            <a:avLst/>
          </a:prstGeom>
          <a:noFill/>
          <a:ln/>
        </p:spPr>
        <p:txBody>
          <a:bodyPr wrap="square" lIns="0" tIns="0" rIns="0" bIns="0" rtlCol="0" anchor="ctr"/>
          <a:lstStyle/>
          <a:p>
            <a:pPr algn="ctr" indent="0" marL="0">
              <a:buNone/>
            </a:pPr>
            <a:r>
              <a:rPr lang="en-US" sz="2200" b="1" dirty="0">
                <a:solidFill>
                  <a:srgbClr val="C8A83C"/>
                </a:solidFill>
              </a:rPr>
              <a:t>82</a:t>
            </a:r>
            <a:endParaRPr lang="en-US" sz="2200" dirty="0"/>
          </a:p>
        </p:txBody>
      </p:sp>
      <p:sp>
        <p:nvSpPr>
          <p:cNvPr id="37" name="Text 35"/>
          <p:cNvSpPr/>
          <p:nvPr/>
        </p:nvSpPr>
        <p:spPr>
          <a:xfrm>
            <a:off x="7013448" y="2962656"/>
            <a:ext cx="1828800" cy="274320"/>
          </a:xfrm>
          <a:prstGeom prst="rect">
            <a:avLst/>
          </a:prstGeom>
          <a:noFill/>
          <a:ln/>
        </p:spPr>
        <p:txBody>
          <a:bodyPr wrap="square" lIns="0" tIns="0" rIns="0" bIns="0" rtlCol="0" anchor="ctr"/>
          <a:lstStyle/>
          <a:p>
            <a:pPr algn="ctr" indent="0" marL="0">
              <a:buNone/>
            </a:pPr>
            <a:r>
              <a:rPr lang="en-US" sz="750" dirty="0">
                <a:solidFill>
                  <a:srgbClr val="FFFFFF"/>
                </a:solidFill>
              </a:rPr>
              <a:t>NPS Score</a:t>
            </a:r>
            <a:endParaRPr lang="en-US" sz="750" dirty="0"/>
          </a:p>
        </p:txBody>
      </p:sp>
      <p:sp>
        <p:nvSpPr>
          <p:cNvPr id="38" name="Shape 36"/>
          <p:cNvSpPr/>
          <p:nvPr/>
        </p:nvSpPr>
        <p:spPr>
          <a:xfrm>
            <a:off x="5074920" y="3419856"/>
            <a:ext cx="1828800" cy="1042416"/>
          </a:xfrm>
          <a:prstGeom prst="rect">
            <a:avLst/>
          </a:prstGeom>
          <a:solidFill>
            <a:srgbClr val="2E7D32"/>
          </a:solidFill>
          <a:ln w="12700">
            <a:solidFill>
              <a:srgbClr val="2E7D32"/>
            </a:solidFill>
            <a:prstDash val="solid"/>
          </a:ln>
        </p:spPr>
      </p:sp>
      <p:sp>
        <p:nvSpPr>
          <p:cNvPr id="39" name="Text 37"/>
          <p:cNvSpPr/>
          <p:nvPr/>
        </p:nvSpPr>
        <p:spPr>
          <a:xfrm>
            <a:off x="5074920" y="3584448"/>
            <a:ext cx="1828800" cy="475488"/>
          </a:xfrm>
          <a:prstGeom prst="rect">
            <a:avLst/>
          </a:prstGeom>
          <a:noFill/>
          <a:ln/>
        </p:spPr>
        <p:txBody>
          <a:bodyPr wrap="square" lIns="0" tIns="0" rIns="0" bIns="0" rtlCol="0" anchor="ctr"/>
          <a:lstStyle/>
          <a:p>
            <a:pPr algn="ctr" indent="0" marL="0">
              <a:buNone/>
            </a:pPr>
            <a:r>
              <a:rPr lang="en-US" sz="2200" b="1" dirty="0">
                <a:solidFill>
                  <a:srgbClr val="C8A83C"/>
                </a:solidFill>
              </a:rPr>
              <a:t>~415K</a:t>
            </a:r>
            <a:endParaRPr lang="en-US" sz="2200" dirty="0"/>
          </a:p>
        </p:txBody>
      </p:sp>
      <p:sp>
        <p:nvSpPr>
          <p:cNvPr id="40" name="Text 38"/>
          <p:cNvSpPr/>
          <p:nvPr/>
        </p:nvSpPr>
        <p:spPr>
          <a:xfrm>
            <a:off x="5074920" y="4078224"/>
            <a:ext cx="1828800" cy="274320"/>
          </a:xfrm>
          <a:prstGeom prst="rect">
            <a:avLst/>
          </a:prstGeom>
          <a:noFill/>
          <a:ln/>
        </p:spPr>
        <p:txBody>
          <a:bodyPr wrap="square" lIns="0" tIns="0" rIns="0" bIns="0" rtlCol="0" anchor="ctr"/>
          <a:lstStyle/>
          <a:p>
            <a:pPr algn="ctr" indent="0" marL="0">
              <a:buNone/>
            </a:pPr>
            <a:r>
              <a:rPr lang="en-US" sz="750" dirty="0">
                <a:solidFill>
                  <a:srgbClr val="FFFFFF"/>
                </a:solidFill>
              </a:rPr>
              <a:t>Active Customers</a:t>
            </a:r>
            <a:endParaRPr lang="en-US" sz="750" dirty="0"/>
          </a:p>
        </p:txBody>
      </p:sp>
      <p:sp>
        <p:nvSpPr>
          <p:cNvPr id="41" name="Shape 39"/>
          <p:cNvSpPr/>
          <p:nvPr/>
        </p:nvSpPr>
        <p:spPr>
          <a:xfrm>
            <a:off x="7013448" y="3419856"/>
            <a:ext cx="1828800" cy="1042416"/>
          </a:xfrm>
          <a:prstGeom prst="rect">
            <a:avLst/>
          </a:prstGeom>
          <a:solidFill>
            <a:srgbClr val="2E7D32"/>
          </a:solidFill>
          <a:ln w="12700">
            <a:solidFill>
              <a:srgbClr val="2E7D32"/>
            </a:solidFill>
            <a:prstDash val="solid"/>
          </a:ln>
        </p:spPr>
      </p:sp>
      <p:sp>
        <p:nvSpPr>
          <p:cNvPr id="42" name="Text 40"/>
          <p:cNvSpPr/>
          <p:nvPr/>
        </p:nvSpPr>
        <p:spPr>
          <a:xfrm>
            <a:off x="7013448" y="3584448"/>
            <a:ext cx="1828800" cy="475488"/>
          </a:xfrm>
          <a:prstGeom prst="rect">
            <a:avLst/>
          </a:prstGeom>
          <a:noFill/>
          <a:ln/>
        </p:spPr>
        <p:txBody>
          <a:bodyPr wrap="square" lIns="0" tIns="0" rIns="0" bIns="0" rtlCol="0" anchor="ctr"/>
          <a:lstStyle/>
          <a:p>
            <a:pPr algn="ctr" indent="0" marL="0">
              <a:buNone/>
            </a:pPr>
            <a:r>
              <a:rPr lang="en-US" sz="2200" b="1" dirty="0">
                <a:solidFill>
                  <a:srgbClr val="C8A83C"/>
                </a:solidFill>
              </a:rPr>
              <a:t>115%</a:t>
            </a:r>
            <a:endParaRPr lang="en-US" sz="2200" dirty="0"/>
          </a:p>
        </p:txBody>
      </p:sp>
      <p:sp>
        <p:nvSpPr>
          <p:cNvPr id="43" name="Text 41"/>
          <p:cNvSpPr/>
          <p:nvPr/>
        </p:nvSpPr>
        <p:spPr>
          <a:xfrm>
            <a:off x="7013448" y="4078224"/>
            <a:ext cx="1828800" cy="274320"/>
          </a:xfrm>
          <a:prstGeom prst="rect">
            <a:avLst/>
          </a:prstGeom>
          <a:noFill/>
          <a:ln/>
        </p:spPr>
        <p:txBody>
          <a:bodyPr wrap="square" lIns="0" tIns="0" rIns="0" bIns="0" rtlCol="0" anchor="ctr"/>
          <a:lstStyle/>
          <a:p>
            <a:pPr algn="ctr" indent="0" marL="0">
              <a:buNone/>
            </a:pPr>
            <a:r>
              <a:rPr lang="en-US" sz="750" dirty="0">
                <a:solidFill>
                  <a:srgbClr val="FFFFFF"/>
                </a:solidFill>
              </a:rPr>
              <a:t>NRR (Studio Members)</a:t>
            </a:r>
            <a:endParaRPr lang="en-US" sz="750" dirty="0"/>
          </a:p>
        </p:txBody>
      </p:sp>
      <p:sp>
        <p:nvSpPr>
          <p:cNvPr id="44" name="Shape 42"/>
          <p:cNvSpPr/>
          <p:nvPr/>
        </p:nvSpPr>
        <p:spPr>
          <a:xfrm>
            <a:off x="0" y="4892040"/>
            <a:ext cx="9144000" cy="251460"/>
          </a:xfrm>
          <a:prstGeom prst="rect">
            <a:avLst/>
          </a:prstGeom>
          <a:solidFill>
            <a:srgbClr val="F4F6FA"/>
          </a:solidFill>
          <a:ln w="12700">
            <a:solidFill>
              <a:srgbClr val="D0D8E4"/>
            </a:solidFill>
            <a:prstDash val="solid"/>
          </a:ln>
        </p:spPr>
      </p:sp>
      <p:sp>
        <p:nvSpPr>
          <p:cNvPr id="45" name="Text 43"/>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46" name="Text 44"/>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2 / 14</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Houlihan Lokey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INVESTMENT HIGHLIGHTS</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Investment Highlights</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Six reasons Stride &amp; Co. represents a compelling platform investment</a:t>
            </a:r>
            <a:endParaRPr lang="en-US" sz="950" dirty="0"/>
          </a:p>
        </p:txBody>
      </p:sp>
      <p:sp>
        <p:nvSpPr>
          <p:cNvPr id="8" name="Shape 6"/>
          <p:cNvSpPr/>
          <p:nvPr/>
        </p:nvSpPr>
        <p:spPr>
          <a:xfrm>
            <a:off x="457200" y="1234440"/>
            <a:ext cx="411480" cy="512064"/>
          </a:xfrm>
          <a:prstGeom prst="rect">
            <a:avLst/>
          </a:prstGeom>
          <a:solidFill>
            <a:srgbClr val="C8A83C"/>
          </a:solidFill>
          <a:ln w="12700">
            <a:solidFill>
              <a:srgbClr val="C8A83C"/>
            </a:solidFill>
            <a:prstDash val="solid"/>
          </a:ln>
        </p:spPr>
      </p:sp>
      <p:sp>
        <p:nvSpPr>
          <p:cNvPr id="9" name="Text 7"/>
          <p:cNvSpPr/>
          <p:nvPr/>
        </p:nvSpPr>
        <p:spPr>
          <a:xfrm>
            <a:off x="457200" y="1353312"/>
            <a:ext cx="411480" cy="274320"/>
          </a:xfrm>
          <a:prstGeom prst="rect">
            <a:avLst/>
          </a:prstGeom>
          <a:noFill/>
          <a:ln/>
        </p:spPr>
        <p:txBody>
          <a:bodyPr wrap="square" lIns="0" tIns="0" rIns="0" bIns="0" rtlCol="0" anchor="ctr"/>
          <a:lstStyle/>
          <a:p>
            <a:pPr algn="ctr" indent="0" marL="0">
              <a:buNone/>
            </a:pPr>
            <a:r>
              <a:rPr lang="en-US" sz="1000" b="1" dirty="0">
                <a:solidFill>
                  <a:srgbClr val="1B2D55"/>
                </a:solidFill>
              </a:rPr>
              <a:t>01</a:t>
            </a:r>
            <a:endParaRPr lang="en-US" sz="1000" dirty="0"/>
          </a:p>
        </p:txBody>
      </p:sp>
      <p:sp>
        <p:nvSpPr>
          <p:cNvPr id="10" name="Text 8"/>
          <p:cNvSpPr/>
          <p:nvPr/>
        </p:nvSpPr>
        <p:spPr>
          <a:xfrm>
            <a:off x="978408" y="1307592"/>
            <a:ext cx="7726680" cy="237744"/>
          </a:xfrm>
          <a:prstGeom prst="rect">
            <a:avLst/>
          </a:prstGeom>
          <a:noFill/>
          <a:ln/>
        </p:spPr>
        <p:txBody>
          <a:bodyPr wrap="square" lIns="0" tIns="0" rIns="0" bIns="0" rtlCol="0" anchor="ctr"/>
          <a:lstStyle/>
          <a:p>
            <a:pPr indent="0" marL="0">
              <a:buNone/>
            </a:pPr>
            <a:r>
              <a:rPr lang="en-US" sz="900" b="1" dirty="0">
                <a:solidFill>
                  <a:srgbClr val="1B2D55"/>
                </a:solidFill>
              </a:rPr>
              <a:t>High-velocity DTC brand with best-in-class community engagement</a:t>
            </a:r>
            <a:endParaRPr lang="en-US" sz="900" dirty="0"/>
          </a:p>
        </p:txBody>
      </p:sp>
      <p:sp>
        <p:nvSpPr>
          <p:cNvPr id="11" name="Text 9"/>
          <p:cNvSpPr/>
          <p:nvPr/>
        </p:nvSpPr>
        <p:spPr>
          <a:xfrm>
            <a:off x="978408" y="1554480"/>
            <a:ext cx="7726680" cy="201168"/>
          </a:xfrm>
          <a:prstGeom prst="rect">
            <a:avLst/>
          </a:prstGeom>
          <a:noFill/>
          <a:ln/>
        </p:spPr>
        <p:txBody>
          <a:bodyPr wrap="square" lIns="0" tIns="0" rIns="0" bIns="0" rtlCol="0" anchor="ctr"/>
          <a:lstStyle/>
          <a:p>
            <a:pPr indent="0" marL="0">
              <a:buNone/>
            </a:pPr>
            <a:r>
              <a:rPr lang="en-US" sz="750" dirty="0">
                <a:solidFill>
                  <a:srgbClr val="4A5568"/>
                </a:solidFill>
              </a:rPr>
              <a:t>415K active customers (purchased in trailing 12 months); 82 NPS — highest in activewear per Qualtrics 2021   ·   Stride Studio membership (62K members, $29/mo) drives 115% NRR; members purchase 3.8x more than non-members   ·   Instagram following of 1.8M with 4.2% engagement rate — 3x industry benchmark for apparel brands</a:t>
            </a:r>
            <a:endParaRPr lang="en-US" sz="750" dirty="0"/>
          </a:p>
        </p:txBody>
      </p:sp>
      <p:sp>
        <p:nvSpPr>
          <p:cNvPr id="12" name="Shape 10"/>
          <p:cNvSpPr/>
          <p:nvPr/>
        </p:nvSpPr>
        <p:spPr>
          <a:xfrm>
            <a:off x="457200" y="1819656"/>
            <a:ext cx="411480" cy="512064"/>
          </a:xfrm>
          <a:prstGeom prst="rect">
            <a:avLst/>
          </a:prstGeom>
          <a:solidFill>
            <a:srgbClr val="1B2D55"/>
          </a:solidFill>
          <a:ln w="12700">
            <a:solidFill>
              <a:srgbClr val="1B2D55"/>
            </a:solidFill>
            <a:prstDash val="solid"/>
          </a:ln>
        </p:spPr>
      </p:sp>
      <p:sp>
        <p:nvSpPr>
          <p:cNvPr id="13" name="Text 11"/>
          <p:cNvSpPr/>
          <p:nvPr/>
        </p:nvSpPr>
        <p:spPr>
          <a:xfrm>
            <a:off x="457200" y="1938528"/>
            <a:ext cx="411480" cy="274320"/>
          </a:xfrm>
          <a:prstGeom prst="rect">
            <a:avLst/>
          </a:prstGeom>
          <a:noFill/>
          <a:ln/>
        </p:spPr>
        <p:txBody>
          <a:bodyPr wrap="square" lIns="0" tIns="0" rIns="0" bIns="0" rtlCol="0" anchor="ctr"/>
          <a:lstStyle/>
          <a:p>
            <a:pPr algn="ctr" indent="0" marL="0">
              <a:buNone/>
            </a:pPr>
            <a:r>
              <a:rPr lang="en-US" sz="1000" b="1" dirty="0">
                <a:solidFill>
                  <a:srgbClr val="C8A83C"/>
                </a:solidFill>
              </a:rPr>
              <a:t>02</a:t>
            </a:r>
            <a:endParaRPr lang="en-US" sz="1000" dirty="0"/>
          </a:p>
        </p:txBody>
      </p:sp>
      <p:sp>
        <p:nvSpPr>
          <p:cNvPr id="14" name="Text 12"/>
          <p:cNvSpPr/>
          <p:nvPr/>
        </p:nvSpPr>
        <p:spPr>
          <a:xfrm>
            <a:off x="978408" y="1892808"/>
            <a:ext cx="7726680" cy="237744"/>
          </a:xfrm>
          <a:prstGeom prst="rect">
            <a:avLst/>
          </a:prstGeom>
          <a:noFill/>
          <a:ln/>
        </p:spPr>
        <p:txBody>
          <a:bodyPr wrap="square" lIns="0" tIns="0" rIns="0" bIns="0" rtlCol="0" anchor="ctr"/>
          <a:lstStyle/>
          <a:p>
            <a:pPr indent="0" marL="0">
              <a:buNone/>
            </a:pPr>
            <a:r>
              <a:rPr lang="en-US" sz="900" b="1" dirty="0">
                <a:solidFill>
                  <a:srgbClr val="1B2D55"/>
                </a:solidFill>
              </a:rPr>
              <a:t>Differentiated sustainable product platform with pricing power</a:t>
            </a:r>
            <a:endParaRPr lang="en-US" sz="900" dirty="0"/>
          </a:p>
        </p:txBody>
      </p:sp>
      <p:sp>
        <p:nvSpPr>
          <p:cNvPr id="15" name="Text 13"/>
          <p:cNvSpPr/>
          <p:nvPr/>
        </p:nvSpPr>
        <p:spPr>
          <a:xfrm>
            <a:off x="978408" y="2139696"/>
            <a:ext cx="7726680" cy="201168"/>
          </a:xfrm>
          <a:prstGeom prst="rect">
            <a:avLst/>
          </a:prstGeom>
          <a:noFill/>
          <a:ln/>
        </p:spPr>
        <p:txBody>
          <a:bodyPr wrap="square" lIns="0" tIns="0" rIns="0" bIns="0" rtlCol="0" anchor="ctr"/>
          <a:lstStyle/>
          <a:p>
            <a:pPr indent="0" marL="0">
              <a:buNone/>
            </a:pPr>
            <a:r>
              <a:rPr lang="en-US" sz="750" dirty="0">
                <a:solidFill>
                  <a:srgbClr val="4A5568"/>
                </a:solidFill>
              </a:rPr>
              <a:t>100% recycled or sustainably-sourced materials across core collection since 2020   ·   Legging ASP of $128 — premium to Lululemon ($98) and Athleta ($89) core SKUs   ·   10 product drops per year; avg. sell-through of 94% within 30 days — almost zero end-of-season markdown</a:t>
            </a:r>
            <a:endParaRPr lang="en-US" sz="750" dirty="0"/>
          </a:p>
        </p:txBody>
      </p:sp>
      <p:sp>
        <p:nvSpPr>
          <p:cNvPr id="16" name="Shape 14"/>
          <p:cNvSpPr/>
          <p:nvPr/>
        </p:nvSpPr>
        <p:spPr>
          <a:xfrm>
            <a:off x="457200" y="2404872"/>
            <a:ext cx="411480" cy="512064"/>
          </a:xfrm>
          <a:prstGeom prst="rect">
            <a:avLst/>
          </a:prstGeom>
          <a:solidFill>
            <a:srgbClr val="C8A83C"/>
          </a:solidFill>
          <a:ln w="12700">
            <a:solidFill>
              <a:srgbClr val="C8A83C"/>
            </a:solidFill>
            <a:prstDash val="solid"/>
          </a:ln>
        </p:spPr>
      </p:sp>
      <p:sp>
        <p:nvSpPr>
          <p:cNvPr id="17" name="Text 15"/>
          <p:cNvSpPr/>
          <p:nvPr/>
        </p:nvSpPr>
        <p:spPr>
          <a:xfrm>
            <a:off x="457200" y="2523744"/>
            <a:ext cx="411480" cy="274320"/>
          </a:xfrm>
          <a:prstGeom prst="rect">
            <a:avLst/>
          </a:prstGeom>
          <a:noFill/>
          <a:ln/>
        </p:spPr>
        <p:txBody>
          <a:bodyPr wrap="square" lIns="0" tIns="0" rIns="0" bIns="0" rtlCol="0" anchor="ctr"/>
          <a:lstStyle/>
          <a:p>
            <a:pPr algn="ctr" indent="0" marL="0">
              <a:buNone/>
            </a:pPr>
            <a:r>
              <a:rPr lang="en-US" sz="1000" b="1" dirty="0">
                <a:solidFill>
                  <a:srgbClr val="1B2D55"/>
                </a:solidFill>
              </a:rPr>
              <a:t>03</a:t>
            </a:r>
            <a:endParaRPr lang="en-US" sz="1000" dirty="0"/>
          </a:p>
        </p:txBody>
      </p:sp>
      <p:sp>
        <p:nvSpPr>
          <p:cNvPr id="18" name="Text 16"/>
          <p:cNvSpPr/>
          <p:nvPr/>
        </p:nvSpPr>
        <p:spPr>
          <a:xfrm>
            <a:off x="978408" y="2478024"/>
            <a:ext cx="7726680" cy="237744"/>
          </a:xfrm>
          <a:prstGeom prst="rect">
            <a:avLst/>
          </a:prstGeom>
          <a:noFill/>
          <a:ln/>
        </p:spPr>
        <p:txBody>
          <a:bodyPr wrap="square" lIns="0" tIns="0" rIns="0" bIns="0" rtlCol="0" anchor="ctr"/>
          <a:lstStyle/>
          <a:p>
            <a:pPr indent="0" marL="0">
              <a:buNone/>
            </a:pPr>
            <a:r>
              <a:rPr lang="en-US" sz="900" b="1" dirty="0">
                <a:solidFill>
                  <a:srgbClr val="1B2D55"/>
                </a:solidFill>
              </a:rPr>
              <a:t>Capital-light model with attractive unit economics</a:t>
            </a:r>
            <a:endParaRPr lang="en-US" sz="900" dirty="0"/>
          </a:p>
        </p:txBody>
      </p:sp>
      <p:sp>
        <p:nvSpPr>
          <p:cNvPr id="19" name="Text 17"/>
          <p:cNvSpPr/>
          <p:nvPr/>
        </p:nvSpPr>
        <p:spPr>
          <a:xfrm>
            <a:off x="978408" y="2724912"/>
            <a:ext cx="7726680" cy="201168"/>
          </a:xfrm>
          <a:prstGeom prst="rect">
            <a:avLst/>
          </a:prstGeom>
          <a:noFill/>
          <a:ln/>
        </p:spPr>
        <p:txBody>
          <a:bodyPr wrap="square" lIns="0" tIns="0" rIns="0" bIns="0" rtlCol="0" anchor="ctr"/>
          <a:lstStyle/>
          <a:p>
            <a:pPr indent="0" marL="0">
              <a:buNone/>
            </a:pPr>
            <a:r>
              <a:rPr lang="en-US" sz="750" dirty="0">
                <a:solidFill>
                  <a:srgbClr val="4A5568"/>
                </a:solidFill>
              </a:rPr>
              <a:t>Asset-light: design and marketing in-house; manufacturing fully outsourced to 3 certified B Corp factories   ·   Blended gross margin 56.2% LTM — expanding from 48.1% in FY2018 as mix shifts to direct DTC   ·   DTC CAC of $38 (organic-heavy strategy); LTV of $680 (avg. 3.5-year relationship, 4.6 orders/yr)</a:t>
            </a:r>
            <a:endParaRPr lang="en-US" sz="750" dirty="0"/>
          </a:p>
        </p:txBody>
      </p:sp>
      <p:sp>
        <p:nvSpPr>
          <p:cNvPr id="20" name="Shape 18"/>
          <p:cNvSpPr/>
          <p:nvPr/>
        </p:nvSpPr>
        <p:spPr>
          <a:xfrm>
            <a:off x="457200" y="2990088"/>
            <a:ext cx="411480" cy="512064"/>
          </a:xfrm>
          <a:prstGeom prst="rect">
            <a:avLst/>
          </a:prstGeom>
          <a:solidFill>
            <a:srgbClr val="1B2D55"/>
          </a:solidFill>
          <a:ln w="12700">
            <a:solidFill>
              <a:srgbClr val="1B2D55"/>
            </a:solidFill>
            <a:prstDash val="solid"/>
          </a:ln>
        </p:spPr>
      </p:sp>
      <p:sp>
        <p:nvSpPr>
          <p:cNvPr id="21" name="Text 19"/>
          <p:cNvSpPr/>
          <p:nvPr/>
        </p:nvSpPr>
        <p:spPr>
          <a:xfrm>
            <a:off x="457200" y="3108960"/>
            <a:ext cx="411480" cy="274320"/>
          </a:xfrm>
          <a:prstGeom prst="rect">
            <a:avLst/>
          </a:prstGeom>
          <a:noFill/>
          <a:ln/>
        </p:spPr>
        <p:txBody>
          <a:bodyPr wrap="square" lIns="0" tIns="0" rIns="0" bIns="0" rtlCol="0" anchor="ctr"/>
          <a:lstStyle/>
          <a:p>
            <a:pPr algn="ctr" indent="0" marL="0">
              <a:buNone/>
            </a:pPr>
            <a:r>
              <a:rPr lang="en-US" sz="1000" b="1" dirty="0">
                <a:solidFill>
                  <a:srgbClr val="C8A83C"/>
                </a:solidFill>
              </a:rPr>
              <a:t>04</a:t>
            </a:r>
            <a:endParaRPr lang="en-US" sz="1000" dirty="0"/>
          </a:p>
        </p:txBody>
      </p:sp>
      <p:sp>
        <p:nvSpPr>
          <p:cNvPr id="22" name="Text 20"/>
          <p:cNvSpPr/>
          <p:nvPr/>
        </p:nvSpPr>
        <p:spPr>
          <a:xfrm>
            <a:off x="978408" y="3063240"/>
            <a:ext cx="7726680" cy="237744"/>
          </a:xfrm>
          <a:prstGeom prst="rect">
            <a:avLst/>
          </a:prstGeom>
          <a:noFill/>
          <a:ln/>
        </p:spPr>
        <p:txBody>
          <a:bodyPr wrap="square" lIns="0" tIns="0" rIns="0" bIns="0" rtlCol="0" anchor="ctr"/>
          <a:lstStyle/>
          <a:p>
            <a:pPr indent="0" marL="0">
              <a:buNone/>
            </a:pPr>
            <a:r>
              <a:rPr lang="en-US" sz="900" b="1" dirty="0">
                <a:solidFill>
                  <a:srgbClr val="1B2D55"/>
                </a:solidFill>
              </a:rPr>
              <a:t>Rapidly growing Studio membership creates durable recurring revenue</a:t>
            </a:r>
            <a:endParaRPr lang="en-US" sz="900" dirty="0"/>
          </a:p>
        </p:txBody>
      </p:sp>
      <p:sp>
        <p:nvSpPr>
          <p:cNvPr id="23" name="Text 21"/>
          <p:cNvSpPr/>
          <p:nvPr/>
        </p:nvSpPr>
        <p:spPr>
          <a:xfrm>
            <a:off x="978408" y="3310128"/>
            <a:ext cx="7726680" cy="201168"/>
          </a:xfrm>
          <a:prstGeom prst="rect">
            <a:avLst/>
          </a:prstGeom>
          <a:noFill/>
          <a:ln/>
        </p:spPr>
        <p:txBody>
          <a:bodyPr wrap="square" lIns="0" tIns="0" rIns="0" bIns="0" rtlCol="0" anchor="ctr"/>
          <a:lstStyle/>
          <a:p>
            <a:pPr indent="0" marL="0">
              <a:buNone/>
            </a:pPr>
            <a:r>
              <a:rPr lang="en-US" sz="750" dirty="0">
                <a:solidFill>
                  <a:srgbClr val="4A5568"/>
                </a:solidFill>
              </a:rPr>
              <a:t>Stride Studio launched Q1 2020; 62K members growing ~8K/quarter; $21.7M ARR   ·   Members receive exclusive early access, virtual coaching sessions, and personalized styling   ·   Membership churn &lt;12% annually — below benchmarks for consumer subscription products</a:t>
            </a:r>
            <a:endParaRPr lang="en-US" sz="750" dirty="0"/>
          </a:p>
        </p:txBody>
      </p:sp>
      <p:sp>
        <p:nvSpPr>
          <p:cNvPr id="24" name="Shape 22"/>
          <p:cNvSpPr/>
          <p:nvPr/>
        </p:nvSpPr>
        <p:spPr>
          <a:xfrm>
            <a:off x="457200" y="3575304"/>
            <a:ext cx="411480" cy="512064"/>
          </a:xfrm>
          <a:prstGeom prst="rect">
            <a:avLst/>
          </a:prstGeom>
          <a:solidFill>
            <a:srgbClr val="C8A83C"/>
          </a:solidFill>
          <a:ln w="12700">
            <a:solidFill>
              <a:srgbClr val="C8A83C"/>
            </a:solidFill>
            <a:prstDash val="solid"/>
          </a:ln>
        </p:spPr>
      </p:sp>
      <p:sp>
        <p:nvSpPr>
          <p:cNvPr id="25" name="Text 23"/>
          <p:cNvSpPr/>
          <p:nvPr/>
        </p:nvSpPr>
        <p:spPr>
          <a:xfrm>
            <a:off x="457200" y="3694176"/>
            <a:ext cx="411480" cy="274320"/>
          </a:xfrm>
          <a:prstGeom prst="rect">
            <a:avLst/>
          </a:prstGeom>
          <a:noFill/>
          <a:ln/>
        </p:spPr>
        <p:txBody>
          <a:bodyPr wrap="square" lIns="0" tIns="0" rIns="0" bIns="0" rtlCol="0" anchor="ctr"/>
          <a:lstStyle/>
          <a:p>
            <a:pPr algn="ctr" indent="0" marL="0">
              <a:buNone/>
            </a:pPr>
            <a:r>
              <a:rPr lang="en-US" sz="1000" b="1" dirty="0">
                <a:solidFill>
                  <a:srgbClr val="1B2D55"/>
                </a:solidFill>
              </a:rPr>
              <a:t>05</a:t>
            </a:r>
            <a:endParaRPr lang="en-US" sz="1000" dirty="0"/>
          </a:p>
        </p:txBody>
      </p:sp>
      <p:sp>
        <p:nvSpPr>
          <p:cNvPr id="26" name="Text 24"/>
          <p:cNvSpPr/>
          <p:nvPr/>
        </p:nvSpPr>
        <p:spPr>
          <a:xfrm>
            <a:off x="978408" y="3648456"/>
            <a:ext cx="7726680" cy="237744"/>
          </a:xfrm>
          <a:prstGeom prst="rect">
            <a:avLst/>
          </a:prstGeom>
          <a:noFill/>
          <a:ln/>
        </p:spPr>
        <p:txBody>
          <a:bodyPr wrap="square" lIns="0" tIns="0" rIns="0" bIns="0" rtlCol="0" anchor="ctr"/>
          <a:lstStyle/>
          <a:p>
            <a:pPr indent="0" marL="0">
              <a:buNone/>
            </a:pPr>
            <a:r>
              <a:rPr lang="en-US" sz="900" b="1" dirty="0">
                <a:solidFill>
                  <a:srgbClr val="1B2D55"/>
                </a:solidFill>
              </a:rPr>
              <a:t>Significant whitespace in international and product adjacencies</a:t>
            </a:r>
            <a:endParaRPr lang="en-US" sz="900" dirty="0"/>
          </a:p>
        </p:txBody>
      </p:sp>
      <p:sp>
        <p:nvSpPr>
          <p:cNvPr id="27" name="Text 25"/>
          <p:cNvSpPr/>
          <p:nvPr/>
        </p:nvSpPr>
        <p:spPr>
          <a:xfrm>
            <a:off x="978408" y="3895344"/>
            <a:ext cx="7726680" cy="201168"/>
          </a:xfrm>
          <a:prstGeom prst="rect">
            <a:avLst/>
          </a:prstGeom>
          <a:noFill/>
          <a:ln/>
        </p:spPr>
        <p:txBody>
          <a:bodyPr wrap="square" lIns="0" tIns="0" rIns="0" bIns="0" rtlCol="0" anchor="ctr"/>
          <a:lstStyle/>
          <a:p>
            <a:pPr indent="0" marL="0">
              <a:buNone/>
            </a:pPr>
            <a:r>
              <a:rPr lang="en-US" sz="750" dirty="0">
                <a:solidFill>
                  <a:srgbClr val="4A5568"/>
                </a:solidFill>
              </a:rPr>
              <a:t>International (UK/CA) represents &lt;11% of revenue — addressable premium activewear market ex-US is $28B   ·   Men's line launched Q2 2021 tracking to $7M annualized — expected to reach 20% of revenue by FY2023   ·   Footwear (performance sneaker) in development; brand equity research shows 78% purchase intent among existing customers</a:t>
            </a:r>
            <a:endParaRPr lang="en-US" sz="750" dirty="0"/>
          </a:p>
        </p:txBody>
      </p:sp>
      <p:sp>
        <p:nvSpPr>
          <p:cNvPr id="28" name="Shape 26"/>
          <p:cNvSpPr/>
          <p:nvPr/>
        </p:nvSpPr>
        <p:spPr>
          <a:xfrm>
            <a:off x="457200" y="4160520"/>
            <a:ext cx="411480" cy="512064"/>
          </a:xfrm>
          <a:prstGeom prst="rect">
            <a:avLst/>
          </a:prstGeom>
          <a:solidFill>
            <a:srgbClr val="1B2D55"/>
          </a:solidFill>
          <a:ln w="12700">
            <a:solidFill>
              <a:srgbClr val="1B2D55"/>
            </a:solidFill>
            <a:prstDash val="solid"/>
          </a:ln>
        </p:spPr>
      </p:sp>
      <p:sp>
        <p:nvSpPr>
          <p:cNvPr id="29" name="Text 27"/>
          <p:cNvSpPr/>
          <p:nvPr/>
        </p:nvSpPr>
        <p:spPr>
          <a:xfrm>
            <a:off x="457200" y="4279392"/>
            <a:ext cx="411480" cy="274320"/>
          </a:xfrm>
          <a:prstGeom prst="rect">
            <a:avLst/>
          </a:prstGeom>
          <a:noFill/>
          <a:ln/>
        </p:spPr>
        <p:txBody>
          <a:bodyPr wrap="square" lIns="0" tIns="0" rIns="0" bIns="0" rtlCol="0" anchor="ctr"/>
          <a:lstStyle/>
          <a:p>
            <a:pPr algn="ctr" indent="0" marL="0">
              <a:buNone/>
            </a:pPr>
            <a:r>
              <a:rPr lang="en-US" sz="1000" b="1" dirty="0">
                <a:solidFill>
                  <a:srgbClr val="C8A83C"/>
                </a:solidFill>
              </a:rPr>
              <a:t>06</a:t>
            </a:r>
            <a:endParaRPr lang="en-US" sz="1000" dirty="0"/>
          </a:p>
        </p:txBody>
      </p:sp>
      <p:sp>
        <p:nvSpPr>
          <p:cNvPr id="30" name="Text 28"/>
          <p:cNvSpPr/>
          <p:nvPr/>
        </p:nvSpPr>
        <p:spPr>
          <a:xfrm>
            <a:off x="978408" y="4233672"/>
            <a:ext cx="7726680" cy="237744"/>
          </a:xfrm>
          <a:prstGeom prst="rect">
            <a:avLst/>
          </a:prstGeom>
          <a:noFill/>
          <a:ln/>
        </p:spPr>
        <p:txBody>
          <a:bodyPr wrap="square" lIns="0" tIns="0" rIns="0" bIns="0" rtlCol="0" anchor="ctr"/>
          <a:lstStyle/>
          <a:p>
            <a:pPr indent="0" marL="0">
              <a:buNone/>
            </a:pPr>
            <a:r>
              <a:rPr lang="en-US" sz="900" b="1" dirty="0">
                <a:solidFill>
                  <a:srgbClr val="1B2D55"/>
                </a:solidFill>
              </a:rPr>
              <a:t>Proven leadership team — founders with deep activewear DNA</a:t>
            </a:r>
            <a:endParaRPr lang="en-US" sz="900" dirty="0"/>
          </a:p>
        </p:txBody>
      </p:sp>
      <p:sp>
        <p:nvSpPr>
          <p:cNvPr id="31" name="Text 29"/>
          <p:cNvSpPr/>
          <p:nvPr/>
        </p:nvSpPr>
        <p:spPr>
          <a:xfrm>
            <a:off x="978408" y="4480560"/>
            <a:ext cx="7726680" cy="201168"/>
          </a:xfrm>
          <a:prstGeom prst="rect">
            <a:avLst/>
          </a:prstGeom>
          <a:noFill/>
          <a:ln/>
        </p:spPr>
        <p:txBody>
          <a:bodyPr wrap="square" lIns="0" tIns="0" rIns="0" bIns="0" rtlCol="0" anchor="ctr"/>
          <a:lstStyle/>
          <a:p>
            <a:pPr indent="0" marL="0">
              <a:buNone/>
            </a:pPr>
            <a:r>
              <a:rPr lang="en-US" sz="750" dirty="0">
                <a:solidFill>
                  <a:srgbClr val="4A5568"/>
                </a:solidFill>
              </a:rPr>
              <a:t>CEO Amanda Reyes: former VP Design at Lululemon (8 yrs); COO James Okoro: ex-Patagonia SVP Operations   ·   Head of Brand: 12 years at Nike digital; Head of Tech: built Peloton's e-commerce platform   ·   Management team owns 71% of the business on a fully diluted basis — highly aligned with outcome</a:t>
            </a:r>
            <a:endParaRPr lang="en-US" sz="750" dirty="0"/>
          </a:p>
        </p:txBody>
      </p:sp>
      <p:sp>
        <p:nvSpPr>
          <p:cNvPr id="32" name="Shape 30"/>
          <p:cNvSpPr/>
          <p:nvPr/>
        </p:nvSpPr>
        <p:spPr>
          <a:xfrm>
            <a:off x="0" y="4892040"/>
            <a:ext cx="9144000" cy="251460"/>
          </a:xfrm>
          <a:prstGeom prst="rect">
            <a:avLst/>
          </a:prstGeom>
          <a:solidFill>
            <a:srgbClr val="F4F6FA"/>
          </a:solidFill>
          <a:ln w="12700">
            <a:solidFill>
              <a:srgbClr val="D0D8E4"/>
            </a:solidFill>
            <a:prstDash val="solid"/>
          </a:ln>
        </p:spPr>
      </p:sp>
      <p:sp>
        <p:nvSpPr>
          <p:cNvPr id="33" name="Text 31"/>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34" name="Text 32"/>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3 / 14</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Houlihan Lokey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COMPANY OVERVIEW</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Company Overview</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History, scale, and operating footprint</a:t>
            </a:r>
            <a:endParaRPr lang="en-US" sz="950" dirty="0"/>
          </a:p>
        </p:txBody>
      </p:sp>
      <p:sp>
        <p:nvSpPr>
          <p:cNvPr id="8" name="Shape 6"/>
          <p:cNvSpPr/>
          <p:nvPr/>
        </p:nvSpPr>
        <p:spPr>
          <a:xfrm>
            <a:off x="457200" y="2560320"/>
            <a:ext cx="8229600" cy="0"/>
          </a:xfrm>
          <a:prstGeom prst="line">
            <a:avLst/>
          </a:prstGeom>
          <a:noFill/>
          <a:ln w="25400">
            <a:solidFill>
              <a:srgbClr val="2B5BAE"/>
            </a:solidFill>
            <a:prstDash val="solid"/>
          </a:ln>
        </p:spPr>
      </p:sp>
      <p:sp>
        <p:nvSpPr>
          <p:cNvPr id="9" name="Shape 7"/>
          <p:cNvSpPr/>
          <p:nvPr/>
        </p:nvSpPr>
        <p:spPr>
          <a:xfrm>
            <a:off x="329184" y="2432304"/>
            <a:ext cx="256032" cy="256032"/>
          </a:xfrm>
          <a:prstGeom prst="oval">
            <a:avLst/>
          </a:prstGeom>
          <a:solidFill>
            <a:srgbClr val="2B5BAE"/>
          </a:solidFill>
          <a:ln w="19050">
            <a:solidFill>
              <a:srgbClr val="FFFFFF"/>
            </a:solidFill>
            <a:prstDash val="solid"/>
          </a:ln>
        </p:spPr>
      </p:sp>
      <p:sp>
        <p:nvSpPr>
          <p:cNvPr id="10" name="Text 8"/>
          <p:cNvSpPr/>
          <p:nvPr/>
        </p:nvSpPr>
        <p:spPr>
          <a:xfrm>
            <a:off x="45720" y="2103120"/>
            <a:ext cx="822960" cy="228600"/>
          </a:xfrm>
          <a:prstGeom prst="rect">
            <a:avLst/>
          </a:prstGeom>
          <a:noFill/>
          <a:ln/>
        </p:spPr>
        <p:txBody>
          <a:bodyPr wrap="square" lIns="0" tIns="0" rIns="0" bIns="0" rtlCol="0" anchor="ctr"/>
          <a:lstStyle/>
          <a:p>
            <a:pPr algn="ctr" indent="0" marL="0">
              <a:buNone/>
            </a:pPr>
            <a:r>
              <a:rPr lang="en-US" sz="750" b="1" dirty="0">
                <a:solidFill>
                  <a:srgbClr val="2B5BAE"/>
                </a:solidFill>
              </a:rPr>
              <a:t>2016</a:t>
            </a:r>
            <a:endParaRPr lang="en-US" sz="750" dirty="0"/>
          </a:p>
        </p:txBody>
      </p:sp>
      <p:sp>
        <p:nvSpPr>
          <p:cNvPr id="11" name="Text 9"/>
          <p:cNvSpPr/>
          <p:nvPr/>
        </p:nvSpPr>
        <p:spPr>
          <a:xfrm>
            <a:off x="-201168" y="1371600"/>
            <a:ext cx="1316736" cy="713232"/>
          </a:xfrm>
          <a:prstGeom prst="rect">
            <a:avLst/>
          </a:prstGeom>
          <a:noFill/>
          <a:ln/>
        </p:spPr>
        <p:txBody>
          <a:bodyPr wrap="square" lIns="0" tIns="0" rIns="0" bIns="0" rtlCol="0" anchor="t"/>
          <a:lstStyle/>
          <a:p>
            <a:pPr algn="ctr" indent="0" marL="0">
              <a:buNone/>
            </a:pPr>
            <a:r>
              <a:rPr lang="en-US" sz="650" dirty="0">
                <a:solidFill>
                  <a:srgbClr val="4A5568"/>
                </a:solidFill>
              </a:rPr>
              <a:t>Founded by Amanda Reyes &amp; James Okoro. First collection: 6 SKUs, DTC only. $8M revenue.</a:t>
            </a:r>
            <a:endParaRPr lang="en-US" sz="650" dirty="0"/>
          </a:p>
        </p:txBody>
      </p:sp>
      <p:sp>
        <p:nvSpPr>
          <p:cNvPr id="12" name="Shape 10"/>
          <p:cNvSpPr/>
          <p:nvPr/>
        </p:nvSpPr>
        <p:spPr>
          <a:xfrm>
            <a:off x="1700784" y="2432304"/>
            <a:ext cx="256032" cy="256032"/>
          </a:xfrm>
          <a:prstGeom prst="oval">
            <a:avLst/>
          </a:prstGeom>
          <a:solidFill>
            <a:srgbClr val="2B5BAE"/>
          </a:solidFill>
          <a:ln w="19050">
            <a:solidFill>
              <a:srgbClr val="FFFFFF"/>
            </a:solidFill>
            <a:prstDash val="solid"/>
          </a:ln>
        </p:spPr>
      </p:sp>
      <p:sp>
        <p:nvSpPr>
          <p:cNvPr id="13" name="Text 11"/>
          <p:cNvSpPr/>
          <p:nvPr/>
        </p:nvSpPr>
        <p:spPr>
          <a:xfrm>
            <a:off x="1417320" y="2761488"/>
            <a:ext cx="822960" cy="228600"/>
          </a:xfrm>
          <a:prstGeom prst="rect">
            <a:avLst/>
          </a:prstGeom>
          <a:noFill/>
          <a:ln/>
        </p:spPr>
        <p:txBody>
          <a:bodyPr wrap="square" lIns="0" tIns="0" rIns="0" bIns="0" rtlCol="0" anchor="ctr"/>
          <a:lstStyle/>
          <a:p>
            <a:pPr algn="ctr" indent="0" marL="0">
              <a:buNone/>
            </a:pPr>
            <a:r>
              <a:rPr lang="en-US" sz="750" b="1" dirty="0">
                <a:solidFill>
                  <a:srgbClr val="2B5BAE"/>
                </a:solidFill>
              </a:rPr>
              <a:t>2018</a:t>
            </a:r>
            <a:endParaRPr lang="en-US" sz="750" dirty="0"/>
          </a:p>
        </p:txBody>
      </p:sp>
      <p:sp>
        <p:nvSpPr>
          <p:cNvPr id="14" name="Text 12"/>
          <p:cNvSpPr/>
          <p:nvPr/>
        </p:nvSpPr>
        <p:spPr>
          <a:xfrm>
            <a:off x="1170432" y="2999232"/>
            <a:ext cx="1316736" cy="713232"/>
          </a:xfrm>
          <a:prstGeom prst="rect">
            <a:avLst/>
          </a:prstGeom>
          <a:noFill/>
          <a:ln/>
        </p:spPr>
        <p:txBody>
          <a:bodyPr wrap="square" lIns="0" tIns="0" rIns="0" bIns="0" rtlCol="0" anchor="t"/>
          <a:lstStyle/>
          <a:p>
            <a:pPr algn="ctr" indent="0" marL="0">
              <a:buNone/>
            </a:pPr>
            <a:r>
              <a:rPr lang="en-US" sz="650" dirty="0">
                <a:solidFill>
                  <a:srgbClr val="4A5568"/>
                </a:solidFill>
              </a:rPr>
              <a:t>Series A ($8M). First retail partnership (SoulCycle studios). Revenue $28M.</a:t>
            </a:r>
            <a:endParaRPr lang="en-US" sz="650" dirty="0"/>
          </a:p>
        </p:txBody>
      </p:sp>
      <p:sp>
        <p:nvSpPr>
          <p:cNvPr id="15" name="Shape 13"/>
          <p:cNvSpPr/>
          <p:nvPr/>
        </p:nvSpPr>
        <p:spPr>
          <a:xfrm>
            <a:off x="3072384" y="2432304"/>
            <a:ext cx="256032" cy="256032"/>
          </a:xfrm>
          <a:prstGeom prst="oval">
            <a:avLst/>
          </a:prstGeom>
          <a:solidFill>
            <a:srgbClr val="2B5BAE"/>
          </a:solidFill>
          <a:ln w="19050">
            <a:solidFill>
              <a:srgbClr val="FFFFFF"/>
            </a:solidFill>
            <a:prstDash val="solid"/>
          </a:ln>
        </p:spPr>
      </p:sp>
      <p:sp>
        <p:nvSpPr>
          <p:cNvPr id="16" name="Text 14"/>
          <p:cNvSpPr/>
          <p:nvPr/>
        </p:nvSpPr>
        <p:spPr>
          <a:xfrm>
            <a:off x="2788920" y="2103120"/>
            <a:ext cx="822960" cy="228600"/>
          </a:xfrm>
          <a:prstGeom prst="rect">
            <a:avLst/>
          </a:prstGeom>
          <a:noFill/>
          <a:ln/>
        </p:spPr>
        <p:txBody>
          <a:bodyPr wrap="square" lIns="0" tIns="0" rIns="0" bIns="0" rtlCol="0" anchor="ctr"/>
          <a:lstStyle/>
          <a:p>
            <a:pPr algn="ctr" indent="0" marL="0">
              <a:buNone/>
            </a:pPr>
            <a:r>
              <a:rPr lang="en-US" sz="750" b="1" dirty="0">
                <a:solidFill>
                  <a:srgbClr val="2B5BAE"/>
                </a:solidFill>
              </a:rPr>
              <a:t>2019</a:t>
            </a:r>
            <a:endParaRPr lang="en-US" sz="750" dirty="0"/>
          </a:p>
        </p:txBody>
      </p:sp>
      <p:sp>
        <p:nvSpPr>
          <p:cNvPr id="17" name="Text 15"/>
          <p:cNvSpPr/>
          <p:nvPr/>
        </p:nvSpPr>
        <p:spPr>
          <a:xfrm>
            <a:off x="2542032" y="1371600"/>
            <a:ext cx="1316736" cy="713232"/>
          </a:xfrm>
          <a:prstGeom prst="rect">
            <a:avLst/>
          </a:prstGeom>
          <a:noFill/>
          <a:ln/>
        </p:spPr>
        <p:txBody>
          <a:bodyPr wrap="square" lIns="0" tIns="0" rIns="0" bIns="0" rtlCol="0" anchor="t"/>
          <a:lstStyle/>
          <a:p>
            <a:pPr algn="ctr" indent="0" marL="0">
              <a:buNone/>
            </a:pPr>
            <a:r>
              <a:rPr lang="en-US" sz="650" dirty="0">
                <a:solidFill>
                  <a:srgbClr val="4A5568"/>
                </a:solidFill>
              </a:rPr>
              <a:t>Series B ($18M, True Ventures). Men's pilot. Revenue $42M (+50%).</a:t>
            </a:r>
            <a:endParaRPr lang="en-US" sz="650" dirty="0"/>
          </a:p>
        </p:txBody>
      </p:sp>
      <p:sp>
        <p:nvSpPr>
          <p:cNvPr id="18" name="Shape 16"/>
          <p:cNvSpPr/>
          <p:nvPr/>
        </p:nvSpPr>
        <p:spPr>
          <a:xfrm>
            <a:off x="4443984" y="2432304"/>
            <a:ext cx="256032" cy="256032"/>
          </a:xfrm>
          <a:prstGeom prst="oval">
            <a:avLst/>
          </a:prstGeom>
          <a:solidFill>
            <a:srgbClr val="2B5BAE"/>
          </a:solidFill>
          <a:ln w="19050">
            <a:solidFill>
              <a:srgbClr val="FFFFFF"/>
            </a:solidFill>
            <a:prstDash val="solid"/>
          </a:ln>
        </p:spPr>
      </p:sp>
      <p:sp>
        <p:nvSpPr>
          <p:cNvPr id="19" name="Text 17"/>
          <p:cNvSpPr/>
          <p:nvPr/>
        </p:nvSpPr>
        <p:spPr>
          <a:xfrm>
            <a:off x="4160520" y="2761488"/>
            <a:ext cx="822960" cy="228600"/>
          </a:xfrm>
          <a:prstGeom prst="rect">
            <a:avLst/>
          </a:prstGeom>
          <a:noFill/>
          <a:ln/>
        </p:spPr>
        <p:txBody>
          <a:bodyPr wrap="square" lIns="0" tIns="0" rIns="0" bIns="0" rtlCol="0" anchor="ctr"/>
          <a:lstStyle/>
          <a:p>
            <a:pPr algn="ctr" indent="0" marL="0">
              <a:buNone/>
            </a:pPr>
            <a:r>
              <a:rPr lang="en-US" sz="750" b="1" dirty="0">
                <a:solidFill>
                  <a:srgbClr val="2B5BAE"/>
                </a:solidFill>
              </a:rPr>
              <a:t>2020</a:t>
            </a:r>
            <a:endParaRPr lang="en-US" sz="750" dirty="0"/>
          </a:p>
        </p:txBody>
      </p:sp>
      <p:sp>
        <p:nvSpPr>
          <p:cNvPr id="20" name="Text 18"/>
          <p:cNvSpPr/>
          <p:nvPr/>
        </p:nvSpPr>
        <p:spPr>
          <a:xfrm>
            <a:off x="3913632" y="2999232"/>
            <a:ext cx="1316736" cy="713232"/>
          </a:xfrm>
          <a:prstGeom prst="rect">
            <a:avLst/>
          </a:prstGeom>
          <a:noFill/>
          <a:ln/>
        </p:spPr>
        <p:txBody>
          <a:bodyPr wrap="square" lIns="0" tIns="0" rIns="0" bIns="0" rtlCol="0" anchor="t"/>
          <a:lstStyle/>
          <a:p>
            <a:pPr algn="ctr" indent="0" marL="0">
              <a:buNone/>
            </a:pPr>
            <a:r>
              <a:rPr lang="en-US" sz="650" dirty="0">
                <a:solidFill>
                  <a:srgbClr val="4A5568"/>
                </a:solidFill>
              </a:rPr>
              <a:t>Stride Studio membership launched. UK &amp; Canada DTC. Revenue $59M (+40%).</a:t>
            </a:r>
            <a:endParaRPr lang="en-US" sz="650" dirty="0"/>
          </a:p>
        </p:txBody>
      </p:sp>
      <p:sp>
        <p:nvSpPr>
          <p:cNvPr id="21" name="Shape 19"/>
          <p:cNvSpPr/>
          <p:nvPr/>
        </p:nvSpPr>
        <p:spPr>
          <a:xfrm>
            <a:off x="5815584" y="2432304"/>
            <a:ext cx="256032" cy="256032"/>
          </a:xfrm>
          <a:prstGeom prst="oval">
            <a:avLst/>
          </a:prstGeom>
          <a:solidFill>
            <a:srgbClr val="2B5BAE"/>
          </a:solidFill>
          <a:ln w="19050">
            <a:solidFill>
              <a:srgbClr val="FFFFFF"/>
            </a:solidFill>
            <a:prstDash val="solid"/>
          </a:ln>
        </p:spPr>
      </p:sp>
      <p:sp>
        <p:nvSpPr>
          <p:cNvPr id="22" name="Text 20"/>
          <p:cNvSpPr/>
          <p:nvPr/>
        </p:nvSpPr>
        <p:spPr>
          <a:xfrm>
            <a:off x="5532120" y="2103120"/>
            <a:ext cx="822960" cy="228600"/>
          </a:xfrm>
          <a:prstGeom prst="rect">
            <a:avLst/>
          </a:prstGeom>
          <a:noFill/>
          <a:ln/>
        </p:spPr>
        <p:txBody>
          <a:bodyPr wrap="square" lIns="0" tIns="0" rIns="0" bIns="0" rtlCol="0" anchor="ctr"/>
          <a:lstStyle/>
          <a:p>
            <a:pPr algn="ctr" indent="0" marL="0">
              <a:buNone/>
            </a:pPr>
            <a:r>
              <a:rPr lang="en-US" sz="750" b="1" dirty="0">
                <a:solidFill>
                  <a:srgbClr val="2B5BAE"/>
                </a:solidFill>
              </a:rPr>
              <a:t>2021</a:t>
            </a:r>
            <a:endParaRPr lang="en-US" sz="750" dirty="0"/>
          </a:p>
        </p:txBody>
      </p:sp>
      <p:sp>
        <p:nvSpPr>
          <p:cNvPr id="23" name="Text 21"/>
          <p:cNvSpPr/>
          <p:nvPr/>
        </p:nvSpPr>
        <p:spPr>
          <a:xfrm>
            <a:off x="5285232" y="1371600"/>
            <a:ext cx="1316736" cy="713232"/>
          </a:xfrm>
          <a:prstGeom prst="rect">
            <a:avLst/>
          </a:prstGeom>
          <a:noFill/>
          <a:ln/>
        </p:spPr>
        <p:txBody>
          <a:bodyPr wrap="square" lIns="0" tIns="0" rIns="0" bIns="0" rtlCol="0" anchor="t"/>
          <a:lstStyle/>
          <a:p>
            <a:pPr algn="ctr" indent="0" marL="0">
              <a:buNone/>
            </a:pPr>
            <a:r>
              <a:rPr lang="en-US" sz="650" dirty="0">
                <a:solidFill>
                  <a:srgbClr val="4A5568"/>
                </a:solidFill>
              </a:rPr>
              <a:t>Men's line full launch. 62K Studio members. LTM revenue $78M.</a:t>
            </a:r>
            <a:endParaRPr lang="en-US" sz="650" dirty="0"/>
          </a:p>
        </p:txBody>
      </p:sp>
      <p:sp>
        <p:nvSpPr>
          <p:cNvPr id="24" name="Shape 22"/>
          <p:cNvSpPr/>
          <p:nvPr/>
        </p:nvSpPr>
        <p:spPr>
          <a:xfrm>
            <a:off x="7187184" y="2432304"/>
            <a:ext cx="256032" cy="256032"/>
          </a:xfrm>
          <a:prstGeom prst="oval">
            <a:avLst/>
          </a:prstGeom>
          <a:solidFill>
            <a:srgbClr val="2B5BAE"/>
          </a:solidFill>
          <a:ln w="19050">
            <a:solidFill>
              <a:srgbClr val="FFFFFF"/>
            </a:solidFill>
            <a:prstDash val="solid"/>
          </a:ln>
        </p:spPr>
      </p:sp>
      <p:sp>
        <p:nvSpPr>
          <p:cNvPr id="25" name="Text 23"/>
          <p:cNvSpPr/>
          <p:nvPr/>
        </p:nvSpPr>
        <p:spPr>
          <a:xfrm>
            <a:off x="6903720" y="2761488"/>
            <a:ext cx="822960" cy="228600"/>
          </a:xfrm>
          <a:prstGeom prst="rect">
            <a:avLst/>
          </a:prstGeom>
          <a:noFill/>
          <a:ln/>
        </p:spPr>
        <p:txBody>
          <a:bodyPr wrap="square" lIns="0" tIns="0" rIns="0" bIns="0" rtlCol="0" anchor="ctr"/>
          <a:lstStyle/>
          <a:p>
            <a:pPr algn="ctr" indent="0" marL="0">
              <a:buNone/>
            </a:pPr>
            <a:r>
              <a:rPr lang="en-US" sz="750" b="1" dirty="0">
                <a:solidFill>
                  <a:srgbClr val="2B5BAE"/>
                </a:solidFill>
              </a:rPr>
              <a:t>2021</a:t>
            </a:r>
            <a:endParaRPr lang="en-US" sz="750" dirty="0"/>
          </a:p>
        </p:txBody>
      </p:sp>
      <p:sp>
        <p:nvSpPr>
          <p:cNvPr id="26" name="Text 24"/>
          <p:cNvSpPr/>
          <p:nvPr/>
        </p:nvSpPr>
        <p:spPr>
          <a:xfrm>
            <a:off x="6656832" y="2999232"/>
            <a:ext cx="1316736" cy="713232"/>
          </a:xfrm>
          <a:prstGeom prst="rect">
            <a:avLst/>
          </a:prstGeom>
          <a:noFill/>
          <a:ln/>
        </p:spPr>
        <p:txBody>
          <a:bodyPr wrap="square" lIns="0" tIns="0" rIns="0" bIns="0" rtlCol="0" anchor="t"/>
          <a:lstStyle/>
          <a:p>
            <a:pPr algn="ctr" indent="0" marL="0">
              <a:buNone/>
            </a:pPr>
            <a:r>
              <a:rPr lang="en-US" sz="650" dirty="0">
                <a:solidFill>
                  <a:srgbClr val="4A5568"/>
                </a:solidFill>
              </a:rPr>
              <a:t>Houlihan Lokey engaged; company initiating sale process in September 2021.</a:t>
            </a:r>
            <a:endParaRPr lang="en-US" sz="650" dirty="0"/>
          </a:p>
        </p:txBody>
      </p:sp>
      <p:sp>
        <p:nvSpPr>
          <p:cNvPr id="27" name="Shape 25"/>
          <p:cNvSpPr/>
          <p:nvPr/>
        </p:nvSpPr>
        <p:spPr>
          <a:xfrm>
            <a:off x="8558784" y="2432304"/>
            <a:ext cx="256032" cy="256032"/>
          </a:xfrm>
          <a:prstGeom prst="oval">
            <a:avLst/>
          </a:prstGeom>
          <a:solidFill>
            <a:srgbClr val="C8A83C"/>
          </a:solidFill>
          <a:ln w="19050">
            <a:solidFill>
              <a:srgbClr val="FFFFFF"/>
            </a:solidFill>
            <a:prstDash val="solid"/>
          </a:ln>
        </p:spPr>
      </p:sp>
      <p:sp>
        <p:nvSpPr>
          <p:cNvPr id="28" name="Text 26"/>
          <p:cNvSpPr/>
          <p:nvPr/>
        </p:nvSpPr>
        <p:spPr>
          <a:xfrm>
            <a:off x="8275320" y="2103120"/>
            <a:ext cx="822960" cy="228600"/>
          </a:xfrm>
          <a:prstGeom prst="rect">
            <a:avLst/>
          </a:prstGeom>
          <a:noFill/>
          <a:ln/>
        </p:spPr>
        <p:txBody>
          <a:bodyPr wrap="square" lIns="0" tIns="0" rIns="0" bIns="0" rtlCol="0" anchor="ctr"/>
          <a:lstStyle/>
          <a:p>
            <a:pPr algn="ctr" indent="0" marL="0">
              <a:buNone/>
            </a:pPr>
            <a:r>
              <a:rPr lang="en-US" sz="750" b="1" dirty="0">
                <a:solidFill>
                  <a:srgbClr val="2B5BAE"/>
                </a:solidFill>
              </a:rPr>
              <a:t>2022</a:t>
            </a:r>
            <a:endParaRPr lang="en-US" sz="750" dirty="0"/>
          </a:p>
        </p:txBody>
      </p:sp>
      <p:sp>
        <p:nvSpPr>
          <p:cNvPr id="29" name="Text 27"/>
          <p:cNvSpPr/>
          <p:nvPr/>
        </p:nvSpPr>
        <p:spPr>
          <a:xfrm>
            <a:off x="8028432" y="1371600"/>
            <a:ext cx="1316736" cy="713232"/>
          </a:xfrm>
          <a:prstGeom prst="rect">
            <a:avLst/>
          </a:prstGeom>
          <a:noFill/>
          <a:ln/>
        </p:spPr>
        <p:txBody>
          <a:bodyPr wrap="square" lIns="0" tIns="0" rIns="0" bIns="0" rtlCol="0" anchor="t"/>
          <a:lstStyle/>
          <a:p>
            <a:pPr algn="ctr" indent="0" marL="0">
              <a:buNone/>
            </a:pPr>
            <a:r>
              <a:rPr lang="en-US" sz="650" dirty="0">
                <a:solidFill>
                  <a:srgbClr val="4A5568"/>
                </a:solidFill>
              </a:rPr>
              <a:t>(Projected) Footwear launch; 100K Studio members target; revenue $102M+.</a:t>
            </a:r>
            <a:endParaRPr lang="en-US" sz="650" dirty="0"/>
          </a:p>
        </p:txBody>
      </p:sp>
      <p:sp>
        <p:nvSpPr>
          <p:cNvPr id="30" name="Shape 28"/>
          <p:cNvSpPr/>
          <p:nvPr/>
        </p:nvSpPr>
        <p:spPr>
          <a:xfrm>
            <a:off x="457200" y="3858768"/>
            <a:ext cx="1371600" cy="804672"/>
          </a:xfrm>
          <a:prstGeom prst="rect">
            <a:avLst/>
          </a:prstGeom>
          <a:solidFill>
            <a:srgbClr val="1B2D55"/>
          </a:solidFill>
          <a:ln w="12700">
            <a:solidFill>
              <a:srgbClr val="1B2D55"/>
            </a:solidFill>
            <a:prstDash val="solid"/>
          </a:ln>
        </p:spPr>
      </p:sp>
      <p:sp>
        <p:nvSpPr>
          <p:cNvPr id="31" name="Text 29"/>
          <p:cNvSpPr/>
          <p:nvPr/>
        </p:nvSpPr>
        <p:spPr>
          <a:xfrm>
            <a:off x="457200" y="3931920"/>
            <a:ext cx="1371600" cy="310896"/>
          </a:xfrm>
          <a:prstGeom prst="rect">
            <a:avLst/>
          </a:prstGeom>
          <a:noFill/>
          <a:ln/>
        </p:spPr>
        <p:txBody>
          <a:bodyPr wrap="square" lIns="0" tIns="0" rIns="0" bIns="0" rtlCol="0" anchor="ctr"/>
          <a:lstStyle/>
          <a:p>
            <a:pPr algn="ctr" indent="0" marL="0">
              <a:buNone/>
            </a:pPr>
            <a:r>
              <a:rPr lang="en-US" sz="1100" b="1" dirty="0">
                <a:solidFill>
                  <a:srgbClr val="C8A83C"/>
                </a:solidFill>
              </a:rPr>
              <a:t>2016</a:t>
            </a:r>
            <a:endParaRPr lang="en-US" sz="1100" dirty="0"/>
          </a:p>
        </p:txBody>
      </p:sp>
      <p:sp>
        <p:nvSpPr>
          <p:cNvPr id="32" name="Text 30"/>
          <p:cNvSpPr/>
          <p:nvPr/>
        </p:nvSpPr>
        <p:spPr>
          <a:xfrm>
            <a:off x="457200" y="4261104"/>
            <a:ext cx="1371600" cy="256032"/>
          </a:xfrm>
          <a:prstGeom prst="rect">
            <a:avLst/>
          </a:prstGeom>
          <a:noFill/>
          <a:ln/>
        </p:spPr>
        <p:txBody>
          <a:bodyPr wrap="square" lIns="0" tIns="0" rIns="0" bIns="0" rtlCol="0" anchor="ctr"/>
          <a:lstStyle/>
          <a:p>
            <a:pPr algn="ctr" indent="0" marL="0">
              <a:buNone/>
            </a:pPr>
            <a:r>
              <a:rPr lang="en-US" sz="750" dirty="0">
                <a:solidFill>
                  <a:srgbClr val="FFFFFF"/>
                </a:solidFill>
              </a:rPr>
              <a:t>Founded</a:t>
            </a:r>
            <a:endParaRPr lang="en-US" sz="750" dirty="0"/>
          </a:p>
        </p:txBody>
      </p:sp>
      <p:sp>
        <p:nvSpPr>
          <p:cNvPr id="33" name="Shape 31"/>
          <p:cNvSpPr/>
          <p:nvPr/>
        </p:nvSpPr>
        <p:spPr>
          <a:xfrm>
            <a:off x="1901952" y="3858768"/>
            <a:ext cx="1371600" cy="804672"/>
          </a:xfrm>
          <a:prstGeom prst="rect">
            <a:avLst/>
          </a:prstGeom>
          <a:solidFill>
            <a:srgbClr val="2B5BAE"/>
          </a:solidFill>
          <a:ln w="12700">
            <a:solidFill>
              <a:srgbClr val="2B5BAE"/>
            </a:solidFill>
            <a:prstDash val="solid"/>
          </a:ln>
        </p:spPr>
      </p:sp>
      <p:sp>
        <p:nvSpPr>
          <p:cNvPr id="34" name="Text 32"/>
          <p:cNvSpPr/>
          <p:nvPr/>
        </p:nvSpPr>
        <p:spPr>
          <a:xfrm>
            <a:off x="1901952" y="3931920"/>
            <a:ext cx="1371600" cy="310896"/>
          </a:xfrm>
          <a:prstGeom prst="rect">
            <a:avLst/>
          </a:prstGeom>
          <a:noFill/>
          <a:ln/>
        </p:spPr>
        <p:txBody>
          <a:bodyPr wrap="square" lIns="0" tIns="0" rIns="0" bIns="0" rtlCol="0" anchor="ctr"/>
          <a:lstStyle/>
          <a:p>
            <a:pPr algn="ctr" indent="0" marL="0">
              <a:buNone/>
            </a:pPr>
            <a:r>
              <a:rPr lang="en-US" sz="1100" b="1" dirty="0">
                <a:solidFill>
                  <a:srgbClr val="C8A83C"/>
                </a:solidFill>
              </a:rPr>
              <a:t>Los Angeles, CA</a:t>
            </a:r>
            <a:endParaRPr lang="en-US" sz="1100" dirty="0"/>
          </a:p>
        </p:txBody>
      </p:sp>
      <p:sp>
        <p:nvSpPr>
          <p:cNvPr id="35" name="Text 33"/>
          <p:cNvSpPr/>
          <p:nvPr/>
        </p:nvSpPr>
        <p:spPr>
          <a:xfrm>
            <a:off x="1901952" y="4261104"/>
            <a:ext cx="1371600" cy="256032"/>
          </a:xfrm>
          <a:prstGeom prst="rect">
            <a:avLst/>
          </a:prstGeom>
          <a:noFill/>
          <a:ln/>
        </p:spPr>
        <p:txBody>
          <a:bodyPr wrap="square" lIns="0" tIns="0" rIns="0" bIns="0" rtlCol="0" anchor="ctr"/>
          <a:lstStyle/>
          <a:p>
            <a:pPr algn="ctr" indent="0" marL="0">
              <a:buNone/>
            </a:pPr>
            <a:r>
              <a:rPr lang="en-US" sz="750" dirty="0">
                <a:solidFill>
                  <a:srgbClr val="FFFFFF"/>
                </a:solidFill>
              </a:rPr>
              <a:t>HQ</a:t>
            </a:r>
            <a:endParaRPr lang="en-US" sz="750" dirty="0"/>
          </a:p>
        </p:txBody>
      </p:sp>
      <p:sp>
        <p:nvSpPr>
          <p:cNvPr id="36" name="Shape 34"/>
          <p:cNvSpPr/>
          <p:nvPr/>
        </p:nvSpPr>
        <p:spPr>
          <a:xfrm>
            <a:off x="3346704" y="3858768"/>
            <a:ext cx="1371600" cy="804672"/>
          </a:xfrm>
          <a:prstGeom prst="rect">
            <a:avLst/>
          </a:prstGeom>
          <a:solidFill>
            <a:srgbClr val="1B2D55"/>
          </a:solidFill>
          <a:ln w="12700">
            <a:solidFill>
              <a:srgbClr val="1B2D55"/>
            </a:solidFill>
            <a:prstDash val="solid"/>
          </a:ln>
        </p:spPr>
      </p:sp>
      <p:sp>
        <p:nvSpPr>
          <p:cNvPr id="37" name="Text 35"/>
          <p:cNvSpPr/>
          <p:nvPr/>
        </p:nvSpPr>
        <p:spPr>
          <a:xfrm>
            <a:off x="3346704" y="3931920"/>
            <a:ext cx="1371600" cy="310896"/>
          </a:xfrm>
          <a:prstGeom prst="rect">
            <a:avLst/>
          </a:prstGeom>
          <a:noFill/>
          <a:ln/>
        </p:spPr>
        <p:txBody>
          <a:bodyPr wrap="square" lIns="0" tIns="0" rIns="0" bIns="0" rtlCol="0" anchor="ctr"/>
          <a:lstStyle/>
          <a:p>
            <a:pPr algn="ctr" indent="0" marL="0">
              <a:buNone/>
            </a:pPr>
            <a:r>
              <a:rPr lang="en-US" sz="1100" b="1" dirty="0">
                <a:solidFill>
                  <a:srgbClr val="C8A83C"/>
                </a:solidFill>
              </a:rPr>
              <a:t>~210</a:t>
            </a:r>
            <a:endParaRPr lang="en-US" sz="1100" dirty="0"/>
          </a:p>
        </p:txBody>
      </p:sp>
      <p:sp>
        <p:nvSpPr>
          <p:cNvPr id="38" name="Text 36"/>
          <p:cNvSpPr/>
          <p:nvPr/>
        </p:nvSpPr>
        <p:spPr>
          <a:xfrm>
            <a:off x="3346704" y="4261104"/>
            <a:ext cx="1371600" cy="256032"/>
          </a:xfrm>
          <a:prstGeom prst="rect">
            <a:avLst/>
          </a:prstGeom>
          <a:noFill/>
          <a:ln/>
        </p:spPr>
        <p:txBody>
          <a:bodyPr wrap="square" lIns="0" tIns="0" rIns="0" bIns="0" rtlCol="0" anchor="ctr"/>
          <a:lstStyle/>
          <a:p>
            <a:pPr algn="ctr" indent="0" marL="0">
              <a:buNone/>
            </a:pPr>
            <a:r>
              <a:rPr lang="en-US" sz="750" dirty="0">
                <a:solidFill>
                  <a:srgbClr val="FFFFFF"/>
                </a:solidFill>
              </a:rPr>
              <a:t>Employees</a:t>
            </a:r>
            <a:endParaRPr lang="en-US" sz="750" dirty="0"/>
          </a:p>
        </p:txBody>
      </p:sp>
      <p:sp>
        <p:nvSpPr>
          <p:cNvPr id="39" name="Shape 37"/>
          <p:cNvSpPr/>
          <p:nvPr/>
        </p:nvSpPr>
        <p:spPr>
          <a:xfrm>
            <a:off x="4791456" y="3858768"/>
            <a:ext cx="1371600" cy="804672"/>
          </a:xfrm>
          <a:prstGeom prst="rect">
            <a:avLst/>
          </a:prstGeom>
          <a:solidFill>
            <a:srgbClr val="2B5BAE"/>
          </a:solidFill>
          <a:ln w="12700">
            <a:solidFill>
              <a:srgbClr val="2B5BAE"/>
            </a:solidFill>
            <a:prstDash val="solid"/>
          </a:ln>
        </p:spPr>
      </p:sp>
      <p:sp>
        <p:nvSpPr>
          <p:cNvPr id="40" name="Text 38"/>
          <p:cNvSpPr/>
          <p:nvPr/>
        </p:nvSpPr>
        <p:spPr>
          <a:xfrm>
            <a:off x="4791456" y="3931920"/>
            <a:ext cx="1371600" cy="310896"/>
          </a:xfrm>
          <a:prstGeom prst="rect">
            <a:avLst/>
          </a:prstGeom>
          <a:noFill/>
          <a:ln/>
        </p:spPr>
        <p:txBody>
          <a:bodyPr wrap="square" lIns="0" tIns="0" rIns="0" bIns="0" rtlCol="0" anchor="ctr"/>
          <a:lstStyle/>
          <a:p>
            <a:pPr algn="ctr" indent="0" marL="0">
              <a:buNone/>
            </a:pPr>
            <a:r>
              <a:rPr lang="en-US" sz="1100" b="1" dirty="0">
                <a:solidFill>
                  <a:srgbClr val="C8A83C"/>
                </a:solidFill>
              </a:rPr>
              <a:t>$148</a:t>
            </a:r>
            <a:endParaRPr lang="en-US" sz="1100" dirty="0"/>
          </a:p>
        </p:txBody>
      </p:sp>
      <p:sp>
        <p:nvSpPr>
          <p:cNvPr id="41" name="Text 39"/>
          <p:cNvSpPr/>
          <p:nvPr/>
        </p:nvSpPr>
        <p:spPr>
          <a:xfrm>
            <a:off x="4791456" y="4261104"/>
            <a:ext cx="1371600" cy="256032"/>
          </a:xfrm>
          <a:prstGeom prst="rect">
            <a:avLst/>
          </a:prstGeom>
          <a:noFill/>
          <a:ln/>
        </p:spPr>
        <p:txBody>
          <a:bodyPr wrap="square" lIns="0" tIns="0" rIns="0" bIns="0" rtlCol="0" anchor="ctr"/>
          <a:lstStyle/>
          <a:p>
            <a:pPr algn="ctr" indent="0" marL="0">
              <a:buNone/>
            </a:pPr>
            <a:r>
              <a:rPr lang="en-US" sz="750" dirty="0">
                <a:solidFill>
                  <a:srgbClr val="FFFFFF"/>
                </a:solidFill>
              </a:rPr>
              <a:t>Avg. Order Value</a:t>
            </a:r>
            <a:endParaRPr lang="en-US" sz="750" dirty="0"/>
          </a:p>
        </p:txBody>
      </p:sp>
      <p:sp>
        <p:nvSpPr>
          <p:cNvPr id="42" name="Shape 40"/>
          <p:cNvSpPr/>
          <p:nvPr/>
        </p:nvSpPr>
        <p:spPr>
          <a:xfrm>
            <a:off x="6236208" y="3858768"/>
            <a:ext cx="1371600" cy="804672"/>
          </a:xfrm>
          <a:prstGeom prst="rect">
            <a:avLst/>
          </a:prstGeom>
          <a:solidFill>
            <a:srgbClr val="1B2D55"/>
          </a:solidFill>
          <a:ln w="12700">
            <a:solidFill>
              <a:srgbClr val="1B2D55"/>
            </a:solidFill>
            <a:prstDash val="solid"/>
          </a:ln>
        </p:spPr>
      </p:sp>
      <p:sp>
        <p:nvSpPr>
          <p:cNvPr id="43" name="Text 41"/>
          <p:cNvSpPr/>
          <p:nvPr/>
        </p:nvSpPr>
        <p:spPr>
          <a:xfrm>
            <a:off x="6236208" y="3931920"/>
            <a:ext cx="1371600" cy="310896"/>
          </a:xfrm>
          <a:prstGeom prst="rect">
            <a:avLst/>
          </a:prstGeom>
          <a:noFill/>
          <a:ln/>
        </p:spPr>
        <p:txBody>
          <a:bodyPr wrap="square" lIns="0" tIns="0" rIns="0" bIns="0" rtlCol="0" anchor="ctr"/>
          <a:lstStyle/>
          <a:p>
            <a:pPr algn="ctr" indent="0" marL="0">
              <a:buNone/>
            </a:pPr>
            <a:r>
              <a:rPr lang="en-US" sz="1100" b="1" dirty="0">
                <a:solidFill>
                  <a:srgbClr val="C8A83C"/>
                </a:solidFill>
              </a:rPr>
              <a:t>~62K</a:t>
            </a:r>
            <a:endParaRPr lang="en-US" sz="1100" dirty="0"/>
          </a:p>
        </p:txBody>
      </p:sp>
      <p:sp>
        <p:nvSpPr>
          <p:cNvPr id="44" name="Text 42"/>
          <p:cNvSpPr/>
          <p:nvPr/>
        </p:nvSpPr>
        <p:spPr>
          <a:xfrm>
            <a:off x="6236208" y="4261104"/>
            <a:ext cx="1371600" cy="256032"/>
          </a:xfrm>
          <a:prstGeom prst="rect">
            <a:avLst/>
          </a:prstGeom>
          <a:noFill/>
          <a:ln/>
        </p:spPr>
        <p:txBody>
          <a:bodyPr wrap="square" lIns="0" tIns="0" rIns="0" bIns="0" rtlCol="0" anchor="ctr"/>
          <a:lstStyle/>
          <a:p>
            <a:pPr algn="ctr" indent="0" marL="0">
              <a:buNone/>
            </a:pPr>
            <a:r>
              <a:rPr lang="en-US" sz="750" dirty="0">
                <a:solidFill>
                  <a:srgbClr val="FFFFFF"/>
                </a:solidFill>
              </a:rPr>
              <a:t>Studio Members</a:t>
            </a:r>
            <a:endParaRPr lang="en-US" sz="750" dirty="0"/>
          </a:p>
        </p:txBody>
      </p:sp>
      <p:sp>
        <p:nvSpPr>
          <p:cNvPr id="45" name="Shape 43"/>
          <p:cNvSpPr/>
          <p:nvPr/>
        </p:nvSpPr>
        <p:spPr>
          <a:xfrm>
            <a:off x="7680960" y="3858768"/>
            <a:ext cx="1371600" cy="804672"/>
          </a:xfrm>
          <a:prstGeom prst="rect">
            <a:avLst/>
          </a:prstGeom>
          <a:solidFill>
            <a:srgbClr val="2B5BAE"/>
          </a:solidFill>
          <a:ln w="12700">
            <a:solidFill>
              <a:srgbClr val="2B5BAE"/>
            </a:solidFill>
            <a:prstDash val="solid"/>
          </a:ln>
        </p:spPr>
      </p:sp>
      <p:sp>
        <p:nvSpPr>
          <p:cNvPr id="46" name="Text 44"/>
          <p:cNvSpPr/>
          <p:nvPr/>
        </p:nvSpPr>
        <p:spPr>
          <a:xfrm>
            <a:off x="7680960" y="3931920"/>
            <a:ext cx="1371600" cy="310896"/>
          </a:xfrm>
          <a:prstGeom prst="rect">
            <a:avLst/>
          </a:prstGeom>
          <a:noFill/>
          <a:ln/>
        </p:spPr>
        <p:txBody>
          <a:bodyPr wrap="square" lIns="0" tIns="0" rIns="0" bIns="0" rtlCol="0" anchor="ctr"/>
          <a:lstStyle/>
          <a:p>
            <a:pPr algn="ctr" indent="0" marL="0">
              <a:buNone/>
            </a:pPr>
            <a:r>
              <a:rPr lang="en-US" sz="1100" b="1" dirty="0">
                <a:solidFill>
                  <a:srgbClr val="C8A83C"/>
                </a:solidFill>
              </a:rPr>
              <a:t>US, CA, UK</a:t>
            </a:r>
            <a:endParaRPr lang="en-US" sz="1100" dirty="0"/>
          </a:p>
        </p:txBody>
      </p:sp>
      <p:sp>
        <p:nvSpPr>
          <p:cNvPr id="47" name="Text 45"/>
          <p:cNvSpPr/>
          <p:nvPr/>
        </p:nvSpPr>
        <p:spPr>
          <a:xfrm>
            <a:off x="7680960" y="4261104"/>
            <a:ext cx="1371600" cy="256032"/>
          </a:xfrm>
          <a:prstGeom prst="rect">
            <a:avLst/>
          </a:prstGeom>
          <a:noFill/>
          <a:ln/>
        </p:spPr>
        <p:txBody>
          <a:bodyPr wrap="square" lIns="0" tIns="0" rIns="0" bIns="0" rtlCol="0" anchor="ctr"/>
          <a:lstStyle/>
          <a:p>
            <a:pPr algn="ctr" indent="0" marL="0">
              <a:buNone/>
            </a:pPr>
            <a:r>
              <a:rPr lang="en-US" sz="750" dirty="0">
                <a:solidFill>
                  <a:srgbClr val="FFFFFF"/>
                </a:solidFill>
              </a:rPr>
              <a:t>Countries</a:t>
            </a:r>
            <a:endParaRPr lang="en-US" sz="750" dirty="0"/>
          </a:p>
        </p:txBody>
      </p:sp>
      <p:sp>
        <p:nvSpPr>
          <p:cNvPr id="48" name="Text 46"/>
          <p:cNvSpPr/>
          <p:nvPr/>
        </p:nvSpPr>
        <p:spPr>
          <a:xfrm>
            <a:off x="457200" y="1188720"/>
            <a:ext cx="8229600" cy="502920"/>
          </a:xfrm>
          <a:prstGeom prst="rect">
            <a:avLst/>
          </a:prstGeom>
          <a:noFill/>
          <a:ln/>
        </p:spPr>
        <p:txBody>
          <a:bodyPr wrap="square" lIns="0" tIns="0" rIns="0" bIns="0" rtlCol="0" anchor="ctr"/>
          <a:lstStyle/>
          <a:p>
            <a:pPr indent="0" marL="0">
              <a:buNone/>
            </a:pPr>
            <a:r>
              <a:rPr lang="en-US" sz="850" dirty="0">
                <a:solidFill>
                  <a:srgbClr val="4A5568"/>
                </a:solidFill>
              </a:rPr>
              <a:t>Stride &amp; Co. ("Stride" or the "Company") is a purpose-driven premium activewear brand offering performance apparel made from sustainably-sourced and recycled materials.</a:t>
            </a:r>
            <a:endParaRPr lang="en-US" sz="850" dirty="0"/>
          </a:p>
        </p:txBody>
      </p:sp>
      <p:sp>
        <p:nvSpPr>
          <p:cNvPr id="49" name="Shape 47"/>
          <p:cNvSpPr/>
          <p:nvPr/>
        </p:nvSpPr>
        <p:spPr>
          <a:xfrm>
            <a:off x="0" y="4892040"/>
            <a:ext cx="9144000" cy="251460"/>
          </a:xfrm>
          <a:prstGeom prst="rect">
            <a:avLst/>
          </a:prstGeom>
          <a:solidFill>
            <a:srgbClr val="F4F6FA"/>
          </a:solidFill>
          <a:ln w="12700">
            <a:solidFill>
              <a:srgbClr val="D0D8E4"/>
            </a:solidFill>
            <a:prstDash val="solid"/>
          </a:ln>
        </p:spPr>
      </p:sp>
      <p:sp>
        <p:nvSpPr>
          <p:cNvPr id="50" name="Text 48"/>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51" name="Text 49"/>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4 / 14</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Houlihan Lokey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PRODUCTS &amp; SERVICES</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Products &amp; Services</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Diversified offering with multiple growth vectors</a:t>
            </a:r>
            <a:endParaRPr lang="en-US" sz="950" dirty="0"/>
          </a:p>
        </p:txBody>
      </p:sp>
      <p:sp>
        <p:nvSpPr>
          <p:cNvPr id="8" name="Shape 6"/>
          <p:cNvSpPr/>
          <p:nvPr/>
        </p:nvSpPr>
        <p:spPr>
          <a:xfrm>
            <a:off x="457200" y="1234440"/>
            <a:ext cx="4251960" cy="1664208"/>
          </a:xfrm>
          <a:prstGeom prst="rect">
            <a:avLst/>
          </a:prstGeom>
          <a:solidFill>
            <a:srgbClr val="FFFFFF"/>
          </a:solidFill>
          <a:ln w="12700">
            <a:solidFill>
              <a:srgbClr val="D0D8E4"/>
            </a:solidFill>
            <a:prstDash val="solid"/>
          </a:ln>
          <a:effectLst>
            <a:outerShdw sx="100000" sy="100000" kx="0" ky="0" algn="bl" rotWithShape="0" blurRad="50800" dist="25400" dir="8100000">
              <a:srgbClr val="000000">
                <a:alpha val="7000"/>
              </a:srgbClr>
            </a:outerShdw>
          </a:effectLst>
        </p:spPr>
      </p:sp>
      <p:sp>
        <p:nvSpPr>
          <p:cNvPr id="9" name="Shape 7"/>
          <p:cNvSpPr/>
          <p:nvPr/>
        </p:nvSpPr>
        <p:spPr>
          <a:xfrm>
            <a:off x="457200" y="1234440"/>
            <a:ext cx="4251960" cy="320040"/>
          </a:xfrm>
          <a:prstGeom prst="rect">
            <a:avLst/>
          </a:prstGeom>
          <a:solidFill>
            <a:srgbClr val="1B2D55"/>
          </a:solidFill>
          <a:ln w="12700">
            <a:solidFill>
              <a:srgbClr val="1B2D55"/>
            </a:solidFill>
            <a:prstDash val="solid"/>
          </a:ln>
        </p:spPr>
      </p:sp>
      <p:sp>
        <p:nvSpPr>
          <p:cNvPr id="10" name="Text 8"/>
          <p:cNvSpPr/>
          <p:nvPr/>
        </p:nvSpPr>
        <p:spPr>
          <a:xfrm>
            <a:off x="566928" y="1289304"/>
            <a:ext cx="2743200" cy="210312"/>
          </a:xfrm>
          <a:prstGeom prst="rect">
            <a:avLst/>
          </a:prstGeom>
          <a:noFill/>
          <a:ln/>
        </p:spPr>
        <p:txBody>
          <a:bodyPr wrap="square" lIns="0" tIns="0" rIns="0" bIns="0" rtlCol="0" anchor="ctr"/>
          <a:lstStyle/>
          <a:p>
            <a:pPr indent="0" marL="0">
              <a:buNone/>
            </a:pPr>
            <a:r>
              <a:rPr lang="en-US" sz="650" b="1" dirty="0">
                <a:solidFill>
                  <a:srgbClr val="FFFFFF"/>
                </a:solidFill>
              </a:rPr>
              <a:t>CORE — 58% OF REVENUE</a:t>
            </a:r>
            <a:endParaRPr lang="en-US" sz="650" dirty="0"/>
          </a:p>
        </p:txBody>
      </p:sp>
      <p:sp>
        <p:nvSpPr>
          <p:cNvPr id="11" name="Text 9"/>
          <p:cNvSpPr/>
          <p:nvPr/>
        </p:nvSpPr>
        <p:spPr>
          <a:xfrm>
            <a:off x="3108960" y="1289304"/>
            <a:ext cx="1463040" cy="210312"/>
          </a:xfrm>
          <a:prstGeom prst="rect">
            <a:avLst/>
          </a:prstGeom>
          <a:noFill/>
          <a:ln/>
        </p:spPr>
        <p:txBody>
          <a:bodyPr wrap="square" lIns="0" tIns="0" rIns="0" bIns="0" rtlCol="0" anchor="ctr"/>
          <a:lstStyle/>
          <a:p>
            <a:pPr algn="r" indent="0" marL="0">
              <a:buNone/>
            </a:pPr>
            <a:r>
              <a:rPr lang="en-US" sz="850" b="1" dirty="0">
                <a:solidFill>
                  <a:srgbClr val="FFFFFF"/>
                </a:solidFill>
              </a:rPr>
              <a:t>$98–148/unit</a:t>
            </a:r>
            <a:endParaRPr lang="en-US" sz="850" dirty="0"/>
          </a:p>
        </p:txBody>
      </p:sp>
      <p:sp>
        <p:nvSpPr>
          <p:cNvPr id="12" name="Text 10"/>
          <p:cNvSpPr/>
          <p:nvPr/>
        </p:nvSpPr>
        <p:spPr>
          <a:xfrm>
            <a:off x="566928" y="1618488"/>
            <a:ext cx="4023360" cy="274320"/>
          </a:xfrm>
          <a:prstGeom prst="rect">
            <a:avLst/>
          </a:prstGeom>
          <a:noFill/>
          <a:ln/>
        </p:spPr>
        <p:txBody>
          <a:bodyPr wrap="square" lIns="0" tIns="0" rIns="0" bIns="0" rtlCol="0" anchor="ctr"/>
          <a:lstStyle/>
          <a:p>
            <a:pPr indent="0" marL="0">
              <a:buNone/>
            </a:pPr>
            <a:r>
              <a:rPr lang="en-US" sz="1100" b="1" dirty="0">
                <a:solidFill>
                  <a:srgbClr val="1B2D55"/>
                </a:solidFill>
              </a:rPr>
              <a:t>Women's Performance Collection</a:t>
            </a:r>
            <a:endParaRPr lang="en-US" sz="1100" dirty="0"/>
          </a:p>
        </p:txBody>
      </p:sp>
      <p:sp>
        <p:nvSpPr>
          <p:cNvPr id="13" name="Shape 11"/>
          <p:cNvSpPr/>
          <p:nvPr/>
        </p:nvSpPr>
        <p:spPr>
          <a:xfrm>
            <a:off x="594360" y="1984248"/>
            <a:ext cx="73152" cy="73152"/>
          </a:xfrm>
          <a:prstGeom prst="oval">
            <a:avLst/>
          </a:prstGeom>
          <a:solidFill>
            <a:srgbClr val="1B2D55"/>
          </a:solidFill>
          <a:ln w="12700">
            <a:solidFill>
              <a:srgbClr val="1B2D55"/>
            </a:solidFill>
            <a:prstDash val="solid"/>
          </a:ln>
        </p:spPr>
      </p:sp>
      <p:sp>
        <p:nvSpPr>
          <p:cNvPr id="14" name="Text 12"/>
          <p:cNvSpPr/>
          <p:nvPr/>
        </p:nvSpPr>
        <p:spPr>
          <a:xfrm>
            <a:off x="731520" y="1938528"/>
            <a:ext cx="3840480" cy="237744"/>
          </a:xfrm>
          <a:prstGeom prst="rect">
            <a:avLst/>
          </a:prstGeom>
          <a:noFill/>
          <a:ln/>
        </p:spPr>
        <p:txBody>
          <a:bodyPr wrap="square" lIns="0" tIns="0" rIns="0" bIns="0" rtlCol="0" anchor="ctr"/>
          <a:lstStyle/>
          <a:p>
            <a:pPr indent="0" marL="0">
              <a:buNone/>
            </a:pPr>
            <a:r>
              <a:rPr lang="en-US" sz="750" dirty="0">
                <a:solidFill>
                  <a:srgbClr val="4A5568"/>
                </a:solidFill>
              </a:rPr>
              <a:t>Signature Stride Tight™ (5 lengths, 14 colorways) — best-selling SKU at $128</a:t>
            </a:r>
            <a:endParaRPr lang="en-US" sz="750" dirty="0"/>
          </a:p>
        </p:txBody>
      </p:sp>
      <p:sp>
        <p:nvSpPr>
          <p:cNvPr id="15" name="Shape 13"/>
          <p:cNvSpPr/>
          <p:nvPr/>
        </p:nvSpPr>
        <p:spPr>
          <a:xfrm>
            <a:off x="594360" y="2258568"/>
            <a:ext cx="73152" cy="73152"/>
          </a:xfrm>
          <a:prstGeom prst="oval">
            <a:avLst/>
          </a:prstGeom>
          <a:solidFill>
            <a:srgbClr val="1B2D55"/>
          </a:solidFill>
          <a:ln w="12700">
            <a:solidFill>
              <a:srgbClr val="1B2D55"/>
            </a:solidFill>
            <a:prstDash val="solid"/>
          </a:ln>
        </p:spPr>
      </p:sp>
      <p:sp>
        <p:nvSpPr>
          <p:cNvPr id="16" name="Text 14"/>
          <p:cNvSpPr/>
          <p:nvPr/>
        </p:nvSpPr>
        <p:spPr>
          <a:xfrm>
            <a:off x="731520" y="2212848"/>
            <a:ext cx="3840480" cy="237744"/>
          </a:xfrm>
          <a:prstGeom prst="rect">
            <a:avLst/>
          </a:prstGeom>
          <a:noFill/>
          <a:ln/>
        </p:spPr>
        <p:txBody>
          <a:bodyPr wrap="square" lIns="0" tIns="0" rIns="0" bIns="0" rtlCol="0" anchor="ctr"/>
          <a:lstStyle/>
          <a:p>
            <a:pPr indent="0" marL="0">
              <a:buNone/>
            </a:pPr>
            <a:r>
              <a:rPr lang="en-US" sz="750" dirty="0">
                <a:solidFill>
                  <a:srgbClr val="4A5568"/>
                </a:solidFill>
              </a:rPr>
              <a:t>Made from Stride Reclaim™ fabric: 78% recycled polyester, 22% spandex</a:t>
            </a:r>
            <a:endParaRPr lang="en-US" sz="750" dirty="0"/>
          </a:p>
        </p:txBody>
      </p:sp>
      <p:sp>
        <p:nvSpPr>
          <p:cNvPr id="17" name="Shape 15"/>
          <p:cNvSpPr/>
          <p:nvPr/>
        </p:nvSpPr>
        <p:spPr>
          <a:xfrm>
            <a:off x="594360" y="2532888"/>
            <a:ext cx="73152" cy="73152"/>
          </a:xfrm>
          <a:prstGeom prst="oval">
            <a:avLst/>
          </a:prstGeom>
          <a:solidFill>
            <a:srgbClr val="1B2D55"/>
          </a:solidFill>
          <a:ln w="12700">
            <a:solidFill>
              <a:srgbClr val="1B2D55"/>
            </a:solidFill>
            <a:prstDash val="solid"/>
          </a:ln>
        </p:spPr>
      </p:sp>
      <p:sp>
        <p:nvSpPr>
          <p:cNvPr id="18" name="Text 16"/>
          <p:cNvSpPr/>
          <p:nvPr/>
        </p:nvSpPr>
        <p:spPr>
          <a:xfrm>
            <a:off x="731520" y="2487168"/>
            <a:ext cx="3840480" cy="237744"/>
          </a:xfrm>
          <a:prstGeom prst="rect">
            <a:avLst/>
          </a:prstGeom>
          <a:noFill/>
          <a:ln/>
        </p:spPr>
        <p:txBody>
          <a:bodyPr wrap="square" lIns="0" tIns="0" rIns="0" bIns="0" rtlCol="0" anchor="ctr"/>
          <a:lstStyle/>
          <a:p>
            <a:pPr indent="0" marL="0">
              <a:buNone/>
            </a:pPr>
            <a:r>
              <a:rPr lang="en-US" sz="750" dirty="0">
                <a:solidFill>
                  <a:srgbClr val="4A5568"/>
                </a:solidFill>
              </a:rPr>
              <a:t>94% sell-through within 30 days; no end-of-season markdowns required</a:t>
            </a:r>
            <a:endParaRPr lang="en-US" sz="750" dirty="0"/>
          </a:p>
        </p:txBody>
      </p:sp>
      <p:sp>
        <p:nvSpPr>
          <p:cNvPr id="19" name="Shape 17"/>
          <p:cNvSpPr/>
          <p:nvPr/>
        </p:nvSpPr>
        <p:spPr>
          <a:xfrm>
            <a:off x="4864608" y="1234440"/>
            <a:ext cx="4251960" cy="1664208"/>
          </a:xfrm>
          <a:prstGeom prst="rect">
            <a:avLst/>
          </a:prstGeom>
          <a:solidFill>
            <a:srgbClr val="FFFFFF"/>
          </a:solidFill>
          <a:ln w="12700">
            <a:solidFill>
              <a:srgbClr val="D0D8E4"/>
            </a:solidFill>
            <a:prstDash val="solid"/>
          </a:ln>
          <a:effectLst>
            <a:outerShdw sx="100000" sy="100000" kx="0" ky="0" algn="bl" rotWithShape="0" blurRad="50800" dist="25400" dir="8100000">
              <a:srgbClr val="000000">
                <a:alpha val="7000"/>
              </a:srgbClr>
            </a:outerShdw>
          </a:effectLst>
        </p:spPr>
      </p:sp>
      <p:sp>
        <p:nvSpPr>
          <p:cNvPr id="20" name="Shape 18"/>
          <p:cNvSpPr/>
          <p:nvPr/>
        </p:nvSpPr>
        <p:spPr>
          <a:xfrm>
            <a:off x="4864608" y="1234440"/>
            <a:ext cx="4251960" cy="320040"/>
          </a:xfrm>
          <a:prstGeom prst="rect">
            <a:avLst/>
          </a:prstGeom>
          <a:solidFill>
            <a:srgbClr val="2B5BAE"/>
          </a:solidFill>
          <a:ln w="12700">
            <a:solidFill>
              <a:srgbClr val="2B5BAE"/>
            </a:solidFill>
            <a:prstDash val="solid"/>
          </a:ln>
        </p:spPr>
      </p:sp>
      <p:sp>
        <p:nvSpPr>
          <p:cNvPr id="21" name="Text 19"/>
          <p:cNvSpPr/>
          <p:nvPr/>
        </p:nvSpPr>
        <p:spPr>
          <a:xfrm>
            <a:off x="4974336" y="1289304"/>
            <a:ext cx="2743200" cy="210312"/>
          </a:xfrm>
          <a:prstGeom prst="rect">
            <a:avLst/>
          </a:prstGeom>
          <a:noFill/>
          <a:ln/>
        </p:spPr>
        <p:txBody>
          <a:bodyPr wrap="square" lIns="0" tIns="0" rIns="0" bIns="0" rtlCol="0" anchor="ctr"/>
          <a:lstStyle/>
          <a:p>
            <a:pPr indent="0" marL="0">
              <a:buNone/>
            </a:pPr>
            <a:r>
              <a:rPr lang="en-US" sz="650" b="1" dirty="0">
                <a:solidFill>
                  <a:srgbClr val="FFFFFF"/>
                </a:solidFill>
              </a:rPr>
              <a:t>GROWTH — 14% OF REVENUE</a:t>
            </a:r>
            <a:endParaRPr lang="en-US" sz="650" dirty="0"/>
          </a:p>
        </p:txBody>
      </p:sp>
      <p:sp>
        <p:nvSpPr>
          <p:cNvPr id="22" name="Text 20"/>
          <p:cNvSpPr/>
          <p:nvPr/>
        </p:nvSpPr>
        <p:spPr>
          <a:xfrm>
            <a:off x="7516368" y="1289304"/>
            <a:ext cx="1463040" cy="210312"/>
          </a:xfrm>
          <a:prstGeom prst="rect">
            <a:avLst/>
          </a:prstGeom>
          <a:noFill/>
          <a:ln/>
        </p:spPr>
        <p:txBody>
          <a:bodyPr wrap="square" lIns="0" tIns="0" rIns="0" bIns="0" rtlCol="0" anchor="ctr"/>
          <a:lstStyle/>
          <a:p>
            <a:pPr algn="r" indent="0" marL="0">
              <a:buNone/>
            </a:pPr>
            <a:r>
              <a:rPr lang="en-US" sz="850" b="1" dirty="0">
                <a:solidFill>
                  <a:srgbClr val="FFFFFF"/>
                </a:solidFill>
              </a:rPr>
              <a:t>$88–138/unit</a:t>
            </a:r>
            <a:endParaRPr lang="en-US" sz="850" dirty="0"/>
          </a:p>
        </p:txBody>
      </p:sp>
      <p:sp>
        <p:nvSpPr>
          <p:cNvPr id="23" name="Text 21"/>
          <p:cNvSpPr/>
          <p:nvPr/>
        </p:nvSpPr>
        <p:spPr>
          <a:xfrm>
            <a:off x="4974336" y="1618488"/>
            <a:ext cx="4023360" cy="274320"/>
          </a:xfrm>
          <a:prstGeom prst="rect">
            <a:avLst/>
          </a:prstGeom>
          <a:noFill/>
          <a:ln/>
        </p:spPr>
        <p:txBody>
          <a:bodyPr wrap="square" lIns="0" tIns="0" rIns="0" bIns="0" rtlCol="0" anchor="ctr"/>
          <a:lstStyle/>
          <a:p>
            <a:pPr indent="0" marL="0">
              <a:buNone/>
            </a:pPr>
            <a:r>
              <a:rPr lang="en-US" sz="1100" b="1" dirty="0">
                <a:solidFill>
                  <a:srgbClr val="1B2D55"/>
                </a:solidFill>
              </a:rPr>
              <a:t>Men's Performance Collection</a:t>
            </a:r>
            <a:endParaRPr lang="en-US" sz="1100" dirty="0"/>
          </a:p>
        </p:txBody>
      </p:sp>
      <p:sp>
        <p:nvSpPr>
          <p:cNvPr id="24" name="Shape 22"/>
          <p:cNvSpPr/>
          <p:nvPr/>
        </p:nvSpPr>
        <p:spPr>
          <a:xfrm>
            <a:off x="5001768" y="1984248"/>
            <a:ext cx="73152" cy="73152"/>
          </a:xfrm>
          <a:prstGeom prst="oval">
            <a:avLst/>
          </a:prstGeom>
          <a:solidFill>
            <a:srgbClr val="2B5BAE"/>
          </a:solidFill>
          <a:ln w="12700">
            <a:solidFill>
              <a:srgbClr val="2B5BAE"/>
            </a:solidFill>
            <a:prstDash val="solid"/>
          </a:ln>
        </p:spPr>
      </p:sp>
      <p:sp>
        <p:nvSpPr>
          <p:cNvPr id="25" name="Text 23"/>
          <p:cNvSpPr/>
          <p:nvPr/>
        </p:nvSpPr>
        <p:spPr>
          <a:xfrm>
            <a:off x="5138928" y="1938528"/>
            <a:ext cx="3840480" cy="237744"/>
          </a:xfrm>
          <a:prstGeom prst="rect">
            <a:avLst/>
          </a:prstGeom>
          <a:noFill/>
          <a:ln/>
        </p:spPr>
        <p:txBody>
          <a:bodyPr wrap="square" lIns="0" tIns="0" rIns="0" bIns="0" rtlCol="0" anchor="ctr"/>
          <a:lstStyle/>
          <a:p>
            <a:pPr indent="0" marL="0">
              <a:buNone/>
            </a:pPr>
            <a:r>
              <a:rPr lang="en-US" sz="750" dirty="0">
                <a:solidFill>
                  <a:srgbClr val="4A5568"/>
                </a:solidFill>
              </a:rPr>
              <a:t>Launched Q2 2021; tracking to $11M annualized in first 6 months</a:t>
            </a:r>
            <a:endParaRPr lang="en-US" sz="750" dirty="0"/>
          </a:p>
        </p:txBody>
      </p:sp>
      <p:sp>
        <p:nvSpPr>
          <p:cNvPr id="26" name="Shape 24"/>
          <p:cNvSpPr/>
          <p:nvPr/>
        </p:nvSpPr>
        <p:spPr>
          <a:xfrm>
            <a:off x="5001768" y="2258568"/>
            <a:ext cx="73152" cy="73152"/>
          </a:xfrm>
          <a:prstGeom prst="oval">
            <a:avLst/>
          </a:prstGeom>
          <a:solidFill>
            <a:srgbClr val="2B5BAE"/>
          </a:solidFill>
          <a:ln w="12700">
            <a:solidFill>
              <a:srgbClr val="2B5BAE"/>
            </a:solidFill>
            <a:prstDash val="solid"/>
          </a:ln>
        </p:spPr>
      </p:sp>
      <p:sp>
        <p:nvSpPr>
          <p:cNvPr id="27" name="Text 25"/>
          <p:cNvSpPr/>
          <p:nvPr/>
        </p:nvSpPr>
        <p:spPr>
          <a:xfrm>
            <a:off x="5138928" y="2212848"/>
            <a:ext cx="3840480" cy="237744"/>
          </a:xfrm>
          <a:prstGeom prst="rect">
            <a:avLst/>
          </a:prstGeom>
          <a:noFill/>
          <a:ln/>
        </p:spPr>
        <p:txBody>
          <a:bodyPr wrap="square" lIns="0" tIns="0" rIns="0" bIns="0" rtlCol="0" anchor="ctr"/>
          <a:lstStyle/>
          <a:p>
            <a:pPr indent="0" marL="0">
              <a:buNone/>
            </a:pPr>
            <a:r>
              <a:rPr lang="en-US" sz="750" dirty="0">
                <a:solidFill>
                  <a:srgbClr val="4A5568"/>
                </a:solidFill>
              </a:rPr>
              <a:t>5-way stretch training short + compression tight as lead SKUs</a:t>
            </a:r>
            <a:endParaRPr lang="en-US" sz="750" dirty="0"/>
          </a:p>
        </p:txBody>
      </p:sp>
      <p:sp>
        <p:nvSpPr>
          <p:cNvPr id="28" name="Shape 26"/>
          <p:cNvSpPr/>
          <p:nvPr/>
        </p:nvSpPr>
        <p:spPr>
          <a:xfrm>
            <a:off x="5001768" y="2532888"/>
            <a:ext cx="73152" cy="73152"/>
          </a:xfrm>
          <a:prstGeom prst="oval">
            <a:avLst/>
          </a:prstGeom>
          <a:solidFill>
            <a:srgbClr val="2B5BAE"/>
          </a:solidFill>
          <a:ln w="12700">
            <a:solidFill>
              <a:srgbClr val="2B5BAE"/>
            </a:solidFill>
            <a:prstDash val="solid"/>
          </a:ln>
        </p:spPr>
      </p:sp>
      <p:sp>
        <p:nvSpPr>
          <p:cNvPr id="29" name="Text 27"/>
          <p:cNvSpPr/>
          <p:nvPr/>
        </p:nvSpPr>
        <p:spPr>
          <a:xfrm>
            <a:off x="5138928" y="2487168"/>
            <a:ext cx="3840480" cy="237744"/>
          </a:xfrm>
          <a:prstGeom prst="rect">
            <a:avLst/>
          </a:prstGeom>
          <a:noFill/>
          <a:ln/>
        </p:spPr>
        <p:txBody>
          <a:bodyPr wrap="square" lIns="0" tIns="0" rIns="0" bIns="0" rtlCol="0" anchor="ctr"/>
          <a:lstStyle/>
          <a:p>
            <a:pPr indent="0" marL="0">
              <a:buNone/>
            </a:pPr>
            <a:r>
              <a:rPr lang="en-US" sz="750" dirty="0">
                <a:solidFill>
                  <a:srgbClr val="4A5568"/>
                </a:solidFill>
              </a:rPr>
              <a:t>Customer acquisition from existing women's base — low incremental CAC</a:t>
            </a:r>
            <a:endParaRPr lang="en-US" sz="750" dirty="0"/>
          </a:p>
        </p:txBody>
      </p:sp>
      <p:sp>
        <p:nvSpPr>
          <p:cNvPr id="30" name="Shape 28"/>
          <p:cNvSpPr/>
          <p:nvPr/>
        </p:nvSpPr>
        <p:spPr>
          <a:xfrm>
            <a:off x="457200" y="2971800"/>
            <a:ext cx="4251960" cy="1664208"/>
          </a:xfrm>
          <a:prstGeom prst="rect">
            <a:avLst/>
          </a:prstGeom>
          <a:solidFill>
            <a:srgbClr val="FFFFFF"/>
          </a:solidFill>
          <a:ln w="12700">
            <a:solidFill>
              <a:srgbClr val="D0D8E4"/>
            </a:solidFill>
            <a:prstDash val="solid"/>
          </a:ln>
          <a:effectLst>
            <a:outerShdw sx="100000" sy="100000" kx="0" ky="0" algn="bl" rotWithShape="0" blurRad="50800" dist="25400" dir="8100000">
              <a:srgbClr val="000000">
                <a:alpha val="7000"/>
              </a:srgbClr>
            </a:outerShdw>
          </a:effectLst>
        </p:spPr>
      </p:sp>
      <p:sp>
        <p:nvSpPr>
          <p:cNvPr id="31" name="Shape 29"/>
          <p:cNvSpPr/>
          <p:nvPr/>
        </p:nvSpPr>
        <p:spPr>
          <a:xfrm>
            <a:off x="457200" y="2971800"/>
            <a:ext cx="4251960" cy="320040"/>
          </a:xfrm>
          <a:prstGeom prst="rect">
            <a:avLst/>
          </a:prstGeom>
          <a:solidFill>
            <a:srgbClr val="2E7D32"/>
          </a:solidFill>
          <a:ln w="12700">
            <a:solidFill>
              <a:srgbClr val="2E7D32"/>
            </a:solidFill>
            <a:prstDash val="solid"/>
          </a:ln>
        </p:spPr>
      </p:sp>
      <p:sp>
        <p:nvSpPr>
          <p:cNvPr id="32" name="Text 30"/>
          <p:cNvSpPr/>
          <p:nvPr/>
        </p:nvSpPr>
        <p:spPr>
          <a:xfrm>
            <a:off x="566928" y="3026664"/>
            <a:ext cx="2743200" cy="210312"/>
          </a:xfrm>
          <a:prstGeom prst="rect">
            <a:avLst/>
          </a:prstGeom>
          <a:noFill/>
          <a:ln/>
        </p:spPr>
        <p:txBody>
          <a:bodyPr wrap="square" lIns="0" tIns="0" rIns="0" bIns="0" rtlCol="0" anchor="ctr"/>
          <a:lstStyle/>
          <a:p>
            <a:pPr indent="0" marL="0">
              <a:buNone/>
            </a:pPr>
            <a:r>
              <a:rPr lang="en-US" sz="650" b="1" dirty="0">
                <a:solidFill>
                  <a:srgbClr val="FFFFFF"/>
                </a:solidFill>
              </a:rPr>
              <a:t>SUBSCRIPTION — 28% OF REVENUE</a:t>
            </a:r>
            <a:endParaRPr lang="en-US" sz="650" dirty="0"/>
          </a:p>
        </p:txBody>
      </p:sp>
      <p:sp>
        <p:nvSpPr>
          <p:cNvPr id="33" name="Text 31"/>
          <p:cNvSpPr/>
          <p:nvPr/>
        </p:nvSpPr>
        <p:spPr>
          <a:xfrm>
            <a:off x="3108960" y="3026664"/>
            <a:ext cx="1463040" cy="210312"/>
          </a:xfrm>
          <a:prstGeom prst="rect">
            <a:avLst/>
          </a:prstGeom>
          <a:noFill/>
          <a:ln/>
        </p:spPr>
        <p:txBody>
          <a:bodyPr wrap="square" lIns="0" tIns="0" rIns="0" bIns="0" rtlCol="0" anchor="ctr"/>
          <a:lstStyle/>
          <a:p>
            <a:pPr algn="r" indent="0" marL="0">
              <a:buNone/>
            </a:pPr>
            <a:r>
              <a:rPr lang="en-US" sz="850" b="1" dirty="0">
                <a:solidFill>
                  <a:srgbClr val="FFFFFF"/>
                </a:solidFill>
              </a:rPr>
              <a:t>$29/month</a:t>
            </a:r>
            <a:endParaRPr lang="en-US" sz="850" dirty="0"/>
          </a:p>
        </p:txBody>
      </p:sp>
      <p:sp>
        <p:nvSpPr>
          <p:cNvPr id="34" name="Text 32"/>
          <p:cNvSpPr/>
          <p:nvPr/>
        </p:nvSpPr>
        <p:spPr>
          <a:xfrm>
            <a:off x="566928" y="3355848"/>
            <a:ext cx="4023360" cy="274320"/>
          </a:xfrm>
          <a:prstGeom prst="rect">
            <a:avLst/>
          </a:prstGeom>
          <a:noFill/>
          <a:ln/>
        </p:spPr>
        <p:txBody>
          <a:bodyPr wrap="square" lIns="0" tIns="0" rIns="0" bIns="0" rtlCol="0" anchor="ctr"/>
          <a:lstStyle/>
          <a:p>
            <a:pPr indent="0" marL="0">
              <a:buNone/>
            </a:pPr>
            <a:r>
              <a:rPr lang="en-US" sz="1100" b="1" dirty="0">
                <a:solidFill>
                  <a:srgbClr val="1B2D55"/>
                </a:solidFill>
              </a:rPr>
              <a:t>Stride Studio™ Membership</a:t>
            </a:r>
            <a:endParaRPr lang="en-US" sz="1100" dirty="0"/>
          </a:p>
        </p:txBody>
      </p:sp>
      <p:sp>
        <p:nvSpPr>
          <p:cNvPr id="35" name="Shape 33"/>
          <p:cNvSpPr/>
          <p:nvPr/>
        </p:nvSpPr>
        <p:spPr>
          <a:xfrm>
            <a:off x="594360" y="3721608"/>
            <a:ext cx="73152" cy="73152"/>
          </a:xfrm>
          <a:prstGeom prst="oval">
            <a:avLst/>
          </a:prstGeom>
          <a:solidFill>
            <a:srgbClr val="2E7D32"/>
          </a:solidFill>
          <a:ln w="12700">
            <a:solidFill>
              <a:srgbClr val="2E7D32"/>
            </a:solidFill>
            <a:prstDash val="solid"/>
          </a:ln>
        </p:spPr>
      </p:sp>
      <p:sp>
        <p:nvSpPr>
          <p:cNvPr id="36" name="Text 34"/>
          <p:cNvSpPr/>
          <p:nvPr/>
        </p:nvSpPr>
        <p:spPr>
          <a:xfrm>
            <a:off x="731520" y="3675888"/>
            <a:ext cx="3840480" cy="237744"/>
          </a:xfrm>
          <a:prstGeom prst="rect">
            <a:avLst/>
          </a:prstGeom>
          <a:noFill/>
          <a:ln/>
        </p:spPr>
        <p:txBody>
          <a:bodyPr wrap="square" lIns="0" tIns="0" rIns="0" bIns="0" rtlCol="0" anchor="ctr"/>
          <a:lstStyle/>
          <a:p>
            <a:pPr indent="0" marL="0">
              <a:buNone/>
            </a:pPr>
            <a:r>
              <a:rPr lang="en-US" sz="750" dirty="0">
                <a:solidFill>
                  <a:srgbClr val="4A5568"/>
                </a:solidFill>
              </a:rPr>
              <a:t>62K active members; $21.7M ARR growing ~55% YoY</a:t>
            </a:r>
            <a:endParaRPr lang="en-US" sz="750" dirty="0"/>
          </a:p>
        </p:txBody>
      </p:sp>
      <p:sp>
        <p:nvSpPr>
          <p:cNvPr id="37" name="Shape 35"/>
          <p:cNvSpPr/>
          <p:nvPr/>
        </p:nvSpPr>
        <p:spPr>
          <a:xfrm>
            <a:off x="594360" y="3995928"/>
            <a:ext cx="73152" cy="73152"/>
          </a:xfrm>
          <a:prstGeom prst="oval">
            <a:avLst/>
          </a:prstGeom>
          <a:solidFill>
            <a:srgbClr val="2E7D32"/>
          </a:solidFill>
          <a:ln w="12700">
            <a:solidFill>
              <a:srgbClr val="2E7D32"/>
            </a:solidFill>
            <a:prstDash val="solid"/>
          </a:ln>
        </p:spPr>
      </p:sp>
      <p:sp>
        <p:nvSpPr>
          <p:cNvPr id="38" name="Text 36"/>
          <p:cNvSpPr/>
          <p:nvPr/>
        </p:nvSpPr>
        <p:spPr>
          <a:xfrm>
            <a:off x="731520" y="3950208"/>
            <a:ext cx="3840480" cy="237744"/>
          </a:xfrm>
          <a:prstGeom prst="rect">
            <a:avLst/>
          </a:prstGeom>
          <a:noFill/>
          <a:ln/>
        </p:spPr>
        <p:txBody>
          <a:bodyPr wrap="square" lIns="0" tIns="0" rIns="0" bIns="0" rtlCol="0" anchor="ctr"/>
          <a:lstStyle/>
          <a:p>
            <a:pPr indent="0" marL="0">
              <a:buNone/>
            </a:pPr>
            <a:r>
              <a:rPr lang="en-US" sz="750" dirty="0">
                <a:solidFill>
                  <a:srgbClr val="4A5568"/>
                </a:solidFill>
              </a:rPr>
              <a:t>Includes: weekly virtual coaching, styling sessions, early drop access, free exchanges</a:t>
            </a:r>
            <a:endParaRPr lang="en-US" sz="750" dirty="0"/>
          </a:p>
        </p:txBody>
      </p:sp>
      <p:sp>
        <p:nvSpPr>
          <p:cNvPr id="39" name="Shape 37"/>
          <p:cNvSpPr/>
          <p:nvPr/>
        </p:nvSpPr>
        <p:spPr>
          <a:xfrm>
            <a:off x="594360" y="4270248"/>
            <a:ext cx="73152" cy="73152"/>
          </a:xfrm>
          <a:prstGeom prst="oval">
            <a:avLst/>
          </a:prstGeom>
          <a:solidFill>
            <a:srgbClr val="2E7D32"/>
          </a:solidFill>
          <a:ln w="12700">
            <a:solidFill>
              <a:srgbClr val="2E7D32"/>
            </a:solidFill>
            <a:prstDash val="solid"/>
          </a:ln>
        </p:spPr>
      </p:sp>
      <p:sp>
        <p:nvSpPr>
          <p:cNvPr id="40" name="Text 38"/>
          <p:cNvSpPr/>
          <p:nvPr/>
        </p:nvSpPr>
        <p:spPr>
          <a:xfrm>
            <a:off x="731520" y="4224528"/>
            <a:ext cx="3840480" cy="237744"/>
          </a:xfrm>
          <a:prstGeom prst="rect">
            <a:avLst/>
          </a:prstGeom>
          <a:noFill/>
          <a:ln/>
        </p:spPr>
        <p:txBody>
          <a:bodyPr wrap="square" lIns="0" tIns="0" rIns="0" bIns="0" rtlCol="0" anchor="ctr"/>
          <a:lstStyle/>
          <a:p>
            <a:pPr indent="0" marL="0">
              <a:buNone/>
            </a:pPr>
            <a:r>
              <a:rPr lang="en-US" sz="750" dirty="0">
                <a:solidFill>
                  <a:srgbClr val="4A5568"/>
                </a:solidFill>
              </a:rPr>
              <a:t>115% NRR — members upsell to annual plan ($249) at 38% rate</a:t>
            </a:r>
            <a:endParaRPr lang="en-US" sz="750" dirty="0"/>
          </a:p>
        </p:txBody>
      </p:sp>
      <p:sp>
        <p:nvSpPr>
          <p:cNvPr id="41" name="Shape 39"/>
          <p:cNvSpPr/>
          <p:nvPr/>
        </p:nvSpPr>
        <p:spPr>
          <a:xfrm>
            <a:off x="4864608" y="2971800"/>
            <a:ext cx="4251960" cy="1664208"/>
          </a:xfrm>
          <a:prstGeom prst="rect">
            <a:avLst/>
          </a:prstGeom>
          <a:solidFill>
            <a:srgbClr val="FFFFFF"/>
          </a:solidFill>
          <a:ln w="12700">
            <a:solidFill>
              <a:srgbClr val="D0D8E4"/>
            </a:solidFill>
            <a:prstDash val="solid"/>
          </a:ln>
          <a:effectLst>
            <a:outerShdw sx="100000" sy="100000" kx="0" ky="0" algn="bl" rotWithShape="0" blurRad="50800" dist="25400" dir="8100000">
              <a:srgbClr val="000000">
                <a:alpha val="7000"/>
              </a:srgbClr>
            </a:outerShdw>
          </a:effectLst>
        </p:spPr>
      </p:sp>
      <p:sp>
        <p:nvSpPr>
          <p:cNvPr id="42" name="Shape 40"/>
          <p:cNvSpPr/>
          <p:nvPr/>
        </p:nvSpPr>
        <p:spPr>
          <a:xfrm>
            <a:off x="4864608" y="2971800"/>
            <a:ext cx="4251960" cy="320040"/>
          </a:xfrm>
          <a:prstGeom prst="rect">
            <a:avLst/>
          </a:prstGeom>
          <a:solidFill>
            <a:srgbClr val="C8A83C"/>
          </a:solidFill>
          <a:ln w="12700">
            <a:solidFill>
              <a:srgbClr val="C8A83C"/>
            </a:solidFill>
            <a:prstDash val="solid"/>
          </a:ln>
        </p:spPr>
      </p:sp>
      <p:sp>
        <p:nvSpPr>
          <p:cNvPr id="43" name="Text 41"/>
          <p:cNvSpPr/>
          <p:nvPr/>
        </p:nvSpPr>
        <p:spPr>
          <a:xfrm>
            <a:off x="4974336" y="3026664"/>
            <a:ext cx="2743200" cy="210312"/>
          </a:xfrm>
          <a:prstGeom prst="rect">
            <a:avLst/>
          </a:prstGeom>
          <a:noFill/>
          <a:ln/>
        </p:spPr>
        <p:txBody>
          <a:bodyPr wrap="square" lIns="0" tIns="0" rIns="0" bIns="0" rtlCol="0" anchor="ctr"/>
          <a:lstStyle/>
          <a:p>
            <a:pPr indent="0" marL="0">
              <a:buNone/>
            </a:pPr>
            <a:r>
              <a:rPr lang="en-US" sz="650" b="1" dirty="0">
                <a:solidFill>
                  <a:srgbClr val="FFFFFF"/>
                </a:solidFill>
              </a:rPr>
              <a:t>EMERGING — 11% OF REVENUE</a:t>
            </a:r>
            <a:endParaRPr lang="en-US" sz="650" dirty="0"/>
          </a:p>
        </p:txBody>
      </p:sp>
      <p:sp>
        <p:nvSpPr>
          <p:cNvPr id="44" name="Text 42"/>
          <p:cNvSpPr/>
          <p:nvPr/>
        </p:nvSpPr>
        <p:spPr>
          <a:xfrm>
            <a:off x="7516368" y="3026664"/>
            <a:ext cx="1463040" cy="210312"/>
          </a:xfrm>
          <a:prstGeom prst="rect">
            <a:avLst/>
          </a:prstGeom>
          <a:noFill/>
          <a:ln/>
        </p:spPr>
        <p:txBody>
          <a:bodyPr wrap="square" lIns="0" tIns="0" rIns="0" bIns="0" rtlCol="0" anchor="ctr"/>
          <a:lstStyle/>
          <a:p>
            <a:pPr algn="r" indent="0" marL="0">
              <a:buNone/>
            </a:pPr>
            <a:r>
              <a:rPr lang="en-US" sz="850" b="1" dirty="0">
                <a:solidFill>
                  <a:srgbClr val="FFFFFF"/>
                </a:solidFill>
              </a:rPr>
              <a:t>$58–225/unit</a:t>
            </a:r>
            <a:endParaRPr lang="en-US" sz="850" dirty="0"/>
          </a:p>
        </p:txBody>
      </p:sp>
      <p:sp>
        <p:nvSpPr>
          <p:cNvPr id="45" name="Text 43"/>
          <p:cNvSpPr/>
          <p:nvPr/>
        </p:nvSpPr>
        <p:spPr>
          <a:xfrm>
            <a:off x="4974336" y="3355848"/>
            <a:ext cx="4023360" cy="274320"/>
          </a:xfrm>
          <a:prstGeom prst="rect">
            <a:avLst/>
          </a:prstGeom>
          <a:noFill/>
          <a:ln/>
        </p:spPr>
        <p:txBody>
          <a:bodyPr wrap="square" lIns="0" tIns="0" rIns="0" bIns="0" rtlCol="0" anchor="ctr"/>
          <a:lstStyle/>
          <a:p>
            <a:pPr indent="0" marL="0">
              <a:buNone/>
            </a:pPr>
            <a:r>
              <a:rPr lang="en-US" sz="1100" b="1" dirty="0">
                <a:solidFill>
                  <a:srgbClr val="1B2D55"/>
                </a:solidFill>
              </a:rPr>
              <a:t>Accessories &amp; Outerwear</a:t>
            </a:r>
            <a:endParaRPr lang="en-US" sz="1100" dirty="0"/>
          </a:p>
        </p:txBody>
      </p:sp>
      <p:sp>
        <p:nvSpPr>
          <p:cNvPr id="46" name="Shape 44"/>
          <p:cNvSpPr/>
          <p:nvPr/>
        </p:nvSpPr>
        <p:spPr>
          <a:xfrm>
            <a:off x="5001768" y="3721608"/>
            <a:ext cx="73152" cy="73152"/>
          </a:xfrm>
          <a:prstGeom prst="oval">
            <a:avLst/>
          </a:prstGeom>
          <a:solidFill>
            <a:srgbClr val="C8A83C"/>
          </a:solidFill>
          <a:ln w="12700">
            <a:solidFill>
              <a:srgbClr val="C8A83C"/>
            </a:solidFill>
            <a:prstDash val="solid"/>
          </a:ln>
        </p:spPr>
      </p:sp>
      <p:sp>
        <p:nvSpPr>
          <p:cNvPr id="47" name="Text 45"/>
          <p:cNvSpPr/>
          <p:nvPr/>
        </p:nvSpPr>
        <p:spPr>
          <a:xfrm>
            <a:off x="5138928" y="3675888"/>
            <a:ext cx="3840480" cy="237744"/>
          </a:xfrm>
          <a:prstGeom prst="rect">
            <a:avLst/>
          </a:prstGeom>
          <a:noFill/>
          <a:ln/>
        </p:spPr>
        <p:txBody>
          <a:bodyPr wrap="square" lIns="0" tIns="0" rIns="0" bIns="0" rtlCol="0" anchor="ctr"/>
          <a:lstStyle/>
          <a:p>
            <a:pPr indent="0" marL="0">
              <a:buNone/>
            </a:pPr>
            <a:r>
              <a:rPr lang="en-US" sz="750" dirty="0">
                <a:solidFill>
                  <a:srgbClr val="4A5568"/>
                </a:solidFill>
              </a:rPr>
              <a:t>Water bottles, bags, and headwear: high-margin, high-attach at checkout</a:t>
            </a:r>
            <a:endParaRPr lang="en-US" sz="750" dirty="0"/>
          </a:p>
        </p:txBody>
      </p:sp>
      <p:sp>
        <p:nvSpPr>
          <p:cNvPr id="48" name="Shape 46"/>
          <p:cNvSpPr/>
          <p:nvPr/>
        </p:nvSpPr>
        <p:spPr>
          <a:xfrm>
            <a:off x="5001768" y="3995928"/>
            <a:ext cx="73152" cy="73152"/>
          </a:xfrm>
          <a:prstGeom prst="oval">
            <a:avLst/>
          </a:prstGeom>
          <a:solidFill>
            <a:srgbClr val="C8A83C"/>
          </a:solidFill>
          <a:ln w="12700">
            <a:solidFill>
              <a:srgbClr val="C8A83C"/>
            </a:solidFill>
            <a:prstDash val="solid"/>
          </a:ln>
        </p:spPr>
      </p:sp>
      <p:sp>
        <p:nvSpPr>
          <p:cNvPr id="49" name="Text 47"/>
          <p:cNvSpPr/>
          <p:nvPr/>
        </p:nvSpPr>
        <p:spPr>
          <a:xfrm>
            <a:off x="5138928" y="3950208"/>
            <a:ext cx="3840480" cy="237744"/>
          </a:xfrm>
          <a:prstGeom prst="rect">
            <a:avLst/>
          </a:prstGeom>
          <a:noFill/>
          <a:ln/>
        </p:spPr>
        <p:txBody>
          <a:bodyPr wrap="square" lIns="0" tIns="0" rIns="0" bIns="0" rtlCol="0" anchor="ctr"/>
          <a:lstStyle/>
          <a:p>
            <a:pPr indent="0" marL="0">
              <a:buNone/>
            </a:pPr>
            <a:r>
              <a:rPr lang="en-US" sz="750" dirty="0">
                <a:solidFill>
                  <a:srgbClr val="4A5568"/>
                </a:solidFill>
              </a:rPr>
              <a:t>Stride Shell jacket launched Q4 2020 — $225, sold out in 72 hours</a:t>
            </a:r>
            <a:endParaRPr lang="en-US" sz="750" dirty="0"/>
          </a:p>
        </p:txBody>
      </p:sp>
      <p:sp>
        <p:nvSpPr>
          <p:cNvPr id="50" name="Shape 48"/>
          <p:cNvSpPr/>
          <p:nvPr/>
        </p:nvSpPr>
        <p:spPr>
          <a:xfrm>
            <a:off x="5001768" y="4270248"/>
            <a:ext cx="73152" cy="73152"/>
          </a:xfrm>
          <a:prstGeom prst="oval">
            <a:avLst/>
          </a:prstGeom>
          <a:solidFill>
            <a:srgbClr val="C8A83C"/>
          </a:solidFill>
          <a:ln w="12700">
            <a:solidFill>
              <a:srgbClr val="C8A83C"/>
            </a:solidFill>
            <a:prstDash val="solid"/>
          </a:ln>
        </p:spPr>
      </p:sp>
      <p:sp>
        <p:nvSpPr>
          <p:cNvPr id="51" name="Text 49"/>
          <p:cNvSpPr/>
          <p:nvPr/>
        </p:nvSpPr>
        <p:spPr>
          <a:xfrm>
            <a:off x="5138928" y="4224528"/>
            <a:ext cx="3840480" cy="237744"/>
          </a:xfrm>
          <a:prstGeom prst="rect">
            <a:avLst/>
          </a:prstGeom>
          <a:noFill/>
          <a:ln/>
        </p:spPr>
        <p:txBody>
          <a:bodyPr wrap="square" lIns="0" tIns="0" rIns="0" bIns="0" rtlCol="0" anchor="ctr"/>
          <a:lstStyle/>
          <a:p>
            <a:pPr indent="0" marL="0">
              <a:buNone/>
            </a:pPr>
            <a:r>
              <a:rPr lang="en-US" sz="750" dirty="0">
                <a:solidFill>
                  <a:srgbClr val="4A5568"/>
                </a:solidFill>
              </a:rPr>
              <a:t>Planned: Stride Yoga Mat ($95) and recovery footwear in 2022</a:t>
            </a:r>
            <a:endParaRPr lang="en-US" sz="750" dirty="0"/>
          </a:p>
        </p:txBody>
      </p:sp>
      <p:sp>
        <p:nvSpPr>
          <p:cNvPr id="52" name="Shape 50"/>
          <p:cNvSpPr/>
          <p:nvPr/>
        </p:nvSpPr>
        <p:spPr>
          <a:xfrm>
            <a:off x="0" y="4892040"/>
            <a:ext cx="9144000" cy="251460"/>
          </a:xfrm>
          <a:prstGeom prst="rect">
            <a:avLst/>
          </a:prstGeom>
          <a:solidFill>
            <a:srgbClr val="F4F6FA"/>
          </a:solidFill>
          <a:ln w="12700">
            <a:solidFill>
              <a:srgbClr val="D0D8E4"/>
            </a:solidFill>
            <a:prstDash val="solid"/>
          </a:ln>
        </p:spPr>
      </p:sp>
      <p:sp>
        <p:nvSpPr>
          <p:cNvPr id="53" name="Text 51"/>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54" name="Text 52"/>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5 / 14</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Houlihan Lokey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MARKET OPPORTUNITY</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Market Opportunity</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Large and growing addressable market</a:t>
            </a:r>
            <a:endParaRPr lang="en-US" sz="950" dirty="0"/>
          </a:p>
        </p:txBody>
      </p:sp>
      <p:sp>
        <p:nvSpPr>
          <p:cNvPr id="8" name="Shape 6"/>
          <p:cNvSpPr/>
          <p:nvPr/>
        </p:nvSpPr>
        <p:spPr>
          <a:xfrm>
            <a:off x="457200" y="1280160"/>
            <a:ext cx="8229600" cy="640080"/>
          </a:xfrm>
          <a:prstGeom prst="rect">
            <a:avLst/>
          </a:prstGeom>
          <a:solidFill>
            <a:srgbClr val="1B2D55"/>
          </a:solidFill>
          <a:ln w="12700">
            <a:solidFill>
              <a:srgbClr val="1B2D55"/>
            </a:solidFill>
            <a:prstDash val="solid"/>
          </a:ln>
        </p:spPr>
      </p:sp>
      <p:sp>
        <p:nvSpPr>
          <p:cNvPr id="9" name="Text 7"/>
          <p:cNvSpPr/>
          <p:nvPr/>
        </p:nvSpPr>
        <p:spPr>
          <a:xfrm>
            <a:off x="594360" y="1371600"/>
            <a:ext cx="6766560" cy="219456"/>
          </a:xfrm>
          <a:prstGeom prst="rect">
            <a:avLst/>
          </a:prstGeom>
          <a:noFill/>
          <a:ln/>
        </p:spPr>
        <p:txBody>
          <a:bodyPr wrap="square" lIns="0" tIns="0" rIns="0" bIns="0" rtlCol="0" anchor="ctr"/>
          <a:lstStyle/>
          <a:p>
            <a:pPr indent="0" marL="0">
              <a:buNone/>
            </a:pPr>
            <a:r>
              <a:rPr lang="en-US" sz="950" b="1" dirty="0">
                <a:solidFill>
                  <a:srgbClr val="FFFFFF"/>
                </a:solidFill>
              </a:rPr>
              <a:t>Global Activewear Market</a:t>
            </a:r>
            <a:endParaRPr lang="en-US" sz="950" dirty="0"/>
          </a:p>
        </p:txBody>
      </p:sp>
      <p:sp>
        <p:nvSpPr>
          <p:cNvPr id="10" name="Text 8"/>
          <p:cNvSpPr/>
          <p:nvPr/>
        </p:nvSpPr>
        <p:spPr>
          <a:xfrm>
            <a:off x="594360" y="1609344"/>
            <a:ext cx="6766560" cy="256032"/>
          </a:xfrm>
          <a:prstGeom prst="rect">
            <a:avLst/>
          </a:prstGeom>
          <a:noFill/>
          <a:ln/>
        </p:spPr>
        <p:txBody>
          <a:bodyPr wrap="square" lIns="0" tIns="0" rIns="0" bIns="0" rtlCol="0" anchor="ctr"/>
          <a:lstStyle/>
          <a:p>
            <a:pPr indent="0" marL="0">
              <a:buNone/>
            </a:pPr>
            <a:r>
              <a:rPr lang="en-US" sz="750" dirty="0">
                <a:solidFill>
                  <a:srgbClr val="CCDDE8"/>
                </a:solidFill>
              </a:rPr>
              <a:t>Growing 8.5% CAGR through 2026; athleisure penetration accelerating post-COVID</a:t>
            </a:r>
            <a:endParaRPr lang="en-US" sz="750" dirty="0"/>
          </a:p>
        </p:txBody>
      </p:sp>
      <p:sp>
        <p:nvSpPr>
          <p:cNvPr id="11" name="Text 9"/>
          <p:cNvSpPr/>
          <p:nvPr/>
        </p:nvSpPr>
        <p:spPr>
          <a:xfrm>
            <a:off x="7360920" y="1371600"/>
            <a:ext cx="1188720" cy="457200"/>
          </a:xfrm>
          <a:prstGeom prst="rect">
            <a:avLst/>
          </a:prstGeom>
          <a:noFill/>
          <a:ln/>
        </p:spPr>
        <p:txBody>
          <a:bodyPr wrap="square" lIns="0" tIns="0" rIns="0" bIns="0" rtlCol="0" anchor="ctr"/>
          <a:lstStyle/>
          <a:p>
            <a:pPr algn="r" indent="0" marL="0">
              <a:buNone/>
            </a:pPr>
            <a:r>
              <a:rPr lang="en-US" sz="1800" b="1" dirty="0">
                <a:solidFill>
                  <a:srgbClr val="C8A83C"/>
                </a:solidFill>
              </a:rPr>
              <a:t>$380B+</a:t>
            </a:r>
            <a:endParaRPr lang="en-US" sz="1800" dirty="0"/>
          </a:p>
        </p:txBody>
      </p:sp>
      <p:sp>
        <p:nvSpPr>
          <p:cNvPr id="12" name="Shape 10"/>
          <p:cNvSpPr/>
          <p:nvPr/>
        </p:nvSpPr>
        <p:spPr>
          <a:xfrm>
            <a:off x="1143000" y="2011680"/>
            <a:ext cx="6858000" cy="640080"/>
          </a:xfrm>
          <a:prstGeom prst="rect">
            <a:avLst/>
          </a:prstGeom>
          <a:solidFill>
            <a:srgbClr val="2B5BAE"/>
          </a:solidFill>
          <a:ln w="12700">
            <a:solidFill>
              <a:srgbClr val="2B5BAE"/>
            </a:solidFill>
            <a:prstDash val="solid"/>
          </a:ln>
        </p:spPr>
      </p:sp>
      <p:sp>
        <p:nvSpPr>
          <p:cNvPr id="13" name="Text 11"/>
          <p:cNvSpPr/>
          <p:nvPr/>
        </p:nvSpPr>
        <p:spPr>
          <a:xfrm>
            <a:off x="1280160" y="2103120"/>
            <a:ext cx="5394960" cy="219456"/>
          </a:xfrm>
          <a:prstGeom prst="rect">
            <a:avLst/>
          </a:prstGeom>
          <a:noFill/>
          <a:ln/>
        </p:spPr>
        <p:txBody>
          <a:bodyPr wrap="square" lIns="0" tIns="0" rIns="0" bIns="0" rtlCol="0" anchor="ctr"/>
          <a:lstStyle/>
          <a:p>
            <a:pPr indent="0" marL="0">
              <a:buNone/>
            </a:pPr>
            <a:r>
              <a:rPr lang="en-US" sz="950" b="1" dirty="0">
                <a:solidFill>
                  <a:srgbClr val="FFFFFF"/>
                </a:solidFill>
              </a:rPr>
              <a:t>North America Premium Activewear</a:t>
            </a:r>
            <a:endParaRPr lang="en-US" sz="950" dirty="0"/>
          </a:p>
        </p:txBody>
      </p:sp>
      <p:sp>
        <p:nvSpPr>
          <p:cNvPr id="14" name="Text 12"/>
          <p:cNvSpPr/>
          <p:nvPr/>
        </p:nvSpPr>
        <p:spPr>
          <a:xfrm>
            <a:off x="1280160" y="2340864"/>
            <a:ext cx="5394960" cy="256032"/>
          </a:xfrm>
          <a:prstGeom prst="rect">
            <a:avLst/>
          </a:prstGeom>
          <a:noFill/>
          <a:ln/>
        </p:spPr>
        <p:txBody>
          <a:bodyPr wrap="square" lIns="0" tIns="0" rIns="0" bIns="0" rtlCol="0" anchor="ctr"/>
          <a:lstStyle/>
          <a:p>
            <a:pPr indent="0" marL="0">
              <a:buNone/>
            </a:pPr>
            <a:r>
              <a:rPr lang="en-US" sz="750" dirty="0">
                <a:solidFill>
                  <a:srgbClr val="CCDDE8"/>
                </a:solidFill>
              </a:rPr>
              <a:t>$100+ ASP segment; growing 14% annually as casualization of dress continues</a:t>
            </a:r>
            <a:endParaRPr lang="en-US" sz="750" dirty="0"/>
          </a:p>
        </p:txBody>
      </p:sp>
      <p:sp>
        <p:nvSpPr>
          <p:cNvPr id="15" name="Text 13"/>
          <p:cNvSpPr/>
          <p:nvPr/>
        </p:nvSpPr>
        <p:spPr>
          <a:xfrm>
            <a:off x="6675120" y="2103120"/>
            <a:ext cx="1188720" cy="457200"/>
          </a:xfrm>
          <a:prstGeom prst="rect">
            <a:avLst/>
          </a:prstGeom>
          <a:noFill/>
          <a:ln/>
        </p:spPr>
        <p:txBody>
          <a:bodyPr wrap="square" lIns="0" tIns="0" rIns="0" bIns="0" rtlCol="0" anchor="ctr"/>
          <a:lstStyle/>
          <a:p>
            <a:pPr algn="r" indent="0" marL="0">
              <a:buNone/>
            </a:pPr>
            <a:r>
              <a:rPr lang="en-US" sz="1800" b="1" dirty="0">
                <a:solidFill>
                  <a:srgbClr val="C8A83C"/>
                </a:solidFill>
              </a:rPr>
              <a:t>$42B</a:t>
            </a:r>
            <a:endParaRPr lang="en-US" sz="1800" dirty="0"/>
          </a:p>
        </p:txBody>
      </p:sp>
      <p:sp>
        <p:nvSpPr>
          <p:cNvPr id="16" name="Shape 14"/>
          <p:cNvSpPr/>
          <p:nvPr/>
        </p:nvSpPr>
        <p:spPr>
          <a:xfrm>
            <a:off x="1828800" y="2743200"/>
            <a:ext cx="5486400" cy="640080"/>
          </a:xfrm>
          <a:prstGeom prst="rect">
            <a:avLst/>
          </a:prstGeom>
          <a:solidFill>
            <a:srgbClr val="2E5FA0"/>
          </a:solidFill>
          <a:ln w="12700">
            <a:solidFill>
              <a:srgbClr val="2E5FA0"/>
            </a:solidFill>
            <a:prstDash val="solid"/>
          </a:ln>
        </p:spPr>
      </p:sp>
      <p:sp>
        <p:nvSpPr>
          <p:cNvPr id="17" name="Text 15"/>
          <p:cNvSpPr/>
          <p:nvPr/>
        </p:nvSpPr>
        <p:spPr>
          <a:xfrm>
            <a:off x="1965960" y="2834640"/>
            <a:ext cx="4023360" cy="219456"/>
          </a:xfrm>
          <a:prstGeom prst="rect">
            <a:avLst/>
          </a:prstGeom>
          <a:noFill/>
          <a:ln/>
        </p:spPr>
        <p:txBody>
          <a:bodyPr wrap="square" lIns="0" tIns="0" rIns="0" bIns="0" rtlCol="0" anchor="ctr"/>
          <a:lstStyle/>
          <a:p>
            <a:pPr indent="0" marL="0">
              <a:buNone/>
            </a:pPr>
            <a:r>
              <a:rPr lang="en-US" sz="950" b="1" dirty="0">
                <a:solidFill>
                  <a:srgbClr val="FFFFFF"/>
                </a:solidFill>
              </a:rPr>
              <a:t>DTC Sustainable Activewear</a:t>
            </a:r>
            <a:endParaRPr lang="en-US" sz="950" dirty="0"/>
          </a:p>
        </p:txBody>
      </p:sp>
      <p:sp>
        <p:nvSpPr>
          <p:cNvPr id="18" name="Text 16"/>
          <p:cNvSpPr/>
          <p:nvPr/>
        </p:nvSpPr>
        <p:spPr>
          <a:xfrm>
            <a:off x="1965960" y="3072384"/>
            <a:ext cx="4023360" cy="256032"/>
          </a:xfrm>
          <a:prstGeom prst="rect">
            <a:avLst/>
          </a:prstGeom>
          <a:noFill/>
          <a:ln/>
        </p:spPr>
        <p:txBody>
          <a:bodyPr wrap="square" lIns="0" tIns="0" rIns="0" bIns="0" rtlCol="0" anchor="ctr"/>
          <a:lstStyle/>
          <a:p>
            <a:pPr indent="0" marL="0">
              <a:buNone/>
            </a:pPr>
            <a:r>
              <a:rPr lang="en-US" sz="750" dirty="0">
                <a:solidFill>
                  <a:srgbClr val="CCDDE8"/>
                </a:solidFill>
              </a:rPr>
              <a:t>Fastest-growing sub-segment; &lt;3% household penetration for sustainable-first brands</a:t>
            </a:r>
            <a:endParaRPr lang="en-US" sz="750" dirty="0"/>
          </a:p>
        </p:txBody>
      </p:sp>
      <p:sp>
        <p:nvSpPr>
          <p:cNvPr id="19" name="Text 17"/>
          <p:cNvSpPr/>
          <p:nvPr/>
        </p:nvSpPr>
        <p:spPr>
          <a:xfrm>
            <a:off x="5989320" y="2834640"/>
            <a:ext cx="1188720" cy="457200"/>
          </a:xfrm>
          <a:prstGeom prst="rect">
            <a:avLst/>
          </a:prstGeom>
          <a:noFill/>
          <a:ln/>
        </p:spPr>
        <p:txBody>
          <a:bodyPr wrap="square" lIns="0" tIns="0" rIns="0" bIns="0" rtlCol="0" anchor="ctr"/>
          <a:lstStyle/>
          <a:p>
            <a:pPr algn="r" indent="0" marL="0">
              <a:buNone/>
            </a:pPr>
            <a:r>
              <a:rPr lang="en-US" sz="1800" b="1" dirty="0">
                <a:solidFill>
                  <a:srgbClr val="C8A83C"/>
                </a:solidFill>
              </a:rPr>
              <a:t>$8B</a:t>
            </a:r>
            <a:endParaRPr lang="en-US" sz="1800" dirty="0"/>
          </a:p>
        </p:txBody>
      </p:sp>
      <p:sp>
        <p:nvSpPr>
          <p:cNvPr id="20" name="Shape 18"/>
          <p:cNvSpPr/>
          <p:nvPr/>
        </p:nvSpPr>
        <p:spPr>
          <a:xfrm>
            <a:off x="2514600" y="3474720"/>
            <a:ext cx="4114800" cy="640080"/>
          </a:xfrm>
          <a:prstGeom prst="rect">
            <a:avLst/>
          </a:prstGeom>
          <a:solidFill>
            <a:srgbClr val="C8A83C"/>
          </a:solidFill>
          <a:ln w="12700">
            <a:solidFill>
              <a:srgbClr val="C8A83C"/>
            </a:solidFill>
            <a:prstDash val="solid"/>
          </a:ln>
        </p:spPr>
      </p:sp>
      <p:sp>
        <p:nvSpPr>
          <p:cNvPr id="21" name="Text 19"/>
          <p:cNvSpPr/>
          <p:nvPr/>
        </p:nvSpPr>
        <p:spPr>
          <a:xfrm>
            <a:off x="2651760" y="3566160"/>
            <a:ext cx="2651760" cy="219456"/>
          </a:xfrm>
          <a:prstGeom prst="rect">
            <a:avLst/>
          </a:prstGeom>
          <a:noFill/>
          <a:ln/>
        </p:spPr>
        <p:txBody>
          <a:bodyPr wrap="square" lIns="0" tIns="0" rIns="0" bIns="0" rtlCol="0" anchor="ctr"/>
          <a:lstStyle/>
          <a:p>
            <a:pPr indent="0" marL="0">
              <a:buNone/>
            </a:pPr>
            <a:r>
              <a:rPr lang="en-US" sz="950" b="1" dirty="0">
                <a:solidFill>
                  <a:srgbClr val="FFFFFF"/>
                </a:solidFill>
              </a:rPr>
              <a:t>Stride's Served Market (US/CA/UK)</a:t>
            </a:r>
            <a:endParaRPr lang="en-US" sz="950" dirty="0"/>
          </a:p>
        </p:txBody>
      </p:sp>
      <p:sp>
        <p:nvSpPr>
          <p:cNvPr id="22" name="Text 20"/>
          <p:cNvSpPr/>
          <p:nvPr/>
        </p:nvSpPr>
        <p:spPr>
          <a:xfrm>
            <a:off x="2651760" y="3803904"/>
            <a:ext cx="2651760" cy="256032"/>
          </a:xfrm>
          <a:prstGeom prst="rect">
            <a:avLst/>
          </a:prstGeom>
          <a:noFill/>
          <a:ln/>
        </p:spPr>
        <p:txBody>
          <a:bodyPr wrap="square" lIns="0" tIns="0" rIns="0" bIns="0" rtlCol="0" anchor="ctr"/>
          <a:lstStyle/>
          <a:p>
            <a:pPr indent="0" marL="0">
              <a:buNone/>
            </a:pPr>
            <a:r>
              <a:rPr lang="en-US" sz="750" dirty="0">
                <a:solidFill>
                  <a:srgbClr val="CCDDE8"/>
                </a:solidFill>
              </a:rPr>
              <a:t>Stride's accessible TAM; estimated 0.8% market share today</a:t>
            </a:r>
            <a:endParaRPr lang="en-US" sz="750" dirty="0"/>
          </a:p>
        </p:txBody>
      </p:sp>
      <p:sp>
        <p:nvSpPr>
          <p:cNvPr id="23" name="Text 21"/>
          <p:cNvSpPr/>
          <p:nvPr/>
        </p:nvSpPr>
        <p:spPr>
          <a:xfrm>
            <a:off x="5303520" y="3566160"/>
            <a:ext cx="1188720" cy="457200"/>
          </a:xfrm>
          <a:prstGeom prst="rect">
            <a:avLst/>
          </a:prstGeom>
          <a:noFill/>
          <a:ln/>
        </p:spPr>
        <p:txBody>
          <a:bodyPr wrap="square" lIns="0" tIns="0" rIns="0" bIns="0" rtlCol="0" anchor="ctr"/>
          <a:lstStyle/>
          <a:p>
            <a:pPr algn="r" indent="0" marL="0">
              <a:buNone/>
            </a:pPr>
            <a:r>
              <a:rPr lang="en-US" sz="1800" b="1" dirty="0">
                <a:solidFill>
                  <a:srgbClr val="C8A83C"/>
                </a:solidFill>
              </a:rPr>
              <a:t>$3.2B</a:t>
            </a:r>
            <a:endParaRPr lang="en-US" sz="1800" dirty="0"/>
          </a:p>
        </p:txBody>
      </p:sp>
      <p:sp>
        <p:nvSpPr>
          <p:cNvPr id="24" name="Text 22"/>
          <p:cNvSpPr/>
          <p:nvPr/>
        </p:nvSpPr>
        <p:spPr>
          <a:xfrm>
            <a:off x="457200" y="4315968"/>
            <a:ext cx="8229600" cy="457200"/>
          </a:xfrm>
          <a:prstGeom prst="rect">
            <a:avLst/>
          </a:prstGeom>
          <a:noFill/>
          <a:ln/>
        </p:spPr>
        <p:txBody>
          <a:bodyPr wrap="square" lIns="0" tIns="0" rIns="0" bIns="0" rtlCol="0" anchor="ctr"/>
          <a:lstStyle/>
          <a:p>
            <a:pPr indent="0" marL="0">
              <a:buNone/>
            </a:pPr>
            <a:r>
              <a:rPr lang="en-US" sz="850" dirty="0">
                <a:solidFill>
                  <a:srgbClr val="4A5568"/>
                </a:solidFill>
              </a:rPr>
              <a:t>Market growth is driven by: consumer health-consciousness, post-COVID athleisure adoption, and DTC brand economics improving with social media maturity.</a:t>
            </a:r>
            <a:endParaRPr lang="en-US" sz="850" dirty="0"/>
          </a:p>
        </p:txBody>
      </p:sp>
      <p:sp>
        <p:nvSpPr>
          <p:cNvPr id="25" name="Shape 23"/>
          <p:cNvSpPr/>
          <p:nvPr/>
        </p:nvSpPr>
        <p:spPr>
          <a:xfrm>
            <a:off x="0" y="4892040"/>
            <a:ext cx="9144000" cy="251460"/>
          </a:xfrm>
          <a:prstGeom prst="rect">
            <a:avLst/>
          </a:prstGeom>
          <a:solidFill>
            <a:srgbClr val="F4F6FA"/>
          </a:solidFill>
          <a:ln w="12700">
            <a:solidFill>
              <a:srgbClr val="D0D8E4"/>
            </a:solidFill>
            <a:prstDash val="solid"/>
          </a:ln>
        </p:spPr>
      </p:sp>
      <p:sp>
        <p:nvSpPr>
          <p:cNvPr id="26" name="Text 2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27" name="Text 2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6 / 14</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Houlihan Lokey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BUSINESS MODEL</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Business Model &amp; Unit Economics</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Revenue mix and key operating metrics</a:t>
            </a:r>
            <a:endParaRPr lang="en-US" sz="950" dirty="0"/>
          </a:p>
        </p:txBody>
      </p:sp>
      <p:sp>
        <p:nvSpPr>
          <p:cNvPr id="8" name="Shape 6"/>
          <p:cNvSpPr/>
          <p:nvPr/>
        </p:nvSpPr>
        <p:spPr>
          <a:xfrm>
            <a:off x="457200" y="1261872"/>
            <a:ext cx="2743200" cy="3246120"/>
          </a:xfrm>
          <a:prstGeom prst="rect">
            <a:avLst/>
          </a:prstGeom>
          <a:solidFill>
            <a:srgbClr val="FFFFFF"/>
          </a:solidFill>
          <a:ln w="12700">
            <a:solidFill>
              <a:srgbClr val="D0D8E4"/>
            </a:solidFill>
            <a:prstDash val="solid"/>
          </a:ln>
          <a:effectLst>
            <a:outerShdw sx="100000" sy="100000" kx="0" ky="0" algn="bl" rotWithShape="0" blurRad="50800" dist="25400" dir="8100000">
              <a:srgbClr val="000000">
                <a:alpha val="7000"/>
              </a:srgbClr>
            </a:outerShdw>
          </a:effectLst>
        </p:spPr>
      </p:sp>
      <p:sp>
        <p:nvSpPr>
          <p:cNvPr id="9" name="Shape 7"/>
          <p:cNvSpPr/>
          <p:nvPr/>
        </p:nvSpPr>
        <p:spPr>
          <a:xfrm>
            <a:off x="457200" y="1261872"/>
            <a:ext cx="2743200" cy="457200"/>
          </a:xfrm>
          <a:prstGeom prst="rect">
            <a:avLst/>
          </a:prstGeom>
          <a:solidFill>
            <a:srgbClr val="1B2D55"/>
          </a:solidFill>
          <a:ln w="12700">
            <a:solidFill>
              <a:srgbClr val="1B2D55"/>
            </a:solidFill>
            <a:prstDash val="solid"/>
          </a:ln>
        </p:spPr>
      </p:sp>
      <p:sp>
        <p:nvSpPr>
          <p:cNvPr id="10" name="Text 8"/>
          <p:cNvSpPr/>
          <p:nvPr/>
        </p:nvSpPr>
        <p:spPr>
          <a:xfrm>
            <a:off x="566928" y="1280160"/>
            <a:ext cx="1737360" cy="420624"/>
          </a:xfrm>
          <a:prstGeom prst="rect">
            <a:avLst/>
          </a:prstGeom>
          <a:noFill/>
          <a:ln/>
        </p:spPr>
        <p:txBody>
          <a:bodyPr wrap="square" lIns="0" tIns="0" rIns="0" bIns="0" rtlCol="0" anchor="ctr"/>
          <a:lstStyle/>
          <a:p>
            <a:pPr indent="0" marL="0">
              <a:buNone/>
            </a:pPr>
            <a:r>
              <a:rPr lang="en-US" sz="850" b="1" dirty="0">
                <a:solidFill>
                  <a:srgbClr val="FFFFFF"/>
                </a:solidFill>
              </a:rPr>
              <a:t>Direct-to-Consumer</a:t>
            </a:r>
            <a:endParaRPr lang="en-US" sz="850" dirty="0"/>
          </a:p>
          <a:p>
            <a:pPr indent="0" marL="0">
              <a:buNone/>
            </a:pPr>
            <a:r>
              <a:rPr lang="en-US" sz="850" b="1" dirty="0">
                <a:solidFill>
                  <a:srgbClr val="FFFFFF"/>
                </a:solidFill>
              </a:rPr>
              <a:t>(stride.com)</a:t>
            </a:r>
            <a:endParaRPr lang="en-US" sz="850" dirty="0"/>
          </a:p>
        </p:txBody>
      </p:sp>
      <p:sp>
        <p:nvSpPr>
          <p:cNvPr id="11" name="Text 9"/>
          <p:cNvSpPr/>
          <p:nvPr/>
        </p:nvSpPr>
        <p:spPr>
          <a:xfrm>
            <a:off x="2286000" y="1280160"/>
            <a:ext cx="777240" cy="420624"/>
          </a:xfrm>
          <a:prstGeom prst="rect">
            <a:avLst/>
          </a:prstGeom>
          <a:noFill/>
          <a:ln/>
        </p:spPr>
        <p:txBody>
          <a:bodyPr wrap="square" lIns="0" tIns="0" rIns="0" bIns="0" rtlCol="0" anchor="ctr"/>
          <a:lstStyle/>
          <a:p>
            <a:pPr algn="r" indent="0" marL="0">
              <a:buNone/>
            </a:pPr>
            <a:r>
              <a:rPr lang="en-US" sz="2000" b="1" dirty="0">
                <a:solidFill>
                  <a:srgbClr val="C8A83C"/>
                </a:solidFill>
              </a:rPr>
              <a:t>78%</a:t>
            </a:r>
            <a:endParaRPr lang="en-US" sz="2000" dirty="0"/>
          </a:p>
        </p:txBody>
      </p:sp>
      <p:sp>
        <p:nvSpPr>
          <p:cNvPr id="12" name="Text 10"/>
          <p:cNvSpPr/>
          <p:nvPr/>
        </p:nvSpPr>
        <p:spPr>
          <a:xfrm>
            <a:off x="566928" y="1783080"/>
            <a:ext cx="2468880" cy="237744"/>
          </a:xfrm>
          <a:prstGeom prst="rect">
            <a:avLst/>
          </a:prstGeom>
          <a:noFill/>
          <a:ln/>
        </p:spPr>
        <p:txBody>
          <a:bodyPr wrap="square" lIns="0" tIns="0" rIns="0" bIns="0" rtlCol="0" anchor="ctr"/>
          <a:lstStyle/>
          <a:p>
            <a:pPr indent="0" marL="0">
              <a:buNone/>
            </a:pPr>
            <a:r>
              <a:rPr lang="en-US" sz="850" b="1" dirty="0">
                <a:solidFill>
                  <a:srgbClr val="2B5BAE"/>
                </a:solidFill>
              </a:rPr>
              <a:t>~$61M LTM</a:t>
            </a:r>
            <a:endParaRPr lang="en-US" sz="850" dirty="0"/>
          </a:p>
        </p:txBody>
      </p:sp>
      <p:sp>
        <p:nvSpPr>
          <p:cNvPr id="13" name="Shape 11"/>
          <p:cNvSpPr/>
          <p:nvPr/>
        </p:nvSpPr>
        <p:spPr>
          <a:xfrm>
            <a:off x="457200" y="2066544"/>
            <a:ext cx="8229600" cy="0"/>
          </a:xfrm>
          <a:prstGeom prst="line">
            <a:avLst/>
          </a:prstGeom>
          <a:noFill/>
          <a:ln w="9525">
            <a:solidFill>
              <a:srgbClr val="D0D8E4"/>
            </a:solidFill>
            <a:prstDash val="solid"/>
          </a:ln>
        </p:spPr>
      </p:sp>
      <p:sp>
        <p:nvSpPr>
          <p:cNvPr id="14" name="Shape 12"/>
          <p:cNvSpPr/>
          <p:nvPr/>
        </p:nvSpPr>
        <p:spPr>
          <a:xfrm>
            <a:off x="594360" y="2157984"/>
            <a:ext cx="73152" cy="73152"/>
          </a:xfrm>
          <a:prstGeom prst="oval">
            <a:avLst/>
          </a:prstGeom>
          <a:solidFill>
            <a:srgbClr val="1B2D55"/>
          </a:solidFill>
          <a:ln w="12700">
            <a:solidFill>
              <a:srgbClr val="1B2D55"/>
            </a:solidFill>
            <a:prstDash val="solid"/>
          </a:ln>
        </p:spPr>
      </p:sp>
      <p:sp>
        <p:nvSpPr>
          <p:cNvPr id="15" name="Text 13"/>
          <p:cNvSpPr/>
          <p:nvPr/>
        </p:nvSpPr>
        <p:spPr>
          <a:xfrm>
            <a:off x="731520" y="2103120"/>
            <a:ext cx="2377440" cy="438912"/>
          </a:xfrm>
          <a:prstGeom prst="rect">
            <a:avLst/>
          </a:prstGeom>
          <a:noFill/>
          <a:ln/>
        </p:spPr>
        <p:txBody>
          <a:bodyPr wrap="square" lIns="0" tIns="0" rIns="0" bIns="0" rtlCol="0" anchor="t"/>
          <a:lstStyle/>
          <a:p>
            <a:pPr indent="0" marL="0">
              <a:buNone/>
            </a:pPr>
            <a:r>
              <a:rPr lang="en-US" sz="750" dirty="0">
                <a:solidFill>
                  <a:srgbClr val="4A5568"/>
                </a:solidFill>
              </a:rPr>
              <a:t>Owned e-commerce with 56%+ gross margin</a:t>
            </a:r>
            <a:endParaRPr lang="en-US" sz="750" dirty="0"/>
          </a:p>
        </p:txBody>
      </p:sp>
      <p:sp>
        <p:nvSpPr>
          <p:cNvPr id="16" name="Shape 14"/>
          <p:cNvSpPr/>
          <p:nvPr/>
        </p:nvSpPr>
        <p:spPr>
          <a:xfrm>
            <a:off x="594360" y="2633472"/>
            <a:ext cx="73152" cy="73152"/>
          </a:xfrm>
          <a:prstGeom prst="oval">
            <a:avLst/>
          </a:prstGeom>
          <a:solidFill>
            <a:srgbClr val="1B2D55"/>
          </a:solidFill>
          <a:ln w="12700">
            <a:solidFill>
              <a:srgbClr val="1B2D55"/>
            </a:solidFill>
            <a:prstDash val="solid"/>
          </a:ln>
        </p:spPr>
      </p:sp>
      <p:sp>
        <p:nvSpPr>
          <p:cNvPr id="17" name="Text 15"/>
          <p:cNvSpPr/>
          <p:nvPr/>
        </p:nvSpPr>
        <p:spPr>
          <a:xfrm>
            <a:off x="731520" y="2578608"/>
            <a:ext cx="2377440" cy="438912"/>
          </a:xfrm>
          <a:prstGeom prst="rect">
            <a:avLst/>
          </a:prstGeom>
          <a:noFill/>
          <a:ln/>
        </p:spPr>
        <p:txBody>
          <a:bodyPr wrap="square" lIns="0" tIns="0" rIns="0" bIns="0" rtlCol="0" anchor="t"/>
          <a:lstStyle/>
          <a:p>
            <a:pPr indent="0" marL="0">
              <a:buNone/>
            </a:pPr>
            <a:r>
              <a:rPr lang="en-US" sz="750" dirty="0">
                <a:solidFill>
                  <a:srgbClr val="4A5568"/>
                </a:solidFill>
              </a:rPr>
              <a:t>Email + SMS CRM with 415K active subscribers</a:t>
            </a:r>
            <a:endParaRPr lang="en-US" sz="750" dirty="0"/>
          </a:p>
        </p:txBody>
      </p:sp>
      <p:sp>
        <p:nvSpPr>
          <p:cNvPr id="18" name="Shape 16"/>
          <p:cNvSpPr/>
          <p:nvPr/>
        </p:nvSpPr>
        <p:spPr>
          <a:xfrm>
            <a:off x="594360" y="3108960"/>
            <a:ext cx="73152" cy="73152"/>
          </a:xfrm>
          <a:prstGeom prst="oval">
            <a:avLst/>
          </a:prstGeom>
          <a:solidFill>
            <a:srgbClr val="1B2D55"/>
          </a:solidFill>
          <a:ln w="12700">
            <a:solidFill>
              <a:srgbClr val="1B2D55"/>
            </a:solidFill>
            <a:prstDash val="solid"/>
          </a:ln>
        </p:spPr>
      </p:sp>
      <p:sp>
        <p:nvSpPr>
          <p:cNvPr id="19" name="Text 17"/>
          <p:cNvSpPr/>
          <p:nvPr/>
        </p:nvSpPr>
        <p:spPr>
          <a:xfrm>
            <a:off x="731520" y="3054096"/>
            <a:ext cx="2377440" cy="438912"/>
          </a:xfrm>
          <a:prstGeom prst="rect">
            <a:avLst/>
          </a:prstGeom>
          <a:noFill/>
          <a:ln/>
        </p:spPr>
        <p:txBody>
          <a:bodyPr wrap="square" lIns="0" tIns="0" rIns="0" bIns="0" rtlCol="0" anchor="t"/>
          <a:lstStyle/>
          <a:p>
            <a:pPr indent="0" marL="0">
              <a:buNone/>
            </a:pPr>
            <a:r>
              <a:rPr lang="en-US" sz="750" dirty="0">
                <a:solidFill>
                  <a:srgbClr val="4A5568"/>
                </a:solidFill>
              </a:rPr>
              <a:t>Avg. order value $148; repeat purchase rate 68%</a:t>
            </a:r>
            <a:endParaRPr lang="en-US" sz="750" dirty="0"/>
          </a:p>
        </p:txBody>
      </p:sp>
      <p:sp>
        <p:nvSpPr>
          <p:cNvPr id="20" name="Shape 18"/>
          <p:cNvSpPr/>
          <p:nvPr/>
        </p:nvSpPr>
        <p:spPr>
          <a:xfrm>
            <a:off x="566928" y="3310128"/>
            <a:ext cx="2468880" cy="301752"/>
          </a:xfrm>
          <a:prstGeom prst="rect">
            <a:avLst/>
          </a:prstGeom>
          <a:solidFill>
            <a:srgbClr val="F4F6FA"/>
          </a:solidFill>
          <a:ln w="12700">
            <a:solidFill>
              <a:srgbClr val="D0D8E4"/>
            </a:solidFill>
            <a:prstDash val="solid"/>
          </a:ln>
        </p:spPr>
      </p:sp>
      <p:sp>
        <p:nvSpPr>
          <p:cNvPr id="21" name="Text 19"/>
          <p:cNvSpPr/>
          <p:nvPr/>
        </p:nvSpPr>
        <p:spPr>
          <a:xfrm>
            <a:off x="640080" y="3355848"/>
            <a:ext cx="1463040" cy="201168"/>
          </a:xfrm>
          <a:prstGeom prst="rect">
            <a:avLst/>
          </a:prstGeom>
          <a:noFill/>
          <a:ln/>
        </p:spPr>
        <p:txBody>
          <a:bodyPr wrap="square" lIns="0" tIns="0" rIns="0" bIns="0" rtlCol="0" anchor="ctr"/>
          <a:lstStyle/>
          <a:p>
            <a:pPr indent="0" marL="0">
              <a:buNone/>
            </a:pPr>
            <a:r>
              <a:rPr lang="en-US" sz="700" dirty="0">
                <a:solidFill>
                  <a:srgbClr val="4A5568"/>
                </a:solidFill>
              </a:rPr>
              <a:t>DTC Gross Margin</a:t>
            </a:r>
            <a:endParaRPr lang="en-US" sz="700" dirty="0"/>
          </a:p>
        </p:txBody>
      </p:sp>
      <p:sp>
        <p:nvSpPr>
          <p:cNvPr id="22" name="Text 20"/>
          <p:cNvSpPr/>
          <p:nvPr/>
        </p:nvSpPr>
        <p:spPr>
          <a:xfrm>
            <a:off x="2194560" y="3346704"/>
            <a:ext cx="731520" cy="219456"/>
          </a:xfrm>
          <a:prstGeom prst="rect">
            <a:avLst/>
          </a:prstGeom>
          <a:noFill/>
          <a:ln/>
        </p:spPr>
        <p:txBody>
          <a:bodyPr wrap="square" lIns="0" tIns="0" rIns="0" bIns="0" rtlCol="0" anchor="ctr"/>
          <a:lstStyle/>
          <a:p>
            <a:pPr algn="r" indent="0" marL="0">
              <a:buNone/>
            </a:pPr>
            <a:r>
              <a:rPr lang="en-US" sz="850" b="1" dirty="0">
                <a:solidFill>
                  <a:srgbClr val="1B2D55"/>
                </a:solidFill>
              </a:rPr>
              <a:t>58.5%</a:t>
            </a:r>
            <a:endParaRPr lang="en-US" sz="850" dirty="0"/>
          </a:p>
        </p:txBody>
      </p:sp>
      <p:sp>
        <p:nvSpPr>
          <p:cNvPr id="23" name="Shape 21"/>
          <p:cNvSpPr/>
          <p:nvPr/>
        </p:nvSpPr>
        <p:spPr>
          <a:xfrm>
            <a:off x="566928" y="3630168"/>
            <a:ext cx="2468880" cy="301752"/>
          </a:xfrm>
          <a:prstGeom prst="rect">
            <a:avLst/>
          </a:prstGeom>
          <a:solidFill>
            <a:srgbClr val="FFFFFF"/>
          </a:solidFill>
          <a:ln w="12700">
            <a:solidFill>
              <a:srgbClr val="D0D8E4"/>
            </a:solidFill>
            <a:prstDash val="solid"/>
          </a:ln>
        </p:spPr>
      </p:sp>
      <p:sp>
        <p:nvSpPr>
          <p:cNvPr id="24" name="Text 22"/>
          <p:cNvSpPr/>
          <p:nvPr/>
        </p:nvSpPr>
        <p:spPr>
          <a:xfrm>
            <a:off x="640080" y="3675888"/>
            <a:ext cx="1463040" cy="201168"/>
          </a:xfrm>
          <a:prstGeom prst="rect">
            <a:avLst/>
          </a:prstGeom>
          <a:noFill/>
          <a:ln/>
        </p:spPr>
        <p:txBody>
          <a:bodyPr wrap="square" lIns="0" tIns="0" rIns="0" bIns="0" rtlCol="0" anchor="ctr"/>
          <a:lstStyle/>
          <a:p>
            <a:pPr indent="0" marL="0">
              <a:buNone/>
            </a:pPr>
            <a:r>
              <a:rPr lang="en-US" sz="700" dirty="0">
                <a:solidFill>
                  <a:srgbClr val="4A5568"/>
                </a:solidFill>
              </a:rPr>
              <a:t>Studio Gross Margin</a:t>
            </a:r>
            <a:endParaRPr lang="en-US" sz="700" dirty="0"/>
          </a:p>
        </p:txBody>
      </p:sp>
      <p:sp>
        <p:nvSpPr>
          <p:cNvPr id="25" name="Text 23"/>
          <p:cNvSpPr/>
          <p:nvPr/>
        </p:nvSpPr>
        <p:spPr>
          <a:xfrm>
            <a:off x="2194560" y="3666744"/>
            <a:ext cx="731520" cy="219456"/>
          </a:xfrm>
          <a:prstGeom prst="rect">
            <a:avLst/>
          </a:prstGeom>
          <a:noFill/>
          <a:ln/>
        </p:spPr>
        <p:txBody>
          <a:bodyPr wrap="square" lIns="0" tIns="0" rIns="0" bIns="0" rtlCol="0" anchor="ctr"/>
          <a:lstStyle/>
          <a:p>
            <a:pPr algn="r" indent="0" marL="0">
              <a:buNone/>
            </a:pPr>
            <a:r>
              <a:rPr lang="en-US" sz="850" b="1" dirty="0">
                <a:solidFill>
                  <a:srgbClr val="1B2D55"/>
                </a:solidFill>
              </a:rPr>
              <a:t>82.0%</a:t>
            </a:r>
            <a:endParaRPr lang="en-US" sz="850" dirty="0"/>
          </a:p>
        </p:txBody>
      </p:sp>
      <p:sp>
        <p:nvSpPr>
          <p:cNvPr id="26" name="Shape 24"/>
          <p:cNvSpPr/>
          <p:nvPr/>
        </p:nvSpPr>
        <p:spPr>
          <a:xfrm>
            <a:off x="3355848" y="1261872"/>
            <a:ext cx="2743200" cy="3246120"/>
          </a:xfrm>
          <a:prstGeom prst="rect">
            <a:avLst/>
          </a:prstGeom>
          <a:solidFill>
            <a:srgbClr val="FFFFFF"/>
          </a:solidFill>
          <a:ln w="12700">
            <a:solidFill>
              <a:srgbClr val="D0D8E4"/>
            </a:solidFill>
            <a:prstDash val="solid"/>
          </a:ln>
          <a:effectLst>
            <a:outerShdw sx="100000" sy="100000" kx="0" ky="0" algn="bl" rotWithShape="0" blurRad="50800" dist="25400" dir="8100000">
              <a:srgbClr val="000000">
                <a:alpha val="7000"/>
              </a:srgbClr>
            </a:outerShdw>
          </a:effectLst>
        </p:spPr>
      </p:sp>
      <p:sp>
        <p:nvSpPr>
          <p:cNvPr id="27" name="Shape 25"/>
          <p:cNvSpPr/>
          <p:nvPr/>
        </p:nvSpPr>
        <p:spPr>
          <a:xfrm>
            <a:off x="3355848" y="1261872"/>
            <a:ext cx="2743200" cy="457200"/>
          </a:xfrm>
          <a:prstGeom prst="rect">
            <a:avLst/>
          </a:prstGeom>
          <a:solidFill>
            <a:srgbClr val="2B5BAE"/>
          </a:solidFill>
          <a:ln w="12700">
            <a:solidFill>
              <a:srgbClr val="2B5BAE"/>
            </a:solidFill>
            <a:prstDash val="solid"/>
          </a:ln>
        </p:spPr>
      </p:sp>
      <p:sp>
        <p:nvSpPr>
          <p:cNvPr id="28" name="Text 26"/>
          <p:cNvSpPr/>
          <p:nvPr/>
        </p:nvSpPr>
        <p:spPr>
          <a:xfrm>
            <a:off x="3465576" y="1280160"/>
            <a:ext cx="1737360" cy="420624"/>
          </a:xfrm>
          <a:prstGeom prst="rect">
            <a:avLst/>
          </a:prstGeom>
          <a:noFill/>
          <a:ln/>
        </p:spPr>
        <p:txBody>
          <a:bodyPr wrap="square" lIns="0" tIns="0" rIns="0" bIns="0" rtlCol="0" anchor="ctr"/>
          <a:lstStyle/>
          <a:p>
            <a:pPr indent="0" marL="0">
              <a:buNone/>
            </a:pPr>
            <a:r>
              <a:rPr lang="en-US" sz="850" b="1" dirty="0">
                <a:solidFill>
                  <a:srgbClr val="FFFFFF"/>
                </a:solidFill>
              </a:rPr>
              <a:t>Stride Studio</a:t>
            </a:r>
            <a:endParaRPr lang="en-US" sz="850" dirty="0"/>
          </a:p>
          <a:p>
            <a:pPr indent="0" marL="0">
              <a:buNone/>
            </a:pPr>
            <a:r>
              <a:rPr lang="en-US" sz="850" b="1" dirty="0">
                <a:solidFill>
                  <a:srgbClr val="FFFFFF"/>
                </a:solidFill>
              </a:rPr>
              <a:t>Membership</a:t>
            </a:r>
            <a:endParaRPr lang="en-US" sz="850" dirty="0"/>
          </a:p>
        </p:txBody>
      </p:sp>
      <p:sp>
        <p:nvSpPr>
          <p:cNvPr id="29" name="Text 27"/>
          <p:cNvSpPr/>
          <p:nvPr/>
        </p:nvSpPr>
        <p:spPr>
          <a:xfrm>
            <a:off x="5184648" y="1280160"/>
            <a:ext cx="777240" cy="420624"/>
          </a:xfrm>
          <a:prstGeom prst="rect">
            <a:avLst/>
          </a:prstGeom>
          <a:noFill/>
          <a:ln/>
        </p:spPr>
        <p:txBody>
          <a:bodyPr wrap="square" lIns="0" tIns="0" rIns="0" bIns="0" rtlCol="0" anchor="ctr"/>
          <a:lstStyle/>
          <a:p>
            <a:pPr algn="r" indent="0" marL="0">
              <a:buNone/>
            </a:pPr>
            <a:r>
              <a:rPr lang="en-US" sz="2000" b="1" dirty="0">
                <a:solidFill>
                  <a:srgbClr val="C8A83C"/>
                </a:solidFill>
              </a:rPr>
              <a:t>17%</a:t>
            </a:r>
            <a:endParaRPr lang="en-US" sz="2000" dirty="0"/>
          </a:p>
        </p:txBody>
      </p:sp>
      <p:sp>
        <p:nvSpPr>
          <p:cNvPr id="30" name="Text 28"/>
          <p:cNvSpPr/>
          <p:nvPr/>
        </p:nvSpPr>
        <p:spPr>
          <a:xfrm>
            <a:off x="3465576" y="1783080"/>
            <a:ext cx="2468880" cy="237744"/>
          </a:xfrm>
          <a:prstGeom prst="rect">
            <a:avLst/>
          </a:prstGeom>
          <a:noFill/>
          <a:ln/>
        </p:spPr>
        <p:txBody>
          <a:bodyPr wrap="square" lIns="0" tIns="0" rIns="0" bIns="0" rtlCol="0" anchor="ctr"/>
          <a:lstStyle/>
          <a:p>
            <a:pPr indent="0" marL="0">
              <a:buNone/>
            </a:pPr>
            <a:r>
              <a:rPr lang="en-US" sz="850" b="1" dirty="0">
                <a:solidFill>
                  <a:srgbClr val="2B5BAE"/>
                </a:solidFill>
              </a:rPr>
              <a:t>~$13M LTM</a:t>
            </a:r>
            <a:endParaRPr lang="en-US" sz="850" dirty="0"/>
          </a:p>
        </p:txBody>
      </p:sp>
      <p:sp>
        <p:nvSpPr>
          <p:cNvPr id="31" name="Shape 29"/>
          <p:cNvSpPr/>
          <p:nvPr/>
        </p:nvSpPr>
        <p:spPr>
          <a:xfrm>
            <a:off x="457200" y="2066544"/>
            <a:ext cx="8229600" cy="0"/>
          </a:xfrm>
          <a:prstGeom prst="line">
            <a:avLst/>
          </a:prstGeom>
          <a:noFill/>
          <a:ln w="9525">
            <a:solidFill>
              <a:srgbClr val="D0D8E4"/>
            </a:solidFill>
            <a:prstDash val="solid"/>
          </a:ln>
        </p:spPr>
      </p:sp>
      <p:sp>
        <p:nvSpPr>
          <p:cNvPr id="32" name="Shape 30"/>
          <p:cNvSpPr/>
          <p:nvPr/>
        </p:nvSpPr>
        <p:spPr>
          <a:xfrm>
            <a:off x="3493008" y="2157984"/>
            <a:ext cx="73152" cy="73152"/>
          </a:xfrm>
          <a:prstGeom prst="oval">
            <a:avLst/>
          </a:prstGeom>
          <a:solidFill>
            <a:srgbClr val="2B5BAE"/>
          </a:solidFill>
          <a:ln w="12700">
            <a:solidFill>
              <a:srgbClr val="2B5BAE"/>
            </a:solidFill>
            <a:prstDash val="solid"/>
          </a:ln>
        </p:spPr>
      </p:sp>
      <p:sp>
        <p:nvSpPr>
          <p:cNvPr id="33" name="Text 31"/>
          <p:cNvSpPr/>
          <p:nvPr/>
        </p:nvSpPr>
        <p:spPr>
          <a:xfrm>
            <a:off x="3630168" y="2103120"/>
            <a:ext cx="2377440" cy="438912"/>
          </a:xfrm>
          <a:prstGeom prst="rect">
            <a:avLst/>
          </a:prstGeom>
          <a:noFill/>
          <a:ln/>
        </p:spPr>
        <p:txBody>
          <a:bodyPr wrap="square" lIns="0" tIns="0" rIns="0" bIns="0" rtlCol="0" anchor="t"/>
          <a:lstStyle/>
          <a:p>
            <a:pPr indent="0" marL="0">
              <a:buNone/>
            </a:pPr>
            <a:r>
              <a:rPr lang="en-US" sz="750" dirty="0">
                <a:solidFill>
                  <a:srgbClr val="4A5568"/>
                </a:solidFill>
              </a:rPr>
              <a:t>62K subscribers at $29/mo ($21.7M ARR)</a:t>
            </a:r>
            <a:endParaRPr lang="en-US" sz="750" dirty="0"/>
          </a:p>
        </p:txBody>
      </p:sp>
      <p:sp>
        <p:nvSpPr>
          <p:cNvPr id="34" name="Shape 32"/>
          <p:cNvSpPr/>
          <p:nvPr/>
        </p:nvSpPr>
        <p:spPr>
          <a:xfrm>
            <a:off x="3493008" y="2633472"/>
            <a:ext cx="73152" cy="73152"/>
          </a:xfrm>
          <a:prstGeom prst="oval">
            <a:avLst/>
          </a:prstGeom>
          <a:solidFill>
            <a:srgbClr val="2B5BAE"/>
          </a:solidFill>
          <a:ln w="12700">
            <a:solidFill>
              <a:srgbClr val="2B5BAE"/>
            </a:solidFill>
            <a:prstDash val="solid"/>
          </a:ln>
        </p:spPr>
      </p:sp>
      <p:sp>
        <p:nvSpPr>
          <p:cNvPr id="35" name="Text 33"/>
          <p:cNvSpPr/>
          <p:nvPr/>
        </p:nvSpPr>
        <p:spPr>
          <a:xfrm>
            <a:off x="3630168" y="2578608"/>
            <a:ext cx="2377440" cy="438912"/>
          </a:xfrm>
          <a:prstGeom prst="rect">
            <a:avLst/>
          </a:prstGeom>
          <a:noFill/>
          <a:ln/>
        </p:spPr>
        <p:txBody>
          <a:bodyPr wrap="square" lIns="0" tIns="0" rIns="0" bIns="0" rtlCol="0" anchor="t"/>
          <a:lstStyle/>
          <a:p>
            <a:pPr indent="0" marL="0">
              <a:buNone/>
            </a:pPr>
            <a:r>
              <a:rPr lang="en-US" sz="750" dirty="0">
                <a:solidFill>
                  <a:srgbClr val="4A5568"/>
                </a:solidFill>
              </a:rPr>
              <a:t>High-margin recurring revenue stream</a:t>
            </a:r>
            <a:endParaRPr lang="en-US" sz="750" dirty="0"/>
          </a:p>
        </p:txBody>
      </p:sp>
      <p:sp>
        <p:nvSpPr>
          <p:cNvPr id="36" name="Shape 34"/>
          <p:cNvSpPr/>
          <p:nvPr/>
        </p:nvSpPr>
        <p:spPr>
          <a:xfrm>
            <a:off x="3493008" y="3108960"/>
            <a:ext cx="73152" cy="73152"/>
          </a:xfrm>
          <a:prstGeom prst="oval">
            <a:avLst/>
          </a:prstGeom>
          <a:solidFill>
            <a:srgbClr val="2B5BAE"/>
          </a:solidFill>
          <a:ln w="12700">
            <a:solidFill>
              <a:srgbClr val="2B5BAE"/>
            </a:solidFill>
            <a:prstDash val="solid"/>
          </a:ln>
        </p:spPr>
      </p:sp>
      <p:sp>
        <p:nvSpPr>
          <p:cNvPr id="37" name="Text 35"/>
          <p:cNvSpPr/>
          <p:nvPr/>
        </p:nvSpPr>
        <p:spPr>
          <a:xfrm>
            <a:off x="3630168" y="3054096"/>
            <a:ext cx="2377440" cy="438912"/>
          </a:xfrm>
          <a:prstGeom prst="rect">
            <a:avLst/>
          </a:prstGeom>
          <a:noFill/>
          <a:ln/>
        </p:spPr>
        <p:txBody>
          <a:bodyPr wrap="square" lIns="0" tIns="0" rIns="0" bIns="0" rtlCol="0" anchor="t"/>
          <a:lstStyle/>
          <a:p>
            <a:pPr indent="0" marL="0">
              <a:buNone/>
            </a:pPr>
            <a:r>
              <a:rPr lang="en-US" sz="750" dirty="0">
                <a:solidFill>
                  <a:srgbClr val="4A5568"/>
                </a:solidFill>
              </a:rPr>
              <a:t>Members spend 3.8x vs. non-members</a:t>
            </a:r>
            <a:endParaRPr lang="en-US" sz="750" dirty="0"/>
          </a:p>
        </p:txBody>
      </p:sp>
      <p:sp>
        <p:nvSpPr>
          <p:cNvPr id="38" name="Shape 36"/>
          <p:cNvSpPr/>
          <p:nvPr/>
        </p:nvSpPr>
        <p:spPr>
          <a:xfrm>
            <a:off x="3465576" y="3310128"/>
            <a:ext cx="2468880" cy="301752"/>
          </a:xfrm>
          <a:prstGeom prst="rect">
            <a:avLst/>
          </a:prstGeom>
          <a:solidFill>
            <a:srgbClr val="F4F6FA"/>
          </a:solidFill>
          <a:ln w="12700">
            <a:solidFill>
              <a:srgbClr val="D0D8E4"/>
            </a:solidFill>
            <a:prstDash val="solid"/>
          </a:ln>
        </p:spPr>
      </p:sp>
      <p:sp>
        <p:nvSpPr>
          <p:cNvPr id="39" name="Text 37"/>
          <p:cNvSpPr/>
          <p:nvPr/>
        </p:nvSpPr>
        <p:spPr>
          <a:xfrm>
            <a:off x="3538728" y="3355848"/>
            <a:ext cx="1463040" cy="201168"/>
          </a:xfrm>
          <a:prstGeom prst="rect">
            <a:avLst/>
          </a:prstGeom>
          <a:noFill/>
          <a:ln/>
        </p:spPr>
        <p:txBody>
          <a:bodyPr wrap="square" lIns="0" tIns="0" rIns="0" bIns="0" rtlCol="0" anchor="ctr"/>
          <a:lstStyle/>
          <a:p>
            <a:pPr indent="0" marL="0">
              <a:buNone/>
            </a:pPr>
            <a:r>
              <a:rPr lang="en-US" sz="700" dirty="0">
                <a:solidFill>
                  <a:srgbClr val="4A5568"/>
                </a:solidFill>
              </a:rPr>
              <a:t>DTC Gross Margin</a:t>
            </a:r>
            <a:endParaRPr lang="en-US" sz="700" dirty="0"/>
          </a:p>
        </p:txBody>
      </p:sp>
      <p:sp>
        <p:nvSpPr>
          <p:cNvPr id="40" name="Text 38"/>
          <p:cNvSpPr/>
          <p:nvPr/>
        </p:nvSpPr>
        <p:spPr>
          <a:xfrm>
            <a:off x="5093208" y="3346704"/>
            <a:ext cx="731520" cy="219456"/>
          </a:xfrm>
          <a:prstGeom prst="rect">
            <a:avLst/>
          </a:prstGeom>
          <a:noFill/>
          <a:ln/>
        </p:spPr>
        <p:txBody>
          <a:bodyPr wrap="square" lIns="0" tIns="0" rIns="0" bIns="0" rtlCol="0" anchor="ctr"/>
          <a:lstStyle/>
          <a:p>
            <a:pPr algn="r" indent="0" marL="0">
              <a:buNone/>
            </a:pPr>
            <a:r>
              <a:rPr lang="en-US" sz="850" b="1" dirty="0">
                <a:solidFill>
                  <a:srgbClr val="1B2D55"/>
                </a:solidFill>
              </a:rPr>
              <a:t>58.5%</a:t>
            </a:r>
            <a:endParaRPr lang="en-US" sz="850" dirty="0"/>
          </a:p>
        </p:txBody>
      </p:sp>
      <p:sp>
        <p:nvSpPr>
          <p:cNvPr id="41" name="Shape 39"/>
          <p:cNvSpPr/>
          <p:nvPr/>
        </p:nvSpPr>
        <p:spPr>
          <a:xfrm>
            <a:off x="3465576" y="3630168"/>
            <a:ext cx="2468880" cy="301752"/>
          </a:xfrm>
          <a:prstGeom prst="rect">
            <a:avLst/>
          </a:prstGeom>
          <a:solidFill>
            <a:srgbClr val="FFFFFF"/>
          </a:solidFill>
          <a:ln w="12700">
            <a:solidFill>
              <a:srgbClr val="D0D8E4"/>
            </a:solidFill>
            <a:prstDash val="solid"/>
          </a:ln>
        </p:spPr>
      </p:sp>
      <p:sp>
        <p:nvSpPr>
          <p:cNvPr id="42" name="Text 40"/>
          <p:cNvSpPr/>
          <p:nvPr/>
        </p:nvSpPr>
        <p:spPr>
          <a:xfrm>
            <a:off x="3538728" y="3675888"/>
            <a:ext cx="1463040" cy="201168"/>
          </a:xfrm>
          <a:prstGeom prst="rect">
            <a:avLst/>
          </a:prstGeom>
          <a:noFill/>
          <a:ln/>
        </p:spPr>
        <p:txBody>
          <a:bodyPr wrap="square" lIns="0" tIns="0" rIns="0" bIns="0" rtlCol="0" anchor="ctr"/>
          <a:lstStyle/>
          <a:p>
            <a:pPr indent="0" marL="0">
              <a:buNone/>
            </a:pPr>
            <a:r>
              <a:rPr lang="en-US" sz="700" dirty="0">
                <a:solidFill>
                  <a:srgbClr val="4A5568"/>
                </a:solidFill>
              </a:rPr>
              <a:t>Studio Gross Margin</a:t>
            </a:r>
            <a:endParaRPr lang="en-US" sz="700" dirty="0"/>
          </a:p>
        </p:txBody>
      </p:sp>
      <p:sp>
        <p:nvSpPr>
          <p:cNvPr id="43" name="Text 41"/>
          <p:cNvSpPr/>
          <p:nvPr/>
        </p:nvSpPr>
        <p:spPr>
          <a:xfrm>
            <a:off x="5093208" y="3666744"/>
            <a:ext cx="731520" cy="219456"/>
          </a:xfrm>
          <a:prstGeom prst="rect">
            <a:avLst/>
          </a:prstGeom>
          <a:noFill/>
          <a:ln/>
        </p:spPr>
        <p:txBody>
          <a:bodyPr wrap="square" lIns="0" tIns="0" rIns="0" bIns="0" rtlCol="0" anchor="ctr"/>
          <a:lstStyle/>
          <a:p>
            <a:pPr algn="r" indent="0" marL="0">
              <a:buNone/>
            </a:pPr>
            <a:r>
              <a:rPr lang="en-US" sz="850" b="1" dirty="0">
                <a:solidFill>
                  <a:srgbClr val="1B2D55"/>
                </a:solidFill>
              </a:rPr>
              <a:t>82.0%</a:t>
            </a:r>
            <a:endParaRPr lang="en-US" sz="850" dirty="0"/>
          </a:p>
        </p:txBody>
      </p:sp>
      <p:sp>
        <p:nvSpPr>
          <p:cNvPr id="44" name="Shape 42"/>
          <p:cNvSpPr/>
          <p:nvPr/>
        </p:nvSpPr>
        <p:spPr>
          <a:xfrm>
            <a:off x="6254496" y="1261872"/>
            <a:ext cx="2743200" cy="3246120"/>
          </a:xfrm>
          <a:prstGeom prst="rect">
            <a:avLst/>
          </a:prstGeom>
          <a:solidFill>
            <a:srgbClr val="FFFFFF"/>
          </a:solidFill>
          <a:ln w="12700">
            <a:solidFill>
              <a:srgbClr val="D0D8E4"/>
            </a:solidFill>
            <a:prstDash val="solid"/>
          </a:ln>
          <a:effectLst>
            <a:outerShdw sx="100000" sy="100000" kx="0" ky="0" algn="bl" rotWithShape="0" blurRad="50800" dist="25400" dir="8100000">
              <a:srgbClr val="000000">
                <a:alpha val="7000"/>
              </a:srgbClr>
            </a:outerShdw>
          </a:effectLst>
        </p:spPr>
      </p:sp>
      <p:sp>
        <p:nvSpPr>
          <p:cNvPr id="45" name="Shape 43"/>
          <p:cNvSpPr/>
          <p:nvPr/>
        </p:nvSpPr>
        <p:spPr>
          <a:xfrm>
            <a:off x="6254496" y="1261872"/>
            <a:ext cx="2743200" cy="457200"/>
          </a:xfrm>
          <a:prstGeom prst="rect">
            <a:avLst/>
          </a:prstGeom>
          <a:solidFill>
            <a:srgbClr val="C8A83C"/>
          </a:solidFill>
          <a:ln w="12700">
            <a:solidFill>
              <a:srgbClr val="C8A83C"/>
            </a:solidFill>
            <a:prstDash val="solid"/>
          </a:ln>
        </p:spPr>
      </p:sp>
      <p:sp>
        <p:nvSpPr>
          <p:cNvPr id="46" name="Text 44"/>
          <p:cNvSpPr/>
          <p:nvPr/>
        </p:nvSpPr>
        <p:spPr>
          <a:xfrm>
            <a:off x="6364224" y="1280160"/>
            <a:ext cx="1737360" cy="420624"/>
          </a:xfrm>
          <a:prstGeom prst="rect">
            <a:avLst/>
          </a:prstGeom>
          <a:noFill/>
          <a:ln/>
        </p:spPr>
        <p:txBody>
          <a:bodyPr wrap="square" lIns="0" tIns="0" rIns="0" bIns="0" rtlCol="0" anchor="ctr"/>
          <a:lstStyle/>
          <a:p>
            <a:pPr indent="0" marL="0">
              <a:buNone/>
            </a:pPr>
            <a:r>
              <a:rPr lang="en-US" sz="850" b="1" dirty="0">
                <a:solidFill>
                  <a:srgbClr val="FFFFFF"/>
                </a:solidFill>
              </a:rPr>
              <a:t>Wholesale &amp;</a:t>
            </a:r>
            <a:endParaRPr lang="en-US" sz="850" dirty="0"/>
          </a:p>
          <a:p>
            <a:pPr indent="0" marL="0">
              <a:buNone/>
            </a:pPr>
            <a:r>
              <a:rPr lang="en-US" sz="850" b="1" dirty="0">
                <a:solidFill>
                  <a:srgbClr val="FFFFFF"/>
                </a:solidFill>
              </a:rPr>
              <a:t>International</a:t>
            </a:r>
            <a:endParaRPr lang="en-US" sz="850" dirty="0"/>
          </a:p>
        </p:txBody>
      </p:sp>
      <p:sp>
        <p:nvSpPr>
          <p:cNvPr id="47" name="Text 45"/>
          <p:cNvSpPr/>
          <p:nvPr/>
        </p:nvSpPr>
        <p:spPr>
          <a:xfrm>
            <a:off x="8083296" y="1280160"/>
            <a:ext cx="777240" cy="420624"/>
          </a:xfrm>
          <a:prstGeom prst="rect">
            <a:avLst/>
          </a:prstGeom>
          <a:noFill/>
          <a:ln/>
        </p:spPr>
        <p:txBody>
          <a:bodyPr wrap="square" lIns="0" tIns="0" rIns="0" bIns="0" rtlCol="0" anchor="ctr"/>
          <a:lstStyle/>
          <a:p>
            <a:pPr algn="r" indent="0" marL="0">
              <a:buNone/>
            </a:pPr>
            <a:r>
              <a:rPr lang="en-US" sz="2000" b="1" dirty="0">
                <a:solidFill>
                  <a:srgbClr val="C8A83C"/>
                </a:solidFill>
              </a:rPr>
              <a:t>11%</a:t>
            </a:r>
            <a:endParaRPr lang="en-US" sz="2000" dirty="0"/>
          </a:p>
        </p:txBody>
      </p:sp>
      <p:sp>
        <p:nvSpPr>
          <p:cNvPr id="48" name="Text 46"/>
          <p:cNvSpPr/>
          <p:nvPr/>
        </p:nvSpPr>
        <p:spPr>
          <a:xfrm>
            <a:off x="6364224" y="1783080"/>
            <a:ext cx="2468880" cy="237744"/>
          </a:xfrm>
          <a:prstGeom prst="rect">
            <a:avLst/>
          </a:prstGeom>
          <a:noFill/>
          <a:ln/>
        </p:spPr>
        <p:txBody>
          <a:bodyPr wrap="square" lIns="0" tIns="0" rIns="0" bIns="0" rtlCol="0" anchor="ctr"/>
          <a:lstStyle/>
          <a:p>
            <a:pPr indent="0" marL="0">
              <a:buNone/>
            </a:pPr>
            <a:r>
              <a:rPr lang="en-US" sz="850" b="1" dirty="0">
                <a:solidFill>
                  <a:srgbClr val="2B5BAE"/>
                </a:solidFill>
              </a:rPr>
              <a:t>~$9M LTM</a:t>
            </a:r>
            <a:endParaRPr lang="en-US" sz="850" dirty="0"/>
          </a:p>
        </p:txBody>
      </p:sp>
      <p:sp>
        <p:nvSpPr>
          <p:cNvPr id="49" name="Shape 47"/>
          <p:cNvSpPr/>
          <p:nvPr/>
        </p:nvSpPr>
        <p:spPr>
          <a:xfrm>
            <a:off x="457200" y="2066544"/>
            <a:ext cx="8229600" cy="0"/>
          </a:xfrm>
          <a:prstGeom prst="line">
            <a:avLst/>
          </a:prstGeom>
          <a:noFill/>
          <a:ln w="9525">
            <a:solidFill>
              <a:srgbClr val="D0D8E4"/>
            </a:solidFill>
            <a:prstDash val="solid"/>
          </a:ln>
        </p:spPr>
      </p:sp>
      <p:sp>
        <p:nvSpPr>
          <p:cNvPr id="50" name="Shape 48"/>
          <p:cNvSpPr/>
          <p:nvPr/>
        </p:nvSpPr>
        <p:spPr>
          <a:xfrm>
            <a:off x="6391656" y="2157984"/>
            <a:ext cx="73152" cy="73152"/>
          </a:xfrm>
          <a:prstGeom prst="oval">
            <a:avLst/>
          </a:prstGeom>
          <a:solidFill>
            <a:srgbClr val="C8A83C"/>
          </a:solidFill>
          <a:ln w="12700">
            <a:solidFill>
              <a:srgbClr val="C8A83C"/>
            </a:solidFill>
            <a:prstDash val="solid"/>
          </a:ln>
        </p:spPr>
      </p:sp>
      <p:sp>
        <p:nvSpPr>
          <p:cNvPr id="51" name="Text 49"/>
          <p:cNvSpPr/>
          <p:nvPr/>
        </p:nvSpPr>
        <p:spPr>
          <a:xfrm>
            <a:off x="6528816" y="2103120"/>
            <a:ext cx="2377440" cy="438912"/>
          </a:xfrm>
          <a:prstGeom prst="rect">
            <a:avLst/>
          </a:prstGeom>
          <a:noFill/>
          <a:ln/>
        </p:spPr>
        <p:txBody>
          <a:bodyPr wrap="square" lIns="0" tIns="0" rIns="0" bIns="0" rtlCol="0" anchor="t"/>
          <a:lstStyle/>
          <a:p>
            <a:pPr indent="0" marL="0">
              <a:buNone/>
            </a:pPr>
            <a:r>
              <a:rPr lang="en-US" sz="750" dirty="0">
                <a:solidFill>
                  <a:srgbClr val="4A5568"/>
                </a:solidFill>
              </a:rPr>
              <a:t>SoulCycle studios (US), select yoga studios</a:t>
            </a:r>
            <a:endParaRPr lang="en-US" sz="750" dirty="0"/>
          </a:p>
        </p:txBody>
      </p:sp>
      <p:sp>
        <p:nvSpPr>
          <p:cNvPr id="52" name="Shape 50"/>
          <p:cNvSpPr/>
          <p:nvPr/>
        </p:nvSpPr>
        <p:spPr>
          <a:xfrm>
            <a:off x="6391656" y="2633472"/>
            <a:ext cx="73152" cy="73152"/>
          </a:xfrm>
          <a:prstGeom prst="oval">
            <a:avLst/>
          </a:prstGeom>
          <a:solidFill>
            <a:srgbClr val="C8A83C"/>
          </a:solidFill>
          <a:ln w="12700">
            <a:solidFill>
              <a:srgbClr val="C8A83C"/>
            </a:solidFill>
            <a:prstDash val="solid"/>
          </a:ln>
        </p:spPr>
      </p:sp>
      <p:sp>
        <p:nvSpPr>
          <p:cNvPr id="53" name="Text 51"/>
          <p:cNvSpPr/>
          <p:nvPr/>
        </p:nvSpPr>
        <p:spPr>
          <a:xfrm>
            <a:off x="6528816" y="2578608"/>
            <a:ext cx="2377440" cy="438912"/>
          </a:xfrm>
          <a:prstGeom prst="rect">
            <a:avLst/>
          </a:prstGeom>
          <a:noFill/>
          <a:ln/>
        </p:spPr>
        <p:txBody>
          <a:bodyPr wrap="square" lIns="0" tIns="0" rIns="0" bIns="0" rtlCol="0" anchor="t"/>
          <a:lstStyle/>
          <a:p>
            <a:pPr indent="0" marL="0">
              <a:buNone/>
            </a:pPr>
            <a:r>
              <a:rPr lang="en-US" sz="750" dirty="0">
                <a:solidFill>
                  <a:srgbClr val="4A5568"/>
                </a:solidFill>
              </a:rPr>
              <a:t>UK/Canada DTC launched 2020</a:t>
            </a:r>
            <a:endParaRPr lang="en-US" sz="750" dirty="0"/>
          </a:p>
        </p:txBody>
      </p:sp>
      <p:sp>
        <p:nvSpPr>
          <p:cNvPr id="54" name="Shape 52"/>
          <p:cNvSpPr/>
          <p:nvPr/>
        </p:nvSpPr>
        <p:spPr>
          <a:xfrm>
            <a:off x="6391656" y="3108960"/>
            <a:ext cx="73152" cy="73152"/>
          </a:xfrm>
          <a:prstGeom prst="oval">
            <a:avLst/>
          </a:prstGeom>
          <a:solidFill>
            <a:srgbClr val="C8A83C"/>
          </a:solidFill>
          <a:ln w="12700">
            <a:solidFill>
              <a:srgbClr val="C8A83C"/>
            </a:solidFill>
            <a:prstDash val="solid"/>
          </a:ln>
        </p:spPr>
      </p:sp>
      <p:sp>
        <p:nvSpPr>
          <p:cNvPr id="55" name="Text 53"/>
          <p:cNvSpPr/>
          <p:nvPr/>
        </p:nvSpPr>
        <p:spPr>
          <a:xfrm>
            <a:off x="6528816" y="3054096"/>
            <a:ext cx="2377440" cy="438912"/>
          </a:xfrm>
          <a:prstGeom prst="rect">
            <a:avLst/>
          </a:prstGeom>
          <a:noFill/>
          <a:ln/>
        </p:spPr>
        <p:txBody>
          <a:bodyPr wrap="square" lIns="0" tIns="0" rIns="0" bIns="0" rtlCol="0" anchor="t"/>
          <a:lstStyle/>
          <a:p>
            <a:pPr indent="0" marL="0">
              <a:buNone/>
            </a:pPr>
            <a:r>
              <a:rPr lang="en-US" sz="750" dirty="0">
                <a:solidFill>
                  <a:srgbClr val="4A5568"/>
                </a:solidFill>
              </a:rPr>
              <a:t>Intentionally limited to protect brand positioning</a:t>
            </a:r>
            <a:endParaRPr lang="en-US" sz="750" dirty="0"/>
          </a:p>
        </p:txBody>
      </p:sp>
      <p:sp>
        <p:nvSpPr>
          <p:cNvPr id="56" name="Shape 54"/>
          <p:cNvSpPr/>
          <p:nvPr/>
        </p:nvSpPr>
        <p:spPr>
          <a:xfrm>
            <a:off x="6364224" y="3310128"/>
            <a:ext cx="2468880" cy="301752"/>
          </a:xfrm>
          <a:prstGeom prst="rect">
            <a:avLst/>
          </a:prstGeom>
          <a:solidFill>
            <a:srgbClr val="F4F6FA"/>
          </a:solidFill>
          <a:ln w="12700">
            <a:solidFill>
              <a:srgbClr val="D0D8E4"/>
            </a:solidFill>
            <a:prstDash val="solid"/>
          </a:ln>
        </p:spPr>
      </p:sp>
      <p:sp>
        <p:nvSpPr>
          <p:cNvPr id="57" name="Text 55"/>
          <p:cNvSpPr/>
          <p:nvPr/>
        </p:nvSpPr>
        <p:spPr>
          <a:xfrm>
            <a:off x="6437376" y="3355848"/>
            <a:ext cx="1463040" cy="201168"/>
          </a:xfrm>
          <a:prstGeom prst="rect">
            <a:avLst/>
          </a:prstGeom>
          <a:noFill/>
          <a:ln/>
        </p:spPr>
        <p:txBody>
          <a:bodyPr wrap="square" lIns="0" tIns="0" rIns="0" bIns="0" rtlCol="0" anchor="ctr"/>
          <a:lstStyle/>
          <a:p>
            <a:pPr indent="0" marL="0">
              <a:buNone/>
            </a:pPr>
            <a:r>
              <a:rPr lang="en-US" sz="700" dirty="0">
                <a:solidFill>
                  <a:srgbClr val="4A5568"/>
                </a:solidFill>
              </a:rPr>
              <a:t>DTC Gross Margin</a:t>
            </a:r>
            <a:endParaRPr lang="en-US" sz="700" dirty="0"/>
          </a:p>
        </p:txBody>
      </p:sp>
      <p:sp>
        <p:nvSpPr>
          <p:cNvPr id="58" name="Text 56"/>
          <p:cNvSpPr/>
          <p:nvPr/>
        </p:nvSpPr>
        <p:spPr>
          <a:xfrm>
            <a:off x="7991856" y="3346704"/>
            <a:ext cx="731520" cy="219456"/>
          </a:xfrm>
          <a:prstGeom prst="rect">
            <a:avLst/>
          </a:prstGeom>
          <a:noFill/>
          <a:ln/>
        </p:spPr>
        <p:txBody>
          <a:bodyPr wrap="square" lIns="0" tIns="0" rIns="0" bIns="0" rtlCol="0" anchor="ctr"/>
          <a:lstStyle/>
          <a:p>
            <a:pPr algn="r" indent="0" marL="0">
              <a:buNone/>
            </a:pPr>
            <a:r>
              <a:rPr lang="en-US" sz="850" b="1" dirty="0">
                <a:solidFill>
                  <a:srgbClr val="1B2D55"/>
                </a:solidFill>
              </a:rPr>
              <a:t>58.5%</a:t>
            </a:r>
            <a:endParaRPr lang="en-US" sz="850" dirty="0"/>
          </a:p>
        </p:txBody>
      </p:sp>
      <p:sp>
        <p:nvSpPr>
          <p:cNvPr id="59" name="Shape 57"/>
          <p:cNvSpPr/>
          <p:nvPr/>
        </p:nvSpPr>
        <p:spPr>
          <a:xfrm>
            <a:off x="6364224" y="3630168"/>
            <a:ext cx="2468880" cy="301752"/>
          </a:xfrm>
          <a:prstGeom prst="rect">
            <a:avLst/>
          </a:prstGeom>
          <a:solidFill>
            <a:srgbClr val="FFFFFF"/>
          </a:solidFill>
          <a:ln w="12700">
            <a:solidFill>
              <a:srgbClr val="D0D8E4"/>
            </a:solidFill>
            <a:prstDash val="solid"/>
          </a:ln>
        </p:spPr>
      </p:sp>
      <p:sp>
        <p:nvSpPr>
          <p:cNvPr id="60" name="Text 58"/>
          <p:cNvSpPr/>
          <p:nvPr/>
        </p:nvSpPr>
        <p:spPr>
          <a:xfrm>
            <a:off x="6437376" y="3675888"/>
            <a:ext cx="1463040" cy="201168"/>
          </a:xfrm>
          <a:prstGeom prst="rect">
            <a:avLst/>
          </a:prstGeom>
          <a:noFill/>
          <a:ln/>
        </p:spPr>
        <p:txBody>
          <a:bodyPr wrap="square" lIns="0" tIns="0" rIns="0" bIns="0" rtlCol="0" anchor="ctr"/>
          <a:lstStyle/>
          <a:p>
            <a:pPr indent="0" marL="0">
              <a:buNone/>
            </a:pPr>
            <a:r>
              <a:rPr lang="en-US" sz="700" dirty="0">
                <a:solidFill>
                  <a:srgbClr val="4A5568"/>
                </a:solidFill>
              </a:rPr>
              <a:t>Studio Gross Margin</a:t>
            </a:r>
            <a:endParaRPr lang="en-US" sz="700" dirty="0"/>
          </a:p>
        </p:txBody>
      </p:sp>
      <p:sp>
        <p:nvSpPr>
          <p:cNvPr id="61" name="Text 59"/>
          <p:cNvSpPr/>
          <p:nvPr/>
        </p:nvSpPr>
        <p:spPr>
          <a:xfrm>
            <a:off x="7991856" y="3666744"/>
            <a:ext cx="731520" cy="219456"/>
          </a:xfrm>
          <a:prstGeom prst="rect">
            <a:avLst/>
          </a:prstGeom>
          <a:noFill/>
          <a:ln/>
        </p:spPr>
        <p:txBody>
          <a:bodyPr wrap="square" lIns="0" tIns="0" rIns="0" bIns="0" rtlCol="0" anchor="ctr"/>
          <a:lstStyle/>
          <a:p>
            <a:pPr algn="r" indent="0" marL="0">
              <a:buNone/>
            </a:pPr>
            <a:r>
              <a:rPr lang="en-US" sz="850" b="1" dirty="0">
                <a:solidFill>
                  <a:srgbClr val="1B2D55"/>
                </a:solidFill>
              </a:rPr>
              <a:t>82.0%</a:t>
            </a:r>
            <a:endParaRPr lang="en-US" sz="850" dirty="0"/>
          </a:p>
        </p:txBody>
      </p:sp>
      <p:sp>
        <p:nvSpPr>
          <p:cNvPr id="62" name="Shape 60"/>
          <p:cNvSpPr/>
          <p:nvPr/>
        </p:nvSpPr>
        <p:spPr>
          <a:xfrm>
            <a:off x="0" y="4892040"/>
            <a:ext cx="9144000" cy="251460"/>
          </a:xfrm>
          <a:prstGeom prst="rect">
            <a:avLst/>
          </a:prstGeom>
          <a:solidFill>
            <a:srgbClr val="F4F6FA"/>
          </a:solidFill>
          <a:ln w="12700">
            <a:solidFill>
              <a:srgbClr val="D0D8E4"/>
            </a:solidFill>
            <a:prstDash val="solid"/>
          </a:ln>
        </p:spPr>
      </p:sp>
      <p:sp>
        <p:nvSpPr>
          <p:cNvPr id="63" name="Text 61"/>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64" name="Text 62"/>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7 / 14</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Houlihan Lokey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HISTORICAL FINANCIALS</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Historical Financial Performance</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 in millions; FY ends December 31</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61872"/>
          <a:ext cx="8229600" cy="914400"/>
        </p:xfrm>
        <a:graphic>
          <a:graphicData uri="http://schemas.openxmlformats.org/drawingml/2006/table">
            <a:tbl>
              <a:tblPr/>
              <a:tblGrid>
                <a:gridCol w="3474720"/>
                <a:gridCol w="1188720"/>
                <a:gridCol w="1188720"/>
                <a:gridCol w="1188720"/>
                <a:gridCol w="1188720"/>
              </a:tblGrid>
              <a:tr h="292608">
                <a:tc>
                  <a:txBody>
                    <a:bodyPr/>
                    <a:lstStyle/>
                    <a:p>
                      <a:pPr indent="0" marL="0">
                        <a:buNone/>
                      </a:pPr>
                      <a:r>
                        <a:rPr lang="en-US" sz="800" b="1" dirty="0">
                          <a:solidFill>
                            <a:srgbClr val="FFFFFF"/>
                          </a:solidFill>
                        </a:rPr>
                        <a:t>($M unless noted)</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FY2018</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FY2019</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FY2020</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LTM Q2'21</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292608">
                <a:tc>
                  <a:txBody>
                    <a:bodyPr/>
                    <a:lstStyle/>
                    <a:p>
                      <a:pPr algn="l" indent="0" marL="0">
                        <a:buNone/>
                      </a:pPr>
                      <a:r>
                        <a:rPr lang="en-US" sz="850" b="1" dirty="0">
                          <a:solidFill>
                            <a:srgbClr val="1A1A2E"/>
                          </a:solidFill>
                        </a:rPr>
                        <a:t>Revenue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28.0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42.1</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59.2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78.4</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292608">
                <a:tc>
                  <a:txBody>
                    <a:bodyPr/>
                    <a:lstStyle/>
                    <a:p>
                      <a:pPr algn="l" indent="0" marL="0">
                        <a:buNone/>
                      </a:pPr>
                      <a:r>
                        <a:rPr lang="en-US" sz="850" dirty="0">
                          <a:solidFill>
                            <a:srgbClr val="1A1A2E"/>
                          </a:solidFill>
                        </a:rPr>
                        <a:t>YoY Growth</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+50.4%</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+40.6%</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+32.2%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A1A2E"/>
                          </a:solidFill>
                        </a:rPr>
                        <a:t>Gross Profit</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13.5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21.5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31.8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44.1</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292608">
                <a:tc>
                  <a:txBody>
                    <a:bodyPr/>
                    <a:lstStyle/>
                    <a:p>
                      <a:pPr algn="l" indent="0" marL="0">
                        <a:buNone/>
                      </a:pPr>
                      <a:r>
                        <a:rPr lang="en-US" sz="850" dirty="0">
                          <a:solidFill>
                            <a:srgbClr val="1A1A2E"/>
                          </a:solidFill>
                        </a:rPr>
                        <a:t>Gross Margin %</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48.2%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51.1%</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53.7%</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56.2%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A1A2E"/>
                          </a:solidFill>
                        </a:rPr>
                        <a:t>Sales &amp; Marketing</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7.8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10.5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13.8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18.5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292608">
                <a:tc>
                  <a:txBody>
                    <a:bodyPr/>
                    <a:lstStyle/>
                    <a:p>
                      <a:pPr algn="l" indent="0" marL="0">
                        <a:buNone/>
                      </a:pPr>
                      <a:r>
                        <a:rPr lang="en-US" sz="850" dirty="0">
                          <a:solidFill>
                            <a:srgbClr val="1A1A2E"/>
                          </a:solidFill>
                        </a:rPr>
                        <a:t>G&amp;A</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3.5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4.8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6.2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7.8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92608">
                <a:tc>
                  <a:txBody>
                    <a:bodyPr/>
                    <a:lstStyle/>
                    <a:p>
                      <a:pPr algn="l" indent="0" marL="0">
                        <a:buNone/>
                      </a:pPr>
                      <a:r>
                        <a:rPr lang="en-US" sz="850" b="1" dirty="0">
                          <a:solidFill>
                            <a:srgbClr val="1A1A2E"/>
                          </a:solidFill>
                        </a:rPr>
                        <a:t>R&amp;D / Design</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2.5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3.5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4.2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5.2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292608">
                <a:tc>
                  <a:txBody>
                    <a:bodyPr/>
                    <a:lstStyle/>
                    <a:p>
                      <a:pPr algn="l" indent="0" marL="0">
                        <a:buNone/>
                      </a:pPr>
                      <a:r>
                        <a:rPr lang="en-US" sz="850" b="1" dirty="0">
                          <a:solidFill>
                            <a:srgbClr val="1A1A2E"/>
                          </a:solidFill>
                        </a:rPr>
                        <a:t>Adj. EBITDA</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5BAE"/>
                          </a:solidFill>
                        </a:rPr>
                        <a:t>1.5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5BAE"/>
                          </a:solidFill>
                        </a:rPr>
                        <a:t>3.5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5BAE"/>
                          </a:solidFill>
                        </a:rPr>
                        <a:t>5.2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5BAE"/>
                          </a:solidFill>
                        </a:rPr>
                        <a:t>6.5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A1A2E"/>
                          </a:solidFill>
                        </a:rPr>
                        <a:t>EBITDA Margin %</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5.4%</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8.3%</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8.8%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8.3%</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292608">
                <a:tc>
                  <a:txBody>
                    <a:bodyPr/>
                    <a:lstStyle/>
                    <a:p>
                      <a:pPr algn="l" indent="0" marL="0">
                        <a:buNone/>
                      </a:pPr>
                      <a:r>
                        <a:rPr lang="en-US" sz="850" dirty="0">
                          <a:solidFill>
                            <a:srgbClr val="1A1A2E"/>
                          </a:solidFill>
                        </a:rPr>
                        <a:t>Interest Expense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(0.4)</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(0.6)</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(0.8)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(0.9)</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bl>
          </a:graphicData>
        </a:graphic>
      </p:graphicFrame>
      <p:graphicFrame>
        <p:nvGraphicFramePr>
          <p:cNvPr id="9" name="Chart 0" descr=""/>
          <p:cNvGraphicFramePr/>
          <p:nvPr/>
        </p:nvGraphicFramePr>
        <p:xfrm>
          <a:off x="457200" y="3822192"/>
          <a:ext cx="8229600" cy="86868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p:nvPr/>
        </p:nvSpPr>
        <p:spPr>
          <a:xfrm>
            <a:off x="457200" y="4654296"/>
            <a:ext cx="8229600" cy="164592"/>
          </a:xfrm>
          <a:prstGeom prst="rect">
            <a:avLst/>
          </a:prstGeom>
          <a:noFill/>
          <a:ln/>
        </p:spPr>
        <p:txBody>
          <a:bodyPr wrap="square" lIns="0" tIns="0" rIns="0" bIns="0" rtlCol="0" anchor="ctr"/>
          <a:lstStyle/>
          <a:p>
            <a:pPr indent="0" marL="0">
              <a:buNone/>
            </a:pPr>
            <a:r>
              <a:rPr lang="en-US" sz="650" dirty="0">
                <a:solidFill>
                  <a:srgbClr val="8898AA"/>
                </a:solidFill>
              </a:rPr>
              <a:t>Adj. EBITDA excludes stock-based compensation and one-time items.</a:t>
            </a:r>
            <a:endParaRPr lang="en-US" sz="650" dirty="0"/>
          </a:p>
        </p:txBody>
      </p:sp>
      <p:sp>
        <p:nvSpPr>
          <p:cNvPr id="11" name="Shape 7"/>
          <p:cNvSpPr/>
          <p:nvPr/>
        </p:nvSpPr>
        <p:spPr>
          <a:xfrm>
            <a:off x="0" y="4892040"/>
            <a:ext cx="9144000" cy="251460"/>
          </a:xfrm>
          <a:prstGeom prst="rect">
            <a:avLst/>
          </a:prstGeom>
          <a:solidFill>
            <a:srgbClr val="F4F6FA"/>
          </a:solidFill>
          <a:ln w="12700">
            <a:solidFill>
              <a:srgbClr val="D0D8E4"/>
            </a:solidFill>
            <a:prstDash val="solid"/>
          </a:ln>
        </p:spPr>
      </p:sp>
      <p:sp>
        <p:nvSpPr>
          <p:cNvPr id="12" name="Text 8"/>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13" name="Text 9"/>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8 / 14</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Houlihan Lokey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BALANCE SHEET &amp; CAPITAL STRUCTURE</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Balance Sheet &amp; Capital Structure</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As of most recent period; $ in millions</a:t>
            </a:r>
            <a:endParaRPr lang="en-US" sz="950" dirty="0"/>
          </a:p>
        </p:txBody>
      </p:sp>
      <p:sp>
        <p:nvSpPr>
          <p:cNvPr id="8" name="Text 6"/>
          <p:cNvSpPr/>
          <p:nvPr/>
        </p:nvSpPr>
        <p:spPr>
          <a:xfrm>
            <a:off x="457200" y="1261872"/>
            <a:ext cx="4572000" cy="274320"/>
          </a:xfrm>
          <a:prstGeom prst="rect">
            <a:avLst/>
          </a:prstGeom>
          <a:noFill/>
          <a:ln/>
        </p:spPr>
        <p:txBody>
          <a:bodyPr wrap="square" lIns="0" tIns="0" rIns="0" bIns="0" rtlCol="0" anchor="ctr"/>
          <a:lstStyle/>
          <a:p>
            <a:pPr indent="0" marL="0">
              <a:buNone/>
            </a:pPr>
            <a:r>
              <a:rPr lang="en-US" sz="1000" b="1" dirty="0">
                <a:solidFill>
                  <a:srgbClr val="1B2D55"/>
                </a:solidFill>
              </a:rPr>
              <a:t>Capital Structure</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572768"/>
          <a:ext cx="5029200" cy="914400"/>
        </p:xfrm>
        <a:graphic>
          <a:graphicData uri="http://schemas.openxmlformats.org/drawingml/2006/table">
            <a:tbl>
              <a:tblPr/>
              <a:tblGrid>
                <a:gridCol w="2194560"/>
                <a:gridCol w="731520"/>
                <a:gridCol w="914400"/>
                <a:gridCol w="1188720"/>
              </a:tblGrid>
              <a:tr h="347472">
                <a:tc>
                  <a:txBody>
                    <a:bodyPr/>
                    <a:lstStyle/>
                    <a:p>
                      <a:pPr indent="0" marL="0">
                        <a:buNone/>
                      </a:pPr>
                      <a:r>
                        <a:rPr lang="en-US" sz="800" b="1" dirty="0">
                          <a:solidFill>
                            <a:srgbClr val="FFFFFF"/>
                          </a:solidFill>
                        </a:rPr>
                        <a:t>Instrument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Maturity</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Balance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Leverage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347472">
                <a:tc>
                  <a:txBody>
                    <a:bodyPr/>
                    <a:lstStyle/>
                    <a:p>
                      <a:pPr algn="l" indent="0" marL="0">
                        <a:buNone/>
                      </a:pPr>
                      <a:r>
                        <a:rPr lang="en-US" sz="800" dirty="0">
                          <a:solidFill>
                            <a:srgbClr val="000000"/>
                          </a:solidFill>
                        </a:rPr>
                        <a:t>Revolving Credit Facility</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2023</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$15.0M (undrawn)</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47472">
                <a:tc>
                  <a:txBody>
                    <a:bodyPr/>
                    <a:lstStyle/>
                    <a:p>
                      <a:pPr algn="l" indent="0" marL="0">
                        <a:buNone/>
                      </a:pPr>
                      <a:r>
                        <a:rPr lang="en-US" sz="800" dirty="0">
                          <a:solidFill>
                            <a:srgbClr val="000000"/>
                          </a:solidFill>
                        </a:rPr>
                        <a:t>Series B Preferred</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000000"/>
                          </a:solidFill>
                        </a:rPr>
                        <a:t>N/A</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000000"/>
                          </a:solidFill>
                        </a:rPr>
                        <a:t>$26.0M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000000"/>
                          </a:solidFill>
                        </a:rPr>
                        <a: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47472">
                <a:tc>
                  <a:txBody>
                    <a:bodyPr/>
                    <a:lstStyle/>
                    <a:p>
                      <a:pPr algn="l" indent="0" marL="0">
                        <a:buNone/>
                      </a:pPr>
                      <a:r>
                        <a:rPr lang="en-US" sz="800" b="1" dirty="0">
                          <a:solidFill>
                            <a:srgbClr val="000000"/>
                          </a:solidFill>
                        </a:rPr>
                        <a:t>Total Debt / Preferred</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b="1" dirty="0">
                          <a:solidFill>
                            <a:srgbClr val="000000"/>
                          </a:solidFill>
                        </a:rPr>
                        <a:t>$26.0M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47472">
                <a:tc>
                  <a:txBody>
                    <a:bodyPr/>
                    <a:lstStyle/>
                    <a:p>
                      <a:pPr algn="l" indent="0" marL="0">
                        <a:buNone/>
                      </a:pPr>
                      <a:r>
                        <a:rPr lang="en-US" sz="800" b="1" dirty="0">
                          <a:solidFill>
                            <a:srgbClr val="000000"/>
                          </a:solidFill>
                        </a:rPr>
                        <a:t>(-) Cash</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b="1" dirty="0">
                          <a:solidFill>
                            <a:srgbClr val="000000"/>
                          </a:solidFill>
                        </a:rPr>
                        <a:t>($8.2M)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47472">
                <a:tc>
                  <a:txBody>
                    <a:bodyPr/>
                    <a:lstStyle/>
                    <a:p>
                      <a:pPr algn="l" indent="0" marL="0">
                        <a:buNone/>
                      </a:pPr>
                      <a:r>
                        <a:rPr lang="en-US" sz="800" b="1" dirty="0">
                          <a:solidFill>
                            <a:srgbClr val="000000"/>
                          </a:solidFill>
                        </a:rPr>
                        <a:t>Net Debt (incl. preferred)</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b="1" dirty="0">
                          <a:solidFill>
                            <a:srgbClr val="000000"/>
                          </a:solidFill>
                        </a:rPr>
                        <a:t>$17.8M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b="1" dirty="0">
                          <a:solidFill>
                            <a:srgbClr val="000000"/>
                          </a:solidFill>
                        </a:rPr>
                        <a:t>2.7x LTM EBITDA</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bl>
          </a:graphicData>
        </a:graphic>
      </p:graphicFrame>
      <p:sp>
        <p:nvSpPr>
          <p:cNvPr id="10" name="Text 7"/>
          <p:cNvSpPr/>
          <p:nvPr/>
        </p:nvSpPr>
        <p:spPr>
          <a:xfrm>
            <a:off x="5577840" y="1261872"/>
            <a:ext cx="3200400" cy="274320"/>
          </a:xfrm>
          <a:prstGeom prst="rect">
            <a:avLst/>
          </a:prstGeom>
          <a:noFill/>
          <a:ln/>
        </p:spPr>
        <p:txBody>
          <a:bodyPr wrap="square" lIns="0" tIns="0" rIns="0" bIns="0" rtlCol="0" anchor="ctr"/>
          <a:lstStyle/>
          <a:p>
            <a:pPr indent="0" marL="0">
              <a:buNone/>
            </a:pPr>
            <a:r>
              <a:rPr lang="en-US" sz="1000" b="1" dirty="0">
                <a:solidFill>
                  <a:srgbClr val="1B2D55"/>
                </a:solidFill>
              </a:rPr>
              <a:t>Valuation Context</a:t>
            </a:r>
            <a:endParaRPr lang="en-US" sz="10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577840" y="1572768"/>
          <a:ext cx="3200400" cy="914400"/>
        </p:xfrm>
        <a:graphic>
          <a:graphicData uri="http://schemas.openxmlformats.org/drawingml/2006/table">
            <a:tbl>
              <a:tblPr/>
              <a:tblGrid>
                <a:gridCol w="1417320"/>
                <a:gridCol w="548640"/>
                <a:gridCol w="1234440"/>
              </a:tblGrid>
              <a:tr h="347472">
                <a:tc>
                  <a:txBody>
                    <a:bodyPr/>
                    <a:lstStyle/>
                    <a:p>
                      <a:pPr indent="0" marL="0">
                        <a:buNone/>
                      </a:pPr>
                      <a:r>
                        <a:rPr lang="en-US" sz="800" b="1" dirty="0">
                          <a:solidFill>
                            <a:srgbClr val="FFFFFF"/>
                          </a:solidFill>
                        </a:rPr>
                        <a:t>Metric</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Value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800" b="1" dirty="0">
                          <a:solidFill>
                            <a:srgbClr val="FFFFFF"/>
                          </a:solidFill>
                        </a:rPr>
                        <a:t>Commentary</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347472">
                <a:tc>
                  <a:txBody>
                    <a:bodyPr/>
                    <a:lstStyle/>
                    <a:p>
                      <a:pPr algn="l" indent="0" marL="0">
                        <a:buNone/>
                      </a:pPr>
                      <a:r>
                        <a:rPr lang="en-US" sz="800" dirty="0">
                          <a:solidFill>
                            <a:srgbClr val="000000"/>
                          </a:solidFill>
                        </a:rPr>
                        <a:t>Enterprise Value (guidance)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000000"/>
                          </a:solidFill>
                        </a:rPr>
                        <a:t>~$130M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l" indent="0" marL="0">
                        <a:buNone/>
                      </a:pPr>
                      <a:r>
                        <a:rPr lang="en-US" sz="800" dirty="0">
                          <a:solidFill>
                            <a:srgbClr val="000000"/>
                          </a:solidFill>
                        </a:rPr>
                        <a:t>20x LTM Adj. EBITDA</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47472">
                <a:tc>
                  <a:txBody>
                    <a:bodyPr/>
                    <a:lstStyle/>
                    <a:p>
                      <a:pPr algn="l" indent="0" marL="0">
                        <a:buNone/>
                      </a:pPr>
                      <a:r>
                        <a:rPr lang="en-US" sz="800" dirty="0">
                          <a:solidFill>
                            <a:srgbClr val="000000"/>
                          </a:solidFill>
                        </a:rPr>
                        <a:t>Revenue Multiple (LTM)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1.7x</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rPr>
                        <a:t>Consumer DTC: 1.5–2.5x revenue typical</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47472">
                <a:tc>
                  <a:txBody>
                    <a:bodyPr/>
                    <a:lstStyle/>
                    <a:p>
                      <a:pPr algn="l" indent="0" marL="0">
                        <a:buNone/>
                      </a:pPr>
                      <a:r>
                        <a:rPr lang="en-US" sz="800" dirty="0">
                          <a:solidFill>
                            <a:srgbClr val="000000"/>
                          </a:solidFill>
                        </a:rPr>
                        <a:t>EBITDA Multiple (LTM)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000000"/>
                          </a:solidFill>
                        </a:rPr>
                        <a:t>20x</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l" indent="0" marL="0">
                        <a:buNone/>
                      </a:pPr>
                      <a:r>
                        <a:rPr lang="en-US" sz="800" dirty="0">
                          <a:solidFill>
                            <a:srgbClr val="000000"/>
                          </a:solidFill>
                        </a:rPr>
                        <a:t>Premium reflects growth + Studio quality</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47472">
                <a:tc>
                  <a:txBody>
                    <a:bodyPr/>
                    <a:lstStyle/>
                    <a:p>
                      <a:pPr algn="l" indent="0" marL="0">
                        <a:buNone/>
                      </a:pPr>
                      <a:r>
                        <a:rPr lang="en-US" sz="800" dirty="0">
                          <a:solidFill>
                            <a:srgbClr val="000000"/>
                          </a:solidFill>
                        </a:rPr>
                        <a:t>EBITDA Multiple (FY2022E)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7.6x</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rPr>
                        <a:t>Highly attractive on projected basis</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47472">
                <a:tc>
                  <a:txBody>
                    <a:bodyPr/>
                    <a:lstStyle/>
                    <a:p>
                      <a:pPr algn="l" indent="0" marL="0">
                        <a:buNone/>
                      </a:pPr>
                      <a:r>
                        <a:rPr lang="en-US" sz="800" dirty="0">
                          <a:solidFill>
                            <a:srgbClr val="000000"/>
                          </a:solidFill>
                        </a:rPr>
                        <a:t>EV / ARR (Studio)</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000000"/>
                          </a:solidFill>
                        </a:rPr>
                        <a:t>6.0x</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l" indent="0" marL="0">
                        <a:buNone/>
                      </a:pPr>
                      <a:r>
                        <a:rPr lang="en-US" sz="800" dirty="0">
                          <a:solidFill>
                            <a:srgbClr val="000000"/>
                          </a:solidFill>
                        </a:rPr>
                        <a:t>Modest for SaaS-quality recurring revenue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bl>
          </a:graphicData>
        </a:graphic>
      </p:graphicFrame>
      <p:sp>
        <p:nvSpPr>
          <p:cNvPr id="12" name="Shape 8"/>
          <p:cNvSpPr/>
          <p:nvPr/>
        </p:nvSpPr>
        <p:spPr>
          <a:xfrm>
            <a:off x="0" y="4892040"/>
            <a:ext cx="9144000" cy="251460"/>
          </a:xfrm>
          <a:prstGeom prst="rect">
            <a:avLst/>
          </a:prstGeom>
          <a:solidFill>
            <a:srgbClr val="F4F6FA"/>
          </a:solidFill>
          <a:ln w="12700">
            <a:solidFill>
              <a:srgbClr val="D0D8E4"/>
            </a:solidFill>
            <a:prstDash val="solid"/>
          </a:ln>
        </p:spPr>
      </p:sp>
      <p:sp>
        <p:nvSpPr>
          <p:cNvPr id="13" name="Text 9"/>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14" name="Text 10"/>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9 / 14</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Houlihan Lokey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MANAGEMENT PROJECTIONS</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Financial Projections</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Management case; $ in millions — not independently verified by Houlihan Lokey</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61872"/>
          <a:ext cx="8229600" cy="914400"/>
        </p:xfrm>
        <a:graphic>
          <a:graphicData uri="http://schemas.openxmlformats.org/drawingml/2006/table">
            <a:tbl>
              <a:tblPr/>
              <a:tblGrid>
                <a:gridCol w="2468880"/>
                <a:gridCol w="1152144"/>
                <a:gridCol w="1152144"/>
                <a:gridCol w="1152144"/>
                <a:gridCol w="1152144"/>
                <a:gridCol w="1152144"/>
              </a:tblGrid>
              <a:tr h="310896">
                <a:tc>
                  <a:txBody>
                    <a:bodyPr/>
                    <a:lstStyle/>
                    <a:p>
                      <a:pPr indent="0" marL="0">
                        <a:buNone/>
                      </a:pPr>
                      <a:r>
                        <a:rPr lang="en-US" sz="800" b="1" dirty="0">
                          <a:solidFill>
                            <a:srgbClr val="FFFFFF"/>
                          </a:solidFill>
                        </a:rPr>
                        <a:t>($M unless noted)</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1B2D55"/>
                          </a:solidFill>
                        </a:rPr>
                        <a:t>FY2021E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C8A83C"/>
                    </a:solidFill>
                  </a:tcPr>
                </a:tc>
                <a:tc>
                  <a:txBody>
                    <a:bodyPr/>
                    <a:lstStyle/>
                    <a:p>
                      <a:pPr algn="ctr" indent="0" marL="0">
                        <a:buNone/>
                      </a:pPr>
                      <a:r>
                        <a:rPr lang="en-US" sz="800" b="1" dirty="0">
                          <a:solidFill>
                            <a:srgbClr val="1B2D55"/>
                          </a:solidFill>
                        </a:rPr>
                        <a:t>FY2022E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C8A83C"/>
                    </a:solidFill>
                  </a:tcPr>
                </a:tc>
                <a:tc>
                  <a:txBody>
                    <a:bodyPr/>
                    <a:lstStyle/>
                    <a:p>
                      <a:pPr algn="ctr" indent="0" marL="0">
                        <a:buNone/>
                      </a:pPr>
                      <a:r>
                        <a:rPr lang="en-US" sz="800" b="1" dirty="0">
                          <a:solidFill>
                            <a:srgbClr val="1B2D55"/>
                          </a:solidFill>
                        </a:rPr>
                        <a:t>FY2023E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C8A83C"/>
                    </a:solidFill>
                  </a:tcPr>
                </a:tc>
                <a:tc>
                  <a:txBody>
                    <a:bodyPr/>
                    <a:lstStyle/>
                    <a:p>
                      <a:pPr algn="ctr" indent="0" marL="0">
                        <a:buNone/>
                      </a:pPr>
                      <a:r>
                        <a:rPr lang="en-US" sz="800" b="1" dirty="0">
                          <a:solidFill>
                            <a:srgbClr val="1B2D55"/>
                          </a:solidFill>
                        </a:rPr>
                        <a:t>FY2024E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C8A83C"/>
                    </a:solidFill>
                  </a:tcPr>
                </a:tc>
                <a:tc>
                  <a:txBody>
                    <a:bodyPr/>
                    <a:lstStyle/>
                    <a:p>
                      <a:pPr algn="ctr" indent="0" marL="0">
                        <a:buNone/>
                      </a:pPr>
                      <a:r>
                        <a:rPr lang="en-US" sz="800" b="1" dirty="0">
                          <a:solidFill>
                            <a:srgbClr val="1B2D55"/>
                          </a:solidFill>
                        </a:rPr>
                        <a:t>FY2025E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C8A83C"/>
                    </a:solidFill>
                  </a:tcPr>
                </a:tc>
              </a:tr>
              <a:tr h="310896">
                <a:tc>
                  <a:txBody>
                    <a:bodyPr/>
                    <a:lstStyle/>
                    <a:p>
                      <a:pPr algn="l" indent="0" marL="0">
                        <a:buNone/>
                      </a:pPr>
                      <a:r>
                        <a:rPr lang="en-US" sz="850" b="1" dirty="0">
                          <a:solidFill>
                            <a:srgbClr val="1A1A2E"/>
                          </a:solidFill>
                        </a:rPr>
                        <a:t>Revenue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95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122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155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192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235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10896">
                <a:tc>
                  <a:txBody>
                    <a:bodyPr/>
                    <a:lstStyle/>
                    <a:p>
                      <a:pPr algn="l" indent="0" marL="0">
                        <a:buNone/>
                      </a:pPr>
                      <a:r>
                        <a:rPr lang="en-US" sz="850" dirty="0">
                          <a:solidFill>
                            <a:srgbClr val="1A1A2E"/>
                          </a:solidFill>
                        </a:rPr>
                        <a:t>YoY Growth</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+21%E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+28%E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+27%E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+24%E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+22%E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10896">
                <a:tc>
                  <a:txBody>
                    <a:bodyPr/>
                    <a:lstStyle/>
                    <a:p>
                      <a:pPr algn="l" indent="0" marL="0">
                        <a:buNone/>
                      </a:pPr>
                      <a:r>
                        <a:rPr lang="en-US" sz="850" dirty="0">
                          <a:solidFill>
                            <a:srgbClr val="1A1A2E"/>
                          </a:solidFill>
                        </a:rPr>
                        <a:t>Gross Profit</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55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73</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96</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122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153</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10896">
                <a:tc>
                  <a:txBody>
                    <a:bodyPr/>
                    <a:lstStyle/>
                    <a:p>
                      <a:pPr algn="l" indent="0" marL="0">
                        <a:buNone/>
                      </a:pPr>
                      <a:r>
                        <a:rPr lang="en-US" sz="850" dirty="0">
                          <a:solidFill>
                            <a:srgbClr val="1A1A2E"/>
                          </a:solidFill>
                        </a:rPr>
                        <a:t>Gross Margin %</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57.9%</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59.8%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61.9%</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63.5%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65.1%</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10896">
                <a:tc>
                  <a:txBody>
                    <a:bodyPr/>
                    <a:lstStyle/>
                    <a:p>
                      <a:pPr algn="l" indent="0" marL="0">
                        <a:buNone/>
                      </a:pPr>
                      <a:r>
                        <a:rPr lang="en-US" sz="850" b="1" dirty="0">
                          <a:solidFill>
                            <a:srgbClr val="1A1A2E"/>
                          </a:solidFill>
                        </a:rPr>
                        <a:t>Adj. EBITDA</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17</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26</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38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54</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10896">
                <a:tc>
                  <a:txBody>
                    <a:bodyPr/>
                    <a:lstStyle/>
                    <a:p>
                      <a:pPr algn="l" indent="0" marL="0">
                        <a:buNone/>
                      </a:pPr>
                      <a:r>
                        <a:rPr lang="en-US" sz="850" b="1" dirty="0">
                          <a:solidFill>
                            <a:srgbClr val="1A1A2E"/>
                          </a:solidFill>
                        </a:rPr>
                        <a:t>EBITDA Margin %</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5BAE"/>
                          </a:solidFill>
                        </a:rPr>
                        <a:t>10.5%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5BAE"/>
                          </a:solidFill>
                        </a:rPr>
                        <a:t>13.9%</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5BAE"/>
                          </a:solidFill>
                        </a:rPr>
                        <a:t>16.8%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5BAE"/>
                          </a:solidFill>
                        </a:rPr>
                        <a:t>19.8%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5BAE"/>
                          </a:solidFill>
                        </a:rPr>
                        <a:t>23.0%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10896">
                <a:tc>
                  <a:txBody>
                    <a:bodyPr/>
                    <a:lstStyle/>
                    <a:p>
                      <a:pPr algn="l" indent="0" marL="0">
                        <a:buNone/>
                      </a:pPr>
                      <a:r>
                        <a:rPr lang="en-US" sz="850" dirty="0">
                          <a:solidFill>
                            <a:srgbClr val="1A1A2E"/>
                          </a:solidFill>
                        </a:rPr>
                        <a:t>Studio ARR</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30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48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72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105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148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bl>
          </a:graphicData>
        </a:graphic>
      </p:graphicFrame>
      <p:graphicFrame>
        <p:nvGraphicFramePr>
          <p:cNvPr id="9" name="Chart 0" descr=""/>
          <p:cNvGraphicFramePr/>
          <p:nvPr/>
        </p:nvGraphicFramePr>
        <p:xfrm>
          <a:off x="457200" y="3822192"/>
          <a:ext cx="8229600" cy="841248"/>
        </p:xfrm>
        <a:graphic xmlns:a="http://schemas.openxmlformats.org/drawingml/2006/main">
          <a:graphicData uri="http://schemas.openxmlformats.org/drawingml/2006/chart">
            <c:chart xmlns:c="http://schemas.openxmlformats.org/drawingml/2006/chart" r:id="rId1"/>
          </a:graphicData>
        </a:graphic>
      </p:graphicFrame>
      <p:sp>
        <p:nvSpPr>
          <p:cNvPr id="10" name="Text 6"/>
          <p:cNvSpPr/>
          <p:nvPr/>
        </p:nvSpPr>
        <p:spPr>
          <a:xfrm>
            <a:off x="457200" y="4654296"/>
            <a:ext cx="8229600" cy="164592"/>
          </a:xfrm>
          <a:prstGeom prst="rect">
            <a:avLst/>
          </a:prstGeom>
          <a:noFill/>
          <a:ln/>
        </p:spPr>
        <p:txBody>
          <a:bodyPr wrap="square" lIns="0" tIns="0" rIns="0" bIns="0" rtlCol="0" anchor="ctr"/>
          <a:lstStyle/>
          <a:p>
            <a:pPr indent="0" marL="0">
              <a:buNone/>
            </a:pPr>
            <a:r>
              <a:rPr lang="en-US" sz="650" dirty="0">
                <a:solidFill>
                  <a:srgbClr val="8898AA"/>
                </a:solidFill>
              </a:rPr>
              <a:t>Management projections. Actual results may differ materially.</a:t>
            </a:r>
            <a:endParaRPr lang="en-US" sz="650" dirty="0"/>
          </a:p>
        </p:txBody>
      </p:sp>
      <p:sp>
        <p:nvSpPr>
          <p:cNvPr id="11" name="Shape 7"/>
          <p:cNvSpPr/>
          <p:nvPr/>
        </p:nvSpPr>
        <p:spPr>
          <a:xfrm>
            <a:off x="0" y="4892040"/>
            <a:ext cx="9144000" cy="251460"/>
          </a:xfrm>
          <a:prstGeom prst="rect">
            <a:avLst/>
          </a:prstGeom>
          <a:solidFill>
            <a:srgbClr val="F4F6FA"/>
          </a:solidFill>
          <a:ln w="12700">
            <a:solidFill>
              <a:srgbClr val="D0D8E4"/>
            </a:solidFill>
            <a:prstDash val="solid"/>
          </a:ln>
        </p:spPr>
      </p:sp>
      <p:sp>
        <p:nvSpPr>
          <p:cNvPr id="12" name="Text 8"/>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13" name="Text 9"/>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10 / 14</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Houlihan Lokey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MANAGEMENT TEAM</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Management Team</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Experienced leadership with deep sector expertise</a:t>
            </a:r>
            <a:endParaRPr lang="en-US" sz="950" dirty="0"/>
          </a:p>
        </p:txBody>
      </p:sp>
      <p:sp>
        <p:nvSpPr>
          <p:cNvPr id="8" name="Shape 6"/>
          <p:cNvSpPr/>
          <p:nvPr/>
        </p:nvSpPr>
        <p:spPr>
          <a:xfrm>
            <a:off x="457200" y="1234440"/>
            <a:ext cx="4251960" cy="1115568"/>
          </a:xfrm>
          <a:prstGeom prst="rect">
            <a:avLst/>
          </a:prstGeom>
          <a:solidFill>
            <a:srgbClr val="FFFFFF"/>
          </a:solidFill>
          <a:ln w="12700">
            <a:solidFill>
              <a:srgbClr val="D0D8E4"/>
            </a:solidFill>
            <a:prstDash val="solid"/>
          </a:ln>
          <a:effectLst>
            <a:outerShdw sx="100000" sy="100000" kx="0" ky="0" algn="bl" rotWithShape="0" blurRad="38100" dist="12700" dir="8100000">
              <a:srgbClr val="000000">
                <a:alpha val="6000"/>
              </a:srgbClr>
            </a:outerShdw>
          </a:effectLst>
        </p:spPr>
      </p:sp>
      <p:sp>
        <p:nvSpPr>
          <p:cNvPr id="9" name="Shape 7"/>
          <p:cNvSpPr/>
          <p:nvPr/>
        </p:nvSpPr>
        <p:spPr>
          <a:xfrm>
            <a:off x="457200" y="1234440"/>
            <a:ext cx="73152" cy="1115568"/>
          </a:xfrm>
          <a:prstGeom prst="rect">
            <a:avLst/>
          </a:prstGeom>
          <a:solidFill>
            <a:srgbClr val="2B5BAE"/>
          </a:solidFill>
          <a:ln w="12700">
            <a:solidFill>
              <a:srgbClr val="2B5BAE"/>
            </a:solidFill>
            <a:prstDash val="solid"/>
          </a:ln>
        </p:spPr>
      </p:sp>
      <p:sp>
        <p:nvSpPr>
          <p:cNvPr id="10" name="Shape 8"/>
          <p:cNvSpPr/>
          <p:nvPr/>
        </p:nvSpPr>
        <p:spPr>
          <a:xfrm>
            <a:off x="621792" y="1508760"/>
            <a:ext cx="475488" cy="475488"/>
          </a:xfrm>
          <a:prstGeom prst="oval">
            <a:avLst/>
          </a:prstGeom>
          <a:solidFill>
            <a:srgbClr val="1B2D55"/>
          </a:solidFill>
          <a:ln w="12700">
            <a:solidFill>
              <a:srgbClr val="1B2D55"/>
            </a:solidFill>
            <a:prstDash val="solid"/>
          </a:ln>
        </p:spPr>
      </p:sp>
      <p:sp>
        <p:nvSpPr>
          <p:cNvPr id="11" name="Text 9"/>
          <p:cNvSpPr/>
          <p:nvPr/>
        </p:nvSpPr>
        <p:spPr>
          <a:xfrm>
            <a:off x="621792" y="1508760"/>
            <a:ext cx="475488" cy="475488"/>
          </a:xfrm>
          <a:prstGeom prst="rect">
            <a:avLst/>
          </a:prstGeom>
          <a:noFill/>
          <a:ln/>
        </p:spPr>
        <p:txBody>
          <a:bodyPr wrap="square" lIns="0" tIns="0" rIns="0" bIns="0" rtlCol="0" anchor="ctr"/>
          <a:lstStyle/>
          <a:p>
            <a:pPr algn="ctr" indent="0" marL="0">
              <a:buNone/>
            </a:pPr>
            <a:r>
              <a:rPr lang="en-US" sz="1300" b="1" dirty="0">
                <a:solidFill>
                  <a:srgbClr val="C8A83C"/>
                </a:solidFill>
              </a:rPr>
              <a:t>A</a:t>
            </a:r>
            <a:endParaRPr lang="en-US" sz="1300" dirty="0"/>
          </a:p>
        </p:txBody>
      </p:sp>
      <p:sp>
        <p:nvSpPr>
          <p:cNvPr id="12" name="Text 10"/>
          <p:cNvSpPr/>
          <p:nvPr/>
        </p:nvSpPr>
        <p:spPr>
          <a:xfrm>
            <a:off x="1234440" y="1325880"/>
            <a:ext cx="3337560" cy="256032"/>
          </a:xfrm>
          <a:prstGeom prst="rect">
            <a:avLst/>
          </a:prstGeom>
          <a:noFill/>
          <a:ln/>
        </p:spPr>
        <p:txBody>
          <a:bodyPr wrap="square" lIns="0" tIns="0" rIns="0" bIns="0" rtlCol="0" anchor="ctr"/>
          <a:lstStyle/>
          <a:p>
            <a:pPr indent="0" marL="0">
              <a:buNone/>
            </a:pPr>
            <a:r>
              <a:rPr lang="en-US" sz="1000" b="1" dirty="0">
                <a:solidFill>
                  <a:srgbClr val="1B2D55"/>
                </a:solidFill>
              </a:rPr>
              <a:t>Amanda Reyes</a:t>
            </a:r>
            <a:endParaRPr lang="en-US" sz="1000" dirty="0"/>
          </a:p>
        </p:txBody>
      </p:sp>
      <p:sp>
        <p:nvSpPr>
          <p:cNvPr id="13" name="Text 11"/>
          <p:cNvSpPr/>
          <p:nvPr/>
        </p:nvSpPr>
        <p:spPr>
          <a:xfrm>
            <a:off x="1234440" y="1600200"/>
            <a:ext cx="3337560" cy="201168"/>
          </a:xfrm>
          <a:prstGeom prst="rect">
            <a:avLst/>
          </a:prstGeom>
          <a:noFill/>
          <a:ln/>
        </p:spPr>
        <p:txBody>
          <a:bodyPr wrap="square" lIns="0" tIns="0" rIns="0" bIns="0" rtlCol="0" anchor="ctr"/>
          <a:lstStyle/>
          <a:p>
            <a:pPr indent="0" marL="0">
              <a:buNone/>
            </a:pPr>
            <a:r>
              <a:rPr lang="en-US" sz="800" dirty="0">
                <a:solidFill>
                  <a:srgbClr val="2B5BAE"/>
                </a:solidFill>
              </a:rPr>
              <a:t>Chief Executive Officer &amp; Co-Founder</a:t>
            </a:r>
            <a:endParaRPr lang="en-US" sz="800" dirty="0"/>
          </a:p>
        </p:txBody>
      </p:sp>
      <p:sp>
        <p:nvSpPr>
          <p:cNvPr id="14" name="Shape 12"/>
          <p:cNvSpPr/>
          <p:nvPr/>
        </p:nvSpPr>
        <p:spPr>
          <a:xfrm>
            <a:off x="457200" y="1819656"/>
            <a:ext cx="8229600" cy="0"/>
          </a:xfrm>
          <a:prstGeom prst="line">
            <a:avLst/>
          </a:prstGeom>
          <a:noFill/>
          <a:ln w="9525">
            <a:solidFill>
              <a:srgbClr val="D0D8E4"/>
            </a:solidFill>
            <a:prstDash val="solid"/>
          </a:ln>
        </p:spPr>
      </p:sp>
      <p:sp>
        <p:nvSpPr>
          <p:cNvPr id="15" name="Text 13"/>
          <p:cNvSpPr/>
          <p:nvPr/>
        </p:nvSpPr>
        <p:spPr>
          <a:xfrm>
            <a:off x="1234440" y="1874520"/>
            <a:ext cx="3337560" cy="420624"/>
          </a:xfrm>
          <a:prstGeom prst="rect">
            <a:avLst/>
          </a:prstGeom>
          <a:noFill/>
          <a:ln/>
        </p:spPr>
        <p:txBody>
          <a:bodyPr wrap="square" lIns="0" tIns="0" rIns="0" bIns="0" rtlCol="0" anchor="t"/>
          <a:lstStyle/>
          <a:p>
            <a:pPr indent="0" marL="0">
              <a:buNone/>
            </a:pPr>
            <a:r>
              <a:rPr lang="en-US" sz="700" dirty="0">
                <a:solidFill>
                  <a:srgbClr val="4A5568"/>
                </a:solidFill>
              </a:rPr>
              <a:t>Co-founded Stride in 2016. Previously VP Design at Lululemon (8 years) where she led the iconic Align Pant and Wunder Under franchises. MIT Media Lab (Design Innovation). Named to Forbes 30 Under 30 (2019). Owns 44% of company equity.</a:t>
            </a:r>
            <a:endParaRPr lang="en-US" sz="700" dirty="0"/>
          </a:p>
        </p:txBody>
      </p:sp>
      <p:sp>
        <p:nvSpPr>
          <p:cNvPr id="16" name="Shape 14"/>
          <p:cNvSpPr/>
          <p:nvPr/>
        </p:nvSpPr>
        <p:spPr>
          <a:xfrm>
            <a:off x="4864608" y="1234440"/>
            <a:ext cx="4251960" cy="1115568"/>
          </a:xfrm>
          <a:prstGeom prst="rect">
            <a:avLst/>
          </a:prstGeom>
          <a:solidFill>
            <a:srgbClr val="FFFFFF"/>
          </a:solidFill>
          <a:ln w="12700">
            <a:solidFill>
              <a:srgbClr val="D0D8E4"/>
            </a:solidFill>
            <a:prstDash val="solid"/>
          </a:ln>
          <a:effectLst>
            <a:outerShdw sx="100000" sy="100000" kx="0" ky="0" algn="bl" rotWithShape="0" blurRad="38100" dist="12700" dir="8100000">
              <a:srgbClr val="000000">
                <a:alpha val="6000"/>
              </a:srgbClr>
            </a:outerShdw>
          </a:effectLst>
        </p:spPr>
      </p:sp>
      <p:sp>
        <p:nvSpPr>
          <p:cNvPr id="17" name="Shape 15"/>
          <p:cNvSpPr/>
          <p:nvPr/>
        </p:nvSpPr>
        <p:spPr>
          <a:xfrm>
            <a:off x="4864608" y="1234440"/>
            <a:ext cx="73152" cy="1115568"/>
          </a:xfrm>
          <a:prstGeom prst="rect">
            <a:avLst/>
          </a:prstGeom>
          <a:solidFill>
            <a:srgbClr val="2B5BAE"/>
          </a:solidFill>
          <a:ln w="12700">
            <a:solidFill>
              <a:srgbClr val="2B5BAE"/>
            </a:solidFill>
            <a:prstDash val="solid"/>
          </a:ln>
        </p:spPr>
      </p:sp>
      <p:sp>
        <p:nvSpPr>
          <p:cNvPr id="18" name="Shape 16"/>
          <p:cNvSpPr/>
          <p:nvPr/>
        </p:nvSpPr>
        <p:spPr>
          <a:xfrm>
            <a:off x="5029200" y="1508760"/>
            <a:ext cx="475488" cy="475488"/>
          </a:xfrm>
          <a:prstGeom prst="oval">
            <a:avLst/>
          </a:prstGeom>
          <a:solidFill>
            <a:srgbClr val="1B2D55"/>
          </a:solidFill>
          <a:ln w="12700">
            <a:solidFill>
              <a:srgbClr val="1B2D55"/>
            </a:solidFill>
            <a:prstDash val="solid"/>
          </a:ln>
        </p:spPr>
      </p:sp>
      <p:sp>
        <p:nvSpPr>
          <p:cNvPr id="19" name="Text 17"/>
          <p:cNvSpPr/>
          <p:nvPr/>
        </p:nvSpPr>
        <p:spPr>
          <a:xfrm>
            <a:off x="5029200" y="1508760"/>
            <a:ext cx="475488" cy="475488"/>
          </a:xfrm>
          <a:prstGeom prst="rect">
            <a:avLst/>
          </a:prstGeom>
          <a:noFill/>
          <a:ln/>
        </p:spPr>
        <p:txBody>
          <a:bodyPr wrap="square" lIns="0" tIns="0" rIns="0" bIns="0" rtlCol="0" anchor="ctr"/>
          <a:lstStyle/>
          <a:p>
            <a:pPr algn="ctr" indent="0" marL="0">
              <a:buNone/>
            </a:pPr>
            <a:r>
              <a:rPr lang="en-US" sz="1300" b="1" dirty="0">
                <a:solidFill>
                  <a:srgbClr val="C8A83C"/>
                </a:solidFill>
              </a:rPr>
              <a:t>J</a:t>
            </a:r>
            <a:endParaRPr lang="en-US" sz="1300" dirty="0"/>
          </a:p>
        </p:txBody>
      </p:sp>
      <p:sp>
        <p:nvSpPr>
          <p:cNvPr id="20" name="Text 18"/>
          <p:cNvSpPr/>
          <p:nvPr/>
        </p:nvSpPr>
        <p:spPr>
          <a:xfrm>
            <a:off x="5641848" y="1325880"/>
            <a:ext cx="3337560" cy="256032"/>
          </a:xfrm>
          <a:prstGeom prst="rect">
            <a:avLst/>
          </a:prstGeom>
          <a:noFill/>
          <a:ln/>
        </p:spPr>
        <p:txBody>
          <a:bodyPr wrap="square" lIns="0" tIns="0" rIns="0" bIns="0" rtlCol="0" anchor="ctr"/>
          <a:lstStyle/>
          <a:p>
            <a:pPr indent="0" marL="0">
              <a:buNone/>
            </a:pPr>
            <a:r>
              <a:rPr lang="en-US" sz="1000" b="1" dirty="0">
                <a:solidFill>
                  <a:srgbClr val="1B2D55"/>
                </a:solidFill>
              </a:rPr>
              <a:t>James Okoro</a:t>
            </a:r>
            <a:endParaRPr lang="en-US" sz="1000" dirty="0"/>
          </a:p>
        </p:txBody>
      </p:sp>
      <p:sp>
        <p:nvSpPr>
          <p:cNvPr id="21" name="Text 19"/>
          <p:cNvSpPr/>
          <p:nvPr/>
        </p:nvSpPr>
        <p:spPr>
          <a:xfrm>
            <a:off x="5641848" y="1600200"/>
            <a:ext cx="3337560" cy="201168"/>
          </a:xfrm>
          <a:prstGeom prst="rect">
            <a:avLst/>
          </a:prstGeom>
          <a:noFill/>
          <a:ln/>
        </p:spPr>
        <p:txBody>
          <a:bodyPr wrap="square" lIns="0" tIns="0" rIns="0" bIns="0" rtlCol="0" anchor="ctr"/>
          <a:lstStyle/>
          <a:p>
            <a:pPr indent="0" marL="0">
              <a:buNone/>
            </a:pPr>
            <a:r>
              <a:rPr lang="en-US" sz="800" dirty="0">
                <a:solidFill>
                  <a:srgbClr val="2B5BAE"/>
                </a:solidFill>
              </a:rPr>
              <a:t>Chief Operating Officer &amp; Co-Founder</a:t>
            </a:r>
            <a:endParaRPr lang="en-US" sz="800" dirty="0"/>
          </a:p>
        </p:txBody>
      </p:sp>
      <p:sp>
        <p:nvSpPr>
          <p:cNvPr id="22" name="Shape 20"/>
          <p:cNvSpPr/>
          <p:nvPr/>
        </p:nvSpPr>
        <p:spPr>
          <a:xfrm>
            <a:off x="457200" y="1819656"/>
            <a:ext cx="8229600" cy="0"/>
          </a:xfrm>
          <a:prstGeom prst="line">
            <a:avLst/>
          </a:prstGeom>
          <a:noFill/>
          <a:ln w="9525">
            <a:solidFill>
              <a:srgbClr val="D0D8E4"/>
            </a:solidFill>
            <a:prstDash val="solid"/>
          </a:ln>
        </p:spPr>
      </p:sp>
      <p:sp>
        <p:nvSpPr>
          <p:cNvPr id="23" name="Text 21"/>
          <p:cNvSpPr/>
          <p:nvPr/>
        </p:nvSpPr>
        <p:spPr>
          <a:xfrm>
            <a:off x="5641848" y="1874520"/>
            <a:ext cx="3337560" cy="420624"/>
          </a:xfrm>
          <a:prstGeom prst="rect">
            <a:avLst/>
          </a:prstGeom>
          <a:noFill/>
          <a:ln/>
        </p:spPr>
        <p:txBody>
          <a:bodyPr wrap="square" lIns="0" tIns="0" rIns="0" bIns="0" rtlCol="0" anchor="t"/>
          <a:lstStyle/>
          <a:p>
            <a:pPr indent="0" marL="0">
              <a:buNone/>
            </a:pPr>
            <a:r>
              <a:rPr lang="en-US" sz="700" dirty="0">
                <a:solidFill>
                  <a:srgbClr val="4A5568"/>
                </a:solidFill>
              </a:rPr>
              <a:t>Co-founded Stride; leads supply chain, manufacturing, and fulfilment. Former SVP Operations at Patagonia — oversaw the Worn Wear and sustainability programs. MBA from UCLA Anderson. Owns 27% of company equity.</a:t>
            </a:r>
            <a:endParaRPr lang="en-US" sz="700" dirty="0"/>
          </a:p>
        </p:txBody>
      </p:sp>
      <p:sp>
        <p:nvSpPr>
          <p:cNvPr id="24" name="Shape 22"/>
          <p:cNvSpPr/>
          <p:nvPr/>
        </p:nvSpPr>
        <p:spPr>
          <a:xfrm>
            <a:off x="457200" y="2423160"/>
            <a:ext cx="4251960" cy="1115568"/>
          </a:xfrm>
          <a:prstGeom prst="rect">
            <a:avLst/>
          </a:prstGeom>
          <a:solidFill>
            <a:srgbClr val="FFFFFF"/>
          </a:solidFill>
          <a:ln w="12700">
            <a:solidFill>
              <a:srgbClr val="D0D8E4"/>
            </a:solidFill>
            <a:prstDash val="solid"/>
          </a:ln>
          <a:effectLst>
            <a:outerShdw sx="100000" sy="100000" kx="0" ky="0" algn="bl" rotWithShape="0" blurRad="38100" dist="12700" dir="8100000">
              <a:srgbClr val="000000">
                <a:alpha val="6000"/>
              </a:srgbClr>
            </a:outerShdw>
          </a:effectLst>
        </p:spPr>
      </p:sp>
      <p:sp>
        <p:nvSpPr>
          <p:cNvPr id="25" name="Shape 23"/>
          <p:cNvSpPr/>
          <p:nvPr/>
        </p:nvSpPr>
        <p:spPr>
          <a:xfrm>
            <a:off x="457200" y="2423160"/>
            <a:ext cx="73152" cy="1115568"/>
          </a:xfrm>
          <a:prstGeom prst="rect">
            <a:avLst/>
          </a:prstGeom>
          <a:solidFill>
            <a:srgbClr val="2B5BAE"/>
          </a:solidFill>
          <a:ln w="12700">
            <a:solidFill>
              <a:srgbClr val="2B5BAE"/>
            </a:solidFill>
            <a:prstDash val="solid"/>
          </a:ln>
        </p:spPr>
      </p:sp>
      <p:sp>
        <p:nvSpPr>
          <p:cNvPr id="26" name="Shape 24"/>
          <p:cNvSpPr/>
          <p:nvPr/>
        </p:nvSpPr>
        <p:spPr>
          <a:xfrm>
            <a:off x="621792" y="2697480"/>
            <a:ext cx="475488" cy="475488"/>
          </a:xfrm>
          <a:prstGeom prst="oval">
            <a:avLst/>
          </a:prstGeom>
          <a:solidFill>
            <a:srgbClr val="1B2D55"/>
          </a:solidFill>
          <a:ln w="12700">
            <a:solidFill>
              <a:srgbClr val="1B2D55"/>
            </a:solidFill>
            <a:prstDash val="solid"/>
          </a:ln>
        </p:spPr>
      </p:sp>
      <p:sp>
        <p:nvSpPr>
          <p:cNvPr id="27" name="Text 25"/>
          <p:cNvSpPr/>
          <p:nvPr/>
        </p:nvSpPr>
        <p:spPr>
          <a:xfrm>
            <a:off x="621792" y="2697480"/>
            <a:ext cx="475488" cy="475488"/>
          </a:xfrm>
          <a:prstGeom prst="rect">
            <a:avLst/>
          </a:prstGeom>
          <a:noFill/>
          <a:ln/>
        </p:spPr>
        <p:txBody>
          <a:bodyPr wrap="square" lIns="0" tIns="0" rIns="0" bIns="0" rtlCol="0" anchor="ctr"/>
          <a:lstStyle/>
          <a:p>
            <a:pPr algn="ctr" indent="0" marL="0">
              <a:buNone/>
            </a:pPr>
            <a:r>
              <a:rPr lang="en-US" sz="1300" b="1" dirty="0">
                <a:solidFill>
                  <a:srgbClr val="C8A83C"/>
                </a:solidFill>
              </a:rPr>
              <a:t>C</a:t>
            </a:r>
            <a:endParaRPr lang="en-US" sz="1300" dirty="0"/>
          </a:p>
        </p:txBody>
      </p:sp>
      <p:sp>
        <p:nvSpPr>
          <p:cNvPr id="28" name="Text 26"/>
          <p:cNvSpPr/>
          <p:nvPr/>
        </p:nvSpPr>
        <p:spPr>
          <a:xfrm>
            <a:off x="1234440" y="2514600"/>
            <a:ext cx="3337560" cy="256032"/>
          </a:xfrm>
          <a:prstGeom prst="rect">
            <a:avLst/>
          </a:prstGeom>
          <a:noFill/>
          <a:ln/>
        </p:spPr>
        <p:txBody>
          <a:bodyPr wrap="square" lIns="0" tIns="0" rIns="0" bIns="0" rtlCol="0" anchor="ctr"/>
          <a:lstStyle/>
          <a:p>
            <a:pPr indent="0" marL="0">
              <a:buNone/>
            </a:pPr>
            <a:r>
              <a:rPr lang="en-US" sz="1000" b="1" dirty="0">
                <a:solidFill>
                  <a:srgbClr val="1B2D55"/>
                </a:solidFill>
              </a:rPr>
              <a:t>Claire Huang</a:t>
            </a:r>
            <a:endParaRPr lang="en-US" sz="1000" dirty="0"/>
          </a:p>
        </p:txBody>
      </p:sp>
      <p:sp>
        <p:nvSpPr>
          <p:cNvPr id="29" name="Text 27"/>
          <p:cNvSpPr/>
          <p:nvPr/>
        </p:nvSpPr>
        <p:spPr>
          <a:xfrm>
            <a:off x="1234440" y="2788920"/>
            <a:ext cx="3337560" cy="201168"/>
          </a:xfrm>
          <a:prstGeom prst="rect">
            <a:avLst/>
          </a:prstGeom>
          <a:noFill/>
          <a:ln/>
        </p:spPr>
        <p:txBody>
          <a:bodyPr wrap="square" lIns="0" tIns="0" rIns="0" bIns="0" rtlCol="0" anchor="ctr"/>
          <a:lstStyle/>
          <a:p>
            <a:pPr indent="0" marL="0">
              <a:buNone/>
            </a:pPr>
            <a:r>
              <a:rPr lang="en-US" sz="800" dirty="0">
                <a:solidFill>
                  <a:srgbClr val="2B5BAE"/>
                </a:solidFill>
              </a:rPr>
              <a:t>Chief Financial Officer</a:t>
            </a:r>
            <a:endParaRPr lang="en-US" sz="800" dirty="0"/>
          </a:p>
        </p:txBody>
      </p:sp>
      <p:sp>
        <p:nvSpPr>
          <p:cNvPr id="30" name="Shape 28"/>
          <p:cNvSpPr/>
          <p:nvPr/>
        </p:nvSpPr>
        <p:spPr>
          <a:xfrm>
            <a:off x="457200" y="3008376"/>
            <a:ext cx="8229600" cy="0"/>
          </a:xfrm>
          <a:prstGeom prst="line">
            <a:avLst/>
          </a:prstGeom>
          <a:noFill/>
          <a:ln w="9525">
            <a:solidFill>
              <a:srgbClr val="D0D8E4"/>
            </a:solidFill>
            <a:prstDash val="solid"/>
          </a:ln>
        </p:spPr>
      </p:sp>
      <p:sp>
        <p:nvSpPr>
          <p:cNvPr id="31" name="Text 29"/>
          <p:cNvSpPr/>
          <p:nvPr/>
        </p:nvSpPr>
        <p:spPr>
          <a:xfrm>
            <a:off x="1234440" y="3063240"/>
            <a:ext cx="3337560" cy="420624"/>
          </a:xfrm>
          <a:prstGeom prst="rect">
            <a:avLst/>
          </a:prstGeom>
          <a:noFill/>
          <a:ln/>
        </p:spPr>
        <p:txBody>
          <a:bodyPr wrap="square" lIns="0" tIns="0" rIns="0" bIns="0" rtlCol="0" anchor="t"/>
          <a:lstStyle/>
          <a:p>
            <a:pPr indent="0" marL="0">
              <a:buNone/>
            </a:pPr>
            <a:r>
              <a:rPr lang="en-US" sz="700" dirty="0">
                <a:solidFill>
                  <a:srgbClr val="4A5568"/>
                </a:solidFill>
              </a:rPr>
              <a:t>Joined Stride as first CFO in 2020. Previously VP Finance at Girlfriend Collective through its growth phase. CPA, 12 years in consumer brand finance. Led the Series B process and current sale mandate.</a:t>
            </a:r>
            <a:endParaRPr lang="en-US" sz="700" dirty="0"/>
          </a:p>
        </p:txBody>
      </p:sp>
      <p:sp>
        <p:nvSpPr>
          <p:cNvPr id="32" name="Shape 30"/>
          <p:cNvSpPr/>
          <p:nvPr/>
        </p:nvSpPr>
        <p:spPr>
          <a:xfrm>
            <a:off x="4864608" y="2423160"/>
            <a:ext cx="4251960" cy="1115568"/>
          </a:xfrm>
          <a:prstGeom prst="rect">
            <a:avLst/>
          </a:prstGeom>
          <a:solidFill>
            <a:srgbClr val="FFFFFF"/>
          </a:solidFill>
          <a:ln w="12700">
            <a:solidFill>
              <a:srgbClr val="D0D8E4"/>
            </a:solidFill>
            <a:prstDash val="solid"/>
          </a:ln>
          <a:effectLst>
            <a:outerShdw sx="100000" sy="100000" kx="0" ky="0" algn="bl" rotWithShape="0" blurRad="38100" dist="12700" dir="8100000">
              <a:srgbClr val="000000">
                <a:alpha val="6000"/>
              </a:srgbClr>
            </a:outerShdw>
          </a:effectLst>
        </p:spPr>
      </p:sp>
      <p:sp>
        <p:nvSpPr>
          <p:cNvPr id="33" name="Shape 31"/>
          <p:cNvSpPr/>
          <p:nvPr/>
        </p:nvSpPr>
        <p:spPr>
          <a:xfrm>
            <a:off x="4864608" y="2423160"/>
            <a:ext cx="73152" cy="1115568"/>
          </a:xfrm>
          <a:prstGeom prst="rect">
            <a:avLst/>
          </a:prstGeom>
          <a:solidFill>
            <a:srgbClr val="2B5BAE"/>
          </a:solidFill>
          <a:ln w="12700">
            <a:solidFill>
              <a:srgbClr val="2B5BAE"/>
            </a:solidFill>
            <a:prstDash val="solid"/>
          </a:ln>
        </p:spPr>
      </p:sp>
      <p:sp>
        <p:nvSpPr>
          <p:cNvPr id="34" name="Shape 32"/>
          <p:cNvSpPr/>
          <p:nvPr/>
        </p:nvSpPr>
        <p:spPr>
          <a:xfrm>
            <a:off x="5029200" y="2697480"/>
            <a:ext cx="475488" cy="475488"/>
          </a:xfrm>
          <a:prstGeom prst="oval">
            <a:avLst/>
          </a:prstGeom>
          <a:solidFill>
            <a:srgbClr val="1B2D55"/>
          </a:solidFill>
          <a:ln w="12700">
            <a:solidFill>
              <a:srgbClr val="1B2D55"/>
            </a:solidFill>
            <a:prstDash val="solid"/>
          </a:ln>
        </p:spPr>
      </p:sp>
      <p:sp>
        <p:nvSpPr>
          <p:cNvPr id="35" name="Text 33"/>
          <p:cNvSpPr/>
          <p:nvPr/>
        </p:nvSpPr>
        <p:spPr>
          <a:xfrm>
            <a:off x="5029200" y="2697480"/>
            <a:ext cx="475488" cy="475488"/>
          </a:xfrm>
          <a:prstGeom prst="rect">
            <a:avLst/>
          </a:prstGeom>
          <a:noFill/>
          <a:ln/>
        </p:spPr>
        <p:txBody>
          <a:bodyPr wrap="square" lIns="0" tIns="0" rIns="0" bIns="0" rtlCol="0" anchor="ctr"/>
          <a:lstStyle/>
          <a:p>
            <a:pPr algn="ctr" indent="0" marL="0">
              <a:buNone/>
            </a:pPr>
            <a:r>
              <a:rPr lang="en-US" sz="1300" b="1" dirty="0">
                <a:solidFill>
                  <a:srgbClr val="C8A83C"/>
                </a:solidFill>
              </a:rPr>
              <a:t>M</a:t>
            </a:r>
            <a:endParaRPr lang="en-US" sz="1300" dirty="0"/>
          </a:p>
        </p:txBody>
      </p:sp>
      <p:sp>
        <p:nvSpPr>
          <p:cNvPr id="36" name="Text 34"/>
          <p:cNvSpPr/>
          <p:nvPr/>
        </p:nvSpPr>
        <p:spPr>
          <a:xfrm>
            <a:off x="5641848" y="2514600"/>
            <a:ext cx="3337560" cy="256032"/>
          </a:xfrm>
          <a:prstGeom prst="rect">
            <a:avLst/>
          </a:prstGeom>
          <a:noFill/>
          <a:ln/>
        </p:spPr>
        <p:txBody>
          <a:bodyPr wrap="square" lIns="0" tIns="0" rIns="0" bIns="0" rtlCol="0" anchor="ctr"/>
          <a:lstStyle/>
          <a:p>
            <a:pPr indent="0" marL="0">
              <a:buNone/>
            </a:pPr>
            <a:r>
              <a:rPr lang="en-US" sz="1000" b="1" dirty="0">
                <a:solidFill>
                  <a:srgbClr val="1B2D55"/>
                </a:solidFill>
              </a:rPr>
              <a:t>Marcus Bell</a:t>
            </a:r>
            <a:endParaRPr lang="en-US" sz="1000" dirty="0"/>
          </a:p>
        </p:txBody>
      </p:sp>
      <p:sp>
        <p:nvSpPr>
          <p:cNvPr id="37" name="Text 35"/>
          <p:cNvSpPr/>
          <p:nvPr/>
        </p:nvSpPr>
        <p:spPr>
          <a:xfrm>
            <a:off x="5641848" y="2788920"/>
            <a:ext cx="3337560" cy="201168"/>
          </a:xfrm>
          <a:prstGeom prst="rect">
            <a:avLst/>
          </a:prstGeom>
          <a:noFill/>
          <a:ln/>
        </p:spPr>
        <p:txBody>
          <a:bodyPr wrap="square" lIns="0" tIns="0" rIns="0" bIns="0" rtlCol="0" anchor="ctr"/>
          <a:lstStyle/>
          <a:p>
            <a:pPr indent="0" marL="0">
              <a:buNone/>
            </a:pPr>
            <a:r>
              <a:rPr lang="en-US" sz="800" dirty="0">
                <a:solidFill>
                  <a:srgbClr val="2B5BAE"/>
                </a:solidFill>
              </a:rPr>
              <a:t>Head of Brand &amp; Marketing</a:t>
            </a:r>
            <a:endParaRPr lang="en-US" sz="800" dirty="0"/>
          </a:p>
        </p:txBody>
      </p:sp>
      <p:sp>
        <p:nvSpPr>
          <p:cNvPr id="38" name="Shape 36"/>
          <p:cNvSpPr/>
          <p:nvPr/>
        </p:nvSpPr>
        <p:spPr>
          <a:xfrm>
            <a:off x="457200" y="3008376"/>
            <a:ext cx="8229600" cy="0"/>
          </a:xfrm>
          <a:prstGeom prst="line">
            <a:avLst/>
          </a:prstGeom>
          <a:noFill/>
          <a:ln w="9525">
            <a:solidFill>
              <a:srgbClr val="D0D8E4"/>
            </a:solidFill>
            <a:prstDash val="solid"/>
          </a:ln>
        </p:spPr>
      </p:sp>
      <p:sp>
        <p:nvSpPr>
          <p:cNvPr id="39" name="Text 37"/>
          <p:cNvSpPr/>
          <p:nvPr/>
        </p:nvSpPr>
        <p:spPr>
          <a:xfrm>
            <a:off x="5641848" y="3063240"/>
            <a:ext cx="3337560" cy="420624"/>
          </a:xfrm>
          <a:prstGeom prst="rect">
            <a:avLst/>
          </a:prstGeom>
          <a:noFill/>
          <a:ln/>
        </p:spPr>
        <p:txBody>
          <a:bodyPr wrap="square" lIns="0" tIns="0" rIns="0" bIns="0" rtlCol="0" anchor="t"/>
          <a:lstStyle/>
          <a:p>
            <a:pPr indent="0" marL="0">
              <a:buNone/>
            </a:pPr>
            <a:r>
              <a:rPr lang="en-US" sz="700" dirty="0">
                <a:solidFill>
                  <a:srgbClr val="4A5568"/>
                </a:solidFill>
              </a:rPr>
              <a:t>12 years at Nike Digital before joining Stride in 2019. Architected the Stride Studio membership concept and community strategy. Grew social following from 180K to 1.8M in 24 months; reduced DTC CAC by 41%.</a:t>
            </a:r>
            <a:endParaRPr lang="en-US" sz="700" dirty="0"/>
          </a:p>
        </p:txBody>
      </p:sp>
      <p:sp>
        <p:nvSpPr>
          <p:cNvPr id="40" name="Shape 38"/>
          <p:cNvSpPr/>
          <p:nvPr/>
        </p:nvSpPr>
        <p:spPr>
          <a:xfrm>
            <a:off x="457200" y="3611880"/>
            <a:ext cx="4251960" cy="1115568"/>
          </a:xfrm>
          <a:prstGeom prst="rect">
            <a:avLst/>
          </a:prstGeom>
          <a:solidFill>
            <a:srgbClr val="FFFFFF"/>
          </a:solidFill>
          <a:ln w="12700">
            <a:solidFill>
              <a:srgbClr val="D0D8E4"/>
            </a:solidFill>
            <a:prstDash val="solid"/>
          </a:ln>
          <a:effectLst>
            <a:outerShdw sx="100000" sy="100000" kx="0" ky="0" algn="bl" rotWithShape="0" blurRad="38100" dist="12700" dir="8100000">
              <a:srgbClr val="000000">
                <a:alpha val="6000"/>
              </a:srgbClr>
            </a:outerShdw>
          </a:effectLst>
        </p:spPr>
      </p:sp>
      <p:sp>
        <p:nvSpPr>
          <p:cNvPr id="41" name="Shape 39"/>
          <p:cNvSpPr/>
          <p:nvPr/>
        </p:nvSpPr>
        <p:spPr>
          <a:xfrm>
            <a:off x="457200" y="3611880"/>
            <a:ext cx="73152" cy="1115568"/>
          </a:xfrm>
          <a:prstGeom prst="rect">
            <a:avLst/>
          </a:prstGeom>
          <a:solidFill>
            <a:srgbClr val="2B5BAE"/>
          </a:solidFill>
          <a:ln w="12700">
            <a:solidFill>
              <a:srgbClr val="2B5BAE"/>
            </a:solidFill>
            <a:prstDash val="solid"/>
          </a:ln>
        </p:spPr>
      </p:sp>
      <p:sp>
        <p:nvSpPr>
          <p:cNvPr id="42" name="Shape 40"/>
          <p:cNvSpPr/>
          <p:nvPr/>
        </p:nvSpPr>
        <p:spPr>
          <a:xfrm>
            <a:off x="621792" y="3886200"/>
            <a:ext cx="475488" cy="475488"/>
          </a:xfrm>
          <a:prstGeom prst="oval">
            <a:avLst/>
          </a:prstGeom>
          <a:solidFill>
            <a:srgbClr val="1B2D55"/>
          </a:solidFill>
          <a:ln w="12700">
            <a:solidFill>
              <a:srgbClr val="1B2D55"/>
            </a:solidFill>
            <a:prstDash val="solid"/>
          </a:ln>
        </p:spPr>
      </p:sp>
      <p:sp>
        <p:nvSpPr>
          <p:cNvPr id="43" name="Text 41"/>
          <p:cNvSpPr/>
          <p:nvPr/>
        </p:nvSpPr>
        <p:spPr>
          <a:xfrm>
            <a:off x="621792" y="3886200"/>
            <a:ext cx="475488" cy="475488"/>
          </a:xfrm>
          <a:prstGeom prst="rect">
            <a:avLst/>
          </a:prstGeom>
          <a:noFill/>
          <a:ln/>
        </p:spPr>
        <p:txBody>
          <a:bodyPr wrap="square" lIns="0" tIns="0" rIns="0" bIns="0" rtlCol="0" anchor="ctr"/>
          <a:lstStyle/>
          <a:p>
            <a:pPr algn="ctr" indent="0" marL="0">
              <a:buNone/>
            </a:pPr>
            <a:r>
              <a:rPr lang="en-US" sz="1300" b="1" dirty="0">
                <a:solidFill>
                  <a:srgbClr val="C8A83C"/>
                </a:solidFill>
              </a:rPr>
              <a:t>S</a:t>
            </a:r>
            <a:endParaRPr lang="en-US" sz="1300" dirty="0"/>
          </a:p>
        </p:txBody>
      </p:sp>
      <p:sp>
        <p:nvSpPr>
          <p:cNvPr id="44" name="Text 42"/>
          <p:cNvSpPr/>
          <p:nvPr/>
        </p:nvSpPr>
        <p:spPr>
          <a:xfrm>
            <a:off x="1234440" y="3703320"/>
            <a:ext cx="3337560" cy="256032"/>
          </a:xfrm>
          <a:prstGeom prst="rect">
            <a:avLst/>
          </a:prstGeom>
          <a:noFill/>
          <a:ln/>
        </p:spPr>
        <p:txBody>
          <a:bodyPr wrap="square" lIns="0" tIns="0" rIns="0" bIns="0" rtlCol="0" anchor="ctr"/>
          <a:lstStyle/>
          <a:p>
            <a:pPr indent="0" marL="0">
              <a:buNone/>
            </a:pPr>
            <a:r>
              <a:rPr lang="en-US" sz="1000" b="1" dirty="0">
                <a:solidFill>
                  <a:srgbClr val="1B2D55"/>
                </a:solidFill>
              </a:rPr>
              <a:t>Sophie Tan</a:t>
            </a:r>
            <a:endParaRPr lang="en-US" sz="1000" dirty="0"/>
          </a:p>
        </p:txBody>
      </p:sp>
      <p:sp>
        <p:nvSpPr>
          <p:cNvPr id="45" name="Text 43"/>
          <p:cNvSpPr/>
          <p:nvPr/>
        </p:nvSpPr>
        <p:spPr>
          <a:xfrm>
            <a:off x="1234440" y="3977640"/>
            <a:ext cx="3337560" cy="201168"/>
          </a:xfrm>
          <a:prstGeom prst="rect">
            <a:avLst/>
          </a:prstGeom>
          <a:noFill/>
          <a:ln/>
        </p:spPr>
        <p:txBody>
          <a:bodyPr wrap="square" lIns="0" tIns="0" rIns="0" bIns="0" rtlCol="0" anchor="ctr"/>
          <a:lstStyle/>
          <a:p>
            <a:pPr indent="0" marL="0">
              <a:buNone/>
            </a:pPr>
            <a:r>
              <a:rPr lang="en-US" sz="800" dirty="0">
                <a:solidFill>
                  <a:srgbClr val="2B5BAE"/>
                </a:solidFill>
              </a:rPr>
              <a:t>Head of Product &amp; Design</a:t>
            </a:r>
            <a:endParaRPr lang="en-US" sz="800" dirty="0"/>
          </a:p>
        </p:txBody>
      </p:sp>
      <p:sp>
        <p:nvSpPr>
          <p:cNvPr id="46" name="Shape 44"/>
          <p:cNvSpPr/>
          <p:nvPr/>
        </p:nvSpPr>
        <p:spPr>
          <a:xfrm>
            <a:off x="457200" y="4197096"/>
            <a:ext cx="8229600" cy="0"/>
          </a:xfrm>
          <a:prstGeom prst="line">
            <a:avLst/>
          </a:prstGeom>
          <a:noFill/>
          <a:ln w="9525">
            <a:solidFill>
              <a:srgbClr val="D0D8E4"/>
            </a:solidFill>
            <a:prstDash val="solid"/>
          </a:ln>
        </p:spPr>
      </p:sp>
      <p:sp>
        <p:nvSpPr>
          <p:cNvPr id="47" name="Text 45"/>
          <p:cNvSpPr/>
          <p:nvPr/>
        </p:nvSpPr>
        <p:spPr>
          <a:xfrm>
            <a:off x="1234440" y="4251960"/>
            <a:ext cx="3337560" cy="420624"/>
          </a:xfrm>
          <a:prstGeom prst="rect">
            <a:avLst/>
          </a:prstGeom>
          <a:noFill/>
          <a:ln/>
        </p:spPr>
        <p:txBody>
          <a:bodyPr wrap="square" lIns="0" tIns="0" rIns="0" bIns="0" rtlCol="0" anchor="t"/>
          <a:lstStyle/>
          <a:p>
            <a:pPr indent="0" marL="0">
              <a:buNone/>
            </a:pPr>
            <a:r>
              <a:rPr lang="en-US" sz="700" dirty="0">
                <a:solidFill>
                  <a:srgbClr val="4A5568"/>
                </a:solidFill>
              </a:rPr>
              <a:t>Former lead designer at Outdoor Voices and Sweaty Betty. Responsible for Stride's Reclaim fabric line and the women's core collection. Manages 3PL manufacturing partnerships in Vietnam and Portugal (B Corp certified).</a:t>
            </a:r>
            <a:endParaRPr lang="en-US" sz="700" dirty="0"/>
          </a:p>
        </p:txBody>
      </p:sp>
      <p:sp>
        <p:nvSpPr>
          <p:cNvPr id="48" name="Shape 46"/>
          <p:cNvSpPr/>
          <p:nvPr/>
        </p:nvSpPr>
        <p:spPr>
          <a:xfrm>
            <a:off x="4864608" y="3611880"/>
            <a:ext cx="4251960" cy="1115568"/>
          </a:xfrm>
          <a:prstGeom prst="rect">
            <a:avLst/>
          </a:prstGeom>
          <a:solidFill>
            <a:srgbClr val="FFFFFF"/>
          </a:solidFill>
          <a:ln w="12700">
            <a:solidFill>
              <a:srgbClr val="D0D8E4"/>
            </a:solidFill>
            <a:prstDash val="solid"/>
          </a:ln>
          <a:effectLst>
            <a:outerShdw sx="100000" sy="100000" kx="0" ky="0" algn="bl" rotWithShape="0" blurRad="38100" dist="12700" dir="8100000">
              <a:srgbClr val="000000">
                <a:alpha val="6000"/>
              </a:srgbClr>
            </a:outerShdw>
          </a:effectLst>
        </p:spPr>
      </p:sp>
      <p:sp>
        <p:nvSpPr>
          <p:cNvPr id="49" name="Shape 47"/>
          <p:cNvSpPr/>
          <p:nvPr/>
        </p:nvSpPr>
        <p:spPr>
          <a:xfrm>
            <a:off x="4864608" y="3611880"/>
            <a:ext cx="73152" cy="1115568"/>
          </a:xfrm>
          <a:prstGeom prst="rect">
            <a:avLst/>
          </a:prstGeom>
          <a:solidFill>
            <a:srgbClr val="2B5BAE"/>
          </a:solidFill>
          <a:ln w="12700">
            <a:solidFill>
              <a:srgbClr val="2B5BAE"/>
            </a:solidFill>
            <a:prstDash val="solid"/>
          </a:ln>
        </p:spPr>
      </p:sp>
      <p:sp>
        <p:nvSpPr>
          <p:cNvPr id="50" name="Shape 48"/>
          <p:cNvSpPr/>
          <p:nvPr/>
        </p:nvSpPr>
        <p:spPr>
          <a:xfrm>
            <a:off x="5029200" y="3886200"/>
            <a:ext cx="475488" cy="475488"/>
          </a:xfrm>
          <a:prstGeom prst="oval">
            <a:avLst/>
          </a:prstGeom>
          <a:solidFill>
            <a:srgbClr val="1B2D55"/>
          </a:solidFill>
          <a:ln w="12700">
            <a:solidFill>
              <a:srgbClr val="1B2D55"/>
            </a:solidFill>
            <a:prstDash val="solid"/>
          </a:ln>
        </p:spPr>
      </p:sp>
      <p:sp>
        <p:nvSpPr>
          <p:cNvPr id="51" name="Text 49"/>
          <p:cNvSpPr/>
          <p:nvPr/>
        </p:nvSpPr>
        <p:spPr>
          <a:xfrm>
            <a:off x="5029200" y="3886200"/>
            <a:ext cx="475488" cy="475488"/>
          </a:xfrm>
          <a:prstGeom prst="rect">
            <a:avLst/>
          </a:prstGeom>
          <a:noFill/>
          <a:ln/>
        </p:spPr>
        <p:txBody>
          <a:bodyPr wrap="square" lIns="0" tIns="0" rIns="0" bIns="0" rtlCol="0" anchor="ctr"/>
          <a:lstStyle/>
          <a:p>
            <a:pPr algn="ctr" indent="0" marL="0">
              <a:buNone/>
            </a:pPr>
            <a:r>
              <a:rPr lang="en-US" sz="1300" b="1" dirty="0">
                <a:solidFill>
                  <a:srgbClr val="C8A83C"/>
                </a:solidFill>
              </a:rPr>
              <a:t>K</a:t>
            </a:r>
            <a:endParaRPr lang="en-US" sz="1300" dirty="0"/>
          </a:p>
        </p:txBody>
      </p:sp>
      <p:sp>
        <p:nvSpPr>
          <p:cNvPr id="52" name="Text 50"/>
          <p:cNvSpPr/>
          <p:nvPr/>
        </p:nvSpPr>
        <p:spPr>
          <a:xfrm>
            <a:off x="5641848" y="3703320"/>
            <a:ext cx="3337560" cy="256032"/>
          </a:xfrm>
          <a:prstGeom prst="rect">
            <a:avLst/>
          </a:prstGeom>
          <a:noFill/>
          <a:ln/>
        </p:spPr>
        <p:txBody>
          <a:bodyPr wrap="square" lIns="0" tIns="0" rIns="0" bIns="0" rtlCol="0" anchor="ctr"/>
          <a:lstStyle/>
          <a:p>
            <a:pPr indent="0" marL="0">
              <a:buNone/>
            </a:pPr>
            <a:r>
              <a:rPr lang="en-US" sz="1000" b="1" dirty="0">
                <a:solidFill>
                  <a:srgbClr val="1B2D55"/>
                </a:solidFill>
              </a:rPr>
              <a:t>Kevin Walsh</a:t>
            </a:r>
            <a:endParaRPr lang="en-US" sz="1000" dirty="0"/>
          </a:p>
        </p:txBody>
      </p:sp>
      <p:sp>
        <p:nvSpPr>
          <p:cNvPr id="53" name="Text 51"/>
          <p:cNvSpPr/>
          <p:nvPr/>
        </p:nvSpPr>
        <p:spPr>
          <a:xfrm>
            <a:off x="5641848" y="3977640"/>
            <a:ext cx="3337560" cy="201168"/>
          </a:xfrm>
          <a:prstGeom prst="rect">
            <a:avLst/>
          </a:prstGeom>
          <a:noFill/>
          <a:ln/>
        </p:spPr>
        <p:txBody>
          <a:bodyPr wrap="square" lIns="0" tIns="0" rIns="0" bIns="0" rtlCol="0" anchor="ctr"/>
          <a:lstStyle/>
          <a:p>
            <a:pPr indent="0" marL="0">
              <a:buNone/>
            </a:pPr>
            <a:r>
              <a:rPr lang="en-US" sz="800" dirty="0">
                <a:solidFill>
                  <a:srgbClr val="2B5BAE"/>
                </a:solidFill>
              </a:rPr>
              <a:t>Head of Technology &amp; Data</a:t>
            </a:r>
            <a:endParaRPr lang="en-US" sz="800" dirty="0"/>
          </a:p>
        </p:txBody>
      </p:sp>
      <p:sp>
        <p:nvSpPr>
          <p:cNvPr id="54" name="Shape 52"/>
          <p:cNvSpPr/>
          <p:nvPr/>
        </p:nvSpPr>
        <p:spPr>
          <a:xfrm>
            <a:off x="457200" y="4197096"/>
            <a:ext cx="8229600" cy="0"/>
          </a:xfrm>
          <a:prstGeom prst="line">
            <a:avLst/>
          </a:prstGeom>
          <a:noFill/>
          <a:ln w="9525">
            <a:solidFill>
              <a:srgbClr val="D0D8E4"/>
            </a:solidFill>
            <a:prstDash val="solid"/>
          </a:ln>
        </p:spPr>
      </p:sp>
      <p:sp>
        <p:nvSpPr>
          <p:cNvPr id="55" name="Text 53"/>
          <p:cNvSpPr/>
          <p:nvPr/>
        </p:nvSpPr>
        <p:spPr>
          <a:xfrm>
            <a:off x="5641848" y="4251960"/>
            <a:ext cx="3337560" cy="420624"/>
          </a:xfrm>
          <a:prstGeom prst="rect">
            <a:avLst/>
          </a:prstGeom>
          <a:noFill/>
          <a:ln/>
        </p:spPr>
        <p:txBody>
          <a:bodyPr wrap="square" lIns="0" tIns="0" rIns="0" bIns="0" rtlCol="0" anchor="t"/>
          <a:lstStyle/>
          <a:p>
            <a:pPr indent="0" marL="0">
              <a:buNone/>
            </a:pPr>
            <a:r>
              <a:rPr lang="en-US" sz="700" dirty="0">
                <a:solidFill>
                  <a:srgbClr val="4A5568"/>
                </a:solidFill>
              </a:rPr>
              <a:t>Built Peloton's e-commerce and membership platforms 2017–2020. Leads Stride's tech stack: DTC website (Shopify Plus + custom), Studio app (iOS + Android), and customer data platform (Segment + Braze).</a:t>
            </a:r>
            <a:endParaRPr lang="en-US" sz="700" dirty="0"/>
          </a:p>
        </p:txBody>
      </p:sp>
      <p:sp>
        <p:nvSpPr>
          <p:cNvPr id="56" name="Shape 54"/>
          <p:cNvSpPr/>
          <p:nvPr/>
        </p:nvSpPr>
        <p:spPr>
          <a:xfrm>
            <a:off x="0" y="4892040"/>
            <a:ext cx="9144000" cy="251460"/>
          </a:xfrm>
          <a:prstGeom prst="rect">
            <a:avLst/>
          </a:prstGeom>
          <a:solidFill>
            <a:srgbClr val="F4F6FA"/>
          </a:solidFill>
          <a:ln w="12700">
            <a:solidFill>
              <a:srgbClr val="D0D8E4"/>
            </a:solidFill>
            <a:prstDash val="solid"/>
          </a:ln>
        </p:spPr>
      </p:sp>
      <p:sp>
        <p:nvSpPr>
          <p:cNvPr id="57" name="Text 55"/>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58" name="Text 56"/>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11 / 14</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Houlihan Lokey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TRANSACTION OVERVIEW</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Transaction Overview</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Houlihan Lokey exclusive sell-side advisory — September 2021</a:t>
            </a:r>
            <a:endParaRPr lang="en-US" sz="950" dirty="0"/>
          </a:p>
        </p:txBody>
      </p:sp>
      <p:sp>
        <p:nvSpPr>
          <p:cNvPr id="8" name="Text 6"/>
          <p:cNvSpPr/>
          <p:nvPr/>
        </p:nvSpPr>
        <p:spPr>
          <a:xfrm>
            <a:off x="457200" y="1261872"/>
            <a:ext cx="3931920" cy="274320"/>
          </a:xfrm>
          <a:prstGeom prst="rect">
            <a:avLst/>
          </a:prstGeom>
          <a:noFill/>
          <a:ln/>
        </p:spPr>
        <p:txBody>
          <a:bodyPr wrap="square" lIns="0" tIns="0" rIns="0" bIns="0" rtlCol="0" anchor="ctr"/>
          <a:lstStyle/>
          <a:p>
            <a:pPr indent="0" marL="0">
              <a:buNone/>
            </a:pPr>
            <a:r>
              <a:rPr lang="en-US" sz="1000" b="1" dirty="0">
                <a:solidFill>
                  <a:srgbClr val="1B2D55"/>
                </a:solidFill>
              </a:rPr>
              <a:t>Valuation Context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572768"/>
          <a:ext cx="4572000" cy="914400"/>
        </p:xfrm>
        <a:graphic>
          <a:graphicData uri="http://schemas.openxmlformats.org/drawingml/2006/table">
            <a:tbl>
              <a:tblPr/>
              <a:tblGrid>
                <a:gridCol w="1737360"/>
                <a:gridCol w="731520"/>
                <a:gridCol w="2103120"/>
              </a:tblGrid>
              <a:tr h="329184">
                <a:tc>
                  <a:txBody>
                    <a:bodyPr/>
                    <a:lstStyle/>
                    <a:p>
                      <a:pPr indent="0" marL="0">
                        <a:buNone/>
                      </a:pPr>
                      <a:r>
                        <a:rPr lang="en-US" sz="800" b="1" dirty="0">
                          <a:solidFill>
                            <a:srgbClr val="FFFFFF"/>
                          </a:solidFill>
                        </a:rPr>
                        <a:t>Metric</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Value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800" b="1" dirty="0">
                          <a:solidFill>
                            <a:srgbClr val="FFFFFF"/>
                          </a:solidFill>
                        </a:rPr>
                        <a:t>Commentary</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329184">
                <a:tc>
                  <a:txBody>
                    <a:bodyPr/>
                    <a:lstStyle/>
                    <a:p>
                      <a:pPr algn="l" indent="0" marL="0">
                        <a:buNone/>
                      </a:pPr>
                      <a:r>
                        <a:rPr lang="en-US" sz="800" dirty="0">
                          <a:solidFill>
                            <a:srgbClr val="000000"/>
                          </a:solidFill>
                        </a:rPr>
                        <a:t>Enterprise Value (guidance)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000000"/>
                          </a:solidFill>
                        </a:rPr>
                        <a:t>~$130M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l" indent="0" marL="0">
                        <a:buNone/>
                      </a:pPr>
                      <a:r>
                        <a:rPr lang="en-US" sz="800" dirty="0">
                          <a:solidFill>
                            <a:srgbClr val="000000"/>
                          </a:solidFill>
                        </a:rPr>
                        <a:t>20x LTM Adj. EBITDA</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29184">
                <a:tc>
                  <a:txBody>
                    <a:bodyPr/>
                    <a:lstStyle/>
                    <a:p>
                      <a:pPr algn="l" indent="0" marL="0">
                        <a:buNone/>
                      </a:pPr>
                      <a:r>
                        <a:rPr lang="en-US" sz="800" dirty="0">
                          <a:solidFill>
                            <a:srgbClr val="000000"/>
                          </a:solidFill>
                        </a:rPr>
                        <a:t>Revenue Multiple (LTM)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1.7x</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rPr>
                        <a:t>Consumer DTC: 1.5–2.5x revenue typical</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29184">
                <a:tc>
                  <a:txBody>
                    <a:bodyPr/>
                    <a:lstStyle/>
                    <a:p>
                      <a:pPr algn="l" indent="0" marL="0">
                        <a:buNone/>
                      </a:pPr>
                      <a:r>
                        <a:rPr lang="en-US" sz="800" dirty="0">
                          <a:solidFill>
                            <a:srgbClr val="000000"/>
                          </a:solidFill>
                        </a:rPr>
                        <a:t>EBITDA Multiple (LTM)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000000"/>
                          </a:solidFill>
                        </a:rPr>
                        <a:t>20x</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l" indent="0" marL="0">
                        <a:buNone/>
                      </a:pPr>
                      <a:r>
                        <a:rPr lang="en-US" sz="800" dirty="0">
                          <a:solidFill>
                            <a:srgbClr val="000000"/>
                          </a:solidFill>
                        </a:rPr>
                        <a:t>Premium reflects growth + Studio quality</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29184">
                <a:tc>
                  <a:txBody>
                    <a:bodyPr/>
                    <a:lstStyle/>
                    <a:p>
                      <a:pPr algn="l" indent="0" marL="0">
                        <a:buNone/>
                      </a:pPr>
                      <a:r>
                        <a:rPr lang="en-US" sz="800" dirty="0">
                          <a:solidFill>
                            <a:srgbClr val="000000"/>
                          </a:solidFill>
                        </a:rPr>
                        <a:t>EBITDA Multiple (FY2022E)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7.6x</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rPr>
                        <a:t>Highly attractive on projected basis</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29184">
                <a:tc>
                  <a:txBody>
                    <a:bodyPr/>
                    <a:lstStyle/>
                    <a:p>
                      <a:pPr algn="l" indent="0" marL="0">
                        <a:buNone/>
                      </a:pPr>
                      <a:r>
                        <a:rPr lang="en-US" sz="800" dirty="0">
                          <a:solidFill>
                            <a:srgbClr val="000000"/>
                          </a:solidFill>
                        </a:rPr>
                        <a:t>EV / ARR (Studio)</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000000"/>
                          </a:solidFill>
                        </a:rPr>
                        <a:t>6.0x</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l" indent="0" marL="0">
                        <a:buNone/>
                      </a:pPr>
                      <a:r>
                        <a:rPr lang="en-US" sz="800" dirty="0">
                          <a:solidFill>
                            <a:srgbClr val="000000"/>
                          </a:solidFill>
                        </a:rPr>
                        <a:t>Modest for SaaS-quality recurring revenue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bl>
          </a:graphicData>
        </a:graphic>
      </p:graphicFrame>
      <p:sp>
        <p:nvSpPr>
          <p:cNvPr id="10" name="Text 7"/>
          <p:cNvSpPr/>
          <p:nvPr/>
        </p:nvSpPr>
        <p:spPr>
          <a:xfrm>
            <a:off x="5212080" y="1261872"/>
            <a:ext cx="3474720" cy="274320"/>
          </a:xfrm>
          <a:prstGeom prst="rect">
            <a:avLst/>
          </a:prstGeom>
          <a:noFill/>
          <a:ln/>
        </p:spPr>
        <p:txBody>
          <a:bodyPr wrap="square" lIns="0" tIns="0" rIns="0" bIns="0" rtlCol="0" anchor="ctr"/>
          <a:lstStyle/>
          <a:p>
            <a:pPr indent="0" marL="0">
              <a:buNone/>
            </a:pPr>
            <a:r>
              <a:rPr lang="en-US" sz="1000" b="1" dirty="0">
                <a:solidFill>
                  <a:srgbClr val="1B2D55"/>
                </a:solidFill>
              </a:rPr>
              <a:t>Process Structure</a:t>
            </a:r>
            <a:endParaRPr lang="en-US" sz="1000" dirty="0"/>
          </a:p>
        </p:txBody>
      </p:sp>
      <p:sp>
        <p:nvSpPr>
          <p:cNvPr id="11" name="Shape 8"/>
          <p:cNvSpPr/>
          <p:nvPr/>
        </p:nvSpPr>
        <p:spPr>
          <a:xfrm>
            <a:off x="5212080" y="1572768"/>
            <a:ext cx="3474720" cy="310896"/>
          </a:xfrm>
          <a:prstGeom prst="rect">
            <a:avLst/>
          </a:prstGeom>
          <a:solidFill>
            <a:srgbClr val="F4F6FA"/>
          </a:solidFill>
          <a:ln w="12700">
            <a:solidFill>
              <a:srgbClr val="D0D8E4"/>
            </a:solidFill>
            <a:prstDash val="solid"/>
          </a:ln>
        </p:spPr>
      </p:sp>
      <p:sp>
        <p:nvSpPr>
          <p:cNvPr id="12" name="Text 9"/>
          <p:cNvSpPr/>
          <p:nvPr/>
        </p:nvSpPr>
        <p:spPr>
          <a:xfrm>
            <a:off x="5349240" y="1627632"/>
            <a:ext cx="1188720" cy="201168"/>
          </a:xfrm>
          <a:prstGeom prst="rect">
            <a:avLst/>
          </a:prstGeom>
          <a:noFill/>
          <a:ln/>
        </p:spPr>
        <p:txBody>
          <a:bodyPr wrap="square" lIns="0" tIns="0" rIns="0" bIns="0" rtlCol="0" anchor="ctr"/>
          <a:lstStyle/>
          <a:p>
            <a:pPr indent="0" marL="0">
              <a:buNone/>
            </a:pPr>
            <a:r>
              <a:rPr lang="en-US" sz="800" b="1" dirty="0">
                <a:solidFill>
                  <a:srgbClr val="1B2D55"/>
                </a:solidFill>
              </a:rPr>
              <a:t>Structure</a:t>
            </a:r>
            <a:endParaRPr lang="en-US" sz="800" dirty="0"/>
          </a:p>
        </p:txBody>
      </p:sp>
      <p:sp>
        <p:nvSpPr>
          <p:cNvPr id="13" name="Text 10"/>
          <p:cNvSpPr/>
          <p:nvPr/>
        </p:nvSpPr>
        <p:spPr>
          <a:xfrm>
            <a:off x="6583680" y="1627632"/>
            <a:ext cx="2011680" cy="201168"/>
          </a:xfrm>
          <a:prstGeom prst="rect">
            <a:avLst/>
          </a:prstGeom>
          <a:noFill/>
          <a:ln/>
        </p:spPr>
        <p:txBody>
          <a:bodyPr wrap="square" lIns="0" tIns="0" rIns="0" bIns="0" rtlCol="0" anchor="ctr"/>
          <a:lstStyle/>
          <a:p>
            <a:pPr indent="0" marL="0">
              <a:buNone/>
            </a:pPr>
            <a:r>
              <a:rPr lang="en-US" sz="800" dirty="0">
                <a:solidFill>
                  <a:srgbClr val="4A5568"/>
                </a:solidFill>
              </a:rPr>
              <a:t>Targeted process; select financial sponsors and strategic buyers</a:t>
            </a:r>
            <a:endParaRPr lang="en-US" sz="800" dirty="0"/>
          </a:p>
        </p:txBody>
      </p:sp>
      <p:sp>
        <p:nvSpPr>
          <p:cNvPr id="14" name="Shape 11"/>
          <p:cNvSpPr/>
          <p:nvPr/>
        </p:nvSpPr>
        <p:spPr>
          <a:xfrm>
            <a:off x="5212080" y="1901952"/>
            <a:ext cx="3474720" cy="310896"/>
          </a:xfrm>
          <a:prstGeom prst="rect">
            <a:avLst/>
          </a:prstGeom>
          <a:solidFill>
            <a:srgbClr val="FFFFFF"/>
          </a:solidFill>
          <a:ln w="12700">
            <a:solidFill>
              <a:srgbClr val="D0D8E4"/>
            </a:solidFill>
            <a:prstDash val="solid"/>
          </a:ln>
        </p:spPr>
      </p:sp>
      <p:sp>
        <p:nvSpPr>
          <p:cNvPr id="15" name="Text 12"/>
          <p:cNvSpPr/>
          <p:nvPr/>
        </p:nvSpPr>
        <p:spPr>
          <a:xfrm>
            <a:off x="5349240" y="1956816"/>
            <a:ext cx="1188720" cy="201168"/>
          </a:xfrm>
          <a:prstGeom prst="rect">
            <a:avLst/>
          </a:prstGeom>
          <a:noFill/>
          <a:ln/>
        </p:spPr>
        <p:txBody>
          <a:bodyPr wrap="square" lIns="0" tIns="0" rIns="0" bIns="0" rtlCol="0" anchor="ctr"/>
          <a:lstStyle/>
          <a:p>
            <a:pPr indent="0" marL="0">
              <a:buNone/>
            </a:pPr>
            <a:r>
              <a:rPr lang="en-US" sz="800" b="1" dirty="0">
                <a:solidFill>
                  <a:srgbClr val="1B2D55"/>
                </a:solidFill>
              </a:rPr>
              <a:t>Data Room</a:t>
            </a:r>
            <a:endParaRPr lang="en-US" sz="800" dirty="0"/>
          </a:p>
        </p:txBody>
      </p:sp>
      <p:sp>
        <p:nvSpPr>
          <p:cNvPr id="16" name="Text 13"/>
          <p:cNvSpPr/>
          <p:nvPr/>
        </p:nvSpPr>
        <p:spPr>
          <a:xfrm>
            <a:off x="6583680" y="1956816"/>
            <a:ext cx="2011680" cy="201168"/>
          </a:xfrm>
          <a:prstGeom prst="rect">
            <a:avLst/>
          </a:prstGeom>
          <a:noFill/>
          <a:ln/>
        </p:spPr>
        <p:txBody>
          <a:bodyPr wrap="square" lIns="0" tIns="0" rIns="0" bIns="0" rtlCol="0" anchor="ctr"/>
          <a:lstStyle/>
          <a:p>
            <a:pPr indent="0" marL="0">
              <a:buNone/>
            </a:pPr>
            <a:r>
              <a:rPr lang="en-US" sz="800" dirty="0">
                <a:solidFill>
                  <a:srgbClr val="4A5568"/>
                </a:solidFill>
              </a:rPr>
              <a:t>Virtual (Intralinks); available upon NDA execution</a:t>
            </a:r>
            <a:endParaRPr lang="en-US" sz="800" dirty="0"/>
          </a:p>
        </p:txBody>
      </p:sp>
      <p:sp>
        <p:nvSpPr>
          <p:cNvPr id="17" name="Shape 14"/>
          <p:cNvSpPr/>
          <p:nvPr/>
        </p:nvSpPr>
        <p:spPr>
          <a:xfrm>
            <a:off x="5212080" y="2231136"/>
            <a:ext cx="3474720" cy="310896"/>
          </a:xfrm>
          <a:prstGeom prst="rect">
            <a:avLst/>
          </a:prstGeom>
          <a:solidFill>
            <a:srgbClr val="F4F6FA"/>
          </a:solidFill>
          <a:ln w="12700">
            <a:solidFill>
              <a:srgbClr val="D0D8E4"/>
            </a:solidFill>
            <a:prstDash val="solid"/>
          </a:ln>
        </p:spPr>
      </p:sp>
      <p:sp>
        <p:nvSpPr>
          <p:cNvPr id="18" name="Text 15"/>
          <p:cNvSpPr/>
          <p:nvPr/>
        </p:nvSpPr>
        <p:spPr>
          <a:xfrm>
            <a:off x="5349240" y="2286000"/>
            <a:ext cx="1188720" cy="201168"/>
          </a:xfrm>
          <a:prstGeom prst="rect">
            <a:avLst/>
          </a:prstGeom>
          <a:noFill/>
          <a:ln/>
        </p:spPr>
        <p:txBody>
          <a:bodyPr wrap="square" lIns="0" tIns="0" rIns="0" bIns="0" rtlCol="0" anchor="ctr"/>
          <a:lstStyle/>
          <a:p>
            <a:pPr indent="0" marL="0">
              <a:buNone/>
            </a:pPr>
            <a:r>
              <a:rPr lang="en-US" sz="800" b="1" dirty="0">
                <a:solidFill>
                  <a:srgbClr val="1B2D55"/>
                </a:solidFill>
              </a:rPr>
              <a:t>Management</a:t>
            </a:r>
            <a:endParaRPr lang="en-US" sz="800" dirty="0"/>
          </a:p>
        </p:txBody>
      </p:sp>
      <p:sp>
        <p:nvSpPr>
          <p:cNvPr id="19" name="Text 16"/>
          <p:cNvSpPr/>
          <p:nvPr/>
        </p:nvSpPr>
        <p:spPr>
          <a:xfrm>
            <a:off x="6583680" y="2286000"/>
            <a:ext cx="2011680" cy="201168"/>
          </a:xfrm>
          <a:prstGeom prst="rect">
            <a:avLst/>
          </a:prstGeom>
          <a:noFill/>
          <a:ln/>
        </p:spPr>
        <p:txBody>
          <a:bodyPr wrap="square" lIns="0" tIns="0" rIns="0" bIns="0" rtlCol="0" anchor="ctr"/>
          <a:lstStyle/>
          <a:p>
            <a:pPr indent="0" marL="0">
              <a:buNone/>
            </a:pPr>
            <a:r>
              <a:rPr lang="en-US" sz="800" dirty="0">
                <a:solidFill>
                  <a:srgbClr val="4A5568"/>
                </a:solidFill>
              </a:rPr>
              <a:t>CEO/COO/CFO presentations; Studio product demo available</a:t>
            </a:r>
            <a:endParaRPr lang="en-US" sz="800" dirty="0"/>
          </a:p>
        </p:txBody>
      </p:sp>
      <p:sp>
        <p:nvSpPr>
          <p:cNvPr id="20" name="Shape 17"/>
          <p:cNvSpPr/>
          <p:nvPr/>
        </p:nvSpPr>
        <p:spPr>
          <a:xfrm>
            <a:off x="5212080" y="2560320"/>
            <a:ext cx="3474720" cy="310896"/>
          </a:xfrm>
          <a:prstGeom prst="rect">
            <a:avLst/>
          </a:prstGeom>
          <a:solidFill>
            <a:srgbClr val="FFFFFF"/>
          </a:solidFill>
          <a:ln w="12700">
            <a:solidFill>
              <a:srgbClr val="D0D8E4"/>
            </a:solidFill>
            <a:prstDash val="solid"/>
          </a:ln>
        </p:spPr>
      </p:sp>
      <p:sp>
        <p:nvSpPr>
          <p:cNvPr id="21" name="Text 18"/>
          <p:cNvSpPr/>
          <p:nvPr/>
        </p:nvSpPr>
        <p:spPr>
          <a:xfrm>
            <a:off x="5349240" y="2615184"/>
            <a:ext cx="1188720" cy="201168"/>
          </a:xfrm>
          <a:prstGeom prst="rect">
            <a:avLst/>
          </a:prstGeom>
          <a:noFill/>
          <a:ln/>
        </p:spPr>
        <p:txBody>
          <a:bodyPr wrap="square" lIns="0" tIns="0" rIns="0" bIns="0" rtlCol="0" anchor="ctr"/>
          <a:lstStyle/>
          <a:p>
            <a:pPr indent="0" marL="0">
              <a:buNone/>
            </a:pPr>
            <a:r>
              <a:rPr lang="en-US" sz="800" b="1" dirty="0">
                <a:solidFill>
                  <a:srgbClr val="1B2D55"/>
                </a:solidFill>
              </a:rPr>
              <a:t>Exclusivity</a:t>
            </a:r>
            <a:endParaRPr lang="en-US" sz="800" dirty="0"/>
          </a:p>
        </p:txBody>
      </p:sp>
      <p:sp>
        <p:nvSpPr>
          <p:cNvPr id="22" name="Text 19"/>
          <p:cNvSpPr/>
          <p:nvPr/>
        </p:nvSpPr>
        <p:spPr>
          <a:xfrm>
            <a:off x="6583680" y="2615184"/>
            <a:ext cx="2011680" cy="201168"/>
          </a:xfrm>
          <a:prstGeom prst="rect">
            <a:avLst/>
          </a:prstGeom>
          <a:noFill/>
          <a:ln/>
        </p:spPr>
        <p:txBody>
          <a:bodyPr wrap="square" lIns="0" tIns="0" rIns="0" bIns="0" rtlCol="0" anchor="ctr"/>
          <a:lstStyle/>
          <a:p>
            <a:pPr indent="0" marL="0">
              <a:buNone/>
            </a:pPr>
            <a:r>
              <a:rPr lang="en-US" sz="800" dirty="0">
                <a:solidFill>
                  <a:srgbClr val="4A5568"/>
                </a:solidFill>
              </a:rPr>
              <a:t>Per process letter; IOIs due October 8, 2021</a:t>
            </a:r>
            <a:endParaRPr lang="en-US" sz="800" dirty="0"/>
          </a:p>
        </p:txBody>
      </p:sp>
      <p:sp>
        <p:nvSpPr>
          <p:cNvPr id="23" name="Shape 20"/>
          <p:cNvSpPr/>
          <p:nvPr/>
        </p:nvSpPr>
        <p:spPr>
          <a:xfrm>
            <a:off x="5212080" y="2889504"/>
            <a:ext cx="3474720" cy="310896"/>
          </a:xfrm>
          <a:prstGeom prst="rect">
            <a:avLst/>
          </a:prstGeom>
          <a:solidFill>
            <a:srgbClr val="F4F6FA"/>
          </a:solidFill>
          <a:ln w="12700">
            <a:solidFill>
              <a:srgbClr val="D0D8E4"/>
            </a:solidFill>
            <a:prstDash val="solid"/>
          </a:ln>
        </p:spPr>
      </p:sp>
      <p:sp>
        <p:nvSpPr>
          <p:cNvPr id="24" name="Text 21"/>
          <p:cNvSpPr/>
          <p:nvPr/>
        </p:nvSpPr>
        <p:spPr>
          <a:xfrm>
            <a:off x="5349240" y="2944368"/>
            <a:ext cx="1188720" cy="201168"/>
          </a:xfrm>
          <a:prstGeom prst="rect">
            <a:avLst/>
          </a:prstGeom>
          <a:noFill/>
          <a:ln/>
        </p:spPr>
        <p:txBody>
          <a:bodyPr wrap="square" lIns="0" tIns="0" rIns="0" bIns="0" rtlCol="0" anchor="ctr"/>
          <a:lstStyle/>
          <a:p>
            <a:pPr indent="0" marL="0">
              <a:buNone/>
            </a:pPr>
            <a:r>
              <a:rPr lang="en-US" sz="800" b="1" dirty="0">
                <a:solidFill>
                  <a:srgbClr val="1B2D55"/>
                </a:solidFill>
              </a:rPr>
              <a:t>Advisor</a:t>
            </a:r>
            <a:endParaRPr lang="en-US" sz="800" dirty="0"/>
          </a:p>
        </p:txBody>
      </p:sp>
      <p:sp>
        <p:nvSpPr>
          <p:cNvPr id="25" name="Text 22"/>
          <p:cNvSpPr/>
          <p:nvPr/>
        </p:nvSpPr>
        <p:spPr>
          <a:xfrm>
            <a:off x="6583680" y="2944368"/>
            <a:ext cx="2011680" cy="201168"/>
          </a:xfrm>
          <a:prstGeom prst="rect">
            <a:avLst/>
          </a:prstGeom>
          <a:noFill/>
          <a:ln/>
        </p:spPr>
        <p:txBody>
          <a:bodyPr wrap="square" lIns="0" tIns="0" rIns="0" bIns="0" rtlCol="0" anchor="ctr"/>
          <a:lstStyle/>
          <a:p>
            <a:pPr indent="0" marL="0">
              <a:buNone/>
            </a:pPr>
            <a:r>
              <a:rPr lang="en-US" sz="800" dirty="0">
                <a:solidFill>
                  <a:srgbClr val="4A5568"/>
                </a:solidFill>
              </a:rPr>
              <a:t>Houlihan Lokey (exclusive sell-side)</a:t>
            </a:r>
            <a:endParaRPr lang="en-US" sz="800" dirty="0"/>
          </a:p>
        </p:txBody>
      </p:sp>
      <p:sp>
        <p:nvSpPr>
          <p:cNvPr id="26" name="Shape 23"/>
          <p:cNvSpPr/>
          <p:nvPr/>
        </p:nvSpPr>
        <p:spPr>
          <a:xfrm>
            <a:off x="457200" y="3703320"/>
            <a:ext cx="8229600" cy="914400"/>
          </a:xfrm>
          <a:prstGeom prst="rect">
            <a:avLst/>
          </a:prstGeom>
          <a:solidFill>
            <a:srgbClr val="1B2D55"/>
          </a:solidFill>
          <a:ln w="12700">
            <a:solidFill>
              <a:srgbClr val="1B2D55"/>
            </a:solidFill>
            <a:prstDash val="solid"/>
          </a:ln>
        </p:spPr>
      </p:sp>
      <p:sp>
        <p:nvSpPr>
          <p:cNvPr id="27" name="Shape 24"/>
          <p:cNvSpPr/>
          <p:nvPr/>
        </p:nvSpPr>
        <p:spPr>
          <a:xfrm>
            <a:off x="457200" y="3703320"/>
            <a:ext cx="91440" cy="914400"/>
          </a:xfrm>
          <a:prstGeom prst="rect">
            <a:avLst/>
          </a:prstGeom>
          <a:solidFill>
            <a:srgbClr val="C8A83C"/>
          </a:solidFill>
          <a:ln w="12700">
            <a:solidFill>
              <a:srgbClr val="C8A83C"/>
            </a:solidFill>
            <a:prstDash val="solid"/>
          </a:ln>
        </p:spPr>
      </p:sp>
      <p:sp>
        <p:nvSpPr>
          <p:cNvPr id="28" name="Text 25"/>
          <p:cNvSpPr/>
          <p:nvPr/>
        </p:nvSpPr>
        <p:spPr>
          <a:xfrm>
            <a:off x="685800" y="3767328"/>
            <a:ext cx="4114800" cy="256032"/>
          </a:xfrm>
          <a:prstGeom prst="rect">
            <a:avLst/>
          </a:prstGeom>
          <a:noFill/>
          <a:ln/>
        </p:spPr>
        <p:txBody>
          <a:bodyPr wrap="square" lIns="0" tIns="0" rIns="0" bIns="0" rtlCol="0" anchor="ctr"/>
          <a:lstStyle/>
          <a:p>
            <a:pPr indent="0" marL="0">
              <a:buNone/>
            </a:pPr>
            <a:r>
              <a:rPr lang="en-US" sz="900" b="1" dirty="0">
                <a:solidFill>
                  <a:srgbClr val="C8A83C"/>
                </a:solidFill>
              </a:rPr>
              <a:t>Houlihan Lokey — Deal Contact</a:t>
            </a:r>
            <a:endParaRPr lang="en-US" sz="900" dirty="0"/>
          </a:p>
        </p:txBody>
      </p:sp>
      <p:sp>
        <p:nvSpPr>
          <p:cNvPr id="29" name="Text 26"/>
          <p:cNvSpPr/>
          <p:nvPr/>
        </p:nvSpPr>
        <p:spPr>
          <a:xfrm>
            <a:off x="685800" y="4041648"/>
            <a:ext cx="7955280" cy="164592"/>
          </a:xfrm>
          <a:prstGeom prst="rect">
            <a:avLst/>
          </a:prstGeom>
          <a:noFill/>
          <a:ln/>
        </p:spPr>
        <p:txBody>
          <a:bodyPr wrap="square" lIns="0" tIns="0" rIns="0" bIns="0" rtlCol="0" anchor="ctr"/>
          <a:lstStyle/>
          <a:p>
            <a:pPr indent="0" marL="0">
              <a:buNone/>
            </a:pPr>
            <a:r>
              <a:rPr lang="en-US" sz="800" dirty="0">
                <a:solidFill>
                  <a:srgbClr val="AABBD0"/>
                </a:solidFill>
              </a:rPr>
              <a:t>Sarah Mitchell, Managing Director   |   s.mitchell@hl.com   |   +1 (310) 788-5100</a:t>
            </a:r>
            <a:endParaRPr lang="en-US" sz="800" dirty="0"/>
          </a:p>
        </p:txBody>
      </p:sp>
      <p:sp>
        <p:nvSpPr>
          <p:cNvPr id="30" name="Text 27"/>
          <p:cNvSpPr/>
          <p:nvPr/>
        </p:nvSpPr>
        <p:spPr>
          <a:xfrm>
            <a:off x="685800" y="4215384"/>
            <a:ext cx="7955280" cy="164592"/>
          </a:xfrm>
          <a:prstGeom prst="rect">
            <a:avLst/>
          </a:prstGeom>
          <a:noFill/>
          <a:ln/>
        </p:spPr>
        <p:txBody>
          <a:bodyPr wrap="square" lIns="0" tIns="0" rIns="0" bIns="0" rtlCol="0" anchor="ctr"/>
          <a:lstStyle/>
          <a:p>
            <a:pPr indent="0" marL="0">
              <a:buNone/>
            </a:pPr>
            <a:r>
              <a:rPr lang="en-US" sz="800" dirty="0">
                <a:solidFill>
                  <a:srgbClr val="AABBD0"/>
                </a:solidFill>
              </a:rPr>
              <a:t>Daniel Park, Vice President   |   d.park@hl.com   |   +1 (310) 788-5241</a:t>
            </a:r>
            <a:endParaRPr lang="en-US" sz="800" dirty="0"/>
          </a:p>
        </p:txBody>
      </p:sp>
      <p:sp>
        <p:nvSpPr>
          <p:cNvPr id="31" name="Text 28"/>
          <p:cNvSpPr/>
          <p:nvPr/>
        </p:nvSpPr>
        <p:spPr>
          <a:xfrm>
            <a:off x="685800" y="4389120"/>
            <a:ext cx="7955280" cy="164592"/>
          </a:xfrm>
          <a:prstGeom prst="rect">
            <a:avLst/>
          </a:prstGeom>
          <a:noFill/>
          <a:ln/>
        </p:spPr>
        <p:txBody>
          <a:bodyPr wrap="square" lIns="0" tIns="0" rIns="0" bIns="0" rtlCol="0" anchor="ctr"/>
          <a:lstStyle/>
          <a:p>
            <a:pPr indent="0" marL="0">
              <a:buNone/>
            </a:pPr>
            <a:r>
              <a:rPr lang="en-US" sz="800" dirty="0">
                <a:solidFill>
                  <a:srgbClr val="AABBD0"/>
                </a:solidFill>
              </a:rPr>
              <a:t>Priya Sharma, Associate   |   p.sharma@hl.com   |   +1 (310) 788-5388</a:t>
            </a:r>
            <a:endParaRPr lang="en-US" sz="800" dirty="0"/>
          </a:p>
        </p:txBody>
      </p:sp>
      <p:sp>
        <p:nvSpPr>
          <p:cNvPr id="32" name="Shape 29"/>
          <p:cNvSpPr/>
          <p:nvPr/>
        </p:nvSpPr>
        <p:spPr>
          <a:xfrm>
            <a:off x="0" y="4892040"/>
            <a:ext cx="9144000" cy="251460"/>
          </a:xfrm>
          <a:prstGeom prst="rect">
            <a:avLst/>
          </a:prstGeom>
          <a:solidFill>
            <a:srgbClr val="F4F6FA"/>
          </a:solidFill>
          <a:ln w="12700">
            <a:solidFill>
              <a:srgbClr val="D0D8E4"/>
            </a:solidFill>
            <a:prstDash val="solid"/>
          </a:ln>
        </p:spPr>
      </p:sp>
      <p:sp>
        <p:nvSpPr>
          <p:cNvPr id="33" name="Text 30"/>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34" name="Text 31"/>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12 / 14</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Houlihan Lokey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ADDITIONAL FINANCIAL DETAIL</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Supplemental Financial Detail</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Quarterly revenue bridge and unit economics detail</a:t>
            </a:r>
            <a:endParaRPr lang="en-US" sz="950" dirty="0"/>
          </a:p>
        </p:txBody>
      </p:sp>
      <p:sp>
        <p:nvSpPr>
          <p:cNvPr id="8" name="Text 6"/>
          <p:cNvSpPr/>
          <p:nvPr/>
        </p:nvSpPr>
        <p:spPr>
          <a:xfrm>
            <a:off x="457200" y="1261872"/>
            <a:ext cx="8229600" cy="274320"/>
          </a:xfrm>
          <a:prstGeom prst="rect">
            <a:avLst/>
          </a:prstGeom>
          <a:noFill/>
          <a:ln/>
        </p:spPr>
        <p:txBody>
          <a:bodyPr wrap="square" lIns="0" tIns="0" rIns="0" bIns="0" rtlCol="0" anchor="ctr"/>
          <a:lstStyle/>
          <a:p>
            <a:pPr indent="0" marL="0">
              <a:buNone/>
            </a:pPr>
            <a:r>
              <a:rPr lang="en-US" sz="1000" b="1" dirty="0">
                <a:solidFill>
                  <a:srgbClr val="1B2D55"/>
                </a:solidFill>
              </a:rPr>
              <a:t>Key Operating Metrics</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572768"/>
          <a:ext cx="8229600" cy="914400"/>
        </p:xfrm>
        <a:graphic>
          <a:graphicData uri="http://schemas.openxmlformats.org/drawingml/2006/table">
            <a:tbl>
              <a:tblPr/>
              <a:tblGrid>
                <a:gridCol w="3474720"/>
                <a:gridCol w="1188720"/>
                <a:gridCol w="3566160"/>
              </a:tblGrid>
              <a:tr h="329184">
                <a:tc>
                  <a:txBody>
                    <a:bodyPr/>
                    <a:lstStyle/>
                    <a:p>
                      <a:pPr indent="0" marL="0">
                        <a:buNone/>
                      </a:pPr>
                      <a:r>
                        <a:rPr lang="en-US" sz="800" b="1" dirty="0">
                          <a:solidFill>
                            <a:srgbClr val="FFFFFF"/>
                          </a:solidFill>
                        </a:rPr>
                        <a:t>Metric</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Value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800" b="1" dirty="0">
                          <a:solidFill>
                            <a:srgbClr val="FFFFFF"/>
                          </a:solidFill>
                        </a:rPr>
                        <a:t>Trend / Commentary</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329184">
                <a:tc>
                  <a:txBody>
                    <a:bodyPr/>
                    <a:lstStyle/>
                    <a:p>
                      <a:pPr indent="0" marL="0">
                        <a:buNone/>
                      </a:pPr>
                      <a:r>
                        <a:rPr lang="en-US" sz="850" dirty="0">
                          <a:solidFill>
                            <a:srgbClr val="1A1A2E"/>
                          </a:solidFill>
                        </a:rPr>
                        <a:t>DTC Gross Margin</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900" b="1" dirty="0">
                          <a:solidFill>
                            <a:srgbClr val="1B2D55"/>
                          </a:solidFill>
                        </a:rPr>
                        <a:t>58.5%</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750" dirty="0">
                          <a:solidFill>
                            <a:srgbClr val="2E7D32"/>
                          </a:solidFill>
                        </a:rPr>
                        <a:t>↑ +10pp vs. FY2018; improving with scale and mix</a:t>
                      </a:r>
                      <a:endParaRPr lang="en-US" sz="7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29184">
                <a:tc>
                  <a:txBody>
                    <a:bodyPr/>
                    <a:lstStyle/>
                    <a:p>
                      <a:pPr indent="0" marL="0">
                        <a:buNone/>
                      </a:pPr>
                      <a:r>
                        <a:rPr lang="en-US" sz="850" dirty="0">
                          <a:solidFill>
                            <a:srgbClr val="1A1A2E"/>
                          </a:solidFill>
                        </a:rPr>
                        <a:t>Studio Gross Margin</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B2D55"/>
                          </a:solidFill>
                        </a:rPr>
                        <a:t>82.0%</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750" dirty="0">
                          <a:solidFill>
                            <a:srgbClr val="2E7D32"/>
                          </a:solidFill>
                        </a:rPr>
                        <a:t>High-margin SaaS-like recurring revenue</a:t>
                      </a:r>
                      <a:endParaRPr lang="en-US" sz="7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29184">
                <a:tc>
                  <a:txBody>
                    <a:bodyPr/>
                    <a:lstStyle/>
                    <a:p>
                      <a:pPr indent="0" marL="0">
                        <a:buNone/>
                      </a:pPr>
                      <a:r>
                        <a:rPr lang="en-US" sz="850" dirty="0">
                          <a:solidFill>
                            <a:srgbClr val="1A1A2E"/>
                          </a:solidFill>
                        </a:rPr>
                        <a:t>Blended Gross Margin</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900" b="1" dirty="0">
                          <a:solidFill>
                            <a:srgbClr val="1B2D55"/>
                          </a:solidFill>
                        </a:rPr>
                        <a:t>56.2%</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750" dirty="0">
                          <a:solidFill>
                            <a:srgbClr val="2E7D32"/>
                          </a:solidFill>
                        </a:rPr>
                        <a:t>↑ as Studio and DTC mix grows vs. wholesale</a:t>
                      </a:r>
                      <a:endParaRPr lang="en-US" sz="7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29184">
                <a:tc>
                  <a:txBody>
                    <a:bodyPr/>
                    <a:lstStyle/>
                    <a:p>
                      <a:pPr indent="0" marL="0">
                        <a:buNone/>
                      </a:pPr>
                      <a:r>
                        <a:rPr lang="en-US" sz="850" dirty="0">
                          <a:solidFill>
                            <a:srgbClr val="1A1A2E"/>
                          </a:solidFill>
                        </a:rPr>
                        <a:t>CAC (DTC — blended)</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B2D55"/>
                          </a:solidFill>
                        </a:rPr>
                        <a:t>$38</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750" dirty="0">
                          <a:solidFill>
                            <a:srgbClr val="2E7D32"/>
                          </a:solidFill>
                        </a:rPr>
                        <a:t>↓ 41% since FY2019; organic community lowers paid CAC</a:t>
                      </a:r>
                      <a:endParaRPr lang="en-US" sz="7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29184">
                <a:tc>
                  <a:txBody>
                    <a:bodyPr/>
                    <a:lstStyle/>
                    <a:p>
                      <a:pPr indent="0" marL="0">
                        <a:buNone/>
                      </a:pPr>
                      <a:r>
                        <a:rPr lang="en-US" sz="850" dirty="0">
                          <a:solidFill>
                            <a:srgbClr val="1A1A2E"/>
                          </a:solidFill>
                        </a:rPr>
                        <a:t>Customer LTV (3-year)</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900" b="1" dirty="0">
                          <a:solidFill>
                            <a:srgbClr val="1B2D55"/>
                          </a:solidFill>
                        </a:rPr>
                        <a:t>$680</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750" dirty="0">
                          <a:solidFill>
                            <a:srgbClr val="2E7D32"/>
                          </a:solidFill>
                        </a:rPr>
                        <a:t>↑ with Studio attach rate improving to 15% of buyers</a:t>
                      </a:r>
                      <a:endParaRPr lang="en-US" sz="7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29184">
                <a:tc>
                  <a:txBody>
                    <a:bodyPr/>
                    <a:lstStyle/>
                    <a:p>
                      <a:pPr indent="0" marL="0">
                        <a:buNone/>
                      </a:pPr>
                      <a:r>
                        <a:rPr lang="en-US" sz="850" dirty="0">
                          <a:solidFill>
                            <a:srgbClr val="1A1A2E"/>
                          </a:solidFill>
                        </a:rPr>
                        <a:t>LTV / CAC</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B2D55"/>
                          </a:solidFill>
                        </a:rPr>
                        <a:t>17.9x</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750" dirty="0">
                          <a:solidFill>
                            <a:srgbClr val="2E7D32"/>
                          </a:solidFill>
                        </a:rPr>
                        <a:t>Exceptional for consumer DTC — benchmark is 3–5x</a:t>
                      </a:r>
                      <a:endParaRPr lang="en-US" sz="7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bl>
          </a:graphicData>
        </a:graphic>
      </p:graphicFrame>
      <p:sp>
        <p:nvSpPr>
          <p:cNvPr id="10" name="Shape 7"/>
          <p:cNvSpPr/>
          <p:nvPr/>
        </p:nvSpPr>
        <p:spPr>
          <a:xfrm>
            <a:off x="0" y="4892040"/>
            <a:ext cx="9144000" cy="251460"/>
          </a:xfrm>
          <a:prstGeom prst="rect">
            <a:avLst/>
          </a:prstGeom>
          <a:solidFill>
            <a:srgbClr val="F4F6FA"/>
          </a:solidFill>
          <a:ln w="12700">
            <a:solidFill>
              <a:srgbClr val="D0D8E4"/>
            </a:solidFill>
            <a:prstDash val="solid"/>
          </a:ln>
        </p:spPr>
      </p:sp>
      <p:sp>
        <p:nvSpPr>
          <p:cNvPr id="11" name="Text 8"/>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12" name="Text 9"/>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13 / 14</a:t>
            </a:r>
            <a:endParaRPr lang="en-US" sz="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D55"/>
          </a:solidFill>
          <a:ln w="12700">
            <a:solidFill>
              <a:srgbClr val="1B2D55"/>
            </a:solidFill>
            <a:prstDash val="solid"/>
          </a:ln>
        </p:spPr>
      </p:sp>
      <p:sp>
        <p:nvSpPr>
          <p:cNvPr id="3" name="Shape 1"/>
          <p:cNvSpPr/>
          <p:nvPr/>
        </p:nvSpPr>
        <p:spPr>
          <a:xfrm>
            <a:off x="0" y="0"/>
            <a:ext cx="73152" cy="5143500"/>
          </a:xfrm>
          <a:prstGeom prst="rect">
            <a:avLst/>
          </a:prstGeom>
          <a:solidFill>
            <a:srgbClr val="C8A83C"/>
          </a:solidFill>
          <a:ln w="12700">
            <a:solidFill>
              <a:srgbClr val="C8A83C"/>
            </a:solidFill>
            <a:prstDash val="solid"/>
          </a:ln>
        </p:spPr>
      </p:sp>
      <p:sp>
        <p:nvSpPr>
          <p:cNvPr id="4" name="Text 2"/>
          <p:cNvSpPr/>
          <p:nvPr/>
        </p:nvSpPr>
        <p:spPr>
          <a:xfrm>
            <a:off x="914400" y="1737360"/>
            <a:ext cx="7315200" cy="822960"/>
          </a:xfrm>
          <a:prstGeom prst="rect">
            <a:avLst/>
          </a:prstGeom>
          <a:noFill/>
          <a:ln/>
        </p:spPr>
        <p:txBody>
          <a:bodyPr wrap="square" lIns="0" tIns="0" rIns="0" bIns="0" rtlCol="0" anchor="ctr"/>
          <a:lstStyle/>
          <a:p>
            <a:pPr algn="ctr" indent="0" marL="0">
              <a:buNone/>
            </a:pPr>
            <a:r>
              <a:rPr lang="en-US" sz="4800" b="1" spc="600" kern="0" dirty="0">
                <a:solidFill>
                  <a:srgbClr val="FFFFFF"/>
                </a:solidFill>
              </a:rPr>
              <a:t>APPENDIX</a:t>
            </a:r>
            <a:endParaRPr lang="en-US" sz="4800" dirty="0"/>
          </a:p>
        </p:txBody>
      </p:sp>
      <p:sp>
        <p:nvSpPr>
          <p:cNvPr id="5" name="Text 3"/>
          <p:cNvSpPr/>
          <p:nvPr/>
        </p:nvSpPr>
        <p:spPr>
          <a:xfrm>
            <a:off x="914400" y="2651760"/>
            <a:ext cx="7315200" cy="365760"/>
          </a:xfrm>
          <a:prstGeom prst="rect">
            <a:avLst/>
          </a:prstGeom>
          <a:noFill/>
          <a:ln/>
        </p:spPr>
        <p:txBody>
          <a:bodyPr wrap="square" lIns="0" tIns="0" rIns="0" bIns="0" rtlCol="0" anchor="ctr"/>
          <a:lstStyle/>
          <a:p>
            <a:pPr algn="ctr" indent="0" marL="0">
              <a:buNone/>
            </a:pPr>
            <a:r>
              <a:rPr lang="en-US" sz="1000" dirty="0">
                <a:solidFill>
                  <a:srgbClr val="C8A83C"/>
                </a:solidFill>
              </a:rPr>
              <a:t>Additional materials available in virtual data room upon NDA execution</a:t>
            </a:r>
            <a:endParaRPr lang="en-US" sz="1000" dirty="0"/>
          </a:p>
        </p:txBody>
      </p:sp>
      <p:sp>
        <p:nvSpPr>
          <p:cNvPr id="6" name="Text 4"/>
          <p:cNvSpPr/>
          <p:nvPr/>
        </p:nvSpPr>
        <p:spPr>
          <a:xfrm>
            <a:off x="914400" y="3108960"/>
            <a:ext cx="7315200" cy="320040"/>
          </a:xfrm>
          <a:prstGeom prst="rect">
            <a:avLst/>
          </a:prstGeom>
          <a:noFill/>
          <a:ln/>
        </p:spPr>
        <p:txBody>
          <a:bodyPr wrap="square" lIns="0" tIns="0" rIns="0" bIns="0" rtlCol="0" anchor="ctr"/>
          <a:lstStyle/>
          <a:p>
            <a:pPr algn="ctr" indent="0" marL="0">
              <a:buNone/>
            </a:pPr>
            <a:r>
              <a:rPr lang="en-US" sz="850" dirty="0">
                <a:solidFill>
                  <a:srgbClr val="8898AA"/>
                </a:solidFill>
              </a:rPr>
              <a:t>Detailed financial model · Customer list · Site photos · Reference accounts · Environmental reports</a:t>
            </a:r>
            <a:endParaRPr lang="en-US" sz="850" dirty="0"/>
          </a:p>
        </p:txBody>
      </p:sp>
      <p:sp>
        <p:nvSpPr>
          <p:cNvPr id="7" name="Text 5"/>
          <p:cNvSpPr/>
          <p:nvPr/>
        </p:nvSpPr>
        <p:spPr>
          <a:xfrm>
            <a:off x="914400" y="4709160"/>
            <a:ext cx="7315200" cy="256032"/>
          </a:xfrm>
          <a:prstGeom prst="rect">
            <a:avLst/>
          </a:prstGeom>
          <a:noFill/>
          <a:ln/>
        </p:spPr>
        <p:txBody>
          <a:bodyPr wrap="square" lIns="0" tIns="0" rIns="0" bIns="0" rtlCol="0" anchor="ctr"/>
          <a:lstStyle/>
          <a:p>
            <a:pPr algn="ctr" indent="0" marL="0">
              <a:buNone/>
            </a:pPr>
            <a:r>
              <a:rPr lang="en-US" sz="750" dirty="0">
                <a:solidFill>
                  <a:srgbClr val="445566"/>
                </a:solidFill>
              </a:rPr>
              <a:t>Houlihan Lokey — September 2021 — Strictly Confidential</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2026-05-11T23:21:29Z</dcterms:created>
  <dcterms:modified xsi:type="dcterms:W3CDTF">2026-05-11T23:21:29Z</dcterms:modified>
</cp:coreProperties>
</file>